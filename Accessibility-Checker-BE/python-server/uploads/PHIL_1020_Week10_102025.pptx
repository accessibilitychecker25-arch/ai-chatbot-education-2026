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39"/>
  </p:notesMasterIdLst>
  <p:sldIdLst>
    <p:sldId id="257" r:id="rId5"/>
    <p:sldId id="259" r:id="rId6"/>
    <p:sldId id="306" r:id="rId7"/>
    <p:sldId id="309" r:id="rId8"/>
    <p:sldId id="265" r:id="rId9"/>
    <p:sldId id="260" r:id="rId10"/>
    <p:sldId id="263" r:id="rId11"/>
    <p:sldId id="307" r:id="rId12"/>
    <p:sldId id="295" r:id="rId13"/>
    <p:sldId id="315" r:id="rId14"/>
    <p:sldId id="310" r:id="rId15"/>
    <p:sldId id="299" r:id="rId16"/>
    <p:sldId id="261" r:id="rId17"/>
    <p:sldId id="269" r:id="rId18"/>
    <p:sldId id="268" r:id="rId19"/>
    <p:sldId id="300" r:id="rId20"/>
    <p:sldId id="311" r:id="rId21"/>
    <p:sldId id="302" r:id="rId22"/>
    <p:sldId id="316" r:id="rId23"/>
    <p:sldId id="282" r:id="rId24"/>
    <p:sldId id="283" r:id="rId25"/>
    <p:sldId id="284" r:id="rId26"/>
    <p:sldId id="287" r:id="rId27"/>
    <p:sldId id="285" r:id="rId28"/>
    <p:sldId id="297" r:id="rId29"/>
    <p:sldId id="301" r:id="rId30"/>
    <p:sldId id="291" r:id="rId31"/>
    <p:sldId id="288" r:id="rId32"/>
    <p:sldId id="289" r:id="rId33"/>
    <p:sldId id="290" r:id="rId34"/>
    <p:sldId id="304" r:id="rId35"/>
    <p:sldId id="314" r:id="rId36"/>
    <p:sldId id="312" r:id="rId37"/>
    <p:sldId id="31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441" autoAdjust="0"/>
  </p:normalViewPr>
  <p:slideViewPr>
    <p:cSldViewPr snapToGrid="0">
      <p:cViewPr varScale="1">
        <p:scale>
          <a:sx n="87" d="100"/>
          <a:sy n="87" d="100"/>
        </p:scale>
        <p:origin x="2340"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970528-7715-48AC-8D89-11B694DCC05E}" type="datetimeFigureOut">
              <a:rPr lang="en-SG" smtClean="0"/>
              <a:t>30/10/2025</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E1A0DB-35D7-4E49-89B6-F31AEF2A93A0}" type="slidenum">
              <a:rPr lang="en-SG" smtClean="0"/>
              <a:t>‹#›</a:t>
            </a:fld>
            <a:endParaRPr lang="en-SG"/>
          </a:p>
        </p:txBody>
      </p:sp>
    </p:spTree>
    <p:extLst>
      <p:ext uri="{BB962C8B-B14F-4D97-AF65-F5344CB8AC3E}">
        <p14:creationId xmlns:p14="http://schemas.microsoft.com/office/powerpoint/2010/main" val="18589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youtube.com/watch?v=Br59pD583Io"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1" dirty="0"/>
              <a:t>Image source: </a:t>
            </a:r>
            <a:r>
              <a:rPr lang="en-SG" b="0" dirty="0"/>
              <a:t>https://www.vecteezy.com/free-vector/pregnant-silhouette</a:t>
            </a:r>
          </a:p>
          <a:p>
            <a:endParaRPr lang="en-SG" dirty="0"/>
          </a:p>
        </p:txBody>
      </p:sp>
      <p:sp>
        <p:nvSpPr>
          <p:cNvPr id="4" name="Slide Number Placeholder 3"/>
          <p:cNvSpPr>
            <a:spLocks noGrp="1"/>
          </p:cNvSpPr>
          <p:nvPr>
            <p:ph type="sldNum" sz="quarter" idx="5"/>
          </p:nvPr>
        </p:nvSpPr>
        <p:spPr/>
        <p:txBody>
          <a:bodyPr/>
          <a:lstStyle/>
          <a:p>
            <a:fld id="{53E1A0DB-35D7-4E49-89B6-F31AEF2A93A0}" type="slidenum">
              <a:rPr lang="en-SG" smtClean="0"/>
              <a:t>1</a:t>
            </a:fld>
            <a:endParaRPr lang="en-SG"/>
          </a:p>
        </p:txBody>
      </p:sp>
    </p:spTree>
    <p:extLst>
      <p:ext uri="{BB962C8B-B14F-4D97-AF65-F5344CB8AC3E}">
        <p14:creationId xmlns:p14="http://schemas.microsoft.com/office/powerpoint/2010/main" val="87254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0" dirty="0"/>
          </a:p>
        </p:txBody>
      </p:sp>
      <p:sp>
        <p:nvSpPr>
          <p:cNvPr id="4" name="Slide Number Placeholder 3"/>
          <p:cNvSpPr>
            <a:spLocks noGrp="1"/>
          </p:cNvSpPr>
          <p:nvPr>
            <p:ph type="sldNum" sz="quarter" idx="5"/>
          </p:nvPr>
        </p:nvSpPr>
        <p:spPr/>
        <p:txBody>
          <a:bodyPr/>
          <a:lstStyle/>
          <a:p>
            <a:fld id="{53E1A0DB-35D7-4E49-89B6-F31AEF2A93A0}" type="slidenum">
              <a:rPr lang="en-SG" smtClean="0"/>
              <a:t>2</a:t>
            </a:fld>
            <a:endParaRPr lang="en-SG"/>
          </a:p>
        </p:txBody>
      </p:sp>
    </p:spTree>
    <p:extLst>
      <p:ext uri="{BB962C8B-B14F-4D97-AF65-F5344CB8AC3E}">
        <p14:creationId xmlns:p14="http://schemas.microsoft.com/office/powerpoint/2010/main" val="2634915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0462-DAE0-A47C-88E7-32720A3D2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59119-3852-699E-82CB-D548B8378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18750-43AC-22FC-9893-7192F802A438}"/>
              </a:ext>
            </a:extLst>
          </p:cNvPr>
          <p:cNvSpPr>
            <a:spLocks noGrp="1"/>
          </p:cNvSpPr>
          <p:nvPr>
            <p:ph type="body" idx="1"/>
          </p:nvPr>
        </p:nvSpPr>
        <p:spPr/>
        <p:txBody>
          <a:bodyPr/>
          <a:lstStyle/>
          <a:p>
            <a:r>
              <a:rPr lang="en-SG" b="1" dirty="0"/>
              <a:t>References: </a:t>
            </a:r>
          </a:p>
          <a:p>
            <a:pPr marL="171450" indent="-171450">
              <a:buFont typeface="Arial" panose="020B0604020202020204" pitchFamily="34" charset="0"/>
              <a:buChar char="•"/>
            </a:pPr>
            <a:r>
              <a:rPr lang="en-SG" b="0" dirty="0"/>
              <a:t>Russ Shafer-Landau, </a:t>
            </a:r>
            <a:r>
              <a:rPr lang="en-SG" b="0" i="1" dirty="0"/>
              <a:t>Living Ethics: An Introduction with Readings</a:t>
            </a:r>
            <a:r>
              <a:rPr lang="en-SG" b="0" i="0" dirty="0"/>
              <a:t>, Third Edition (Oxford University Press, 2024).</a:t>
            </a:r>
          </a:p>
          <a:p>
            <a:pPr marL="171450" indent="-171450">
              <a:buFont typeface="Arial" panose="020B0604020202020204" pitchFamily="34" charset="0"/>
              <a:buChar char="•"/>
            </a:pPr>
            <a:r>
              <a:rPr lang="en-SG" b="0" i="0" dirty="0"/>
              <a:t>Cleveland Clinic, “</a:t>
            </a:r>
            <a:r>
              <a:rPr lang="en-SG" b="0" i="0" dirty="0" err="1"/>
              <a:t>Fetal</a:t>
            </a:r>
            <a:r>
              <a:rPr lang="en-SG" b="0" i="0" dirty="0"/>
              <a:t> Development” (last reviewed 03/19/2024). https://my.clevelandclinic.org/health/articles/7247-fetal-development-stages-of-growth</a:t>
            </a:r>
          </a:p>
        </p:txBody>
      </p:sp>
      <p:sp>
        <p:nvSpPr>
          <p:cNvPr id="4" name="Slide Number Placeholder 3">
            <a:extLst>
              <a:ext uri="{FF2B5EF4-FFF2-40B4-BE49-F238E27FC236}">
                <a16:creationId xmlns:a16="http://schemas.microsoft.com/office/drawing/2014/main" id="{CABB0B4F-22B2-4F41-1DA9-4F49B10FD2FA}"/>
              </a:ext>
            </a:extLst>
          </p:cNvPr>
          <p:cNvSpPr>
            <a:spLocks noGrp="1"/>
          </p:cNvSpPr>
          <p:nvPr>
            <p:ph type="sldNum" sz="quarter" idx="5"/>
          </p:nvPr>
        </p:nvSpPr>
        <p:spPr/>
        <p:txBody>
          <a:bodyPr/>
          <a:lstStyle/>
          <a:p>
            <a:fld id="{53E1A0DB-35D7-4E49-89B6-F31AEF2A93A0}" type="slidenum">
              <a:rPr lang="en-SG" smtClean="0"/>
              <a:t>3</a:t>
            </a:fld>
            <a:endParaRPr lang="en-SG"/>
          </a:p>
        </p:txBody>
      </p:sp>
    </p:spTree>
    <p:extLst>
      <p:ext uri="{BB962C8B-B14F-4D97-AF65-F5344CB8AC3E}">
        <p14:creationId xmlns:p14="http://schemas.microsoft.com/office/powerpoint/2010/main" val="1822813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BDFBD-3F21-CAC9-1000-95A6391C9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80976-F0B5-176F-7F72-42116D051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FFCFE-558F-0A03-F04C-7E9F40592695}"/>
              </a:ext>
            </a:extLst>
          </p:cNvPr>
          <p:cNvSpPr>
            <a:spLocks noGrp="1"/>
          </p:cNvSpPr>
          <p:nvPr>
            <p:ph type="body" idx="1"/>
          </p:nvPr>
        </p:nvSpPr>
        <p:spPr/>
        <p:txBody>
          <a:bodyPr/>
          <a:lstStyle/>
          <a:p>
            <a:r>
              <a:rPr lang="en-SG" b="1" dirty="0"/>
              <a:t>References: </a:t>
            </a:r>
          </a:p>
          <a:p>
            <a:pPr marL="171450" indent="-171450">
              <a:buFont typeface="Arial" panose="020B0604020202020204" pitchFamily="34" charset="0"/>
              <a:buChar char="•"/>
            </a:pPr>
            <a:r>
              <a:rPr lang="en-SG" b="0" dirty="0"/>
              <a:t>Russ Shafer-Landau, </a:t>
            </a:r>
            <a:r>
              <a:rPr lang="en-SG" b="0" i="1" dirty="0"/>
              <a:t>Living Ethics: An Introduction with Readings</a:t>
            </a:r>
            <a:r>
              <a:rPr lang="en-SG" b="0" i="0" dirty="0"/>
              <a:t>, Third Edition (Oxford University Press, 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b="0" dirty="0"/>
              <a:t>Mark Timmons, </a:t>
            </a:r>
            <a:r>
              <a:rPr lang="en-SG" b="0" i="1" dirty="0"/>
              <a:t>Disputed Moral Issues: A Reader</a:t>
            </a:r>
            <a:r>
              <a:rPr lang="en-SG" b="0" i="0" dirty="0"/>
              <a:t>, Fifth Edition (Oxford University Press, 2020).</a:t>
            </a:r>
          </a:p>
          <a:p>
            <a:pPr marL="171450" indent="-171450">
              <a:buFont typeface="Arial" panose="020B0604020202020204" pitchFamily="34" charset="0"/>
              <a:buChar char="•"/>
            </a:pPr>
            <a:r>
              <a:rPr lang="en-SG" b="0" i="0" dirty="0"/>
              <a:t>Cleveland Clinic, “</a:t>
            </a:r>
            <a:r>
              <a:rPr lang="en-SG" b="0" i="0" dirty="0" err="1"/>
              <a:t>Fetal</a:t>
            </a:r>
            <a:r>
              <a:rPr lang="en-SG" b="0" i="0" dirty="0"/>
              <a:t> Development” (last reviewed 03/19/2024). https://my.clevelandclinic.org/health/articles/7247-fetal-development-stages-of-growth</a:t>
            </a:r>
          </a:p>
          <a:p>
            <a:pPr marL="171450" indent="-171450">
              <a:buFont typeface="Arial" panose="020B0604020202020204" pitchFamily="34" charset="0"/>
              <a:buChar char="•"/>
            </a:pPr>
            <a:r>
              <a:rPr lang="en-SG" b="0" i="0" dirty="0"/>
              <a:t>Kaitlin Sullivan, “</a:t>
            </a:r>
            <a:r>
              <a:rPr lang="en-US" b="0" i="0" dirty="0"/>
              <a:t>’Heartbeat bills’: Is there a fetal heartbeat at six weeks of pregnancy?” </a:t>
            </a:r>
            <a:r>
              <a:rPr lang="en-US" b="0" i="1" dirty="0"/>
              <a:t>NBC News </a:t>
            </a:r>
            <a:r>
              <a:rPr lang="en-US" b="0" i="0" dirty="0"/>
              <a:t>(April 17, 2022). https://www.nbcnews.com/health/womens-health/heartbeat-bills-called-fetal-heartbeat-six-weeks-pregnancy-rcna24435</a:t>
            </a:r>
            <a:endParaRPr lang="en-SG" b="0" i="0" dirty="0"/>
          </a:p>
        </p:txBody>
      </p:sp>
      <p:sp>
        <p:nvSpPr>
          <p:cNvPr id="4" name="Slide Number Placeholder 3">
            <a:extLst>
              <a:ext uri="{FF2B5EF4-FFF2-40B4-BE49-F238E27FC236}">
                <a16:creationId xmlns:a16="http://schemas.microsoft.com/office/drawing/2014/main" id="{E9C7151C-BE01-B586-FC8B-BA8BBF16FF32}"/>
              </a:ext>
            </a:extLst>
          </p:cNvPr>
          <p:cNvSpPr>
            <a:spLocks noGrp="1"/>
          </p:cNvSpPr>
          <p:nvPr>
            <p:ph type="sldNum" sz="quarter" idx="5"/>
          </p:nvPr>
        </p:nvSpPr>
        <p:spPr/>
        <p:txBody>
          <a:bodyPr/>
          <a:lstStyle/>
          <a:p>
            <a:fld id="{53E1A0DB-35D7-4E49-89B6-F31AEF2A93A0}" type="slidenum">
              <a:rPr lang="en-SG" smtClean="0"/>
              <a:t>4</a:t>
            </a:fld>
            <a:endParaRPr lang="en-SG"/>
          </a:p>
        </p:txBody>
      </p:sp>
    </p:spTree>
    <p:extLst>
      <p:ext uri="{BB962C8B-B14F-4D97-AF65-F5344CB8AC3E}">
        <p14:creationId xmlns:p14="http://schemas.microsoft.com/office/powerpoint/2010/main" val="2104551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t>References:</a:t>
            </a:r>
          </a:p>
          <a:p>
            <a:pPr marL="171450" indent="-171450">
              <a:buFont typeface="Arial" panose="020B0604020202020204" pitchFamily="34" charset="0"/>
              <a:buChar char="•"/>
            </a:pPr>
            <a:r>
              <a:rPr lang="en-SG" b="0" i="0" dirty="0"/>
              <a:t>Christof Koch, “When Does Consciousness Arise in Babies,” </a:t>
            </a:r>
            <a:r>
              <a:rPr lang="en-SG" b="0" i="1" dirty="0"/>
              <a:t>Scientific American</a:t>
            </a:r>
            <a:r>
              <a:rPr lang="en-SG" b="0" i="0" dirty="0"/>
              <a:t> (September 1, 2009). https://www.scientificamerican.com/article/when-does-consciousness-arise/</a:t>
            </a:r>
          </a:p>
          <a:p>
            <a:pPr marL="171450" indent="-171450">
              <a:buFont typeface="Arial" panose="020B0604020202020204" pitchFamily="34" charset="0"/>
              <a:buChar char="•"/>
            </a:pPr>
            <a:r>
              <a:rPr lang="en-SG" b="0" i="0" dirty="0"/>
              <a:t>Royal College of Obstetricians &amp; Gynaecologists, “</a:t>
            </a:r>
            <a:r>
              <a:rPr lang="en-US" b="0" i="0" dirty="0"/>
              <a:t>Fetal Awareness: Updated review of Research and Recommendations for Practice” (December 2022).  </a:t>
            </a:r>
            <a:endParaRPr lang="en-SG" b="0" i="0" dirty="0"/>
          </a:p>
        </p:txBody>
      </p:sp>
      <p:sp>
        <p:nvSpPr>
          <p:cNvPr id="4" name="Slide Number Placeholder 3"/>
          <p:cNvSpPr>
            <a:spLocks noGrp="1"/>
          </p:cNvSpPr>
          <p:nvPr>
            <p:ph type="sldNum" sz="quarter" idx="5"/>
          </p:nvPr>
        </p:nvSpPr>
        <p:spPr/>
        <p:txBody>
          <a:bodyPr/>
          <a:lstStyle/>
          <a:p>
            <a:fld id="{53E1A0DB-35D7-4E49-89B6-F31AEF2A93A0}" type="slidenum">
              <a:rPr lang="en-SG" smtClean="0"/>
              <a:t>5</a:t>
            </a:fld>
            <a:endParaRPr lang="en-SG"/>
          </a:p>
        </p:txBody>
      </p:sp>
    </p:spTree>
    <p:extLst>
      <p:ext uri="{BB962C8B-B14F-4D97-AF65-F5344CB8AC3E}">
        <p14:creationId xmlns:p14="http://schemas.microsoft.com/office/powerpoint/2010/main" val="2548929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dirty="0"/>
              <a:t>References: </a:t>
            </a:r>
          </a:p>
          <a:p>
            <a:pPr marL="171450" indent="-171450">
              <a:buFont typeface="Arial" panose="020B0604020202020204" pitchFamily="34" charset="0"/>
              <a:buChar char="•"/>
            </a:pPr>
            <a:r>
              <a:rPr lang="en-SG" b="0" dirty="0"/>
              <a:t>Russ Shafer-Landau, </a:t>
            </a:r>
            <a:r>
              <a:rPr lang="en-SG" b="0" i="1" dirty="0"/>
              <a:t>Living Ethics: An Introduction with Readings</a:t>
            </a:r>
            <a:r>
              <a:rPr lang="en-SG" b="0" i="0" dirty="0"/>
              <a:t>, Third Edition (Oxford University Press, 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b="0" dirty="0"/>
              <a:t>Mark Timmons, </a:t>
            </a:r>
            <a:r>
              <a:rPr lang="en-SG" b="0" i="1" dirty="0"/>
              <a:t>Disputed Moral Issues: A Reader</a:t>
            </a:r>
            <a:r>
              <a:rPr lang="en-SG" b="0" i="0" dirty="0"/>
              <a:t>, Fifth Edition (Oxford University Press, 2020).</a:t>
            </a:r>
          </a:p>
          <a:p>
            <a:pPr marL="171450" indent="-171450">
              <a:buFont typeface="Arial" panose="020B0604020202020204" pitchFamily="34" charset="0"/>
              <a:buChar char="•"/>
            </a:pPr>
            <a:endParaRPr lang="en-SG" b="0" i="0" dirty="0"/>
          </a:p>
        </p:txBody>
      </p:sp>
      <p:sp>
        <p:nvSpPr>
          <p:cNvPr id="4" name="Slide Number Placeholder 3"/>
          <p:cNvSpPr>
            <a:spLocks noGrp="1"/>
          </p:cNvSpPr>
          <p:nvPr>
            <p:ph type="sldNum" sz="quarter" idx="5"/>
          </p:nvPr>
        </p:nvSpPr>
        <p:spPr/>
        <p:txBody>
          <a:bodyPr/>
          <a:lstStyle/>
          <a:p>
            <a:fld id="{53E1A0DB-35D7-4E49-89B6-F31AEF2A93A0}" type="slidenum">
              <a:rPr lang="en-SG" smtClean="0"/>
              <a:t>6</a:t>
            </a:fld>
            <a:endParaRPr lang="en-SG"/>
          </a:p>
        </p:txBody>
      </p:sp>
    </p:spTree>
    <p:extLst>
      <p:ext uri="{BB962C8B-B14F-4D97-AF65-F5344CB8AC3E}">
        <p14:creationId xmlns:p14="http://schemas.microsoft.com/office/powerpoint/2010/main" val="3507395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dirty="0"/>
              <a:t>References: </a:t>
            </a:r>
          </a:p>
          <a:p>
            <a:pPr marL="171450" indent="-171450">
              <a:buFont typeface="Arial" panose="020B0604020202020204" pitchFamily="34" charset="0"/>
              <a:buChar char="•"/>
            </a:pPr>
            <a:r>
              <a:rPr lang="en-SG" b="0" dirty="0"/>
              <a:t>Mark Timmons, </a:t>
            </a:r>
            <a:r>
              <a:rPr lang="en-SG" b="0" i="1" dirty="0"/>
              <a:t>Disputed Moral Issues: A Reader</a:t>
            </a:r>
            <a:r>
              <a:rPr lang="en-SG" b="0" i="0" dirty="0"/>
              <a:t>, Fifth Edition (Oxford University Press, 2020).</a:t>
            </a:r>
          </a:p>
          <a:p>
            <a:pPr marL="171450" indent="-171450">
              <a:buFont typeface="Arial" panose="020B0604020202020204" pitchFamily="34" charset="0"/>
              <a:buChar char="•"/>
            </a:pPr>
            <a:r>
              <a:rPr lang="en-SG" b="0" i="0" dirty="0"/>
              <a:t>Rachel K. Jones and Amy Friedrich-</a:t>
            </a:r>
            <a:r>
              <a:rPr lang="en-SG" b="0" i="0" dirty="0" err="1"/>
              <a:t>Karnik</a:t>
            </a:r>
            <a:r>
              <a:rPr lang="en-SG" b="0" i="0" dirty="0"/>
              <a:t>, “</a:t>
            </a:r>
            <a:r>
              <a:rPr lang="en-US" b="0" i="0" dirty="0"/>
              <a:t>Medication Abortion Accounted for 63% of All US Abortions in 2023—An Increase from 53% in 2020,” Guttmacher Institute (March 19, 2024). https://www.guttmacher.org/2024/03/medication-abortion-accounted-63-all-us-abortions-2023-increase-53-2020 </a:t>
            </a:r>
          </a:p>
          <a:p>
            <a:pPr marL="171450" indent="-171450">
              <a:buFont typeface="Arial" panose="020B0604020202020204" pitchFamily="34" charset="0"/>
              <a:buChar char="•"/>
            </a:pPr>
            <a:r>
              <a:rPr lang="en-US" b="0" i="0" dirty="0"/>
              <a:t>Annette Choi and Way </a:t>
            </a:r>
            <a:r>
              <a:rPr lang="en-US" b="0" i="0" dirty="0" err="1"/>
              <a:t>Mullery</a:t>
            </a:r>
            <a:r>
              <a:rPr lang="en-US" b="0" i="0" dirty="0"/>
              <a:t>, “How safe is the abortion pill compared with other common drugs?” </a:t>
            </a:r>
            <a:r>
              <a:rPr lang="en-US" b="0" i="1" dirty="0"/>
              <a:t>CNN</a:t>
            </a:r>
            <a:r>
              <a:rPr lang="en-US" b="0" i="0" dirty="0"/>
              <a:t> (June 13, 2024). https://www.cnn.com/health/abortion-pill-safety-dg/index.html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Holly </a:t>
            </a:r>
            <a:r>
              <a:rPr lang="en-US" b="0" i="0" dirty="0" err="1"/>
              <a:t>Honderich</a:t>
            </a:r>
            <a:r>
              <a:rPr lang="en-US" b="0" i="0" dirty="0"/>
              <a:t> &amp; Rachel </a:t>
            </a:r>
            <a:r>
              <a:rPr lang="en-US" b="0" i="0" dirty="0" err="1"/>
              <a:t>Schraer</a:t>
            </a:r>
            <a:r>
              <a:rPr lang="en-US" b="0" i="0" dirty="0"/>
              <a:t>, “</a:t>
            </a:r>
            <a:r>
              <a:rPr lang="en-US" b="0" i="0" u="none" strike="noStrike" dirty="0">
                <a:solidFill>
                  <a:srgbClr val="202224"/>
                </a:solidFill>
                <a:effectLst/>
                <a:latin typeface="BBC Reith Serif"/>
              </a:rPr>
              <a:t>What is the abortion pill mifepristone and is it safe?” </a:t>
            </a:r>
            <a:r>
              <a:rPr lang="en-US" b="0" i="1" u="none" strike="noStrike" dirty="0">
                <a:solidFill>
                  <a:srgbClr val="202224"/>
                </a:solidFill>
                <a:effectLst/>
                <a:latin typeface="BBC Reith Serif"/>
              </a:rPr>
              <a:t>BBC</a:t>
            </a:r>
            <a:r>
              <a:rPr lang="en-US" b="0" i="0" u="none" strike="noStrike" dirty="0">
                <a:solidFill>
                  <a:srgbClr val="202224"/>
                </a:solidFill>
                <a:effectLst/>
                <a:latin typeface="BBC Reith Serif"/>
              </a:rPr>
              <a:t> (13 June 2024). https://www.bbc.com/news/world-us-canada-64981719</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u="none" strike="noStrike" dirty="0">
                <a:solidFill>
                  <a:srgbClr val="202224"/>
                </a:solidFill>
                <a:effectLst/>
                <a:latin typeface="BBC Reith Serif"/>
              </a:rPr>
              <a:t>World Health Organization, “</a:t>
            </a:r>
            <a:r>
              <a:rPr lang="en-US" b="0" i="0" dirty="0">
                <a:solidFill>
                  <a:srgbClr val="3C4245"/>
                </a:solidFill>
                <a:effectLst/>
                <a:latin typeface="Noto Sans" panose="020B0502040504020204" pitchFamily="34" charset="0"/>
              </a:rPr>
              <a:t>WHO launches new guideline to help health-care workers ensure safe medical abortion care” (8 January 2019). </a:t>
            </a:r>
            <a:r>
              <a:rPr lang="en-US" b="0" i="0" u="none" strike="noStrike" dirty="0">
                <a:solidFill>
                  <a:srgbClr val="202224"/>
                </a:solidFill>
                <a:effectLst/>
                <a:latin typeface="BBC Reith Serif"/>
              </a:rPr>
              <a:t> https://www.who.int/news/item/08-01-2019-new-guideline-to-help-health-care-workers-ensure-safe-medical-abortion-care</a:t>
            </a:r>
            <a:endParaRPr lang="en-US" b="0" i="0" dirty="0"/>
          </a:p>
          <a:p>
            <a:pPr marL="171450" indent="-171450">
              <a:buFont typeface="Arial" panose="020B0604020202020204" pitchFamily="34" charset="0"/>
              <a:buChar char="•"/>
            </a:pPr>
            <a:endParaRPr lang="en-US" b="0" i="0" dirty="0"/>
          </a:p>
        </p:txBody>
      </p:sp>
      <p:sp>
        <p:nvSpPr>
          <p:cNvPr id="4" name="Slide Number Placeholder 3"/>
          <p:cNvSpPr>
            <a:spLocks noGrp="1"/>
          </p:cNvSpPr>
          <p:nvPr>
            <p:ph type="sldNum" sz="quarter" idx="5"/>
          </p:nvPr>
        </p:nvSpPr>
        <p:spPr/>
        <p:txBody>
          <a:bodyPr/>
          <a:lstStyle/>
          <a:p>
            <a:fld id="{53E1A0DB-35D7-4E49-89B6-F31AEF2A93A0}" type="slidenum">
              <a:rPr lang="en-SG" smtClean="0"/>
              <a:t>7</a:t>
            </a:fld>
            <a:endParaRPr lang="en-SG"/>
          </a:p>
        </p:txBody>
      </p:sp>
    </p:spTree>
    <p:extLst>
      <p:ext uri="{BB962C8B-B14F-4D97-AF65-F5344CB8AC3E}">
        <p14:creationId xmlns:p14="http://schemas.microsoft.com/office/powerpoint/2010/main" val="2269804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C4324-5903-3433-C33F-362B12866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31BD8-0C12-250A-3E5B-C241D961D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F249A-D636-9210-AF8E-41E9B17FCE9A}"/>
              </a:ext>
            </a:extLst>
          </p:cNvPr>
          <p:cNvSpPr>
            <a:spLocks noGrp="1"/>
          </p:cNvSpPr>
          <p:nvPr>
            <p:ph type="body" idx="1"/>
          </p:nvPr>
        </p:nvSpPr>
        <p:spPr/>
        <p:txBody>
          <a:bodyPr/>
          <a:lstStyle/>
          <a:p>
            <a:r>
              <a:rPr lang="en-US" b="0" i="0" dirty="0"/>
              <a:t>References: </a:t>
            </a:r>
            <a:r>
              <a:rPr lang="en-SG" b="0" i="0" dirty="0"/>
              <a:t> </a:t>
            </a:r>
          </a:p>
          <a:p>
            <a:pPr marL="171450" indent="-171450">
              <a:buFont typeface="Arial" panose="020B0604020202020204" pitchFamily="34" charset="0"/>
              <a:buChar char="•"/>
            </a:pPr>
            <a:r>
              <a:rPr lang="en-SG" b="0" i="0" dirty="0"/>
              <a:t>Genevra Pittman, “Abortion safer than giving birth: study,” </a:t>
            </a:r>
            <a:r>
              <a:rPr lang="en-SG" b="0" i="1" dirty="0"/>
              <a:t>Reuters</a:t>
            </a:r>
            <a:r>
              <a:rPr lang="en-SG" b="0" i="0" dirty="0"/>
              <a:t> (January 23, 2012). https://www.reuters.com/article/us-abortion/abortion-safer-than-giving-birth-study-idUSTRE80M2BS20120123/</a:t>
            </a:r>
          </a:p>
          <a:p>
            <a:pPr marL="171450" indent="-171450">
              <a:buFont typeface="Arial" panose="020B0604020202020204" pitchFamily="34" charset="0"/>
              <a:buChar char="•"/>
            </a:pPr>
            <a:r>
              <a:rPr lang="en-US" b="0" i="0" dirty="0">
                <a:solidFill>
                  <a:srgbClr val="212121"/>
                </a:solidFill>
                <a:effectLst/>
                <a:latin typeface="BlinkMacSystemFont"/>
              </a:rPr>
              <a:t>Raymond, E. G., &amp; Grimes, D. A. (2012). The comparative safety of legal induced abortion and childbirth in the United States. </a:t>
            </a:r>
            <a:r>
              <a:rPr lang="en-US" b="0" i="1" dirty="0">
                <a:solidFill>
                  <a:srgbClr val="212121"/>
                </a:solidFill>
                <a:effectLst/>
                <a:latin typeface="BlinkMacSystemFont"/>
              </a:rPr>
              <a:t>Obstetrics and gynecology</a:t>
            </a:r>
            <a:r>
              <a:rPr lang="en-US" b="0" i="0" dirty="0">
                <a:solidFill>
                  <a:srgbClr val="212121"/>
                </a:solidFill>
                <a:effectLst/>
                <a:latin typeface="BlinkMacSystemFont"/>
              </a:rPr>
              <a:t>, </a:t>
            </a:r>
            <a:r>
              <a:rPr lang="en-US" b="0" i="1" dirty="0">
                <a:solidFill>
                  <a:srgbClr val="212121"/>
                </a:solidFill>
                <a:effectLst/>
                <a:latin typeface="BlinkMacSystemFont"/>
              </a:rPr>
              <a:t>119</a:t>
            </a:r>
            <a:r>
              <a:rPr lang="en-US" b="0" i="0" dirty="0">
                <a:solidFill>
                  <a:srgbClr val="212121"/>
                </a:solidFill>
                <a:effectLst/>
                <a:latin typeface="BlinkMacSystemFont"/>
              </a:rPr>
              <a:t>(2 Pt 1), 215–219. https://doi.org/10.1097/AOG.0b013e31823fe923</a:t>
            </a:r>
          </a:p>
          <a:p>
            <a:pPr marL="171450" indent="-171450">
              <a:buFont typeface="Arial" panose="020B0604020202020204" pitchFamily="34" charset="0"/>
              <a:buChar char="•"/>
            </a:pPr>
            <a:r>
              <a:rPr lang="en-US" b="0" i="0" dirty="0"/>
              <a:t>Upadhyay, Ushma D. PhD, MPH; Desai, Sheila MPH; </a:t>
            </a:r>
            <a:r>
              <a:rPr lang="en-US" b="0" i="0" dirty="0" err="1"/>
              <a:t>Zlidar</a:t>
            </a:r>
            <a:r>
              <a:rPr lang="en-US" b="0" i="0" dirty="0"/>
              <a:t>, Vera MHS; Weitz, Tracy A. PhD, MPA; Grossman, Daniel MD; Anderson, Patricia MPH; Taylor, Diana PhD, RNP. Incidence of Emergency Department Visits and Complications After Abortion. Obstetrics &amp; Gynecology 125(1):p 175-183, January 2015. | DOI: 10.1097/AOG.0000000000000603 </a:t>
            </a:r>
          </a:p>
          <a:p>
            <a:pPr marL="171450" indent="-171450">
              <a:buFont typeface="Arial" panose="020B0604020202020204" pitchFamily="34" charset="0"/>
              <a:buChar char="•"/>
            </a:pPr>
            <a:r>
              <a:rPr lang="en-US" b="0" i="0" dirty="0"/>
              <a:t>Annette Choi and Way Mullery, “How safe is the abortion pill compared with other common drugs?” </a:t>
            </a:r>
            <a:r>
              <a:rPr lang="en-US" b="0" i="1" dirty="0"/>
              <a:t>CNN</a:t>
            </a:r>
            <a:r>
              <a:rPr lang="en-US" b="0" i="0" dirty="0"/>
              <a:t> (June 13, 2024). https://www.cnn.com/health/abortion-pill-safety-dg/index.html</a:t>
            </a:r>
          </a:p>
          <a:p>
            <a:pPr marL="171450" indent="-171450">
              <a:buFont typeface="Arial" panose="020B0604020202020204" pitchFamily="34" charset="0"/>
              <a:buChar char="•"/>
            </a:pPr>
            <a:r>
              <a:rPr lang="en-US" b="0" i="0" dirty="0"/>
              <a:t>Amy Schoenfield Walker, Jonathan Corum, Malika Khurana, and Ashley Wu, “Are Abortion Pills Safe? Here’s the Evidence,” </a:t>
            </a:r>
            <a:r>
              <a:rPr lang="en-US" b="0" i="1" dirty="0"/>
              <a:t>New York Times</a:t>
            </a:r>
            <a:r>
              <a:rPr lang="en-US" b="0" i="0" dirty="0"/>
              <a:t> (March 25, 2024). https://www.nytimes.com/interactive/2023/04/01/health/abortion-pill-safety.html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Holly </a:t>
            </a:r>
            <a:r>
              <a:rPr lang="en-US" b="0" i="0" dirty="0" err="1"/>
              <a:t>Honderich</a:t>
            </a:r>
            <a:r>
              <a:rPr lang="en-US" b="0" i="0" dirty="0"/>
              <a:t> &amp; Rachel Schraer, “</a:t>
            </a:r>
            <a:r>
              <a:rPr lang="en-US" b="0" i="0" u="none" strike="noStrike" dirty="0">
                <a:solidFill>
                  <a:srgbClr val="202224"/>
                </a:solidFill>
                <a:effectLst/>
                <a:latin typeface="BBC Reith Serif"/>
              </a:rPr>
              <a:t>What is the abortion pill mifepristone and is it safe?” </a:t>
            </a:r>
            <a:r>
              <a:rPr lang="en-US" b="0" i="1" u="none" strike="noStrike" dirty="0">
                <a:solidFill>
                  <a:srgbClr val="202224"/>
                </a:solidFill>
                <a:effectLst/>
                <a:latin typeface="BBC Reith Serif"/>
              </a:rPr>
              <a:t>BBC</a:t>
            </a:r>
            <a:r>
              <a:rPr lang="en-US" b="0" i="0" u="none" strike="noStrike" dirty="0">
                <a:solidFill>
                  <a:srgbClr val="202224"/>
                </a:solidFill>
                <a:effectLst/>
                <a:latin typeface="BBC Reith Serif"/>
              </a:rPr>
              <a:t> (13 June 2024). https://www.bbc.com/news/world-us-canada-64981719</a:t>
            </a:r>
          </a:p>
          <a:p>
            <a:pPr marL="171450" indent="-171450">
              <a:buFont typeface="Arial" panose="020B0604020202020204" pitchFamily="34" charset="0"/>
              <a:buChar char="•"/>
            </a:pPr>
            <a:endParaRPr lang="en-US" b="0" i="0" dirty="0"/>
          </a:p>
        </p:txBody>
      </p:sp>
      <p:sp>
        <p:nvSpPr>
          <p:cNvPr id="4" name="Slide Number Placeholder 3">
            <a:extLst>
              <a:ext uri="{FF2B5EF4-FFF2-40B4-BE49-F238E27FC236}">
                <a16:creationId xmlns:a16="http://schemas.microsoft.com/office/drawing/2014/main" id="{E9FBE723-0914-1C31-FCB6-A93292D3C653}"/>
              </a:ext>
            </a:extLst>
          </p:cNvPr>
          <p:cNvSpPr>
            <a:spLocks noGrp="1"/>
          </p:cNvSpPr>
          <p:nvPr>
            <p:ph type="sldNum" sz="quarter" idx="5"/>
          </p:nvPr>
        </p:nvSpPr>
        <p:spPr/>
        <p:txBody>
          <a:bodyPr/>
          <a:lstStyle/>
          <a:p>
            <a:fld id="{53E1A0DB-35D7-4E49-89B6-F31AEF2A93A0}" type="slidenum">
              <a:rPr lang="en-SG" smtClean="0"/>
              <a:t>8</a:t>
            </a:fld>
            <a:endParaRPr lang="en-SG"/>
          </a:p>
        </p:txBody>
      </p:sp>
    </p:spTree>
    <p:extLst>
      <p:ext uri="{BB962C8B-B14F-4D97-AF65-F5344CB8AC3E}">
        <p14:creationId xmlns:p14="http://schemas.microsoft.com/office/powerpoint/2010/main" val="907442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0" i="0" dirty="0">
                <a:solidFill>
                  <a:srgbClr val="222222"/>
                </a:solidFill>
                <a:effectLst/>
                <a:latin typeface="Courier New" panose="02070309020205020404" pitchFamily="49" charset="0"/>
              </a:rPr>
              <a:t>References:</a:t>
            </a:r>
          </a:p>
          <a:p>
            <a:pPr marL="171450" indent="-171450">
              <a:buFont typeface="Arial" panose="020B0604020202020204" pitchFamily="34" charset="0"/>
              <a:buChar char="•"/>
            </a:pPr>
            <a:r>
              <a:rPr lang="en-US" b="0" i="0" dirty="0">
                <a:solidFill>
                  <a:srgbClr val="222222"/>
                </a:solidFill>
                <a:effectLst/>
                <a:latin typeface="Courier New" panose="02070309020205020404" pitchFamily="49" charset="0"/>
              </a:rPr>
              <a:t>Better Health Channel, Victoria State Government Department of Health, “Myths and facts about abortion” (12/04/2023). https://www.betterhealth.vic.gov.au/health/HealthyLiving/myths-and-facts-about-abortion</a:t>
            </a:r>
          </a:p>
          <a:p>
            <a:pPr marL="171450" indent="-171450">
              <a:buFont typeface="Arial" panose="020B0604020202020204" pitchFamily="34" charset="0"/>
              <a:buChar char="•"/>
            </a:pPr>
            <a:r>
              <a:rPr lang="en-US" b="0" i="0" dirty="0">
                <a:solidFill>
                  <a:srgbClr val="222222"/>
                </a:solidFill>
                <a:effectLst/>
                <a:latin typeface="Courier New" panose="02070309020205020404" pitchFamily="49" charset="0"/>
              </a:rPr>
              <a:t>National Academies of Sciences, Engineering, and Medicine (NASEM); Health and Medicine Division; Board on Health Care Services; Board on Population Health and Public Health Practice; Committee on Reproductive Health Services: Assessing the Safety and Quality of Abortion Care in the U.S.. The Safety and Quality of Abortion Care in the United States. Washington (DC): National Academies Press (US); 2018 Mar 16. 4, Long-Term Health Effects. Available from: https://www.ncbi.nlm.nih.gov/books/NBK507237/</a:t>
            </a:r>
            <a:endParaRPr lang="en-US" b="0" i="0" dirty="0"/>
          </a:p>
        </p:txBody>
      </p:sp>
      <p:sp>
        <p:nvSpPr>
          <p:cNvPr id="4" name="Slide Number Placeholder 3"/>
          <p:cNvSpPr>
            <a:spLocks noGrp="1"/>
          </p:cNvSpPr>
          <p:nvPr>
            <p:ph type="sldNum" sz="quarter" idx="5"/>
          </p:nvPr>
        </p:nvSpPr>
        <p:spPr/>
        <p:txBody>
          <a:bodyPr/>
          <a:lstStyle/>
          <a:p>
            <a:fld id="{53E1A0DB-35D7-4E49-89B6-F31AEF2A93A0}" type="slidenum">
              <a:rPr lang="en-SG" smtClean="0"/>
              <a:t>9</a:t>
            </a:fld>
            <a:endParaRPr lang="en-SG"/>
          </a:p>
        </p:txBody>
      </p:sp>
    </p:spTree>
    <p:extLst>
      <p:ext uri="{BB962C8B-B14F-4D97-AF65-F5344CB8AC3E}">
        <p14:creationId xmlns:p14="http://schemas.microsoft.com/office/powerpoint/2010/main" val="1540553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27C-3688-2CA2-D9EE-45377A9E7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09A02-FE91-643E-4C91-110E5A02D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FB548-AE05-BD9F-67FD-587E6D3F1BB6}"/>
              </a:ext>
            </a:extLst>
          </p:cNvPr>
          <p:cNvSpPr>
            <a:spLocks noGrp="1"/>
          </p:cNvSpPr>
          <p:nvPr>
            <p:ph type="body" idx="1"/>
          </p:nvPr>
        </p:nvSpPr>
        <p:spPr/>
        <p:txBody>
          <a:bodyPr/>
          <a:lstStyle/>
          <a:p>
            <a:pPr marL="0" indent="0">
              <a:buFont typeface="Arial" panose="020B0604020202020204" pitchFamily="34" charset="0"/>
              <a:buNone/>
            </a:pPr>
            <a:r>
              <a:rPr lang="en-US" b="0" i="0" dirty="0"/>
              <a:t>References:</a:t>
            </a:r>
          </a:p>
          <a:p>
            <a:pPr marL="171450" indent="-171450">
              <a:buFont typeface="Arial" panose="020B0604020202020204" pitchFamily="34" charset="0"/>
              <a:buChar char="•"/>
            </a:pPr>
            <a:r>
              <a:rPr lang="en-US" b="0" i="0" dirty="0"/>
              <a:t>Dawn Stacy, “Why Do People Have Abortions,” </a:t>
            </a:r>
            <a:r>
              <a:rPr lang="en-US" b="0" i="1" dirty="0" err="1"/>
              <a:t>verywellhealth</a:t>
            </a:r>
            <a:r>
              <a:rPr lang="en-US" b="0" i="0" dirty="0"/>
              <a:t> (March 20, 2025). https://www.verywellhealth.com/reasons-for-abortion-906589</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Biggs, M.A., Gould, H. &amp; Foster, D.G. Understanding why women seek abortions in the US. </a:t>
            </a:r>
            <a:r>
              <a:rPr lang="en-US" sz="1200" b="0" i="1" kern="1200" dirty="0">
                <a:solidFill>
                  <a:schemeClr val="tx1"/>
                </a:solidFill>
                <a:effectLst/>
                <a:latin typeface="+mn-lt"/>
                <a:ea typeface="+mn-ea"/>
                <a:cs typeface="+mn-cs"/>
              </a:rPr>
              <a:t>BMC Women's Health</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13</a:t>
            </a:r>
            <a:r>
              <a:rPr lang="en-US" sz="1200" b="0" i="0" kern="1200" dirty="0">
                <a:solidFill>
                  <a:schemeClr val="tx1"/>
                </a:solidFill>
                <a:effectLst/>
                <a:latin typeface="+mn-lt"/>
                <a:ea typeface="+mn-ea"/>
                <a:cs typeface="+mn-cs"/>
              </a:rPr>
              <a:t>, 29 (2013). https://doi.org/10.1186/1472-6874-13-29</a:t>
            </a:r>
            <a:endParaRPr lang="en-US" b="0" i="0" dirty="0"/>
          </a:p>
        </p:txBody>
      </p:sp>
      <p:sp>
        <p:nvSpPr>
          <p:cNvPr id="4" name="Slide Number Placeholder 3">
            <a:extLst>
              <a:ext uri="{FF2B5EF4-FFF2-40B4-BE49-F238E27FC236}">
                <a16:creationId xmlns:a16="http://schemas.microsoft.com/office/drawing/2014/main" id="{60D44473-313F-1A7A-294C-A9946C1C28F8}"/>
              </a:ext>
            </a:extLst>
          </p:cNvPr>
          <p:cNvSpPr>
            <a:spLocks noGrp="1"/>
          </p:cNvSpPr>
          <p:nvPr>
            <p:ph type="sldNum" sz="quarter" idx="5"/>
          </p:nvPr>
        </p:nvSpPr>
        <p:spPr/>
        <p:txBody>
          <a:bodyPr/>
          <a:lstStyle/>
          <a:p>
            <a:fld id="{53E1A0DB-35D7-4E49-89B6-F31AEF2A93A0}" type="slidenum">
              <a:rPr lang="en-SG" smtClean="0"/>
              <a:t>10</a:t>
            </a:fld>
            <a:endParaRPr lang="en-SG"/>
          </a:p>
        </p:txBody>
      </p:sp>
    </p:spTree>
    <p:extLst>
      <p:ext uri="{BB962C8B-B14F-4D97-AF65-F5344CB8AC3E}">
        <p14:creationId xmlns:p14="http://schemas.microsoft.com/office/powerpoint/2010/main" val="238081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CE5AE-BD5B-7E4C-4D4A-575742C6F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5B403-2866-832F-1072-2A5E89F9E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18F112-185D-1EC2-4A5D-6E30E2B25522}"/>
              </a:ext>
            </a:extLst>
          </p:cNvPr>
          <p:cNvSpPr>
            <a:spLocks noGrp="1"/>
          </p:cNvSpPr>
          <p:nvPr>
            <p:ph type="body" idx="1"/>
          </p:nvPr>
        </p:nvSpPr>
        <p:spPr/>
        <p:txBody>
          <a:bodyPr/>
          <a:lstStyle/>
          <a:p>
            <a:pPr marL="0" indent="0">
              <a:buFont typeface="Arial" panose="020B0604020202020204" pitchFamily="34" charset="0"/>
              <a:buNone/>
            </a:pPr>
            <a:r>
              <a:rPr lang="en-US" b="0" i="0" dirty="0">
                <a:solidFill>
                  <a:srgbClr val="222222"/>
                </a:solidFill>
                <a:effectLst/>
                <a:latin typeface="Courier New" panose="02070309020205020404" pitchFamily="49" charset="0"/>
              </a:rPr>
              <a:t>References:</a:t>
            </a:r>
          </a:p>
          <a:p>
            <a:pPr marL="171450" indent="-171450">
              <a:buFont typeface="Arial" panose="020B0604020202020204" pitchFamily="34" charset="0"/>
              <a:buChar char="•"/>
            </a:pPr>
            <a:r>
              <a:rPr lang="en-US" b="0" i="0" dirty="0">
                <a:solidFill>
                  <a:srgbClr val="212121"/>
                </a:solidFill>
                <a:effectLst/>
                <a:latin typeface="BlinkMacSystemFont"/>
              </a:rPr>
              <a:t>Rocca, C. H., </a:t>
            </a:r>
            <a:r>
              <a:rPr lang="en-US" b="0" i="0" dirty="0" err="1">
                <a:solidFill>
                  <a:srgbClr val="212121"/>
                </a:solidFill>
                <a:effectLst/>
                <a:latin typeface="BlinkMacSystemFont"/>
              </a:rPr>
              <a:t>Kimport</a:t>
            </a:r>
            <a:r>
              <a:rPr lang="en-US" b="0" i="0" dirty="0">
                <a:solidFill>
                  <a:srgbClr val="212121"/>
                </a:solidFill>
                <a:effectLst/>
                <a:latin typeface="BlinkMacSystemFont"/>
              </a:rPr>
              <a:t>, K., Roberts, S. C., Gould, H., Neuhaus, J., &amp; Foster, D. G. (2015). Decision Rightness and Emotional Responses to Abortion in the United States: A Longitudinal Study. </a:t>
            </a:r>
            <a:r>
              <a:rPr lang="en-US" b="0" i="1" dirty="0" err="1">
                <a:solidFill>
                  <a:srgbClr val="212121"/>
                </a:solidFill>
                <a:effectLst/>
                <a:latin typeface="BlinkMacSystemFont"/>
              </a:rPr>
              <a:t>PloS</a:t>
            </a:r>
            <a:r>
              <a:rPr lang="en-US" b="0" i="1" dirty="0">
                <a:solidFill>
                  <a:srgbClr val="212121"/>
                </a:solidFill>
                <a:effectLst/>
                <a:latin typeface="BlinkMacSystemFont"/>
              </a:rPr>
              <a:t> one</a:t>
            </a:r>
            <a:r>
              <a:rPr lang="en-US" b="0" i="0" dirty="0">
                <a:solidFill>
                  <a:srgbClr val="212121"/>
                </a:solidFill>
                <a:effectLst/>
                <a:latin typeface="BlinkMacSystemFont"/>
              </a:rPr>
              <a:t>, </a:t>
            </a:r>
            <a:r>
              <a:rPr lang="en-US" b="0" i="1" dirty="0">
                <a:solidFill>
                  <a:srgbClr val="212121"/>
                </a:solidFill>
                <a:effectLst/>
                <a:latin typeface="BlinkMacSystemFont"/>
              </a:rPr>
              <a:t>10</a:t>
            </a:r>
            <a:r>
              <a:rPr lang="en-US" b="0" i="0" dirty="0">
                <a:solidFill>
                  <a:srgbClr val="212121"/>
                </a:solidFill>
                <a:effectLst/>
                <a:latin typeface="BlinkMacSystemFont"/>
              </a:rPr>
              <a:t>(7), e0128832. https://doi.org/10.1371/journal.pone.0128832</a:t>
            </a:r>
          </a:p>
          <a:p>
            <a:pPr marL="171450" indent="-171450">
              <a:buFont typeface="Arial" panose="020B0604020202020204" pitchFamily="34" charset="0"/>
              <a:buChar char="•"/>
            </a:pPr>
            <a:r>
              <a:rPr lang="en-SG" b="0" i="0" dirty="0">
                <a:solidFill>
                  <a:srgbClr val="1B1B1B"/>
                </a:solidFill>
                <a:effectLst/>
                <a:latin typeface="Roboto Mono Web"/>
              </a:rPr>
              <a:t>Biggs MA, Brown K, Foster DG. Perceived abortion stigma and psychological well-being over five years after receiving or being denied an abortion. </a:t>
            </a:r>
            <a:r>
              <a:rPr lang="en-SG" b="0" i="0" dirty="0" err="1">
                <a:solidFill>
                  <a:srgbClr val="1B1B1B"/>
                </a:solidFill>
                <a:effectLst/>
                <a:latin typeface="Roboto Mono Web"/>
              </a:rPr>
              <a:t>PLoS</a:t>
            </a:r>
            <a:r>
              <a:rPr lang="en-SG" b="0" i="0" dirty="0">
                <a:solidFill>
                  <a:srgbClr val="1B1B1B"/>
                </a:solidFill>
                <a:effectLst/>
                <a:latin typeface="Roboto Mono Web"/>
              </a:rPr>
              <a:t> One. 2020 Jan 29;15(1):e0226417. </a:t>
            </a:r>
            <a:r>
              <a:rPr lang="en-SG" b="0" i="0" dirty="0" err="1">
                <a:solidFill>
                  <a:srgbClr val="1B1B1B"/>
                </a:solidFill>
                <a:effectLst/>
                <a:latin typeface="Roboto Mono Web"/>
              </a:rPr>
              <a:t>doi</a:t>
            </a:r>
            <a:r>
              <a:rPr lang="en-SG" b="0" i="0" dirty="0">
                <a:solidFill>
                  <a:srgbClr val="1B1B1B"/>
                </a:solidFill>
                <a:effectLst/>
                <a:latin typeface="Roboto Mono Web"/>
              </a:rPr>
              <a:t>: 10.1371/journal.pone.0226417. PMID: 31995559; PMCID: PMC6988908.</a:t>
            </a:r>
            <a:endParaRPr lang="en-US" b="1" i="0" dirty="0"/>
          </a:p>
        </p:txBody>
      </p:sp>
      <p:sp>
        <p:nvSpPr>
          <p:cNvPr id="4" name="Slide Number Placeholder 3">
            <a:extLst>
              <a:ext uri="{FF2B5EF4-FFF2-40B4-BE49-F238E27FC236}">
                <a16:creationId xmlns:a16="http://schemas.microsoft.com/office/drawing/2014/main" id="{EE753890-D206-5F40-9EB5-5A391CCEA8B8}"/>
              </a:ext>
            </a:extLst>
          </p:cNvPr>
          <p:cNvSpPr>
            <a:spLocks noGrp="1"/>
          </p:cNvSpPr>
          <p:nvPr>
            <p:ph type="sldNum" sz="quarter" idx="5"/>
          </p:nvPr>
        </p:nvSpPr>
        <p:spPr/>
        <p:txBody>
          <a:bodyPr/>
          <a:lstStyle/>
          <a:p>
            <a:fld id="{53E1A0DB-35D7-4E49-89B6-F31AEF2A93A0}" type="slidenum">
              <a:rPr lang="en-SG" smtClean="0"/>
              <a:t>11</a:t>
            </a:fld>
            <a:endParaRPr lang="en-SG"/>
          </a:p>
        </p:txBody>
      </p:sp>
    </p:spTree>
    <p:extLst>
      <p:ext uri="{BB962C8B-B14F-4D97-AF65-F5344CB8AC3E}">
        <p14:creationId xmlns:p14="http://schemas.microsoft.com/office/powerpoint/2010/main" val="1183777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0" i="0" dirty="0"/>
              <a:t>The Turnaway Study provoked a strong reaction from pro-life groups and some anti-abortion researchers. One paper that criticized the Turnaway Study’s methodology was published in the journal </a:t>
            </a:r>
            <a:r>
              <a:rPr lang="en-US" b="0" i="1" dirty="0"/>
              <a:t>Frontiers in Psychology </a:t>
            </a:r>
            <a:r>
              <a:rPr lang="en-US" b="0" i="0" dirty="0"/>
              <a:t>in 2022, but the paper was later retracted after the journal’s editors conducted a further review. See https://retractionwatch.com/2022/12/29/article-that-critiqued-high-profile-abortion-study-retracted/ . </a:t>
            </a:r>
          </a:p>
          <a:p>
            <a:pPr marL="0" indent="0">
              <a:buFont typeface="Arial" panose="020B0604020202020204" pitchFamily="34" charset="0"/>
              <a:buNone/>
            </a:pPr>
            <a:endParaRPr lang="en-US" b="0" i="0" dirty="0"/>
          </a:p>
          <a:p>
            <a:pPr marL="0" indent="0">
              <a:buFont typeface="Arial" panose="020B0604020202020204" pitchFamily="34" charset="0"/>
              <a:buNone/>
            </a:pPr>
            <a:r>
              <a:rPr lang="en-US" b="1" i="0" dirty="0"/>
              <a:t>References:</a:t>
            </a:r>
          </a:p>
          <a:p>
            <a:pPr marL="171450" indent="-171450">
              <a:buFont typeface="Arial" panose="020B0604020202020204" pitchFamily="34" charset="0"/>
              <a:buChar char="•"/>
            </a:pPr>
            <a:r>
              <a:rPr lang="en-US" b="0" i="0" dirty="0"/>
              <a:t>Advancing New Standards in Reproductive Health (ANSIRH), University of California, San Francisco. “The Turnaway Study.” https://www.ansirh.org/research/ongoing/turnaway-study</a:t>
            </a:r>
          </a:p>
          <a:p>
            <a:pPr marL="171450" indent="-171450">
              <a:buFont typeface="Arial" panose="020B0604020202020204" pitchFamily="34" charset="0"/>
              <a:buChar char="•"/>
            </a:pPr>
            <a:r>
              <a:rPr lang="en-US" b="0" i="0" dirty="0"/>
              <a:t>Diana Greene Foster, “What happens when we deny people abortions,” TEDWomen 2023. https://www.ted.com/talks/diana_greene_foster_what_happens_when_we_deny_people_abortions/transcript?subtitle=en</a:t>
            </a:r>
          </a:p>
        </p:txBody>
      </p:sp>
      <p:sp>
        <p:nvSpPr>
          <p:cNvPr id="4" name="Slide Number Placeholder 3"/>
          <p:cNvSpPr>
            <a:spLocks noGrp="1"/>
          </p:cNvSpPr>
          <p:nvPr>
            <p:ph type="sldNum" sz="quarter" idx="5"/>
          </p:nvPr>
        </p:nvSpPr>
        <p:spPr/>
        <p:txBody>
          <a:bodyPr/>
          <a:lstStyle/>
          <a:p>
            <a:fld id="{53E1A0DB-35D7-4E49-89B6-F31AEF2A93A0}" type="slidenum">
              <a:rPr lang="en-SG" smtClean="0"/>
              <a:t>12</a:t>
            </a:fld>
            <a:endParaRPr lang="en-SG"/>
          </a:p>
        </p:txBody>
      </p:sp>
    </p:spTree>
    <p:extLst>
      <p:ext uri="{BB962C8B-B14F-4D97-AF65-F5344CB8AC3E}">
        <p14:creationId xmlns:p14="http://schemas.microsoft.com/office/powerpoint/2010/main" val="1267372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Reference: Allison McCann and Amy </a:t>
            </a:r>
            <a:r>
              <a:rPr lang="en-US" b="0" dirty="0" err="1"/>
              <a:t>Schoenfield</a:t>
            </a:r>
            <a:r>
              <a:rPr lang="en-US" b="0" dirty="0"/>
              <a:t> Walker, “Tracking Abortion Bans Across the Country,” </a:t>
            </a:r>
            <a:r>
              <a:rPr lang="en-US" b="0" i="1" dirty="0"/>
              <a:t>The New York Times</a:t>
            </a:r>
            <a:r>
              <a:rPr lang="en-US" b="0" i="0" dirty="0"/>
              <a:t> (updated October 7, 2024). https://www.nytimes.com/interactive/2024/us/abortion-laws-roe-v-wade.html</a:t>
            </a:r>
            <a:endParaRPr lang="en-SG" b="0" dirty="0"/>
          </a:p>
        </p:txBody>
      </p:sp>
      <p:sp>
        <p:nvSpPr>
          <p:cNvPr id="4" name="Slide Number Placeholder 3"/>
          <p:cNvSpPr>
            <a:spLocks noGrp="1"/>
          </p:cNvSpPr>
          <p:nvPr>
            <p:ph type="sldNum" sz="quarter" idx="5"/>
          </p:nvPr>
        </p:nvSpPr>
        <p:spPr/>
        <p:txBody>
          <a:bodyPr/>
          <a:lstStyle/>
          <a:p>
            <a:fld id="{53E1A0DB-35D7-4E49-89B6-F31AEF2A93A0}" type="slidenum">
              <a:rPr lang="en-SG" smtClean="0"/>
              <a:t>13</a:t>
            </a:fld>
            <a:endParaRPr lang="en-SG"/>
          </a:p>
        </p:txBody>
      </p:sp>
    </p:spTree>
    <p:extLst>
      <p:ext uri="{BB962C8B-B14F-4D97-AF65-F5344CB8AC3E}">
        <p14:creationId xmlns:p14="http://schemas.microsoft.com/office/powerpoint/2010/main" val="1376926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dirty="0"/>
              <a:t>Source: </a:t>
            </a:r>
            <a:r>
              <a:rPr lang="en-SG" b="0" dirty="0"/>
              <a:t>https://www.pewresearch.org/religion/fact-sheet/public-opinion-on-abortion/</a:t>
            </a:r>
          </a:p>
        </p:txBody>
      </p:sp>
      <p:sp>
        <p:nvSpPr>
          <p:cNvPr id="4" name="Slide Number Placeholder 3"/>
          <p:cNvSpPr>
            <a:spLocks noGrp="1"/>
          </p:cNvSpPr>
          <p:nvPr>
            <p:ph type="sldNum" sz="quarter" idx="5"/>
          </p:nvPr>
        </p:nvSpPr>
        <p:spPr/>
        <p:txBody>
          <a:bodyPr/>
          <a:lstStyle/>
          <a:p>
            <a:fld id="{53E1A0DB-35D7-4E49-89B6-F31AEF2A93A0}" type="slidenum">
              <a:rPr lang="en-SG" smtClean="0"/>
              <a:t>14</a:t>
            </a:fld>
            <a:endParaRPr lang="en-SG"/>
          </a:p>
        </p:txBody>
      </p:sp>
    </p:spTree>
    <p:extLst>
      <p:ext uri="{BB962C8B-B14F-4D97-AF65-F5344CB8AC3E}">
        <p14:creationId xmlns:p14="http://schemas.microsoft.com/office/powerpoint/2010/main" val="786097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t>References:</a:t>
            </a:r>
          </a:p>
          <a:p>
            <a:pPr marL="171450" indent="-171450">
              <a:buFont typeface="Arial" panose="020B0604020202020204" pitchFamily="34" charset="0"/>
              <a:buChar char="•"/>
            </a:pPr>
            <a:r>
              <a:rPr lang="en-SG" b="0" i="0" dirty="0"/>
              <a:t>Isaac Maddow-</a:t>
            </a:r>
            <a:r>
              <a:rPr lang="en-SG" b="0" i="0" dirty="0" err="1"/>
              <a:t>Zimet</a:t>
            </a:r>
            <a:r>
              <a:rPr lang="en-SG" b="0" i="0" dirty="0"/>
              <a:t>, “</a:t>
            </a:r>
            <a:r>
              <a:rPr lang="en-US" b="0" i="0" dirty="0"/>
              <a:t>Despite Bans, Number of Abortions in the United States Increased in 2023,” Guttmacher Institute (March 2024). https://www.guttmacher.org/2024/03/despite-bans-number-abortions-united-states-increased-2023</a:t>
            </a:r>
          </a:p>
          <a:p>
            <a:pPr marL="171450" indent="-171450">
              <a:buFont typeface="Arial" panose="020B0604020202020204" pitchFamily="34" charset="0"/>
              <a:buChar char="•"/>
            </a:pPr>
            <a:r>
              <a:rPr lang="en-US" b="0" i="0" dirty="0">
                <a:solidFill>
                  <a:srgbClr val="333333"/>
                </a:solidFill>
                <a:effectLst/>
                <a:latin typeface="Georgia" panose="02040502050405020303" pitchFamily="18" charset="0"/>
              </a:rPr>
              <a:t>Rachel K. Jones. 2024. “An estimate of lifetime incidence of abortion in the United States using the 2021–2022 Abortion Patient Survey” </a:t>
            </a:r>
            <a:r>
              <a:rPr lang="en-US" b="0" i="1" dirty="0">
                <a:solidFill>
                  <a:srgbClr val="333333"/>
                </a:solidFill>
                <a:effectLst/>
                <a:latin typeface="Georgia" panose="02040502050405020303" pitchFamily="18" charset="0"/>
              </a:rPr>
              <a:t>Contraception</a:t>
            </a:r>
            <a:r>
              <a:rPr lang="en-US" b="0" i="0" dirty="0">
                <a:solidFill>
                  <a:srgbClr val="333333"/>
                </a:solidFill>
                <a:effectLst/>
                <a:latin typeface="Helvetica Neue"/>
              </a:rPr>
              <a:t>, Volume 135, 110445. https://www.contraceptionjournal.org/article/S0010-7824(24)00108-2/fulltext</a:t>
            </a:r>
          </a:p>
          <a:p>
            <a:pPr marL="171450" indent="-171450">
              <a:buFont typeface="Arial" panose="020B0604020202020204" pitchFamily="34" charset="0"/>
              <a:buChar char="•"/>
            </a:pPr>
            <a:r>
              <a:rPr lang="en-US" b="0" i="0" dirty="0">
                <a:solidFill>
                  <a:srgbClr val="333333"/>
                </a:solidFill>
                <a:effectLst/>
                <a:latin typeface="Helvetica Neue"/>
              </a:rPr>
              <a:t>Guttmacher Institute. 2025. “Fact Sheet: Abortion in the United States.” https://www.guttmacher.org/fact-sheet/induced-abortion-united-states</a:t>
            </a:r>
            <a:endParaRPr lang="en-SG" b="0" i="0" dirty="0"/>
          </a:p>
        </p:txBody>
      </p:sp>
      <p:sp>
        <p:nvSpPr>
          <p:cNvPr id="4" name="Slide Number Placeholder 3"/>
          <p:cNvSpPr>
            <a:spLocks noGrp="1"/>
          </p:cNvSpPr>
          <p:nvPr>
            <p:ph type="sldNum" sz="quarter" idx="5"/>
          </p:nvPr>
        </p:nvSpPr>
        <p:spPr/>
        <p:txBody>
          <a:bodyPr/>
          <a:lstStyle/>
          <a:p>
            <a:fld id="{53E1A0DB-35D7-4E49-89B6-F31AEF2A93A0}" type="slidenum">
              <a:rPr lang="en-SG" smtClean="0"/>
              <a:t>15</a:t>
            </a:fld>
            <a:endParaRPr lang="en-SG"/>
          </a:p>
        </p:txBody>
      </p:sp>
    </p:spTree>
    <p:extLst>
      <p:ext uri="{BB962C8B-B14F-4D97-AF65-F5344CB8AC3E}">
        <p14:creationId xmlns:p14="http://schemas.microsoft.com/office/powerpoint/2010/main" val="1295454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t>Reference:</a:t>
            </a:r>
          </a:p>
          <a:p>
            <a:pPr marL="171450" indent="-171450">
              <a:buFont typeface="Arial" panose="020B0604020202020204" pitchFamily="34" charset="0"/>
              <a:buChar char="•"/>
            </a:pPr>
            <a:r>
              <a:rPr lang="en-SG" b="0" i="0" dirty="0"/>
              <a:t>Isaac Maddow-Zimet and Emma Stoskopf-Ehrlich, “Fact Sheet: </a:t>
            </a:r>
            <a:r>
              <a:rPr lang="en-US" b="0" i="0" dirty="0"/>
              <a:t>Abortion in the United States,” Guttmacher Institute (April 2025). https://www.guttmacher.org/fact-sheet/induced-abortion-united-states</a:t>
            </a:r>
            <a:endParaRPr lang="en-SG" b="0" i="0" dirty="0"/>
          </a:p>
        </p:txBody>
      </p:sp>
      <p:sp>
        <p:nvSpPr>
          <p:cNvPr id="4" name="Slide Number Placeholder 3"/>
          <p:cNvSpPr>
            <a:spLocks noGrp="1"/>
          </p:cNvSpPr>
          <p:nvPr>
            <p:ph type="sldNum" sz="quarter" idx="5"/>
          </p:nvPr>
        </p:nvSpPr>
        <p:spPr/>
        <p:txBody>
          <a:bodyPr/>
          <a:lstStyle/>
          <a:p>
            <a:fld id="{53E1A0DB-35D7-4E49-89B6-F31AEF2A93A0}" type="slidenum">
              <a:rPr lang="en-SG" smtClean="0"/>
              <a:t>16</a:t>
            </a:fld>
            <a:endParaRPr lang="en-SG"/>
          </a:p>
        </p:txBody>
      </p:sp>
    </p:spTree>
    <p:extLst>
      <p:ext uri="{BB962C8B-B14F-4D97-AF65-F5344CB8AC3E}">
        <p14:creationId xmlns:p14="http://schemas.microsoft.com/office/powerpoint/2010/main" val="955458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FC6AF-A8F5-C456-2385-A57439009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B1065-DF8D-4F10-1D64-79DCB18AB5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E75C2-4A67-B60C-9C2B-DF303291315F}"/>
              </a:ext>
            </a:extLst>
          </p:cNvPr>
          <p:cNvSpPr>
            <a:spLocks noGrp="1"/>
          </p:cNvSpPr>
          <p:nvPr>
            <p:ph type="body" idx="1"/>
          </p:nvPr>
        </p:nvSpPr>
        <p:spPr/>
        <p:txBody>
          <a:bodyPr/>
          <a:lstStyle/>
          <a:p>
            <a:r>
              <a:rPr lang="en-US" b="0" i="0" dirty="0"/>
              <a:t>Reference:</a:t>
            </a:r>
          </a:p>
          <a:p>
            <a:pPr marL="171450" indent="-171450">
              <a:buFont typeface="Arial" panose="020B0604020202020204" pitchFamily="34" charset="0"/>
              <a:buChar char="•"/>
            </a:pPr>
            <a:r>
              <a:rPr lang="en-SG" b="0" i="0" dirty="0"/>
              <a:t>Ivette Gomez, Alina </a:t>
            </a:r>
            <a:r>
              <a:rPr lang="en-SG" b="0" i="0" dirty="0" err="1"/>
              <a:t>Salganicoff</a:t>
            </a:r>
            <a:r>
              <a:rPr lang="en-SG" b="0" i="0" dirty="0"/>
              <a:t>, and Laurie Sobel, “Abortions Later in Pregnancy in a Post-Dobbs Era,” KFF (February 21, 2024). https://www.kff.org/womens-health-policy/abortions-later-in-pregnancy-in-a-post-dobbs-era/</a:t>
            </a:r>
          </a:p>
        </p:txBody>
      </p:sp>
      <p:sp>
        <p:nvSpPr>
          <p:cNvPr id="4" name="Slide Number Placeholder 3">
            <a:extLst>
              <a:ext uri="{FF2B5EF4-FFF2-40B4-BE49-F238E27FC236}">
                <a16:creationId xmlns:a16="http://schemas.microsoft.com/office/drawing/2014/main" id="{AECA1793-9C12-C8D7-F131-864017BEDCD0}"/>
              </a:ext>
            </a:extLst>
          </p:cNvPr>
          <p:cNvSpPr>
            <a:spLocks noGrp="1"/>
          </p:cNvSpPr>
          <p:nvPr>
            <p:ph type="sldNum" sz="quarter" idx="5"/>
          </p:nvPr>
        </p:nvSpPr>
        <p:spPr/>
        <p:txBody>
          <a:bodyPr/>
          <a:lstStyle/>
          <a:p>
            <a:fld id="{53E1A0DB-35D7-4E49-89B6-F31AEF2A93A0}" type="slidenum">
              <a:rPr lang="en-SG" smtClean="0"/>
              <a:t>17</a:t>
            </a:fld>
            <a:endParaRPr lang="en-SG"/>
          </a:p>
        </p:txBody>
      </p:sp>
    </p:spTree>
    <p:extLst>
      <p:ext uri="{BB962C8B-B14F-4D97-AF65-F5344CB8AC3E}">
        <p14:creationId xmlns:p14="http://schemas.microsoft.com/office/powerpoint/2010/main" val="225988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SG" b="0" i="0" dirty="0"/>
              <a:t>References: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b="0" i="0" dirty="0"/>
              <a:t>Johns Hopkins Bloomberg School of Public Health, “</a:t>
            </a:r>
            <a:r>
              <a:rPr lang="en-US" b="0" i="0" dirty="0"/>
              <a:t>Two New Studies Provide Broadest Evidence to Date of Unequal Impacts of Abortion Bans” (February 13, 2025). https://publichealth.jhu.edu/2025/two-new-studies-provide-broadest-evidence-to-date-of-unequal-impacts-of-abortion-bans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Nancy Lapid, “Infant mortality rises in states with abortion bans, study finds,” (February 13, 2025). https://www.reuters.com/world/us/infant-mortality-rises-states-with-abortion-bans-study-finds-2025-02-13/</a:t>
            </a:r>
            <a:endParaRPr lang="en-SG" dirty="0"/>
          </a:p>
        </p:txBody>
      </p:sp>
      <p:sp>
        <p:nvSpPr>
          <p:cNvPr id="4" name="Slide Number Placeholder 3"/>
          <p:cNvSpPr>
            <a:spLocks noGrp="1"/>
          </p:cNvSpPr>
          <p:nvPr>
            <p:ph type="sldNum" sz="quarter" idx="5"/>
          </p:nvPr>
        </p:nvSpPr>
        <p:spPr/>
        <p:txBody>
          <a:bodyPr/>
          <a:lstStyle/>
          <a:p>
            <a:fld id="{53E1A0DB-35D7-4E49-89B6-F31AEF2A93A0}" type="slidenum">
              <a:rPr lang="en-SG" smtClean="0"/>
              <a:t>18</a:t>
            </a:fld>
            <a:endParaRPr lang="en-SG"/>
          </a:p>
        </p:txBody>
      </p:sp>
    </p:spTree>
    <p:extLst>
      <p:ext uri="{BB962C8B-B14F-4D97-AF65-F5344CB8AC3E}">
        <p14:creationId xmlns:p14="http://schemas.microsoft.com/office/powerpoint/2010/main" val="151744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2391-B7E0-5D0C-7CE2-26A11061E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AFBE5-C9AA-1DCF-2464-8E5FF97284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4A61D-DE50-BB48-9BB6-1F164B5BB7E6}"/>
              </a:ext>
            </a:extLst>
          </p:cNvPr>
          <p:cNvSpPr>
            <a:spLocks noGrp="1"/>
          </p:cNvSpPr>
          <p:nvPr>
            <p:ph type="body" idx="1"/>
          </p:nvPr>
        </p:nvSpPr>
        <p:spPr/>
        <p:txBody>
          <a:bodyPr/>
          <a:lstStyle/>
          <a:p>
            <a:r>
              <a:rPr lang="en-US" b="0" i="0" dirty="0">
                <a:solidFill>
                  <a:srgbClr val="2D3B45"/>
                </a:solidFill>
                <a:effectLst/>
                <a:latin typeface="LatoWeb"/>
              </a:rPr>
              <a:t>References: </a:t>
            </a:r>
          </a:p>
          <a:p>
            <a:pPr marL="171450" indent="-171450">
              <a:buFont typeface="Arial" panose="020B0604020202020204" pitchFamily="34" charset="0"/>
              <a:buChar char="•"/>
            </a:pPr>
            <a:r>
              <a:rPr lang="en-SG" sz="1200" b="0" dirty="0">
                <a:solidFill>
                  <a:schemeClr val="tx1"/>
                </a:solidFill>
              </a:rPr>
              <a:t>Gender Equity Policy Institute, “</a:t>
            </a:r>
            <a:r>
              <a:rPr lang="en-US" sz="1200" b="0" dirty="0">
                <a:solidFill>
                  <a:schemeClr val="tx1"/>
                </a:solidFill>
              </a:rPr>
              <a:t>Maternal Mortality in the United States After Abortion Bans,” (April 2025). https://thegepi.org/maternal-mortality-abortion-bans/#elementor-toc__heading-anchor-3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Zori G, Case S, </a:t>
            </a:r>
            <a:r>
              <a:rPr lang="en-US" sz="1200" b="0" i="0" kern="1200" dirty="0" err="1">
                <a:solidFill>
                  <a:schemeClr val="tx1"/>
                </a:solidFill>
                <a:effectLst/>
                <a:latin typeface="+mn-lt"/>
                <a:ea typeface="+mn-ea"/>
                <a:cs typeface="+mn-cs"/>
              </a:rPr>
              <a:t>Pyche</a:t>
            </a:r>
            <a:r>
              <a:rPr lang="en-US" sz="1200" b="0" i="0" kern="1200" dirty="0">
                <a:solidFill>
                  <a:schemeClr val="tx1"/>
                </a:solidFill>
                <a:effectLst/>
                <a:latin typeface="+mn-lt"/>
                <a:ea typeface="+mn-ea"/>
                <a:cs typeface="+mn-cs"/>
              </a:rPr>
              <a:t> C, Beckman L. The relationship between state-level abortion policy and maternal mortality in the United States: a scoping review. Health Aff Sch. 2025 Aug 14;3(8):qxaf146. </a:t>
            </a:r>
            <a:r>
              <a:rPr lang="en-US" sz="1200" b="0" i="0" kern="1200" dirty="0" err="1">
                <a:solidFill>
                  <a:schemeClr val="tx1"/>
                </a:solidFill>
                <a:effectLst/>
                <a:latin typeface="+mn-lt"/>
                <a:ea typeface="+mn-ea"/>
                <a:cs typeface="+mn-cs"/>
              </a:rPr>
              <a:t>doi</a:t>
            </a:r>
            <a:r>
              <a:rPr lang="en-US" sz="1200" b="0" i="0" kern="1200" dirty="0">
                <a:solidFill>
                  <a:schemeClr val="tx1"/>
                </a:solidFill>
                <a:effectLst/>
                <a:latin typeface="+mn-lt"/>
                <a:ea typeface="+mn-ea"/>
                <a:cs typeface="+mn-cs"/>
              </a:rPr>
              <a:t>: 10.1093/</a:t>
            </a:r>
            <a:r>
              <a:rPr lang="en-US" sz="1200" b="0" i="0" kern="1200" dirty="0" err="1">
                <a:solidFill>
                  <a:schemeClr val="tx1"/>
                </a:solidFill>
                <a:effectLst/>
                <a:latin typeface="+mn-lt"/>
                <a:ea typeface="+mn-ea"/>
                <a:cs typeface="+mn-cs"/>
              </a:rPr>
              <a:t>haschl</a:t>
            </a:r>
            <a:r>
              <a:rPr lang="en-US" sz="1200" b="0" i="0" kern="1200" dirty="0">
                <a:solidFill>
                  <a:schemeClr val="tx1"/>
                </a:solidFill>
                <a:effectLst/>
                <a:latin typeface="+mn-lt"/>
                <a:ea typeface="+mn-ea"/>
                <a:cs typeface="+mn-cs"/>
              </a:rPr>
              <a:t>/qxaf146. </a:t>
            </a:r>
            <a:r>
              <a:rPr lang="en-US" sz="1200" b="0" i="0" kern="1200">
                <a:solidFill>
                  <a:schemeClr val="tx1"/>
                </a:solidFill>
                <a:effectLst/>
                <a:latin typeface="+mn-lt"/>
                <a:ea typeface="+mn-ea"/>
                <a:cs typeface="+mn-cs"/>
              </a:rPr>
              <a:t>PMID: 40823007; PMCID: PMC12352390.</a:t>
            </a:r>
            <a:endParaRPr lang="en-US" altLang="en-US" sz="1200">
              <a:solidFill>
                <a:schemeClr val="tx1"/>
              </a:solidFill>
            </a:endParaRPr>
          </a:p>
          <a:p>
            <a:pPr marL="171450" indent="-171450">
              <a:buFont typeface="Arial" panose="020B0604020202020204" pitchFamily="34" charset="0"/>
              <a:buChar char="•"/>
            </a:pPr>
            <a:endParaRPr lang="en-SG" sz="1200" b="0" dirty="0">
              <a:solidFill>
                <a:schemeClr val="tx1"/>
              </a:solidFill>
            </a:endParaRPr>
          </a:p>
        </p:txBody>
      </p:sp>
      <p:sp>
        <p:nvSpPr>
          <p:cNvPr id="4" name="Slide Number Placeholder 3">
            <a:extLst>
              <a:ext uri="{FF2B5EF4-FFF2-40B4-BE49-F238E27FC236}">
                <a16:creationId xmlns:a16="http://schemas.microsoft.com/office/drawing/2014/main" id="{B0594EFF-4EB3-72EC-12F3-C18651254F54}"/>
              </a:ext>
            </a:extLst>
          </p:cNvPr>
          <p:cNvSpPr>
            <a:spLocks noGrp="1"/>
          </p:cNvSpPr>
          <p:nvPr>
            <p:ph type="sldNum" sz="quarter" idx="5"/>
          </p:nvPr>
        </p:nvSpPr>
        <p:spPr/>
        <p:txBody>
          <a:bodyPr/>
          <a:lstStyle/>
          <a:p>
            <a:fld id="{53E1A0DB-35D7-4E49-89B6-F31AEF2A93A0}" type="slidenum">
              <a:rPr lang="en-SG" smtClean="0"/>
              <a:t>19</a:t>
            </a:fld>
            <a:endParaRPr lang="en-SG"/>
          </a:p>
        </p:txBody>
      </p:sp>
    </p:spTree>
    <p:extLst>
      <p:ext uri="{BB962C8B-B14F-4D97-AF65-F5344CB8AC3E}">
        <p14:creationId xmlns:p14="http://schemas.microsoft.com/office/powerpoint/2010/main" val="1522865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dirty="0"/>
              <a:t>Image source</a:t>
            </a:r>
            <a:r>
              <a:rPr lang="en-SG" b="0" dirty="0"/>
              <a:t>: https://www.nytimes.com/2020/12/03/us/judith-jarvis-thomson-dead.html</a:t>
            </a:r>
          </a:p>
        </p:txBody>
      </p:sp>
      <p:sp>
        <p:nvSpPr>
          <p:cNvPr id="4" name="Slide Number Placeholder 3"/>
          <p:cNvSpPr>
            <a:spLocks noGrp="1"/>
          </p:cNvSpPr>
          <p:nvPr>
            <p:ph type="sldNum" sz="quarter" idx="5"/>
          </p:nvPr>
        </p:nvSpPr>
        <p:spPr/>
        <p:txBody>
          <a:bodyPr/>
          <a:lstStyle/>
          <a:p>
            <a:fld id="{53E1A0DB-35D7-4E49-89B6-F31AEF2A93A0}" type="slidenum">
              <a:rPr lang="en-SG" smtClean="0"/>
              <a:t>20</a:t>
            </a:fld>
            <a:endParaRPr lang="en-SG"/>
          </a:p>
        </p:txBody>
      </p:sp>
    </p:spTree>
    <p:extLst>
      <p:ext uri="{BB962C8B-B14F-4D97-AF65-F5344CB8AC3E}">
        <p14:creationId xmlns:p14="http://schemas.microsoft.com/office/powerpoint/2010/main" val="235666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SG" sz="1800" b="1" dirty="0"/>
              <a:t>Moral rights</a:t>
            </a:r>
            <a:r>
              <a:rPr lang="en-SG" sz="1800" dirty="0"/>
              <a:t> are moral entitlements or liberties that protect our interests and choices (Shafer-Landau 2024: Glossary). So, if one has a moral right to X, then other people (including the government) have a moral obligation to protect that person’s interest or choice regarding X.</a:t>
            </a:r>
            <a:endParaRPr lang="en-SG" altLang="en-US" sz="1800" dirty="0"/>
          </a:p>
          <a:p>
            <a:endParaRPr lang="en-SG" b="1" dirty="0"/>
          </a:p>
          <a:p>
            <a:r>
              <a:rPr lang="en-SG" b="1" dirty="0"/>
              <a:t>Reference: </a:t>
            </a:r>
            <a:r>
              <a:rPr lang="en-SG" b="0" dirty="0"/>
              <a:t>Russ Shafer-Landau, </a:t>
            </a:r>
            <a:r>
              <a:rPr lang="en-SG" b="0" i="1" dirty="0"/>
              <a:t>Living Ethics: An Introduction with Readings</a:t>
            </a:r>
            <a:r>
              <a:rPr lang="en-SG" b="0" i="0" dirty="0"/>
              <a:t>, Third Edition (Oxford University Press, 2024).</a:t>
            </a:r>
          </a:p>
          <a:p>
            <a:endParaRPr lang="en-SG" b="0" i="0" dirty="0"/>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21</a:t>
            </a:fld>
            <a:endParaRPr lang="en-SG"/>
          </a:p>
        </p:txBody>
      </p:sp>
    </p:spTree>
    <p:extLst>
      <p:ext uri="{BB962C8B-B14F-4D97-AF65-F5344CB8AC3E}">
        <p14:creationId xmlns:p14="http://schemas.microsoft.com/office/powerpoint/2010/main" val="828894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“You wake up in the morning and find yourself back to back in bed with an unconscious violinist. A famous unconscious violinist. He has been found to have a fatal kidney ailment, and the Society of Music Lovers has canvassed all the available medical records and found that you alone have the right blood type to help. They have therefore kidnapped you, and last night the violinist’s circulatory system was plugged into yours, so that your kidneys can be used to extract poisons from his blood as well as your own. The director of the hospital now tells you, ‘Look, we’re sorry the Society of Music Lovers did this to you – we would never have permitted it if we had known. But still, they did it, and the violinist now is plugged into you. To unplug you would be to kill him. But never mind, it’s only for nine months. By then he will have recovered from his ailment, and can safely be unplugged from you.’ Is it morally incumbent on you to accede to this situation?” (Thomson, in Shafer-Landau 2024: 173)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Linked video: </a:t>
            </a:r>
            <a:r>
              <a:rPr lang="en-US" sz="1200" dirty="0">
                <a:hlinkClick r:id="rId3"/>
              </a:rPr>
              <a:t>https://www.youtube.com/watch?v=Br59pD583Io</a:t>
            </a:r>
            <a:r>
              <a:rPr lang="en-US" sz="120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22</a:t>
            </a:fld>
            <a:endParaRPr lang="en-SG"/>
          </a:p>
        </p:txBody>
      </p:sp>
    </p:spTree>
    <p:extLst>
      <p:ext uri="{BB962C8B-B14F-4D97-AF65-F5344CB8AC3E}">
        <p14:creationId xmlns:p14="http://schemas.microsoft.com/office/powerpoint/2010/main" val="2797392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23</a:t>
            </a:fld>
            <a:endParaRPr lang="en-SG"/>
          </a:p>
        </p:txBody>
      </p:sp>
    </p:spTree>
    <p:extLst>
      <p:ext uri="{BB962C8B-B14F-4D97-AF65-F5344CB8AC3E}">
        <p14:creationId xmlns:p14="http://schemas.microsoft.com/office/powerpoint/2010/main" val="1071210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24</a:t>
            </a:fld>
            <a:endParaRPr lang="en-SG"/>
          </a:p>
        </p:txBody>
      </p:sp>
    </p:spTree>
    <p:extLst>
      <p:ext uri="{BB962C8B-B14F-4D97-AF65-F5344CB8AC3E}">
        <p14:creationId xmlns:p14="http://schemas.microsoft.com/office/powerpoint/2010/main" val="27647848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Reference: </a:t>
            </a:r>
            <a:r>
              <a:rPr lang="en-US" b="0" dirty="0"/>
              <a:t>Helga </a:t>
            </a:r>
            <a:r>
              <a:rPr lang="en-US" b="0" dirty="0" err="1"/>
              <a:t>Kuhse</a:t>
            </a:r>
            <a:r>
              <a:rPr lang="en-US" b="0" dirty="0"/>
              <a:t>, Udo </a:t>
            </a:r>
            <a:r>
              <a:rPr lang="en-US" b="0" dirty="0" err="1"/>
              <a:t>Schüklenk</a:t>
            </a:r>
            <a:r>
              <a:rPr lang="en-US" b="0" dirty="0"/>
              <a:t>, and Peter Singer, </a:t>
            </a:r>
            <a:r>
              <a:rPr lang="en-US" b="0" i="1" dirty="0"/>
              <a:t>Bioethics: An Anthology</a:t>
            </a:r>
            <a:r>
              <a:rPr lang="en-US" b="0" i="0" dirty="0"/>
              <a:t>, Third Edition (Wiley Blackwell, 2016). </a:t>
            </a:r>
            <a:r>
              <a:rPr lang="en-US" b="0" i="1" dirty="0"/>
              <a:t> </a:t>
            </a:r>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25</a:t>
            </a:fld>
            <a:endParaRPr lang="en-SG"/>
          </a:p>
        </p:txBody>
      </p:sp>
    </p:spTree>
    <p:extLst>
      <p:ext uri="{BB962C8B-B14F-4D97-AF65-F5344CB8AC3E}">
        <p14:creationId xmlns:p14="http://schemas.microsoft.com/office/powerpoint/2010/main" val="41797197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Reference: </a:t>
            </a:r>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26</a:t>
            </a:fld>
            <a:endParaRPr lang="en-SG"/>
          </a:p>
        </p:txBody>
      </p:sp>
    </p:spTree>
    <p:extLst>
      <p:ext uri="{BB962C8B-B14F-4D97-AF65-F5344CB8AC3E}">
        <p14:creationId xmlns:p14="http://schemas.microsoft.com/office/powerpoint/2010/main" val="1377896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27</a:t>
            </a:fld>
            <a:endParaRPr lang="en-SG"/>
          </a:p>
        </p:txBody>
      </p:sp>
    </p:spTree>
    <p:extLst>
      <p:ext uri="{BB962C8B-B14F-4D97-AF65-F5344CB8AC3E}">
        <p14:creationId xmlns:p14="http://schemas.microsoft.com/office/powerpoint/2010/main" val="16798341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28</a:t>
            </a:fld>
            <a:endParaRPr lang="en-SG"/>
          </a:p>
        </p:txBody>
      </p:sp>
    </p:spTree>
    <p:extLst>
      <p:ext uri="{BB962C8B-B14F-4D97-AF65-F5344CB8AC3E}">
        <p14:creationId xmlns:p14="http://schemas.microsoft.com/office/powerpoint/2010/main" val="31239490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full passage: </a:t>
            </a:r>
          </a:p>
          <a:p>
            <a:endParaRPr lang="en-US" b="0" dirty="0"/>
          </a:p>
          <a:p>
            <a:r>
              <a:rPr lang="en-US" b="0" dirty="0"/>
              <a:t>“And we should also notice that it is not at all plain that this argument really does go even as far as it purports to. For there are cases and cases, and the details make a difference. If the room is stuffy, and I therefore open a window to air it, and a burglar climbs in, it would be absurd to say, “Ah, now he can stay, she’s given him a right to the use of her house—for she is partially responsible for his presence there, having voluntarily done what enabled him to get in, in full knowledge that there are such things as burglars, and that burglars burgle.” It would be still more absurd to say this if I had had bars installed outside my windows, precisely to prevent burglars from getting in, and a burglar got in only because of a defect in the bars. It remains equally absurd if we imagine it is not a burglar who climbs in, but an innocent person who blunders or falls in. Again, suppose it were like this: people-seeds drift about in the air like pollen, and if you open your windows, one may drift in and take root in your carpets or upholstery. You don’t want children, so you fix up your windows with fine mesh screens, the very best you can buy. As can happen, however, and on very, very rare occasions does happen, one of the screens is defective; and a seed drifts in and takes root. Does the person-plant who now develops have a right to the use of your house? Surely not—despite the fact that you voluntarily opened your windows, you knowingly kept carpets and upholstered furniture, and you knew that screens were sometimes defective. Someone may argue that you are responsible for its rooting, that it does have a right to your house, because after all you could have lived out your life with bare floors and furniture, or with sealed windows and doors. But this won’t do—for by the same token anyone can avoid a pregnancy due to rape by having a hysterectomy, or anyway by never leaving home without a (reliable!) army.” (Thomson, in Schafer-Landau 2024: 177).</a:t>
            </a:r>
            <a:endParaRPr lang="en-SG" b="0" dirty="0"/>
          </a:p>
        </p:txBody>
      </p:sp>
      <p:sp>
        <p:nvSpPr>
          <p:cNvPr id="4" name="Slide Number Placeholder 3"/>
          <p:cNvSpPr>
            <a:spLocks noGrp="1"/>
          </p:cNvSpPr>
          <p:nvPr>
            <p:ph type="sldNum" sz="quarter" idx="5"/>
          </p:nvPr>
        </p:nvSpPr>
        <p:spPr/>
        <p:txBody>
          <a:bodyPr/>
          <a:lstStyle/>
          <a:p>
            <a:fld id="{53E1A0DB-35D7-4E49-89B6-F31AEF2A93A0}" type="slidenum">
              <a:rPr lang="en-SG" smtClean="0"/>
              <a:t>29</a:t>
            </a:fld>
            <a:endParaRPr lang="en-SG"/>
          </a:p>
        </p:txBody>
      </p:sp>
    </p:spTree>
    <p:extLst>
      <p:ext uri="{BB962C8B-B14F-4D97-AF65-F5344CB8AC3E}">
        <p14:creationId xmlns:p14="http://schemas.microsoft.com/office/powerpoint/2010/main" val="6523811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30</a:t>
            </a:fld>
            <a:endParaRPr lang="en-SG"/>
          </a:p>
        </p:txBody>
      </p:sp>
    </p:spTree>
    <p:extLst>
      <p:ext uri="{BB962C8B-B14F-4D97-AF65-F5344CB8AC3E}">
        <p14:creationId xmlns:p14="http://schemas.microsoft.com/office/powerpoint/2010/main" val="3279842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31</a:t>
            </a:fld>
            <a:endParaRPr lang="en-SG"/>
          </a:p>
        </p:txBody>
      </p:sp>
    </p:spTree>
    <p:extLst>
      <p:ext uri="{BB962C8B-B14F-4D97-AF65-F5344CB8AC3E}">
        <p14:creationId xmlns:p14="http://schemas.microsoft.com/office/powerpoint/2010/main" val="2397503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93E2-D65C-D3FA-E8E6-15BB1371E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4B4ED-25EA-EDDB-A8DD-AF1078824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0ED6B-C222-4264-3DF1-A352B30DDA3D}"/>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A3D3C2D3-9A2C-20BF-2514-059DD049E094}"/>
              </a:ext>
            </a:extLst>
          </p:cNvPr>
          <p:cNvSpPr>
            <a:spLocks noGrp="1"/>
          </p:cNvSpPr>
          <p:nvPr>
            <p:ph type="sldNum" sz="quarter" idx="5"/>
          </p:nvPr>
        </p:nvSpPr>
        <p:spPr/>
        <p:txBody>
          <a:bodyPr/>
          <a:lstStyle/>
          <a:p>
            <a:fld id="{53E1A0DB-35D7-4E49-89B6-F31AEF2A93A0}" type="slidenum">
              <a:rPr lang="en-SG" smtClean="0"/>
              <a:t>32</a:t>
            </a:fld>
            <a:endParaRPr lang="en-SG"/>
          </a:p>
        </p:txBody>
      </p:sp>
    </p:spTree>
    <p:extLst>
      <p:ext uri="{BB962C8B-B14F-4D97-AF65-F5344CB8AC3E}">
        <p14:creationId xmlns:p14="http://schemas.microsoft.com/office/powerpoint/2010/main" val="37399355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3D11-BA62-155C-9A2D-59683330E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D6D2D-0301-A1FA-D65D-EA20AA414E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B6A8-A081-E82B-1FFA-EADB90802EB6}"/>
              </a:ext>
            </a:extLst>
          </p:cNvPr>
          <p:cNvSpPr>
            <a:spLocks noGrp="1"/>
          </p:cNvSpPr>
          <p:nvPr>
            <p:ph type="body" idx="1"/>
          </p:nvPr>
        </p:nvSpPr>
        <p:spPr/>
        <p:txBody>
          <a:bodyPr/>
          <a:lstStyle/>
          <a:p>
            <a:pPr>
              <a:buFont typeface="Wingdings" panose="05000000000000000000" pitchFamily="2" charset="2"/>
              <a:buNone/>
            </a:pPr>
            <a:r>
              <a:rPr lang="en-US" sz="1200" dirty="0">
                <a:solidFill>
                  <a:schemeClr val="tx1"/>
                </a:solidFill>
              </a:rPr>
              <a:t>Since an abortion would not keep a fetus alive, the conclusion of this argument implies that it would be morally wrong of the woman to get an abortion.</a:t>
            </a:r>
          </a:p>
          <a:p>
            <a:endParaRPr lang="en-SG" b="1" dirty="0"/>
          </a:p>
        </p:txBody>
      </p:sp>
      <p:sp>
        <p:nvSpPr>
          <p:cNvPr id="4" name="Slide Number Placeholder 3">
            <a:extLst>
              <a:ext uri="{FF2B5EF4-FFF2-40B4-BE49-F238E27FC236}">
                <a16:creationId xmlns:a16="http://schemas.microsoft.com/office/drawing/2014/main" id="{F1BA07AB-7B2B-FBA3-2E43-4514F7B4DB71}"/>
              </a:ext>
            </a:extLst>
          </p:cNvPr>
          <p:cNvSpPr>
            <a:spLocks noGrp="1"/>
          </p:cNvSpPr>
          <p:nvPr>
            <p:ph type="sldNum" sz="quarter" idx="5"/>
          </p:nvPr>
        </p:nvSpPr>
        <p:spPr/>
        <p:txBody>
          <a:bodyPr/>
          <a:lstStyle/>
          <a:p>
            <a:fld id="{53E1A0DB-35D7-4E49-89B6-F31AEF2A93A0}" type="slidenum">
              <a:rPr lang="en-SG" smtClean="0"/>
              <a:t>33</a:t>
            </a:fld>
            <a:endParaRPr lang="en-SG"/>
          </a:p>
        </p:txBody>
      </p:sp>
    </p:spTree>
    <p:extLst>
      <p:ext uri="{BB962C8B-B14F-4D97-AF65-F5344CB8AC3E}">
        <p14:creationId xmlns:p14="http://schemas.microsoft.com/office/powerpoint/2010/main" val="29790692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6018-4011-9430-71ED-185699F84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36E7C-6BFB-1D5E-F1CD-C1C49573E4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1FD8A-B4D0-312E-A039-A90773444214}"/>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E4C8803F-79C5-B89C-4FC4-87812679D5E4}"/>
              </a:ext>
            </a:extLst>
          </p:cNvPr>
          <p:cNvSpPr>
            <a:spLocks noGrp="1"/>
          </p:cNvSpPr>
          <p:nvPr>
            <p:ph type="sldNum" sz="quarter" idx="5"/>
          </p:nvPr>
        </p:nvSpPr>
        <p:spPr/>
        <p:txBody>
          <a:bodyPr/>
          <a:lstStyle/>
          <a:p>
            <a:fld id="{53E1A0DB-35D7-4E49-89B6-F31AEF2A93A0}" type="slidenum">
              <a:rPr lang="en-SG" smtClean="0"/>
              <a:t>34</a:t>
            </a:fld>
            <a:endParaRPr lang="en-SG"/>
          </a:p>
        </p:txBody>
      </p:sp>
    </p:spTree>
    <p:extLst>
      <p:ext uri="{BB962C8B-B14F-4D97-AF65-F5344CB8AC3E}">
        <p14:creationId xmlns:p14="http://schemas.microsoft.com/office/powerpoint/2010/main" val="4209624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1" y="3085765"/>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435894" y="1020431"/>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5" y="2495446"/>
            <a:ext cx="8245160" cy="590321"/>
          </a:xfrm>
        </p:spPr>
        <p:txBody>
          <a:bodyPr anchor="t">
            <a:normAutofit/>
          </a:bodyPr>
          <a:lstStyle>
            <a:lvl1pPr marL="0" indent="0" algn="l">
              <a:buNone/>
              <a:defRPr sz="1200"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9DE08C9-2733-4308-BC7F-06A89B576D6F}" type="datetime1">
              <a:rPr lang="en-US" smtClean="0"/>
              <a:t>10/30/2025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4"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4"/>
            <a:ext cx="8272211"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096FE31-80CF-4722-AE95-1302F19B12B6}" type="datetime1">
              <a:rPr lang="en-US" smtClean="0"/>
              <a:t>10/30/2025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5"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7"/>
            <a:ext cx="8272211" cy="600556"/>
          </a:xfrm>
        </p:spPr>
        <p:txBody>
          <a:bodyPr anchor="t">
            <a:normAutofit/>
          </a:bodyPr>
          <a:lstStyle>
            <a:lvl1pPr marL="0" indent="0" algn="l">
              <a:buNone/>
              <a:defRPr sz="135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C870C16A-FBFD-4B3E-AAC7-A21BA166E9B9}" type="datetime1">
              <a:rPr lang="en-US" smtClean="0"/>
              <a:t>10/30/2025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5" y="2228004"/>
            <a:ext cx="3896075"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B1032-AA8C-4A93-B21C-AFA08719C00D}" type="datetime1">
              <a:rPr lang="en-US" smtClean="0"/>
              <a:t>10/30/2025</a:t>
            </a:fld>
            <a:endParaRPr lang="en-US" dirty="0"/>
          </a:p>
        </p:txBody>
      </p:sp>
      <p:sp>
        <p:nvSpPr>
          <p:cNvPr id="6" name="Footer Placeholder 5"/>
          <p:cNvSpPr>
            <a:spLocks noGrp="1"/>
          </p:cNvSpPr>
          <p:nvPr>
            <p:ph type="ftr" sz="quarter" idx="11"/>
          </p:nvPr>
        </p:nvSpPr>
        <p:spPr/>
        <p:txBody>
          <a:bodyPr/>
          <a:lstStyle/>
          <a:p>
            <a:r>
              <a:rPr lang="en-US"/>
              <a:t>Luco - PHIL 1020 - Fall 2025</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5" y="2926053"/>
            <a:ext cx="3896075"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3"/>
            <a:ext cx="3896078" cy="553373"/>
          </a:xfrm>
        </p:spPr>
        <p:txBody>
          <a:bodyPr anchor="ctr">
            <a:noAutofit/>
          </a:bodyPr>
          <a:lstStyle>
            <a:lvl1pPr marL="0" marR="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marR="0" lvl="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8" y="2926053"/>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14C12F-B67F-4477-B2F0-5CD9653442DA}" type="datetime1">
              <a:rPr lang="en-US" smtClean="0"/>
              <a:t>10/30/2025</a:t>
            </a:fld>
            <a:endParaRPr lang="en-US" dirty="0"/>
          </a:p>
        </p:txBody>
      </p:sp>
      <p:sp>
        <p:nvSpPr>
          <p:cNvPr id="8" name="Footer Placeholder 7"/>
          <p:cNvSpPr>
            <a:spLocks noGrp="1"/>
          </p:cNvSpPr>
          <p:nvPr>
            <p:ph type="ftr" sz="quarter" idx="11"/>
          </p:nvPr>
        </p:nvSpPr>
        <p:spPr/>
        <p:txBody>
          <a:bodyPr/>
          <a:lstStyle/>
          <a:p>
            <a:r>
              <a:rPr lang="en-US"/>
              <a:t>Luco - PHIL 1020 - Fall 2025</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8"/>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71E2E2-A966-4F56-A0BF-CF35E70D9D14}" type="datetime1">
              <a:rPr lang="en-US" smtClean="0"/>
              <a:t>10/30/2025</a:t>
            </a:fld>
            <a:endParaRPr lang="en-US" dirty="0"/>
          </a:p>
        </p:txBody>
      </p:sp>
      <p:sp>
        <p:nvSpPr>
          <p:cNvPr id="4" name="Footer Placeholder 3"/>
          <p:cNvSpPr>
            <a:spLocks noGrp="1"/>
          </p:cNvSpPr>
          <p:nvPr>
            <p:ph type="ftr" sz="quarter" idx="11"/>
          </p:nvPr>
        </p:nvSpPr>
        <p:spPr/>
        <p:txBody>
          <a:bodyPr/>
          <a:lstStyle/>
          <a:p>
            <a:r>
              <a:rPr lang="en-US"/>
              <a:t>Luco - PHIL 1020 - Fall 2025</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AD8876-75CD-455E-95BB-50A591ED26A0}" type="datetime1">
              <a:rPr lang="en-US" smtClean="0"/>
              <a:t>10/30/2025</a:t>
            </a:fld>
            <a:endParaRPr lang="en-US" dirty="0"/>
          </a:p>
        </p:txBody>
      </p:sp>
      <p:sp>
        <p:nvSpPr>
          <p:cNvPr id="3" name="Footer Placeholder 2"/>
          <p:cNvSpPr>
            <a:spLocks noGrp="1"/>
          </p:cNvSpPr>
          <p:nvPr>
            <p:ph type="ftr" sz="quarter" idx="11"/>
          </p:nvPr>
        </p:nvSpPr>
        <p:spPr/>
        <p:txBody>
          <a:bodyPr/>
          <a:lstStyle/>
          <a:p>
            <a:r>
              <a:rPr lang="en-US"/>
              <a:t>Luco - PHIL 1020 - Fall 2025</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4"/>
            <a:ext cx="2273889" cy="3001392"/>
          </a:xfrm>
        </p:spPr>
        <p:txBody>
          <a:bodyPr anchor="t">
            <a:normAutofit/>
          </a:bodyPr>
          <a:lstStyle>
            <a:lvl1pPr marL="0" indent="0" algn="l">
              <a:buNone/>
              <a:defRPr sz="1200">
                <a:solidFill>
                  <a:srgbClr val="FFFFFF"/>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7"/>
            <a:ext cx="2133599" cy="365125"/>
          </a:xfrm>
        </p:spPr>
        <p:txBody>
          <a:bodyPr/>
          <a:lstStyle/>
          <a:p>
            <a:fld id="{CF6F5E07-810D-4A97-84E3-2722061F2600}" type="datetime1">
              <a:rPr lang="en-US" smtClean="0"/>
              <a:t>10/30/2025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r>
              <a:rPr lang="en-US"/>
              <a:t>Luco - PHIL 1020 - Fall 2025</a:t>
            </a:r>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5" y="6456917"/>
            <a:ext cx="789383"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8"/>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3" y="641351"/>
            <a:ext cx="8468144" cy="365124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4" y="5260127"/>
            <a:ext cx="8272213" cy="998148"/>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BCC21E9-B984-43CC-A4B5-379D9C82B0D9}" type="datetime1">
              <a:rPr lang="en-US" smtClean="0"/>
              <a:t>10/30/2025</a:t>
            </a:fld>
            <a:endParaRPr lang="en-US" dirty="0"/>
          </a:p>
        </p:txBody>
      </p:sp>
      <p:sp>
        <p:nvSpPr>
          <p:cNvPr id="6" name="Footer Placeholder 5"/>
          <p:cNvSpPr>
            <a:spLocks noGrp="1"/>
          </p:cNvSpPr>
          <p:nvPr>
            <p:ph type="ftr" sz="quarter" idx="11"/>
          </p:nvPr>
        </p:nvSpPr>
        <p:spPr/>
        <p:txBody>
          <a:bodyPr/>
          <a:lstStyle/>
          <a:p>
            <a:pPr algn="l"/>
            <a:r>
              <a:rPr lang="en-US"/>
              <a:t>Luco - PHIL 1020 - Fall 2025</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4"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604FD7-4D61-4DB8-B9ED-7E9D02524801}" type="datetime1">
              <a:rPr lang="en-US" smtClean="0"/>
              <a:t>10/30/2025</a:t>
            </a:fld>
            <a:endParaRPr lang="en-US" dirty="0"/>
          </a:p>
        </p:txBody>
      </p:sp>
      <p:sp>
        <p:nvSpPr>
          <p:cNvPr id="5" name="Footer Placeholder 4"/>
          <p:cNvSpPr>
            <a:spLocks noGrp="1"/>
          </p:cNvSpPr>
          <p:nvPr>
            <p:ph type="ftr" sz="quarter" idx="11"/>
          </p:nvPr>
        </p:nvSpPr>
        <p:spPr/>
        <p:txBody>
          <a:bodyPr/>
          <a:lstStyle/>
          <a:p>
            <a:r>
              <a:rPr lang="en-US"/>
              <a:t>Luco - PHIL 1020 - Fall 2025</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5"/>
            <a:ext cx="2765487"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0" y="863600"/>
            <a:ext cx="234315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0"/>
            <a:ext cx="5371219"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0" y="453643"/>
            <a:ext cx="277749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60A969DE-67F0-49FE-8157-C617298BBDCC}" type="datetime1">
              <a:rPr lang="en-US" smtClean="0"/>
              <a:t>10/30/2025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r>
              <a:rPr lang="en-US"/>
              <a:t>Luco - PHIL 1020 - Fall 2025</a:t>
            </a:r>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705124"/>
            <a:ext cx="8272212"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4"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510B206B-41C1-4EFF-A9A5-9A399E88656D}" type="datetime1">
              <a:rPr lang="en-US" smtClean="0"/>
              <a:t>10/30/2025</a:t>
            </a:fld>
            <a:endParaRPr lang="en-US" dirty="0"/>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5" cap="all">
                <a:solidFill>
                  <a:schemeClr val="tx1">
                    <a:lumMod val="75000"/>
                    <a:lumOff val="25000"/>
                  </a:schemeClr>
                </a:solidFill>
              </a:defRPr>
            </a:lvl1pPr>
          </a:lstStyle>
          <a:p>
            <a:r>
              <a:rPr lang="en-US"/>
              <a:t>Luco - PHIL 1020 - Fall 2025</a:t>
            </a:r>
            <a:endParaRPr lang="en-US" dirty="0"/>
          </a:p>
        </p:txBody>
      </p:sp>
      <p:sp>
        <p:nvSpPr>
          <p:cNvPr id="6" name="Slide Number Placeholder 5"/>
          <p:cNvSpPr>
            <a:spLocks noGrp="1"/>
          </p:cNvSpPr>
          <p:nvPr>
            <p:ph type="sldNum" sz="quarter" idx="4"/>
          </p:nvPr>
        </p:nvSpPr>
        <p:spPr>
          <a:xfrm>
            <a:off x="7918725" y="6423915"/>
            <a:ext cx="789383"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hdr="0" dt="0"/>
  <p:txStyles>
    <p:titleStyle>
      <a:lvl1pPr algn="l" defTabSz="342900"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lnSpc>
          <a:spcPct val="110000"/>
        </a:lnSpc>
        <a:spcBef>
          <a:spcPct val="20000"/>
        </a:spcBef>
        <a:spcAft>
          <a:spcPts val="450"/>
        </a:spcAft>
        <a:buClr>
          <a:schemeClr val="accent1"/>
        </a:buClr>
        <a:buSzPct val="92000"/>
        <a:buFont typeface="Wingdings 2" panose="05020102010507070707" pitchFamily="18" charset="2"/>
        <a:buChar char=""/>
        <a:defRPr sz="1275" kern="1200">
          <a:solidFill>
            <a:schemeClr val="tx1">
              <a:lumMod val="75000"/>
              <a:lumOff val="25000"/>
            </a:schemeClr>
          </a:solidFill>
          <a:latin typeface="+mn-lt"/>
          <a:ea typeface="+mn-ea"/>
          <a:cs typeface="+mn-cs"/>
        </a:defRPr>
      </a:lvl1pPr>
      <a:lvl2pPr marL="472500" indent="-229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2pPr>
      <a:lvl3pPr marL="675000" indent="-202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975" kern="1200">
          <a:solidFill>
            <a:schemeClr val="tx1">
              <a:lumMod val="75000"/>
              <a:lumOff val="25000"/>
            </a:schemeClr>
          </a:solidFill>
          <a:latin typeface="+mn-lt"/>
          <a:ea typeface="+mn-ea"/>
          <a:cs typeface="+mn-cs"/>
        </a:defRPr>
      </a:lvl3pPr>
      <a:lvl4pPr marL="93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4pPr>
      <a:lvl5pPr marL="120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y.clevelandclinic.org/health/articles/7247-fetal-development-stages-of-growth"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nbcnews.com/health/womens-health/heartbeat-bills-called-fetal-heartbeat-six-weeks-pregnancy-rcna24435"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scientificamerican.com/article/when-does-consciousness-aris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rcog.org.uk/guidance/browse-all-guidance/other-guidelines-and-reports/fetal-awareness-updated-review-of-research-and-recommendations-for-practic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uttmacher.org/2024/03/medication-abortion-accounted-63-all-us-abortions-2023-increase-53-202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bbc.com/news/world-us-canada-64981719" TargetMode="External"/><Relationship Id="rId5" Type="http://schemas.openxmlformats.org/officeDocument/2006/relationships/hyperlink" Target="https://www.cnn.com/health/abortion-pill-safety-dg/index.html" TargetMode="External"/><Relationship Id="rId4" Type="http://schemas.openxmlformats.org/officeDocument/2006/relationships/hyperlink" Target="https://www.who.int/news/item/08-01-2019-new-guideline-to-help-health-care-workers-ensure-safe-medical-abortion-care"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www.bbc.com/news/world-us-canada-64981719" TargetMode="External"/><Relationship Id="rId3" Type="http://schemas.openxmlformats.org/officeDocument/2006/relationships/hyperlink" Target="https://www.reuters.com/article/us-abortion/abortion-safer-than-giving-birth-study-idUSTRE80M2BS20120123" TargetMode="External"/><Relationship Id="rId7" Type="http://schemas.openxmlformats.org/officeDocument/2006/relationships/hyperlink" Target="https://www.cnn.com/health/abortion-pill-safety-dg/index.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journals.lww.com/greenjournal/fulltext/2015/01000/incidence_of_emergency_department_visits_and.29.aspx" TargetMode="External"/><Relationship Id="rId5" Type="http://schemas.openxmlformats.org/officeDocument/2006/relationships/hyperlink" Target="https://time.com/3623572/abortion-safe-complications/" TargetMode="External"/><Relationship Id="rId4" Type="http://schemas.openxmlformats.org/officeDocument/2006/relationships/hyperlink" Target="https://pubmed.ncbi.nlm.nih.gov/22270271/" TargetMode="External"/><Relationship Id="rId9" Type="http://schemas.openxmlformats.org/officeDocument/2006/relationships/hyperlink" Target="https://www.nytimes.com/interactive/2023/04/01/health/abortion-pill-safety.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betterhealth.vic.gov.au/health/HealthyLiving/myths-and-facts-about-abortio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ncbi.nlm.nih.gov/books/NBK507237/"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verywellhealth.com/reasons-for-abortion-906589#citation-6"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i.org/10.1186/1472-6874-13-29"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pubmed.ncbi.nlm.nih.gov/2615438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pmc.ncbi.nlm.nih.gov/articles/PMC6988908/"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ansirh.org/research/ongoing/turnaway-study"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www.ted.com/talks/diana_greene_foster_what_happens_when_we_deny_people_abortions/transcript?subtitle=en"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nytimes.com/interactive/2024/us/abortion-laws-roe-v-wade.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uttmacher.org/2024/03/despite-bans-number-abortions-united-states-increased-2023"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www.guttmacher.org/fact-sheet/induced-abortion-united-states" TargetMode="External"/><Relationship Id="rId4" Type="http://schemas.openxmlformats.org/officeDocument/2006/relationships/hyperlink" Target="https://www.contraceptionjournal.org/article/S0010-7824(24)00108-2/fulltext"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publichealth.jhu.edu/2025/two-new-studies-provide-broadest-evidence-to-date-of-unequal-impacts-of-abortion-ban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reuters.com/world/us/infant-mortality-rises-states-with-abortion-bans-study-finds-2025-02-13/"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pmc.ncbi.nlm.nih.gov/articles/PMC12352390/"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thegepi.org/maternal-mortality-abortion-ban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Br59pD583Io"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35904" y="1294774"/>
            <a:ext cx="8245162" cy="1106260"/>
          </a:xfrm>
        </p:spPr>
        <p:txBody>
          <a:bodyPr>
            <a:normAutofit/>
          </a:bodyPr>
          <a:lstStyle/>
          <a:p>
            <a:pPr algn="ctr"/>
            <a:r>
              <a:rPr lang="en-US" sz="3200" dirty="0"/>
              <a:t>Week 10 (10/20): abortion</a:t>
            </a:r>
            <a:br>
              <a:rPr lang="en-US" dirty="0"/>
            </a:br>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36550" y="3168650"/>
            <a:ext cx="8445500" cy="2482850"/>
          </a:xfrm>
          <a:prstGeom prst="rect">
            <a:avLst/>
          </a:prstGeom>
        </p:spPr>
      </p:pic>
      <p:sp>
        <p:nvSpPr>
          <p:cNvPr id="5" name="Subtitle 4">
            <a:extLst>
              <a:ext uri="{FF2B5EF4-FFF2-40B4-BE49-F238E27FC236}">
                <a16:creationId xmlns:a16="http://schemas.microsoft.com/office/drawing/2014/main" id="{AE7198F4-03FA-746C-BC6E-F7699885CC48}"/>
              </a:ext>
            </a:extLst>
          </p:cNvPr>
          <p:cNvSpPr>
            <a:spLocks noGrp="1"/>
          </p:cNvSpPr>
          <p:nvPr>
            <p:ph type="subTitle" idx="1"/>
          </p:nvPr>
        </p:nvSpPr>
        <p:spPr>
          <a:xfrm>
            <a:off x="358258" y="2003742"/>
            <a:ext cx="8245160" cy="590321"/>
          </a:xfrm>
        </p:spPr>
        <p:txBody>
          <a:bodyPr>
            <a:noAutofit/>
          </a:bodyPr>
          <a:lstStyle/>
          <a:p>
            <a:pPr algn="ctr"/>
            <a:r>
              <a:rPr lang="en-US" sz="2000" dirty="0" err="1"/>
              <a:t>phil</a:t>
            </a:r>
            <a:r>
              <a:rPr lang="en-US" sz="2000" dirty="0"/>
              <a:t> 1020 | Introduction to ethics</a:t>
            </a:r>
            <a:br>
              <a:rPr lang="en-US" sz="2000" dirty="0"/>
            </a:br>
            <a:r>
              <a:rPr lang="en-US" sz="2000" dirty="0"/>
              <a:t>sections 001, 004, 005, &amp; 006</a:t>
            </a:r>
            <a:br>
              <a:rPr lang="en-US" sz="2000" dirty="0"/>
            </a:br>
            <a:r>
              <a:rPr lang="en-SG" sz="2000" dirty="0"/>
              <a:t>fall 2025</a:t>
            </a:r>
          </a:p>
        </p:txBody>
      </p:sp>
      <p:sp>
        <p:nvSpPr>
          <p:cNvPr id="7" name="Footer Placeholder 6">
            <a:extLst>
              <a:ext uri="{FF2B5EF4-FFF2-40B4-BE49-F238E27FC236}">
                <a16:creationId xmlns:a16="http://schemas.microsoft.com/office/drawing/2014/main" id="{322F5B55-25C6-FAB1-DCA8-C75EE3E9C3AE}"/>
              </a:ext>
            </a:extLst>
          </p:cNvPr>
          <p:cNvSpPr>
            <a:spLocks noGrp="1"/>
          </p:cNvSpPr>
          <p:nvPr>
            <p:ph type="ftr" sz="quarter" idx="11"/>
          </p:nvPr>
        </p:nvSpPr>
        <p:spPr/>
        <p:txBody>
          <a:bodyPr/>
          <a:lstStyle/>
          <a:p>
            <a:r>
              <a:rPr lang="en-US" sz="1200"/>
              <a:t>Luco - PHIL 1020 - Fall 2025</a:t>
            </a:r>
            <a:endParaRPr lang="en-US" sz="1200" dirty="0"/>
          </a:p>
        </p:txBody>
      </p:sp>
      <p:sp>
        <p:nvSpPr>
          <p:cNvPr id="8" name="Slide Number Placeholder 7">
            <a:extLst>
              <a:ext uri="{FF2B5EF4-FFF2-40B4-BE49-F238E27FC236}">
                <a16:creationId xmlns:a16="http://schemas.microsoft.com/office/drawing/2014/main" id="{4907EF3F-05D7-5692-6A97-28B05EA4CB57}"/>
              </a:ext>
            </a:extLst>
          </p:cNvPr>
          <p:cNvSpPr>
            <a:spLocks noGrp="1"/>
          </p:cNvSpPr>
          <p:nvPr>
            <p:ph type="sldNum" sz="quarter" idx="12"/>
          </p:nvPr>
        </p:nvSpPr>
        <p:spPr/>
        <p:txBody>
          <a:bodyPr/>
          <a:lstStyle/>
          <a:p>
            <a:fld id="{3A98EE3D-8CD1-4C3F-BD1C-C98C9596463C}" type="slidenum">
              <a:rPr lang="en-US" sz="1200" smtClean="0"/>
              <a:t>1</a:t>
            </a:fld>
            <a:endParaRPr lang="en-US" sz="1200" dirty="0"/>
          </a:p>
        </p:txBody>
      </p:sp>
      <p:pic>
        <p:nvPicPr>
          <p:cNvPr id="1026" name="Picture 2" descr="Pregnant Silhouette Vector Art, Icons, and Graphics for Free Download">
            <a:extLst>
              <a:ext uri="{FF2B5EF4-FFF2-40B4-BE49-F238E27FC236}">
                <a16:creationId xmlns:a16="http://schemas.microsoft.com/office/drawing/2014/main" id="{D72E05B6-4330-DDA7-1713-15B011346E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978" r="20489"/>
          <a:stretch/>
        </p:blipFill>
        <p:spPr bwMode="auto">
          <a:xfrm>
            <a:off x="560713" y="1273833"/>
            <a:ext cx="1368485" cy="1838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Objectives for today</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rmAutofit fontScale="85000" lnSpcReduction="10000"/>
          </a:bodyPr>
          <a:lstStyle/>
          <a:p>
            <a:pPr marL="457200" indent="-457200">
              <a:buFont typeface="+mj-lt"/>
              <a:buAutoNum type="arabicParenR"/>
            </a:pPr>
            <a:r>
              <a:rPr lang="en-SG" sz="2400" dirty="0"/>
              <a:t>Learn about the development of a human </a:t>
            </a:r>
            <a:r>
              <a:rPr lang="en-SG" sz="2400" dirty="0" err="1"/>
              <a:t>fetus</a:t>
            </a:r>
            <a:r>
              <a:rPr lang="en-SG" sz="2400" dirty="0"/>
              <a:t> during a pregnancy. </a:t>
            </a:r>
          </a:p>
          <a:p>
            <a:pPr marL="457200" indent="-457200">
              <a:buFont typeface="+mj-lt"/>
              <a:buAutoNum type="arabicParenR"/>
            </a:pPr>
            <a:endParaRPr lang="en-SG" sz="2400" dirty="0"/>
          </a:p>
          <a:p>
            <a:pPr marL="457200" indent="-457200">
              <a:buFont typeface="+mj-lt"/>
              <a:buAutoNum type="arabicParenR"/>
            </a:pPr>
            <a:r>
              <a:rPr lang="en-SG" sz="2400" dirty="0"/>
              <a:t>Define abortion.</a:t>
            </a:r>
          </a:p>
          <a:p>
            <a:pPr marL="457200" indent="-457200">
              <a:buFont typeface="+mj-lt"/>
              <a:buAutoNum type="arabicParenR"/>
            </a:pPr>
            <a:endParaRPr lang="en-SG" sz="2400" dirty="0"/>
          </a:p>
          <a:p>
            <a:pPr marL="457200" indent="-457200">
              <a:buFont typeface="+mj-lt"/>
              <a:buAutoNum type="arabicParenR"/>
            </a:pPr>
            <a:r>
              <a:rPr lang="en-SG" sz="2400" dirty="0"/>
              <a:t>Review some background information about abortion.</a:t>
            </a:r>
          </a:p>
          <a:p>
            <a:pPr marL="457200" indent="-457200">
              <a:buFont typeface="+mj-lt"/>
              <a:buAutoNum type="arabicParenR"/>
            </a:pPr>
            <a:endParaRPr lang="en-SG" sz="2400" dirty="0"/>
          </a:p>
          <a:p>
            <a:pPr marL="457200" indent="-457200">
              <a:buFont typeface="+mj-lt"/>
              <a:buAutoNum type="arabicParenR"/>
            </a:pPr>
            <a:r>
              <a:rPr lang="en-SG" sz="2400" dirty="0"/>
              <a:t>Understand the current state of the legality of abortion in the United States.</a:t>
            </a:r>
          </a:p>
          <a:p>
            <a:pPr marL="457200" indent="-457200">
              <a:buFont typeface="+mj-lt"/>
              <a:buAutoNum type="arabicParenR"/>
            </a:pPr>
            <a:endParaRPr lang="en-SG" sz="2400" dirty="0"/>
          </a:p>
          <a:p>
            <a:pPr marL="457200" indent="-457200">
              <a:buFont typeface="+mj-lt"/>
              <a:buAutoNum type="arabicParenR"/>
            </a:pPr>
            <a:r>
              <a:rPr lang="en-SG" sz="2400" dirty="0"/>
              <a:t>Evaluate Judith Jarvis Thomson’s argument that a woman’s right to control over her own body makes it morally permissible to abort a </a:t>
            </a:r>
            <a:r>
              <a:rPr lang="en-SG" sz="2400" dirty="0" err="1"/>
              <a:t>fetus</a:t>
            </a:r>
            <a:r>
              <a:rPr lang="en-SG" sz="2400" dirty="0"/>
              <a:t>.</a:t>
            </a:r>
          </a:p>
          <a:p>
            <a:endParaRPr lang="en-SG" sz="2400" dirty="0"/>
          </a:p>
          <a:p>
            <a:endParaRPr lang="en-SG" sz="24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a:t>
            </a:fld>
            <a:endParaRPr lang="en-US" sz="1200" dirty="0"/>
          </a:p>
        </p:txBody>
      </p:sp>
    </p:spTree>
    <p:extLst>
      <p:ext uri="{BB962C8B-B14F-4D97-AF65-F5344CB8AC3E}">
        <p14:creationId xmlns:p14="http://schemas.microsoft.com/office/powerpoint/2010/main" val="2794267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3ECE-066B-04D6-41A9-AA03BA709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CBB0B-B4F9-C0FD-0C4F-0C988AB7304F}"/>
              </a:ext>
            </a:extLst>
          </p:cNvPr>
          <p:cNvSpPr>
            <a:spLocks noGrp="1"/>
          </p:cNvSpPr>
          <p:nvPr>
            <p:ph type="title"/>
          </p:nvPr>
        </p:nvSpPr>
        <p:spPr>
          <a:xfrm>
            <a:off x="453146" y="628782"/>
            <a:ext cx="8272212" cy="721203"/>
          </a:xfrm>
        </p:spPr>
        <p:txBody>
          <a:bodyPr anchor="ctr">
            <a:normAutofit fontScale="90000"/>
          </a:bodyPr>
          <a:lstStyle/>
          <a:p>
            <a:pPr algn="ctr"/>
            <a:r>
              <a:rPr lang="en-SG" sz="4000" dirty="0"/>
              <a:t>Development of the human </a:t>
            </a:r>
            <a:r>
              <a:rPr lang="en-SG" sz="4000" dirty="0" err="1"/>
              <a:t>fetus</a:t>
            </a:r>
            <a:endParaRPr lang="en-SG" sz="4000" dirty="0"/>
          </a:p>
        </p:txBody>
      </p:sp>
      <p:sp>
        <p:nvSpPr>
          <p:cNvPr id="3" name="Content Placeholder 2">
            <a:extLst>
              <a:ext uri="{FF2B5EF4-FFF2-40B4-BE49-F238E27FC236}">
                <a16:creationId xmlns:a16="http://schemas.microsoft.com/office/drawing/2014/main" id="{E905EA46-A699-9E20-1F85-B1033053C940}"/>
              </a:ext>
            </a:extLst>
          </p:cNvPr>
          <p:cNvSpPr>
            <a:spLocks noGrp="1"/>
          </p:cNvSpPr>
          <p:nvPr>
            <p:ph idx="1"/>
          </p:nvPr>
        </p:nvSpPr>
        <p:spPr>
          <a:xfrm>
            <a:off x="435895" y="1524874"/>
            <a:ext cx="8272211" cy="4761781"/>
          </a:xfrm>
        </p:spPr>
        <p:txBody>
          <a:bodyPr anchor="t">
            <a:noAutofit/>
          </a:bodyPr>
          <a:lstStyle/>
          <a:p>
            <a:r>
              <a:rPr lang="en-SG" sz="1800" b="1" dirty="0"/>
              <a:t>Conception </a:t>
            </a:r>
            <a:r>
              <a:rPr lang="en-SG" sz="1800" dirty="0"/>
              <a:t>happens when a sperm cell fertilizes an egg. </a:t>
            </a:r>
            <a:endParaRPr lang="en-SG" sz="1800" b="1" dirty="0"/>
          </a:p>
          <a:p>
            <a:endParaRPr lang="en-SG" sz="1800" dirty="0"/>
          </a:p>
          <a:p>
            <a:r>
              <a:rPr lang="en-SG" sz="1800" dirty="0"/>
              <a:t>A fertilized egg is called a </a:t>
            </a:r>
            <a:r>
              <a:rPr lang="en-SG" sz="1800" b="1" dirty="0"/>
              <a:t>zygote. </a:t>
            </a:r>
            <a:r>
              <a:rPr lang="en-SG" sz="1800" dirty="0"/>
              <a:t>At first, the zygote is a single cell consisting of 23 chromosomes from the mother and 23 chromosomes from the father. It then undergoes rapid cell division, and eventually turns into a </a:t>
            </a:r>
            <a:r>
              <a:rPr lang="en-SG" sz="1800" b="1" dirty="0"/>
              <a:t>blastocyst</a:t>
            </a:r>
            <a:r>
              <a:rPr lang="en-SG" sz="1800" i="1" dirty="0"/>
              <a:t> </a:t>
            </a:r>
            <a:r>
              <a:rPr lang="en-SG" sz="1800" dirty="0"/>
              <a:t>(Shafer-Landau 2024: §11.1; </a:t>
            </a:r>
            <a:r>
              <a:rPr lang="en-SG" sz="1800" dirty="0">
                <a:hlinkClick r:id="rId3"/>
              </a:rPr>
              <a:t>Cleveland Clinic 2024</a:t>
            </a:r>
            <a:r>
              <a:rPr lang="en-SG" sz="1800" dirty="0"/>
              <a:t>). </a:t>
            </a:r>
          </a:p>
          <a:p>
            <a:pPr lvl="1"/>
            <a:endParaRPr lang="en-SG" sz="1800" dirty="0"/>
          </a:p>
          <a:p>
            <a:r>
              <a:rPr lang="en-SG" sz="1800" dirty="0"/>
              <a:t>After a few days, the blastocyst becomes implanted in the lining of the mother’s uterus. 3 weeks after conception, the blastocyst becomes an </a:t>
            </a:r>
            <a:r>
              <a:rPr lang="en-SG" sz="1800" i="1" dirty="0"/>
              <a:t>embryo</a:t>
            </a:r>
            <a:r>
              <a:rPr lang="en-SG" sz="1800" dirty="0"/>
              <a:t>.</a:t>
            </a:r>
          </a:p>
          <a:p>
            <a:endParaRPr lang="en-SG" sz="1800" dirty="0"/>
          </a:p>
          <a:p>
            <a:r>
              <a:rPr lang="en-SG" sz="1800" dirty="0"/>
              <a:t>An </a:t>
            </a:r>
            <a:r>
              <a:rPr lang="en-SG" sz="1800" b="1" dirty="0"/>
              <a:t>embryo</a:t>
            </a:r>
            <a:r>
              <a:rPr lang="en-SG" sz="1800" dirty="0"/>
              <a:t> is the growing offspring in the stage of pregnancy roughly 3-8 weeks after conception. The embryo is at first invisible to the naked eye. After 1 month, it is the size of a grain of rice.</a:t>
            </a:r>
          </a:p>
          <a:p>
            <a:endParaRPr lang="en-SG" sz="1800" dirty="0"/>
          </a:p>
        </p:txBody>
      </p:sp>
      <p:sp>
        <p:nvSpPr>
          <p:cNvPr id="4" name="Footer Placeholder 3">
            <a:extLst>
              <a:ext uri="{FF2B5EF4-FFF2-40B4-BE49-F238E27FC236}">
                <a16:creationId xmlns:a16="http://schemas.microsoft.com/office/drawing/2014/main" id="{41A65A13-DBFB-52B6-C3C9-46B4A6AC5537}"/>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1D1DAE1D-261A-5E0A-C1BA-E9732C449254}"/>
              </a:ext>
            </a:extLst>
          </p:cNvPr>
          <p:cNvSpPr>
            <a:spLocks noGrp="1"/>
          </p:cNvSpPr>
          <p:nvPr>
            <p:ph type="sldNum" sz="quarter" idx="12"/>
          </p:nvPr>
        </p:nvSpPr>
        <p:spPr/>
        <p:txBody>
          <a:bodyPr/>
          <a:lstStyle/>
          <a:p>
            <a:fld id="{3A98EE3D-8CD1-4C3F-BD1C-C98C9596463C}" type="slidenum">
              <a:rPr lang="en-US" sz="1200" smtClean="0"/>
              <a:t>3</a:t>
            </a:fld>
            <a:endParaRPr lang="en-US" sz="1200" dirty="0"/>
          </a:p>
        </p:txBody>
      </p:sp>
    </p:spTree>
    <p:extLst>
      <p:ext uri="{BB962C8B-B14F-4D97-AF65-F5344CB8AC3E}">
        <p14:creationId xmlns:p14="http://schemas.microsoft.com/office/powerpoint/2010/main" val="2508551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D18AB-12D9-CBF2-6CBE-456DD088D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5ED11-FC92-B208-E157-86E8023BE7B9}"/>
              </a:ext>
            </a:extLst>
          </p:cNvPr>
          <p:cNvSpPr>
            <a:spLocks noGrp="1"/>
          </p:cNvSpPr>
          <p:nvPr>
            <p:ph type="title"/>
          </p:nvPr>
        </p:nvSpPr>
        <p:spPr>
          <a:xfrm>
            <a:off x="453146" y="628782"/>
            <a:ext cx="8272212" cy="721203"/>
          </a:xfrm>
        </p:spPr>
        <p:txBody>
          <a:bodyPr anchor="ctr">
            <a:normAutofit fontScale="90000"/>
          </a:bodyPr>
          <a:lstStyle/>
          <a:p>
            <a:pPr algn="ctr"/>
            <a:r>
              <a:rPr lang="en-SG" sz="4000" dirty="0"/>
              <a:t>Development of the human </a:t>
            </a:r>
            <a:r>
              <a:rPr lang="en-SG" sz="4000" dirty="0" err="1"/>
              <a:t>fetus</a:t>
            </a:r>
            <a:endParaRPr lang="en-SG" sz="4000" dirty="0"/>
          </a:p>
        </p:txBody>
      </p:sp>
      <p:sp>
        <p:nvSpPr>
          <p:cNvPr id="3" name="Content Placeholder 2">
            <a:extLst>
              <a:ext uri="{FF2B5EF4-FFF2-40B4-BE49-F238E27FC236}">
                <a16:creationId xmlns:a16="http://schemas.microsoft.com/office/drawing/2014/main" id="{72CF3DF1-3E1B-8BEF-4C72-F36A9A75D31C}"/>
              </a:ext>
            </a:extLst>
          </p:cNvPr>
          <p:cNvSpPr>
            <a:spLocks noGrp="1"/>
          </p:cNvSpPr>
          <p:nvPr>
            <p:ph idx="1"/>
          </p:nvPr>
        </p:nvSpPr>
        <p:spPr>
          <a:xfrm>
            <a:off x="435895" y="1579959"/>
            <a:ext cx="8272211" cy="4761781"/>
          </a:xfrm>
        </p:spPr>
        <p:txBody>
          <a:bodyPr anchor="t">
            <a:noAutofit/>
          </a:bodyPr>
          <a:lstStyle/>
          <a:p>
            <a:r>
              <a:rPr lang="en-SG" sz="2000" dirty="0"/>
              <a:t>A </a:t>
            </a:r>
            <a:r>
              <a:rPr lang="en-SG" sz="2000" b="1" dirty="0" err="1"/>
              <a:t>fetus</a:t>
            </a:r>
            <a:r>
              <a:rPr lang="en-SG" sz="2000" b="1" dirty="0"/>
              <a:t> </a:t>
            </a:r>
            <a:r>
              <a:rPr lang="en-SG" sz="2000" dirty="0"/>
              <a:t>is the growing offspring in the stage of pregnancy from roughly 9-10 weeks after conception until birth. </a:t>
            </a:r>
          </a:p>
          <a:p>
            <a:endParaRPr lang="en-SG" sz="2000" dirty="0"/>
          </a:p>
          <a:p>
            <a:pPr lvl="1"/>
            <a:r>
              <a:rPr lang="en-SG" sz="2000" dirty="0"/>
              <a:t>At 9-10 weeks, a </a:t>
            </a:r>
            <a:r>
              <a:rPr lang="en-SG" sz="2000" dirty="0" err="1"/>
              <a:t>fetus</a:t>
            </a:r>
            <a:r>
              <a:rPr lang="en-SG" sz="2000" dirty="0"/>
              <a:t> is about 1 inch long and weighs 1/30</a:t>
            </a:r>
            <a:r>
              <a:rPr lang="en-SG" sz="2000" baseline="30000" dirty="0"/>
              <a:t>th</a:t>
            </a:r>
            <a:r>
              <a:rPr lang="en-SG" sz="2000" dirty="0"/>
              <a:t> of an ounce. It has a heartbeat, and has begun to develop bones and limbs (</a:t>
            </a:r>
            <a:r>
              <a:rPr lang="en-SG" sz="2000" dirty="0">
                <a:hlinkClick r:id="rId3"/>
              </a:rPr>
              <a:t>Sullivan 2022</a:t>
            </a:r>
            <a:r>
              <a:rPr lang="en-SG" sz="2000" dirty="0"/>
              <a:t>).</a:t>
            </a:r>
          </a:p>
          <a:p>
            <a:endParaRPr lang="en-SG" sz="2000" dirty="0"/>
          </a:p>
          <a:p>
            <a:r>
              <a:rPr lang="en-SG" sz="2000" dirty="0"/>
              <a:t>By the end of the first</a:t>
            </a:r>
            <a:r>
              <a:rPr lang="en-SG" sz="2000" b="1" dirty="0"/>
              <a:t> trimester </a:t>
            </a:r>
            <a:r>
              <a:rPr lang="en-SG" sz="2000" dirty="0"/>
              <a:t>(a period of 3 months), all of a healthy </a:t>
            </a:r>
            <a:r>
              <a:rPr lang="en-SG" sz="2000" dirty="0" err="1"/>
              <a:t>fetus’s</a:t>
            </a:r>
            <a:r>
              <a:rPr lang="en-SG" sz="2000" dirty="0"/>
              <a:t> organs are present.  </a:t>
            </a:r>
          </a:p>
          <a:p>
            <a:endParaRPr lang="en-SG" sz="2000" dirty="0"/>
          </a:p>
          <a:p>
            <a:r>
              <a:rPr lang="en-SG" sz="2000" dirty="0"/>
              <a:t>In discussions of abortion, it’s common to depart from strict medical usage, and use the term “</a:t>
            </a:r>
            <a:r>
              <a:rPr lang="en-SG" sz="2000" dirty="0" err="1"/>
              <a:t>fetus</a:t>
            </a:r>
            <a:r>
              <a:rPr lang="en-SG" sz="2000" dirty="0"/>
              <a:t>” to refer to a </a:t>
            </a:r>
            <a:r>
              <a:rPr lang="en-SG" sz="2000" dirty="0" err="1"/>
              <a:t>fetus</a:t>
            </a:r>
            <a:r>
              <a:rPr lang="en-SG" sz="2000" dirty="0"/>
              <a:t>, embryo, </a:t>
            </a:r>
            <a:r>
              <a:rPr lang="en-SG" sz="2000" i="1" dirty="0"/>
              <a:t>or</a:t>
            </a:r>
            <a:r>
              <a:rPr lang="en-SG" sz="2000" dirty="0"/>
              <a:t> zygote. </a:t>
            </a:r>
          </a:p>
        </p:txBody>
      </p:sp>
      <p:sp>
        <p:nvSpPr>
          <p:cNvPr id="4" name="Footer Placeholder 3">
            <a:extLst>
              <a:ext uri="{FF2B5EF4-FFF2-40B4-BE49-F238E27FC236}">
                <a16:creationId xmlns:a16="http://schemas.microsoft.com/office/drawing/2014/main" id="{FAD88D1E-1B10-5B0C-F7EC-42B6F6CAD6C2}"/>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17965391-8F07-959E-5C62-C316503D828A}"/>
              </a:ext>
            </a:extLst>
          </p:cNvPr>
          <p:cNvSpPr>
            <a:spLocks noGrp="1"/>
          </p:cNvSpPr>
          <p:nvPr>
            <p:ph type="sldNum" sz="quarter" idx="12"/>
          </p:nvPr>
        </p:nvSpPr>
        <p:spPr/>
        <p:txBody>
          <a:bodyPr/>
          <a:lstStyle/>
          <a:p>
            <a:fld id="{3A98EE3D-8CD1-4C3F-BD1C-C98C9596463C}" type="slidenum">
              <a:rPr lang="en-US" sz="1200" smtClean="0"/>
              <a:t>4</a:t>
            </a:fld>
            <a:endParaRPr lang="en-US" sz="1200" dirty="0"/>
          </a:p>
        </p:txBody>
      </p:sp>
    </p:spTree>
    <p:extLst>
      <p:ext uri="{BB962C8B-B14F-4D97-AF65-F5344CB8AC3E}">
        <p14:creationId xmlns:p14="http://schemas.microsoft.com/office/powerpoint/2010/main" val="1038203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Development of the human </a:t>
            </a:r>
            <a:r>
              <a:rPr lang="en-SG" sz="4000" dirty="0" err="1"/>
              <a:t>fetus</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SG" sz="1900" b="1" dirty="0"/>
              <a:t>Viability</a:t>
            </a:r>
            <a:r>
              <a:rPr lang="en-SG" sz="1900" dirty="0"/>
              <a:t> is the point at which a </a:t>
            </a:r>
            <a:r>
              <a:rPr lang="en-SG" sz="1900" dirty="0" err="1"/>
              <a:t>fetus</a:t>
            </a:r>
            <a:r>
              <a:rPr lang="en-SG" sz="1900" dirty="0"/>
              <a:t> can survive outside of the mother’s womb. </a:t>
            </a:r>
          </a:p>
          <a:p>
            <a:pPr lvl="1"/>
            <a:r>
              <a:rPr lang="en-SG" sz="1900" dirty="0"/>
              <a:t>Medical consensus places the earliest point of viability at 20 weeks after conception. However, most </a:t>
            </a:r>
            <a:r>
              <a:rPr lang="en-SG" sz="1900" dirty="0" err="1"/>
              <a:t>fetuses</a:t>
            </a:r>
            <a:r>
              <a:rPr lang="en-SG" sz="1900" dirty="0"/>
              <a:t> born this early will die, and most who survive will have serious impairments (Shafer-Landau 2024: §11.1). </a:t>
            </a:r>
          </a:p>
          <a:p>
            <a:endParaRPr lang="en-SG" sz="1900" dirty="0">
              <a:effectLst/>
              <a:ea typeface="SimSun" panose="02010600030101010101" pitchFamily="2" charset="-122"/>
            </a:endParaRPr>
          </a:p>
          <a:p>
            <a:r>
              <a:rPr lang="en-US" sz="1900" dirty="0">
                <a:effectLst/>
                <a:ea typeface="SimSun" panose="02010600030101010101" pitchFamily="2" charset="-122"/>
              </a:rPr>
              <a:t>There is also a broad scientific consensus that fetuses </a:t>
            </a:r>
            <a:r>
              <a:rPr lang="en-US" sz="1900" dirty="0">
                <a:ea typeface="SimSun" panose="02010600030101010101" pitchFamily="2" charset="-122"/>
              </a:rPr>
              <a:t>cannot have conscious experiences, including pain, </a:t>
            </a:r>
            <a:r>
              <a:rPr lang="en-US" sz="1900" dirty="0">
                <a:effectLst/>
                <a:ea typeface="SimSun" panose="02010600030101010101" pitchFamily="2" charset="-122"/>
              </a:rPr>
              <a:t>until 24-28 weeks after conception (which is the beginning of the 3</a:t>
            </a:r>
            <a:r>
              <a:rPr lang="en-US" sz="1900" baseline="30000" dirty="0">
                <a:effectLst/>
                <a:ea typeface="SimSun" panose="02010600030101010101" pitchFamily="2" charset="-122"/>
              </a:rPr>
              <a:t>rd</a:t>
            </a:r>
            <a:r>
              <a:rPr lang="en-US" sz="1900" dirty="0">
                <a:effectLst/>
                <a:ea typeface="SimSun" panose="02010600030101010101" pitchFamily="2" charset="-122"/>
              </a:rPr>
              <a:t> trimester) (</a:t>
            </a:r>
            <a:r>
              <a:rPr lang="en-US" sz="1900" u="sng" dirty="0">
                <a:solidFill>
                  <a:srgbClr val="0563C1"/>
                </a:solidFill>
                <a:effectLst/>
                <a:ea typeface="SimSun" panose="02010600030101010101" pitchFamily="2" charset="-122"/>
                <a:hlinkClick r:id="rId3"/>
              </a:rPr>
              <a:t>Koch 2009</a:t>
            </a:r>
            <a:r>
              <a:rPr lang="en-US" sz="1900" dirty="0">
                <a:effectLst/>
                <a:ea typeface="SimSun" panose="02010600030101010101" pitchFamily="2" charset="-122"/>
              </a:rPr>
              <a:t> ; </a:t>
            </a:r>
            <a:r>
              <a:rPr lang="en-US" sz="1900" u="sng" dirty="0">
                <a:solidFill>
                  <a:srgbClr val="0563C1"/>
                </a:solidFill>
                <a:effectLst/>
                <a:ea typeface="SimSun" panose="02010600030101010101" pitchFamily="2" charset="-122"/>
                <a:hlinkClick r:id="rId4"/>
              </a:rPr>
              <a:t>Royal College of Obstetricians and </a:t>
            </a:r>
            <a:r>
              <a:rPr lang="en-US" sz="1900" u="sng" dirty="0" err="1">
                <a:solidFill>
                  <a:srgbClr val="0563C1"/>
                </a:solidFill>
                <a:effectLst/>
                <a:ea typeface="SimSun" panose="02010600030101010101" pitchFamily="2" charset="-122"/>
                <a:hlinkClick r:id="rId4"/>
              </a:rPr>
              <a:t>Gynaecologists</a:t>
            </a:r>
            <a:r>
              <a:rPr lang="en-US" sz="1900" u="sng" dirty="0">
                <a:solidFill>
                  <a:srgbClr val="0563C1"/>
                </a:solidFill>
                <a:effectLst/>
                <a:ea typeface="SimSun" panose="02010600030101010101" pitchFamily="2" charset="-122"/>
                <a:hlinkClick r:id="rId4"/>
              </a:rPr>
              <a:t> 2022</a:t>
            </a:r>
            <a:r>
              <a:rPr lang="en-US" sz="1900" dirty="0">
                <a:effectLst/>
                <a:ea typeface="SimSun" panose="02010600030101010101" pitchFamily="2" charset="-122"/>
              </a:rPr>
              <a:t>). </a:t>
            </a:r>
          </a:p>
          <a:p>
            <a:pPr lvl="1"/>
            <a:r>
              <a:rPr lang="en-US" sz="1900" dirty="0">
                <a:effectLst/>
                <a:ea typeface="SimSun" panose="02010600030101010101" pitchFamily="2" charset="-122"/>
              </a:rPr>
              <a:t>Scientific studies of fetal consciousness are based on knowledge about the parts of the brain and nervous system responsible for </a:t>
            </a:r>
            <a:r>
              <a:rPr lang="en-US" sz="1900" dirty="0">
                <a:ea typeface="SimSun" panose="02010600030101010101" pitchFamily="2" charset="-122"/>
              </a:rPr>
              <a:t>conscious experiences </a:t>
            </a:r>
            <a:r>
              <a:rPr lang="en-US" sz="1900" dirty="0">
                <a:effectLst/>
                <a:ea typeface="SimSun" panose="02010600030101010101" pitchFamily="2" charset="-122"/>
              </a:rPr>
              <a:t>in infants and young children. These parts are not sufficiently developed in the human fetus until the beginning of the 3</a:t>
            </a:r>
            <a:r>
              <a:rPr lang="en-US" sz="1900" baseline="30000" dirty="0">
                <a:effectLst/>
                <a:ea typeface="SimSun" panose="02010600030101010101" pitchFamily="2" charset="-122"/>
              </a:rPr>
              <a:t>rd</a:t>
            </a:r>
            <a:r>
              <a:rPr lang="en-US" sz="1900" dirty="0">
                <a:effectLst/>
                <a:ea typeface="SimSun" panose="02010600030101010101" pitchFamily="2" charset="-122"/>
              </a:rPr>
              <a:t> trimester.</a:t>
            </a:r>
            <a:endParaRPr lang="en-SG" sz="1900" dirty="0">
              <a:effectLst/>
              <a:ea typeface="SimSun" panose="02010600030101010101" pitchFamily="2" charset="-122"/>
            </a:endParaRPr>
          </a:p>
          <a:p>
            <a:endParaRPr lang="en-SG" sz="1900" dirty="0"/>
          </a:p>
          <a:p>
            <a:endParaRPr lang="en-SG" sz="1900" dirty="0"/>
          </a:p>
          <a:p>
            <a:endParaRPr lang="en-SG" sz="19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5</a:t>
            </a:fld>
            <a:endParaRPr lang="en-US" sz="1200" dirty="0"/>
          </a:p>
        </p:txBody>
      </p:sp>
    </p:spTree>
    <p:extLst>
      <p:ext uri="{BB962C8B-B14F-4D97-AF65-F5344CB8AC3E}">
        <p14:creationId xmlns:p14="http://schemas.microsoft.com/office/powerpoint/2010/main" val="636156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What is abortion? </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SG" sz="2400" dirty="0"/>
              <a:t>An </a:t>
            </a:r>
            <a:r>
              <a:rPr lang="en-SG" sz="2400" b="1" dirty="0"/>
              <a:t>abortion</a:t>
            </a:r>
            <a:r>
              <a:rPr lang="en-SG" sz="2400" dirty="0"/>
              <a:t> is the deliberate termination of a pregnancy, which results in the death of a zygote, embryo, or </a:t>
            </a:r>
            <a:r>
              <a:rPr lang="en-SG" sz="2400" dirty="0" err="1"/>
              <a:t>fetus</a:t>
            </a:r>
            <a:r>
              <a:rPr lang="en-SG" sz="2400" dirty="0"/>
              <a:t> (Shafer-Landau 2024: §11.1).</a:t>
            </a:r>
          </a:p>
          <a:p>
            <a:endParaRPr lang="en-SG" sz="2400" b="1" dirty="0"/>
          </a:p>
          <a:p>
            <a:pPr lvl="1"/>
            <a:r>
              <a:rPr lang="en-SG" sz="2400" b="1" dirty="0"/>
              <a:t>Surgical abortion</a:t>
            </a:r>
            <a:r>
              <a:rPr lang="en-SG" sz="2400" dirty="0"/>
              <a:t> involves surgery to remove the </a:t>
            </a:r>
            <a:r>
              <a:rPr lang="en-SG" sz="2400" dirty="0" err="1"/>
              <a:t>fetus</a:t>
            </a:r>
            <a:r>
              <a:rPr lang="en-SG" sz="2400" dirty="0"/>
              <a:t> (Timmons 2020: 415).</a:t>
            </a:r>
          </a:p>
          <a:p>
            <a:pPr lvl="1"/>
            <a:endParaRPr lang="en-SG" sz="2400" b="1" dirty="0"/>
          </a:p>
          <a:p>
            <a:pPr lvl="1"/>
            <a:r>
              <a:rPr lang="en-SG" sz="2400" b="1" dirty="0"/>
              <a:t>Medical abortion </a:t>
            </a:r>
            <a:r>
              <a:rPr lang="en-SG" sz="2400" dirty="0"/>
              <a:t>results from taking a combination of drugs—most commonly mifepristone and misoprostol. The drugs work by expelling the </a:t>
            </a:r>
            <a:r>
              <a:rPr lang="en-SG" sz="2400" dirty="0" err="1"/>
              <a:t>fetus</a:t>
            </a:r>
            <a:r>
              <a:rPr lang="en-SG" sz="2400" dirty="0"/>
              <a:t> from the uterus.</a:t>
            </a:r>
          </a:p>
          <a:p>
            <a:endParaRPr lang="en-SG" sz="18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6</a:t>
            </a:fld>
            <a:endParaRPr lang="en-US" sz="1200" dirty="0"/>
          </a:p>
        </p:txBody>
      </p:sp>
    </p:spTree>
    <p:extLst>
      <p:ext uri="{BB962C8B-B14F-4D97-AF65-F5344CB8AC3E}">
        <p14:creationId xmlns:p14="http://schemas.microsoft.com/office/powerpoint/2010/main" val="1600340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US" sz="4000" dirty="0"/>
              <a:t>Facts &amp; Findings About Abortion</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rmAutofit/>
          </a:bodyPr>
          <a:lstStyle/>
          <a:p>
            <a:r>
              <a:rPr lang="en-SG" sz="2200" dirty="0"/>
              <a:t>Medical abortion is now the most common method of abortion in the United States. </a:t>
            </a:r>
          </a:p>
          <a:p>
            <a:endParaRPr lang="en-SG" sz="2200" dirty="0"/>
          </a:p>
          <a:p>
            <a:pPr lvl="1"/>
            <a:r>
              <a:rPr lang="en-SG" sz="2200" dirty="0"/>
              <a:t>In 2023, it accounted for 63 percent of all abortions in the U.S. healthcare system (</a:t>
            </a:r>
            <a:r>
              <a:rPr lang="en-SG" sz="2200" dirty="0">
                <a:hlinkClick r:id="rId3"/>
              </a:rPr>
              <a:t>Jones &amp; Friedrich-</a:t>
            </a:r>
            <a:r>
              <a:rPr lang="en-SG" sz="2200" dirty="0" err="1">
                <a:hlinkClick r:id="rId3"/>
              </a:rPr>
              <a:t>Karnik</a:t>
            </a:r>
            <a:r>
              <a:rPr lang="en-SG" sz="2200" dirty="0">
                <a:hlinkClick r:id="rId3"/>
              </a:rPr>
              <a:t> 2024</a:t>
            </a:r>
            <a:r>
              <a:rPr lang="en-SG" sz="2200" dirty="0"/>
              <a:t>). </a:t>
            </a:r>
          </a:p>
          <a:p>
            <a:pPr lvl="1"/>
            <a:endParaRPr lang="en-SG" sz="2200" dirty="0"/>
          </a:p>
          <a:p>
            <a:pPr lvl="1"/>
            <a:r>
              <a:rPr lang="en-SG" sz="2200" dirty="0"/>
              <a:t>The medications used in medical abortions are deemed safe by the </a:t>
            </a:r>
            <a:r>
              <a:rPr lang="en-SG" sz="2200" dirty="0">
                <a:hlinkClick r:id="rId4"/>
              </a:rPr>
              <a:t>World Health Organization</a:t>
            </a:r>
            <a:r>
              <a:rPr lang="en-SG" sz="2200" dirty="0"/>
              <a:t>. They are approved by the U.S. Food and Drug Administration for the purpose of ending pregnancy. And, they can be obtained online (</a:t>
            </a:r>
            <a:r>
              <a:rPr lang="en-SG" sz="2200" dirty="0">
                <a:hlinkClick r:id="rId5"/>
              </a:rPr>
              <a:t>Choi &amp; </a:t>
            </a:r>
            <a:r>
              <a:rPr lang="en-SG" sz="2200" dirty="0" err="1">
                <a:hlinkClick r:id="rId5"/>
              </a:rPr>
              <a:t>Mullery</a:t>
            </a:r>
            <a:r>
              <a:rPr lang="en-SG" sz="2200" dirty="0">
                <a:hlinkClick r:id="rId5"/>
              </a:rPr>
              <a:t> 2024</a:t>
            </a:r>
            <a:r>
              <a:rPr lang="en-SG" sz="2200" dirty="0"/>
              <a:t>; </a:t>
            </a:r>
            <a:r>
              <a:rPr lang="en-SG" sz="2200" dirty="0" err="1">
                <a:hlinkClick r:id="rId6"/>
              </a:rPr>
              <a:t>Honderich</a:t>
            </a:r>
            <a:r>
              <a:rPr lang="en-SG" sz="2200" dirty="0">
                <a:hlinkClick r:id="rId6"/>
              </a:rPr>
              <a:t> &amp; </a:t>
            </a:r>
            <a:r>
              <a:rPr lang="en-SG" sz="2200" dirty="0" err="1">
                <a:hlinkClick r:id="rId6"/>
              </a:rPr>
              <a:t>Schraer</a:t>
            </a:r>
            <a:r>
              <a:rPr lang="en-SG" sz="2200" dirty="0">
                <a:hlinkClick r:id="rId6"/>
              </a:rPr>
              <a:t> 2024</a:t>
            </a:r>
            <a:r>
              <a:rPr lang="en-SG" sz="2200" dirty="0"/>
              <a:t>).</a:t>
            </a:r>
          </a:p>
          <a:p>
            <a:endParaRPr lang="en-SG" sz="2200" dirty="0"/>
          </a:p>
          <a:p>
            <a:endParaRPr lang="en-SG" sz="2200" dirty="0"/>
          </a:p>
          <a:p>
            <a:endParaRPr lang="en-SG" sz="2200" dirty="0"/>
          </a:p>
          <a:p>
            <a:endParaRPr lang="en-SG" sz="22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7</a:t>
            </a:fld>
            <a:endParaRPr lang="en-US" sz="1200" dirty="0"/>
          </a:p>
        </p:txBody>
      </p:sp>
    </p:spTree>
    <p:extLst>
      <p:ext uri="{BB962C8B-B14F-4D97-AF65-F5344CB8AC3E}">
        <p14:creationId xmlns:p14="http://schemas.microsoft.com/office/powerpoint/2010/main" val="184776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5401-610C-D478-B0FC-160CA5F72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27ECB-A3AE-0F5C-0CCC-51AA5AFD0B42}"/>
              </a:ext>
            </a:extLst>
          </p:cNvPr>
          <p:cNvSpPr>
            <a:spLocks noGrp="1"/>
          </p:cNvSpPr>
          <p:nvPr>
            <p:ph type="title"/>
          </p:nvPr>
        </p:nvSpPr>
        <p:spPr>
          <a:xfrm>
            <a:off x="453146" y="628782"/>
            <a:ext cx="8272212" cy="721203"/>
          </a:xfrm>
        </p:spPr>
        <p:txBody>
          <a:bodyPr anchor="ctr">
            <a:normAutofit fontScale="90000"/>
          </a:bodyPr>
          <a:lstStyle/>
          <a:p>
            <a:pPr algn="ctr"/>
            <a:r>
              <a:rPr lang="en-US" sz="4000" dirty="0"/>
              <a:t>Facts &amp; Findings About Abortion</a:t>
            </a:r>
            <a:endParaRPr lang="en-SG" sz="4000" dirty="0"/>
          </a:p>
        </p:txBody>
      </p:sp>
      <p:sp>
        <p:nvSpPr>
          <p:cNvPr id="3" name="Content Placeholder 2">
            <a:extLst>
              <a:ext uri="{FF2B5EF4-FFF2-40B4-BE49-F238E27FC236}">
                <a16:creationId xmlns:a16="http://schemas.microsoft.com/office/drawing/2014/main" id="{09B0DA66-DBD0-0F8C-A5C6-1CA7CFB908A1}"/>
              </a:ext>
            </a:extLst>
          </p:cNvPr>
          <p:cNvSpPr>
            <a:spLocks noGrp="1"/>
          </p:cNvSpPr>
          <p:nvPr>
            <p:ph idx="1"/>
          </p:nvPr>
        </p:nvSpPr>
        <p:spPr>
          <a:xfrm>
            <a:off x="435895" y="1579959"/>
            <a:ext cx="8272211" cy="4761781"/>
          </a:xfrm>
        </p:spPr>
        <p:txBody>
          <a:bodyPr anchor="t">
            <a:normAutofit/>
          </a:bodyPr>
          <a:lstStyle/>
          <a:p>
            <a:r>
              <a:rPr lang="en-US" sz="1800" dirty="0">
                <a:ea typeface="SimSun" panose="02010600030101010101" pitchFamily="2" charset="-122"/>
              </a:rPr>
              <a:t>Surgical and medical abortions are safe. </a:t>
            </a:r>
          </a:p>
          <a:p>
            <a:pPr lvl="1"/>
            <a:r>
              <a:rPr lang="en-US" sz="1800" dirty="0">
                <a:ea typeface="SimSun" panose="02010600030101010101" pitchFamily="2" charset="-122"/>
              </a:rPr>
              <a:t>Abortions performed under professional medical care are safer than childbirth. According to U.S. study, only one woman in 167,000 dies from abortions conducted under medical care. By comparison, “women were about 14 times more likely to die during or after giving birth to a live baby than to die from complications of an abortion” (</a:t>
            </a:r>
            <a:r>
              <a:rPr lang="en-US" sz="1800" u="sng" dirty="0">
                <a:solidFill>
                  <a:srgbClr val="0563C1"/>
                </a:solidFill>
                <a:ea typeface="SimSun" panose="02010600030101010101" pitchFamily="2" charset="-122"/>
                <a:hlinkClick r:id="rId3"/>
              </a:rPr>
              <a:t>Pittman 2012</a:t>
            </a:r>
            <a:r>
              <a:rPr lang="en-US" sz="1800" dirty="0">
                <a:ea typeface="SimSun" panose="02010600030101010101" pitchFamily="2" charset="-122"/>
              </a:rPr>
              <a:t>; </a:t>
            </a:r>
            <a:r>
              <a:rPr lang="en-US" sz="1800" dirty="0">
                <a:ea typeface="SimSun" panose="02010600030101010101" pitchFamily="2" charset="-122"/>
                <a:hlinkClick r:id="rId4"/>
              </a:rPr>
              <a:t>Raymond &amp; Grimes 2012</a:t>
            </a:r>
            <a:r>
              <a:rPr lang="en-US" sz="1800" dirty="0">
                <a:ea typeface="SimSun" panose="02010600030101010101" pitchFamily="2" charset="-122"/>
              </a:rPr>
              <a:t>).</a:t>
            </a:r>
          </a:p>
          <a:p>
            <a:pPr lvl="1"/>
            <a:r>
              <a:rPr lang="en-US" sz="1800" dirty="0">
                <a:ea typeface="SimSun" panose="02010600030101010101" pitchFamily="2" charset="-122"/>
              </a:rPr>
              <a:t>Researchers at the University of San Francisco found that people are more likely to have health complications as a result of a wisdom tooth removal or a tonsillectomy than because of </a:t>
            </a:r>
            <a:r>
              <a:rPr lang="en-SG" sz="1800" dirty="0">
                <a:ea typeface="SimSun" panose="02010600030101010101" pitchFamily="2" charset="-122"/>
              </a:rPr>
              <a:t>an abortion (</a:t>
            </a:r>
            <a:r>
              <a:rPr lang="en-SG" sz="1800" dirty="0" err="1">
                <a:ea typeface="SimSun" panose="02010600030101010101" pitchFamily="2" charset="-122"/>
                <a:hlinkClick r:id="rId5"/>
              </a:rPr>
              <a:t>Oaklander</a:t>
            </a:r>
            <a:r>
              <a:rPr lang="en-SG" sz="1800" dirty="0">
                <a:ea typeface="SimSun" panose="02010600030101010101" pitchFamily="2" charset="-122"/>
                <a:hlinkClick r:id="rId5"/>
              </a:rPr>
              <a:t> 2014</a:t>
            </a:r>
            <a:r>
              <a:rPr lang="en-SG" sz="1800" dirty="0">
                <a:ea typeface="SimSun" panose="02010600030101010101" pitchFamily="2" charset="-122"/>
              </a:rPr>
              <a:t>; </a:t>
            </a:r>
            <a:r>
              <a:rPr lang="en-SG" sz="1800" dirty="0">
                <a:ea typeface="SimSun" panose="02010600030101010101" pitchFamily="2" charset="-122"/>
                <a:hlinkClick r:id="rId6"/>
              </a:rPr>
              <a:t>Upadhyay et al. 2015</a:t>
            </a:r>
            <a:r>
              <a:rPr lang="en-SG" sz="1800" dirty="0">
                <a:ea typeface="SimSun" panose="02010600030101010101" pitchFamily="2" charset="-122"/>
              </a:rPr>
              <a:t>).</a:t>
            </a:r>
          </a:p>
          <a:p>
            <a:pPr lvl="1"/>
            <a:r>
              <a:rPr lang="en-SG" sz="1800" dirty="0">
                <a:ea typeface="SimSun" panose="02010600030101010101" pitchFamily="2" charset="-122"/>
              </a:rPr>
              <a:t>The abortion medication mifepristone has a lower death rate among users than users of penicillin and Viagra. Misoprostol, the other common abortion medication, has been widely prescribed for decades to treat stomach ulcers and postpartum haemorrhaging </a:t>
            </a:r>
            <a:r>
              <a:rPr lang="en-SG" sz="1800" dirty="0"/>
              <a:t>(</a:t>
            </a:r>
            <a:r>
              <a:rPr lang="en-SG" sz="1800" dirty="0">
                <a:hlinkClick r:id="rId7"/>
              </a:rPr>
              <a:t>Choi &amp; Mullery 2024</a:t>
            </a:r>
            <a:r>
              <a:rPr lang="en-SG" sz="1800" dirty="0"/>
              <a:t>; </a:t>
            </a:r>
            <a:r>
              <a:rPr lang="en-SG" sz="1800" dirty="0" err="1">
                <a:hlinkClick r:id="rId8"/>
              </a:rPr>
              <a:t>Honderich</a:t>
            </a:r>
            <a:r>
              <a:rPr lang="en-SG" sz="1800" dirty="0">
                <a:hlinkClick r:id="rId8"/>
              </a:rPr>
              <a:t> &amp; Schraer 2024</a:t>
            </a:r>
            <a:r>
              <a:rPr lang="en-SG" sz="1800" dirty="0"/>
              <a:t>; </a:t>
            </a:r>
            <a:r>
              <a:rPr lang="en-SG" sz="1800" dirty="0">
                <a:hlinkClick r:id="rId9"/>
              </a:rPr>
              <a:t>Walker et al. 2024</a:t>
            </a:r>
            <a:r>
              <a:rPr lang="en-SG" sz="1800" dirty="0"/>
              <a:t>).</a:t>
            </a:r>
          </a:p>
          <a:p>
            <a:pPr lvl="1"/>
            <a:endParaRPr lang="en-SG" sz="1800" dirty="0">
              <a:ea typeface="SimSun" panose="02010600030101010101" pitchFamily="2" charset="-122"/>
            </a:endParaRPr>
          </a:p>
          <a:p>
            <a:pPr lvl="1"/>
            <a:endParaRPr lang="en-SG" sz="1800" dirty="0">
              <a:ea typeface="SimSun" panose="02010600030101010101" pitchFamily="2" charset="-122"/>
            </a:endParaRPr>
          </a:p>
          <a:p>
            <a:pPr lvl="1"/>
            <a:endParaRPr lang="en-US" sz="1800" dirty="0">
              <a:ea typeface="SimSun" panose="02010600030101010101" pitchFamily="2" charset="-122"/>
            </a:endParaRPr>
          </a:p>
        </p:txBody>
      </p:sp>
      <p:sp>
        <p:nvSpPr>
          <p:cNvPr id="4" name="Footer Placeholder 3">
            <a:extLst>
              <a:ext uri="{FF2B5EF4-FFF2-40B4-BE49-F238E27FC236}">
                <a16:creationId xmlns:a16="http://schemas.microsoft.com/office/drawing/2014/main" id="{A5BCFFFE-F8A1-48F9-72CB-12678029B14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02D1D7C7-DDBD-D79C-E74A-CD9AD2FD45DB}"/>
              </a:ext>
            </a:extLst>
          </p:cNvPr>
          <p:cNvSpPr>
            <a:spLocks noGrp="1"/>
          </p:cNvSpPr>
          <p:nvPr>
            <p:ph type="sldNum" sz="quarter" idx="12"/>
          </p:nvPr>
        </p:nvSpPr>
        <p:spPr/>
        <p:txBody>
          <a:bodyPr/>
          <a:lstStyle/>
          <a:p>
            <a:fld id="{3A98EE3D-8CD1-4C3F-BD1C-C98C9596463C}" type="slidenum">
              <a:rPr lang="en-US" sz="1200" smtClean="0"/>
              <a:t>8</a:t>
            </a:fld>
            <a:endParaRPr lang="en-US" sz="1200" dirty="0"/>
          </a:p>
        </p:txBody>
      </p:sp>
    </p:spTree>
    <p:extLst>
      <p:ext uri="{BB962C8B-B14F-4D97-AF65-F5344CB8AC3E}">
        <p14:creationId xmlns:p14="http://schemas.microsoft.com/office/powerpoint/2010/main" val="167549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US" sz="4000" dirty="0"/>
              <a:t>Facts &amp; Findings About Abortion</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1900" dirty="0">
                <a:effectLst/>
                <a:ea typeface="SimSun" panose="02010600030101010101" pitchFamily="2" charset="-122"/>
              </a:rPr>
              <a:t>Studies have not found a higher </a:t>
            </a:r>
            <a:r>
              <a:rPr lang="en-US" sz="1900" dirty="0">
                <a:ea typeface="SimSun" panose="02010600030101010101" pitchFamily="2" charset="-122"/>
              </a:rPr>
              <a:t>frequency</a:t>
            </a:r>
            <a:r>
              <a:rPr lang="en-US" sz="1900" dirty="0">
                <a:effectLst/>
                <a:ea typeface="SimSun" panose="02010600030101010101" pitchFamily="2" charset="-122"/>
              </a:rPr>
              <a:t> of long-term medical </a:t>
            </a:r>
            <a:r>
              <a:rPr lang="en-US" sz="1900" i="1" dirty="0">
                <a:effectLst/>
                <a:ea typeface="SimSun" panose="02010600030101010101" pitchFamily="2" charset="-122"/>
              </a:rPr>
              <a:t>or</a:t>
            </a:r>
            <a:r>
              <a:rPr lang="en-US" sz="1900" dirty="0">
                <a:effectLst/>
                <a:ea typeface="SimSun" panose="02010600030101010101" pitchFamily="2" charset="-122"/>
              </a:rPr>
              <a:t> psychological harm among women who’ve had medically safe abortions, compared to women who haven’t had them (</a:t>
            </a:r>
            <a:r>
              <a:rPr lang="en-US" sz="1900" u="sng" dirty="0">
                <a:solidFill>
                  <a:srgbClr val="0563C1"/>
                </a:solidFill>
                <a:effectLst/>
                <a:ea typeface="SimSun" panose="02010600030101010101" pitchFamily="2" charset="-122"/>
                <a:hlinkClick r:id="rId3"/>
              </a:rPr>
              <a:t>Better Health Channel 2020</a:t>
            </a:r>
            <a:r>
              <a:rPr lang="en-US" sz="1900" dirty="0">
                <a:effectLst/>
                <a:ea typeface="SimSun" panose="02010600030101010101" pitchFamily="2" charset="-122"/>
              </a:rPr>
              <a:t>; </a:t>
            </a:r>
            <a:r>
              <a:rPr lang="en-US" sz="1900" dirty="0">
                <a:effectLst/>
                <a:ea typeface="SimSun" panose="02010600030101010101" pitchFamily="2" charset="-122"/>
                <a:hlinkClick r:id="rId4"/>
              </a:rPr>
              <a:t>NASEM 2018</a:t>
            </a:r>
            <a:r>
              <a:rPr lang="en-US" sz="1900" dirty="0">
                <a:effectLst/>
                <a:ea typeface="SimSun" panose="02010600030101010101" pitchFamily="2" charset="-122"/>
              </a:rPr>
              <a:t>).</a:t>
            </a:r>
          </a:p>
          <a:p>
            <a:endParaRPr lang="en-US" sz="1900" dirty="0">
              <a:ea typeface="SimSun" panose="02010600030101010101" pitchFamily="2" charset="-122"/>
            </a:endParaRPr>
          </a:p>
          <a:p>
            <a:pPr lvl="1"/>
            <a:r>
              <a:rPr lang="en-US" sz="1900" dirty="0">
                <a:ea typeface="SimSun" panose="02010600030101010101" pitchFamily="2" charset="-122"/>
              </a:rPr>
              <a:t>In 2018, the National Academies of Sciences, Engineering, and Medicine (NASEM) published a literature review titled </a:t>
            </a:r>
            <a:r>
              <a:rPr lang="en-US" sz="1900" i="1" dirty="0">
                <a:ea typeface="SimSun" panose="02010600030101010101" pitchFamily="2" charset="-122"/>
              </a:rPr>
              <a:t>The Safety and Quality of Abortion Care in the United States</a:t>
            </a:r>
            <a:r>
              <a:rPr lang="en-US" sz="1900" dirty="0">
                <a:ea typeface="SimSun" panose="02010600030101010101" pitchFamily="2" charset="-122"/>
              </a:rPr>
              <a:t>. </a:t>
            </a:r>
          </a:p>
          <a:p>
            <a:pPr lvl="1"/>
            <a:endParaRPr lang="en-US" sz="1900" dirty="0">
              <a:ea typeface="SimSun" panose="02010600030101010101" pitchFamily="2" charset="-122"/>
            </a:endParaRPr>
          </a:p>
          <a:p>
            <a:pPr lvl="1"/>
            <a:r>
              <a:rPr lang="en-US" sz="1900" dirty="0">
                <a:ea typeface="SimSun" panose="02010600030101010101" pitchFamily="2" charset="-122"/>
              </a:rPr>
              <a:t>In that report, NASEM concludes that </a:t>
            </a:r>
            <a:r>
              <a:rPr lang="en-US" sz="1900" b="1" dirty="0">
                <a:ea typeface="SimSun" panose="02010600030101010101" pitchFamily="2" charset="-122"/>
              </a:rPr>
              <a:t>“having an abortion does not increase a woman's risk of secondary infertility, pregnancy-related hypertensive disorders, abnormal placentation (after a D&amp;E abortion), preterm birth, breast cancer, or mental health disorders (depression, anxiety, and PTSD)</a:t>
            </a:r>
            <a:r>
              <a:rPr lang="en-US" sz="1900" dirty="0">
                <a:ea typeface="SimSun" panose="02010600030101010101" pitchFamily="2" charset="-122"/>
              </a:rPr>
              <a:t>” (</a:t>
            </a:r>
            <a:r>
              <a:rPr lang="en-US" sz="1900" dirty="0">
                <a:effectLst/>
                <a:ea typeface="SimSun" panose="02010600030101010101" pitchFamily="2" charset="-122"/>
                <a:hlinkClick r:id="rId4"/>
              </a:rPr>
              <a:t>NASEM 2018</a:t>
            </a:r>
            <a:r>
              <a:rPr lang="en-US" sz="1900" dirty="0">
                <a:ea typeface="SimSun" panose="02010600030101010101" pitchFamily="2" charset="-122"/>
              </a:rPr>
              <a:t>).  </a:t>
            </a:r>
          </a:p>
          <a:p>
            <a:pPr lvl="1"/>
            <a:endParaRPr lang="en-US" sz="1900" dirty="0">
              <a:effectLst/>
              <a:ea typeface="SimSun" panose="02010600030101010101" pitchFamily="2" charset="-122"/>
            </a:endParaRPr>
          </a:p>
          <a:p>
            <a:pPr lvl="2"/>
            <a:endParaRPr lang="en-SG" sz="1900" dirty="0">
              <a:effectLst/>
              <a:ea typeface="SimSun" panose="02010600030101010101" pitchFamily="2" charset="-122"/>
            </a:endParaRPr>
          </a:p>
          <a:p>
            <a:endParaRPr lang="en-SG" sz="19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9</a:t>
            </a:fld>
            <a:endParaRPr lang="en-US" sz="1200" dirty="0"/>
          </a:p>
        </p:txBody>
      </p:sp>
    </p:spTree>
    <p:extLst>
      <p:ext uri="{BB962C8B-B14F-4D97-AF65-F5344CB8AC3E}">
        <p14:creationId xmlns:p14="http://schemas.microsoft.com/office/powerpoint/2010/main" val="1936317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13B32-8C63-C537-0904-5A6E79E4F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4096F-164F-C5EE-415C-390535A29928}"/>
              </a:ext>
            </a:extLst>
          </p:cNvPr>
          <p:cNvSpPr>
            <a:spLocks noGrp="1"/>
          </p:cNvSpPr>
          <p:nvPr>
            <p:ph type="title"/>
          </p:nvPr>
        </p:nvSpPr>
        <p:spPr>
          <a:xfrm>
            <a:off x="453146" y="628782"/>
            <a:ext cx="8272212" cy="721203"/>
          </a:xfrm>
        </p:spPr>
        <p:txBody>
          <a:bodyPr anchor="ctr">
            <a:normAutofit fontScale="90000"/>
          </a:bodyPr>
          <a:lstStyle/>
          <a:p>
            <a:pPr algn="ctr"/>
            <a:r>
              <a:rPr lang="en-US" sz="4000" dirty="0"/>
              <a:t>Facts &amp; Findings About Abortion</a:t>
            </a:r>
            <a:endParaRPr lang="en-SG" sz="4000" dirty="0"/>
          </a:p>
        </p:txBody>
      </p:sp>
      <p:sp>
        <p:nvSpPr>
          <p:cNvPr id="3" name="Content Placeholder 2">
            <a:extLst>
              <a:ext uri="{FF2B5EF4-FFF2-40B4-BE49-F238E27FC236}">
                <a16:creationId xmlns:a16="http://schemas.microsoft.com/office/drawing/2014/main" id="{94D120D8-8D57-C032-B159-D0F2598718A2}"/>
              </a:ext>
            </a:extLst>
          </p:cNvPr>
          <p:cNvSpPr>
            <a:spLocks noGrp="1"/>
          </p:cNvSpPr>
          <p:nvPr>
            <p:ph idx="1"/>
          </p:nvPr>
        </p:nvSpPr>
        <p:spPr>
          <a:xfrm>
            <a:off x="435896" y="1491823"/>
            <a:ext cx="2593952" cy="4761781"/>
          </a:xfrm>
        </p:spPr>
        <p:txBody>
          <a:bodyPr anchor="t">
            <a:noAutofit/>
          </a:bodyPr>
          <a:lstStyle/>
          <a:p>
            <a:r>
              <a:rPr lang="en-US" sz="1900" dirty="0">
                <a:effectLst/>
                <a:ea typeface="SimSun" panose="02010600030101010101" pitchFamily="2" charset="-122"/>
              </a:rPr>
              <a:t>In a survey of women in the United States who sought abortion services, the women identified the considerations listed in the adjacent table as the reasons for seeking an abortion (</a:t>
            </a:r>
            <a:r>
              <a:rPr lang="en-US" sz="1900" dirty="0">
                <a:effectLst/>
                <a:ea typeface="SimSun" panose="02010600030101010101" pitchFamily="2" charset="-122"/>
                <a:hlinkClick r:id="rId3"/>
              </a:rPr>
              <a:t>Stacey 2025</a:t>
            </a:r>
            <a:r>
              <a:rPr lang="en-US" sz="1900" dirty="0">
                <a:effectLst/>
                <a:ea typeface="SimSun" panose="02010600030101010101" pitchFamily="2" charset="-122"/>
              </a:rPr>
              <a:t>; </a:t>
            </a:r>
            <a:r>
              <a:rPr lang="en-US" sz="1900" dirty="0">
                <a:effectLst/>
                <a:ea typeface="SimSun" panose="02010600030101010101" pitchFamily="2" charset="-122"/>
                <a:hlinkClick r:id="rId4"/>
              </a:rPr>
              <a:t>Biggs, Gould, &amp; Greene Foster</a:t>
            </a:r>
            <a:r>
              <a:rPr lang="en-US" sz="1900" dirty="0">
                <a:effectLst/>
                <a:ea typeface="SimSun" panose="02010600030101010101" pitchFamily="2" charset="-122"/>
              </a:rPr>
              <a:t>). </a:t>
            </a:r>
          </a:p>
          <a:p>
            <a:pPr lvl="2"/>
            <a:endParaRPr lang="en-SG" sz="1900" dirty="0">
              <a:effectLst/>
              <a:ea typeface="SimSun" panose="02010600030101010101" pitchFamily="2" charset="-122"/>
            </a:endParaRPr>
          </a:p>
          <a:p>
            <a:endParaRPr lang="en-SG" sz="1900" dirty="0"/>
          </a:p>
        </p:txBody>
      </p:sp>
      <p:sp>
        <p:nvSpPr>
          <p:cNvPr id="4" name="Footer Placeholder 3">
            <a:extLst>
              <a:ext uri="{FF2B5EF4-FFF2-40B4-BE49-F238E27FC236}">
                <a16:creationId xmlns:a16="http://schemas.microsoft.com/office/drawing/2014/main" id="{31975AFC-CC8F-C192-3C63-2FC9567B13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02E4E79E-74E2-DD3D-D825-A9D0AD6B1514}"/>
              </a:ext>
            </a:extLst>
          </p:cNvPr>
          <p:cNvSpPr>
            <a:spLocks noGrp="1"/>
          </p:cNvSpPr>
          <p:nvPr>
            <p:ph type="sldNum" sz="quarter" idx="12"/>
          </p:nvPr>
        </p:nvSpPr>
        <p:spPr/>
        <p:txBody>
          <a:bodyPr/>
          <a:lstStyle/>
          <a:p>
            <a:fld id="{3A98EE3D-8CD1-4C3F-BD1C-C98C9596463C}" type="slidenum">
              <a:rPr lang="en-US" sz="1200" smtClean="0"/>
              <a:t>10</a:t>
            </a:fld>
            <a:endParaRPr lang="en-US" sz="1200" dirty="0"/>
          </a:p>
        </p:txBody>
      </p:sp>
      <p:pic>
        <p:nvPicPr>
          <p:cNvPr id="7" name="Picture 6">
            <a:extLst>
              <a:ext uri="{FF2B5EF4-FFF2-40B4-BE49-F238E27FC236}">
                <a16:creationId xmlns:a16="http://schemas.microsoft.com/office/drawing/2014/main" id="{6A902888-BBBB-AC20-4964-FB91C96A5C5A}"/>
              </a:ext>
            </a:extLst>
          </p:cNvPr>
          <p:cNvPicPr>
            <a:picLocks noChangeAspect="1"/>
          </p:cNvPicPr>
          <p:nvPr/>
        </p:nvPicPr>
        <p:blipFill>
          <a:blip r:embed="rId5"/>
          <a:stretch>
            <a:fillRect/>
          </a:stretch>
        </p:blipFill>
        <p:spPr>
          <a:xfrm>
            <a:off x="3106967" y="1607154"/>
            <a:ext cx="5763429" cy="4734586"/>
          </a:xfrm>
          <a:prstGeom prst="rect">
            <a:avLst/>
          </a:prstGeom>
        </p:spPr>
      </p:pic>
    </p:spTree>
    <p:extLst>
      <p:ext uri="{BB962C8B-B14F-4D97-AF65-F5344CB8AC3E}">
        <p14:creationId xmlns:p14="http://schemas.microsoft.com/office/powerpoint/2010/main" val="2110200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8D3C2-F248-5F5B-0330-B9C8D6439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6B89C-8A5E-D2AC-A010-AEE6D409B3F7}"/>
              </a:ext>
            </a:extLst>
          </p:cNvPr>
          <p:cNvSpPr>
            <a:spLocks noGrp="1"/>
          </p:cNvSpPr>
          <p:nvPr>
            <p:ph type="title"/>
          </p:nvPr>
        </p:nvSpPr>
        <p:spPr>
          <a:xfrm>
            <a:off x="453146" y="628782"/>
            <a:ext cx="8272212" cy="721203"/>
          </a:xfrm>
        </p:spPr>
        <p:txBody>
          <a:bodyPr anchor="ctr">
            <a:normAutofit fontScale="90000"/>
          </a:bodyPr>
          <a:lstStyle/>
          <a:p>
            <a:pPr algn="ctr"/>
            <a:r>
              <a:rPr lang="en-US" sz="4000" dirty="0"/>
              <a:t>Facts &amp; Findings About Abortion</a:t>
            </a:r>
            <a:endParaRPr lang="en-SG" sz="4000" dirty="0"/>
          </a:p>
        </p:txBody>
      </p:sp>
      <p:sp>
        <p:nvSpPr>
          <p:cNvPr id="3" name="Content Placeholder 2">
            <a:extLst>
              <a:ext uri="{FF2B5EF4-FFF2-40B4-BE49-F238E27FC236}">
                <a16:creationId xmlns:a16="http://schemas.microsoft.com/office/drawing/2014/main" id="{2BDB8198-5ACA-D37A-309E-5CF86315691D}"/>
              </a:ext>
            </a:extLst>
          </p:cNvPr>
          <p:cNvSpPr>
            <a:spLocks noGrp="1"/>
          </p:cNvSpPr>
          <p:nvPr>
            <p:ph idx="1"/>
          </p:nvPr>
        </p:nvSpPr>
        <p:spPr>
          <a:xfrm>
            <a:off x="435895" y="1579959"/>
            <a:ext cx="8272211" cy="4761781"/>
          </a:xfrm>
        </p:spPr>
        <p:txBody>
          <a:bodyPr anchor="t">
            <a:normAutofit fontScale="92500" lnSpcReduction="20000"/>
          </a:bodyPr>
          <a:lstStyle/>
          <a:p>
            <a:r>
              <a:rPr lang="en-US" sz="2400" dirty="0">
                <a:ea typeface="SimSun" panose="02010600030101010101" pitchFamily="2" charset="-122"/>
              </a:rPr>
              <a:t>A study of hundreds of women in the U.S. who had an abortion between 2008 and 2010 found that 99% of those women did not regret it, and continued to think it was the right decision 3 years afterward (</a:t>
            </a:r>
            <a:r>
              <a:rPr lang="en-US" sz="2400" dirty="0">
                <a:ea typeface="SimSun" panose="02010600030101010101" pitchFamily="2" charset="-122"/>
                <a:hlinkClick r:id="rId3"/>
              </a:rPr>
              <a:t>Rocca et al. 2015</a:t>
            </a:r>
            <a:r>
              <a:rPr lang="en-US" sz="2400" dirty="0">
                <a:ea typeface="SimSun" panose="02010600030101010101" pitchFamily="2" charset="-122"/>
              </a:rPr>
              <a:t>). </a:t>
            </a:r>
          </a:p>
          <a:p>
            <a:pPr lvl="1"/>
            <a:endParaRPr lang="en-US" sz="2400" dirty="0">
              <a:ea typeface="SimSun" panose="02010600030101010101" pitchFamily="2" charset="-122"/>
            </a:endParaRPr>
          </a:p>
          <a:p>
            <a:r>
              <a:rPr lang="en-US" sz="2400" dirty="0">
                <a:ea typeface="SimSun" panose="02010600030101010101" pitchFamily="2" charset="-122"/>
              </a:rPr>
              <a:t>Another study found that among the women who did have negative emotions about their abortion years later, it was often due to perceived social disapproval of their decision coming from other people in their community (</a:t>
            </a:r>
            <a:r>
              <a:rPr lang="en-US" sz="2400" dirty="0">
                <a:ea typeface="SimSun" panose="02010600030101010101" pitchFamily="2" charset="-122"/>
                <a:hlinkClick r:id="rId4"/>
              </a:rPr>
              <a:t>Biggs et al. 2020</a:t>
            </a:r>
            <a:r>
              <a:rPr lang="en-US" sz="2400" dirty="0">
                <a:ea typeface="SimSun" panose="02010600030101010101" pitchFamily="2" charset="-122"/>
              </a:rPr>
              <a:t>). </a:t>
            </a:r>
          </a:p>
          <a:p>
            <a:endParaRPr lang="en-US" sz="2400" dirty="0">
              <a:ea typeface="SimSun" panose="02010600030101010101" pitchFamily="2" charset="-122"/>
            </a:endParaRPr>
          </a:p>
          <a:p>
            <a:pPr lvl="1"/>
            <a:r>
              <a:rPr lang="en-US" sz="2400" dirty="0">
                <a:ea typeface="SimSun" panose="02010600030101010101" pitchFamily="2" charset="-122"/>
              </a:rPr>
              <a:t>In contrast, women who reported more support from their community, family, and partner were much less likely to feel distress about their abortion (Ibid.). </a:t>
            </a:r>
          </a:p>
          <a:p>
            <a:endParaRPr lang="en-SG" sz="2000" dirty="0"/>
          </a:p>
        </p:txBody>
      </p:sp>
      <p:sp>
        <p:nvSpPr>
          <p:cNvPr id="4" name="Footer Placeholder 3">
            <a:extLst>
              <a:ext uri="{FF2B5EF4-FFF2-40B4-BE49-F238E27FC236}">
                <a16:creationId xmlns:a16="http://schemas.microsoft.com/office/drawing/2014/main" id="{D34F89AD-99B2-7C21-6B0B-F442E2D6841C}"/>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477C7384-5D70-325D-345D-FA71E370F4C5}"/>
              </a:ext>
            </a:extLst>
          </p:cNvPr>
          <p:cNvSpPr>
            <a:spLocks noGrp="1"/>
          </p:cNvSpPr>
          <p:nvPr>
            <p:ph type="sldNum" sz="quarter" idx="12"/>
          </p:nvPr>
        </p:nvSpPr>
        <p:spPr/>
        <p:txBody>
          <a:bodyPr/>
          <a:lstStyle/>
          <a:p>
            <a:fld id="{3A98EE3D-8CD1-4C3F-BD1C-C98C9596463C}" type="slidenum">
              <a:rPr lang="en-US" sz="1200" smtClean="0"/>
              <a:t>11</a:t>
            </a:fld>
            <a:endParaRPr lang="en-US" sz="1200" dirty="0"/>
          </a:p>
        </p:txBody>
      </p:sp>
    </p:spTree>
    <p:extLst>
      <p:ext uri="{BB962C8B-B14F-4D97-AF65-F5344CB8AC3E}">
        <p14:creationId xmlns:p14="http://schemas.microsoft.com/office/powerpoint/2010/main" val="853300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US" sz="4000" dirty="0"/>
              <a:t>Facts &amp; Findings About Abortion</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24874"/>
            <a:ext cx="8272211" cy="4761781"/>
          </a:xfrm>
        </p:spPr>
        <p:txBody>
          <a:bodyPr anchor="t">
            <a:noAutofit/>
          </a:bodyPr>
          <a:lstStyle/>
          <a:p>
            <a:r>
              <a:rPr lang="en-US" sz="1800" dirty="0">
                <a:ea typeface="SimSun" panose="02010600030101010101" pitchFamily="2" charset="-122"/>
              </a:rPr>
              <a:t>Researchers at the University of California, San Francisco conducted a study of the short- and long-term effects of unwanted pregnancy on women’s lives. Data from this study—known as the </a:t>
            </a:r>
            <a:r>
              <a:rPr lang="en-US" sz="1800" b="1" dirty="0">
                <a:ea typeface="SimSun" panose="02010600030101010101" pitchFamily="2" charset="-122"/>
                <a:hlinkClick r:id="rId3"/>
              </a:rPr>
              <a:t>Turnaway Study</a:t>
            </a:r>
            <a:r>
              <a:rPr lang="en-US" sz="1800" dirty="0">
                <a:ea typeface="SimSun" panose="02010600030101010101" pitchFamily="2" charset="-122"/>
              </a:rPr>
              <a:t>—have been analyzed in dozens of peer-reviewed scientific publications (</a:t>
            </a:r>
            <a:r>
              <a:rPr lang="en-US" sz="1800" dirty="0">
                <a:ea typeface="SimSun" panose="02010600030101010101" pitchFamily="2" charset="-122"/>
                <a:hlinkClick r:id="rId3"/>
              </a:rPr>
              <a:t>ANSIRH</a:t>
            </a:r>
            <a:r>
              <a:rPr lang="en-US" sz="1800" dirty="0">
                <a:ea typeface="SimSun" panose="02010600030101010101" pitchFamily="2" charset="-122"/>
              </a:rPr>
              <a:t>; </a:t>
            </a:r>
            <a:r>
              <a:rPr lang="en-US" sz="1800" dirty="0">
                <a:ea typeface="SimSun" panose="02010600030101010101" pitchFamily="2" charset="-122"/>
                <a:hlinkClick r:id="rId4"/>
              </a:rPr>
              <a:t>Foster 2023</a:t>
            </a:r>
            <a:r>
              <a:rPr lang="en-US" sz="1800" dirty="0">
                <a:ea typeface="SimSun" panose="02010600030101010101" pitchFamily="2" charset="-122"/>
              </a:rPr>
              <a:t>). </a:t>
            </a:r>
          </a:p>
          <a:p>
            <a:r>
              <a:rPr lang="en-US" sz="1800" dirty="0">
                <a:ea typeface="SimSun" panose="02010600030101010101" pitchFamily="2" charset="-122"/>
              </a:rPr>
              <a:t>Compared to women who sought and received abortions, women who were </a:t>
            </a:r>
            <a:r>
              <a:rPr lang="en-US" sz="1800" i="1" dirty="0">
                <a:ea typeface="SimSun" panose="02010600030101010101" pitchFamily="2" charset="-122"/>
              </a:rPr>
              <a:t>denied</a:t>
            </a:r>
            <a:r>
              <a:rPr lang="en-US" sz="1800" dirty="0">
                <a:ea typeface="SimSun" panose="02010600030101010101" pitchFamily="2" charset="-122"/>
              </a:rPr>
              <a:t> an abortion due to legal restrictions had worse health and financial outcomes, including (</a:t>
            </a:r>
            <a:r>
              <a:rPr lang="en-US" sz="1800" dirty="0">
                <a:ea typeface="SimSun" panose="02010600030101010101" pitchFamily="2" charset="-122"/>
                <a:hlinkClick r:id="rId3"/>
              </a:rPr>
              <a:t>ANSIRH</a:t>
            </a:r>
            <a:r>
              <a:rPr lang="en-US" sz="1800" dirty="0">
                <a:ea typeface="SimSun" panose="02010600030101010101" pitchFamily="2" charset="-122"/>
              </a:rPr>
              <a:t>):</a:t>
            </a:r>
          </a:p>
          <a:p>
            <a:pPr lvl="1"/>
            <a:r>
              <a:rPr lang="en-US" sz="1800" dirty="0">
                <a:ea typeface="SimSun" panose="02010600030101010101" pitchFamily="2" charset="-122"/>
              </a:rPr>
              <a:t>Four times greater odds of living below the federal poverty level;</a:t>
            </a:r>
          </a:p>
          <a:p>
            <a:pPr lvl="1"/>
            <a:r>
              <a:rPr lang="en-US" sz="1800" dirty="0">
                <a:ea typeface="SimSun" panose="02010600030101010101" pitchFamily="2" charset="-122"/>
              </a:rPr>
              <a:t>More likely to experience serious health complications from the pregnancy, including eclampsia and death;</a:t>
            </a:r>
          </a:p>
          <a:p>
            <a:pPr lvl="1"/>
            <a:r>
              <a:rPr lang="en-US" sz="1800" dirty="0">
                <a:ea typeface="SimSun" panose="02010600030101010101" pitchFamily="2" charset="-122"/>
              </a:rPr>
              <a:t>More likely to experience poor physical health for years after the pregnancy, including chronic pain and gestational hypertension;</a:t>
            </a:r>
          </a:p>
          <a:p>
            <a:pPr lvl="1"/>
            <a:r>
              <a:rPr lang="en-US" sz="1800" dirty="0">
                <a:ea typeface="SimSun" panose="02010600030101010101" pitchFamily="2" charset="-122"/>
              </a:rPr>
              <a:t>More likely to stay tied to abusive partners;</a:t>
            </a:r>
          </a:p>
          <a:p>
            <a:pPr lvl="1"/>
            <a:r>
              <a:rPr lang="en-US" sz="1800" dirty="0">
                <a:ea typeface="SimSun" panose="02010600030101010101" pitchFamily="2" charset="-122"/>
              </a:rPr>
              <a:t>More likely to suffer anxiety and loss of self-esteem in the short term.</a:t>
            </a:r>
          </a:p>
          <a:p>
            <a:pPr lvl="1"/>
            <a:endParaRPr lang="en-US" sz="1800" dirty="0">
              <a:ea typeface="SimSun" panose="02010600030101010101" pitchFamily="2" charset="-122"/>
            </a:endParaRPr>
          </a:p>
          <a:p>
            <a:pPr lvl="1"/>
            <a:endParaRPr lang="en-US" sz="1800" dirty="0">
              <a:ea typeface="SimSun" panose="02010600030101010101" pitchFamily="2" charset="-122"/>
            </a:endParaRPr>
          </a:p>
          <a:p>
            <a:pPr lvl="1"/>
            <a:endParaRPr lang="en-US" sz="1800" dirty="0">
              <a:effectLst/>
              <a:ea typeface="SimSun" panose="02010600030101010101" pitchFamily="2" charset="-122"/>
            </a:endParaRPr>
          </a:p>
          <a:p>
            <a:pPr lvl="2"/>
            <a:endParaRPr lang="en-SG" sz="1800" dirty="0">
              <a:effectLst/>
              <a:ea typeface="SimSun" panose="02010600030101010101" pitchFamily="2" charset="-122"/>
            </a:endParaRPr>
          </a:p>
          <a:p>
            <a:endParaRPr lang="en-SG" sz="18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12</a:t>
            </a:fld>
            <a:endParaRPr lang="en-US" sz="1200" dirty="0"/>
          </a:p>
        </p:txBody>
      </p:sp>
    </p:spTree>
    <p:extLst>
      <p:ext uri="{BB962C8B-B14F-4D97-AF65-F5344CB8AC3E}">
        <p14:creationId xmlns:p14="http://schemas.microsoft.com/office/powerpoint/2010/main" val="411845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State of abortion in the </a:t>
            </a:r>
            <a:r>
              <a:rPr lang="en-SG" sz="4000" dirty="0" err="1"/>
              <a:t>u.s.</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SG" sz="1900" dirty="0"/>
              <a:t>Before 1973, each state in the U.S. decided for itself whether to permit abortions.</a:t>
            </a:r>
          </a:p>
          <a:p>
            <a:r>
              <a:rPr lang="en-SG" sz="1900" dirty="0"/>
              <a:t>In 1973, the Supreme Court ruled in </a:t>
            </a:r>
            <a:r>
              <a:rPr lang="en-SG" sz="1900" i="1" dirty="0"/>
              <a:t>Roe v. Wade</a:t>
            </a:r>
            <a:r>
              <a:rPr lang="en-SG" sz="1900" dirty="0"/>
              <a:t> that a woman had a constitutional right to have an abortion during the first two trimesters of pregnancy. Viability, which occurs 20 weeks after conception, was identified as a point in pregnancy at which the state may place restrictions on abortion access.</a:t>
            </a:r>
          </a:p>
          <a:p>
            <a:r>
              <a:rPr lang="en-SG" sz="1900" dirty="0"/>
              <a:t>In 2022, the Supreme Court ruled in </a:t>
            </a:r>
            <a:r>
              <a:rPr lang="en-SG" sz="1900" i="1" dirty="0"/>
              <a:t>Dobbs v. Jackson Women’s Health Organization</a:t>
            </a:r>
            <a:r>
              <a:rPr lang="en-SG" sz="1900" dirty="0"/>
              <a:t> that the U.S. Constitution does not protect the right to an abortion. This returned the issue of deciding the legality of abortion to the states.</a:t>
            </a:r>
          </a:p>
          <a:p>
            <a:r>
              <a:rPr lang="en-SG" sz="1900" dirty="0"/>
              <a:t>The </a:t>
            </a:r>
            <a:r>
              <a:rPr lang="en-SG" sz="1900" i="1" dirty="0"/>
              <a:t>New York Times</a:t>
            </a:r>
            <a:r>
              <a:rPr lang="en-SG" sz="1900" dirty="0"/>
              <a:t> tracks abortion laws in each state: “</a:t>
            </a:r>
            <a:r>
              <a:rPr lang="en-SG" sz="1900" dirty="0">
                <a:hlinkClick r:id="rId3"/>
              </a:rPr>
              <a:t>Tracking Abortion Bans Across the Country</a:t>
            </a:r>
            <a:r>
              <a:rPr lang="en-SG" sz="1900" dirty="0"/>
              <a:t>.” </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13</a:t>
            </a:fld>
            <a:endParaRPr lang="en-US" sz="1200" dirty="0"/>
          </a:p>
        </p:txBody>
      </p:sp>
    </p:spTree>
    <p:extLst>
      <p:ext uri="{BB962C8B-B14F-4D97-AF65-F5344CB8AC3E}">
        <p14:creationId xmlns:p14="http://schemas.microsoft.com/office/powerpoint/2010/main" val="3738795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State of abortion in the </a:t>
            </a:r>
            <a:r>
              <a:rPr lang="en-SG" sz="4000" dirty="0" err="1"/>
              <a:t>u.s.</a:t>
            </a:r>
            <a:endParaRPr lang="en-SG" sz="40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14</a:t>
            </a:fld>
            <a:endParaRPr lang="en-US" sz="1200" dirty="0"/>
          </a:p>
        </p:txBody>
      </p:sp>
      <p:pic>
        <p:nvPicPr>
          <p:cNvPr id="6" name="Picture 5">
            <a:extLst>
              <a:ext uri="{FF2B5EF4-FFF2-40B4-BE49-F238E27FC236}">
                <a16:creationId xmlns:a16="http://schemas.microsoft.com/office/drawing/2014/main" id="{B4F9D09E-1250-199A-7E3A-386E12655972}"/>
              </a:ext>
            </a:extLst>
          </p:cNvPr>
          <p:cNvPicPr>
            <a:picLocks noChangeAspect="1"/>
          </p:cNvPicPr>
          <p:nvPr/>
        </p:nvPicPr>
        <p:blipFill>
          <a:blip r:embed="rId3"/>
          <a:stretch>
            <a:fillRect/>
          </a:stretch>
        </p:blipFill>
        <p:spPr>
          <a:xfrm>
            <a:off x="1132345" y="1315660"/>
            <a:ext cx="6571072" cy="5400762"/>
          </a:xfrm>
          <a:prstGeom prst="rect">
            <a:avLst/>
          </a:prstGeom>
        </p:spPr>
      </p:pic>
    </p:spTree>
    <p:extLst>
      <p:ext uri="{BB962C8B-B14F-4D97-AF65-F5344CB8AC3E}">
        <p14:creationId xmlns:p14="http://schemas.microsoft.com/office/powerpoint/2010/main" val="88653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State of abortion in the </a:t>
            </a:r>
            <a:r>
              <a:rPr lang="en-SG" sz="4000" dirty="0" err="1"/>
              <a:t>u.s.</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24874"/>
            <a:ext cx="8272211" cy="4761781"/>
          </a:xfrm>
        </p:spPr>
        <p:txBody>
          <a:bodyPr anchor="t">
            <a:noAutofit/>
          </a:bodyPr>
          <a:lstStyle/>
          <a:p>
            <a:r>
              <a:rPr lang="en-SG" sz="1700" dirty="0">
                <a:effectLst/>
                <a:ea typeface="SimSun" panose="02010600030101010101" pitchFamily="2" charset="-122"/>
              </a:rPr>
              <a:t>Since the </a:t>
            </a:r>
            <a:r>
              <a:rPr lang="en-SG" sz="1700" i="1" dirty="0">
                <a:effectLst/>
                <a:ea typeface="SimSun" panose="02010600030101010101" pitchFamily="2" charset="-122"/>
              </a:rPr>
              <a:t>Roe </a:t>
            </a:r>
            <a:r>
              <a:rPr lang="en-SG" sz="1700" dirty="0">
                <a:effectLst/>
                <a:ea typeface="SimSun" panose="02010600030101010101" pitchFamily="2" charset="-122"/>
              </a:rPr>
              <a:t>ruling in 1973, the estimated number of abortions in the United States peaked at about 1.6 million in 1990, and then declined steadily over a period of nearly 30 years as people became better educated about birth control and access to contraception increased (</a:t>
            </a:r>
            <a:r>
              <a:rPr lang="en-SG" sz="1700" dirty="0">
                <a:effectLst/>
                <a:ea typeface="SimSun" panose="02010600030101010101" pitchFamily="2" charset="-122"/>
                <a:hlinkClick r:id="rId3"/>
              </a:rPr>
              <a:t>Maddow-</a:t>
            </a:r>
            <a:r>
              <a:rPr lang="en-SG" sz="1700" dirty="0" err="1">
                <a:effectLst/>
                <a:ea typeface="SimSun" panose="02010600030101010101" pitchFamily="2" charset="-122"/>
                <a:hlinkClick r:id="rId3"/>
              </a:rPr>
              <a:t>Zimet</a:t>
            </a:r>
            <a:r>
              <a:rPr lang="en-SG" sz="1700" dirty="0">
                <a:effectLst/>
                <a:ea typeface="SimSun" panose="02010600030101010101" pitchFamily="2" charset="-122"/>
                <a:hlinkClick r:id="rId3"/>
              </a:rPr>
              <a:t> &amp; Gibson 2024</a:t>
            </a:r>
            <a:r>
              <a:rPr lang="en-SG" sz="1700" dirty="0">
                <a:effectLst/>
                <a:ea typeface="SimSun" panose="02010600030101010101" pitchFamily="2" charset="-122"/>
              </a:rPr>
              <a:t>). </a:t>
            </a:r>
          </a:p>
          <a:p>
            <a:endParaRPr lang="en-SG" sz="1700" dirty="0">
              <a:ea typeface="SimSun" panose="02010600030101010101" pitchFamily="2" charset="-122"/>
            </a:endParaRPr>
          </a:p>
          <a:p>
            <a:r>
              <a:rPr lang="en-SG" sz="1700" dirty="0">
                <a:ea typeface="SimSun" panose="02010600030101010101" pitchFamily="2" charset="-122"/>
              </a:rPr>
              <a:t>Then, in 2019-2020, the trend reversed somewhat, with estimated abortions rising to 930,000 in 2020. After </a:t>
            </a:r>
            <a:r>
              <a:rPr lang="en-SG" sz="1700" i="1" dirty="0">
                <a:ea typeface="SimSun" panose="02010600030101010101" pitchFamily="2" charset="-122"/>
              </a:rPr>
              <a:t>Roe v. Wade</a:t>
            </a:r>
            <a:r>
              <a:rPr lang="en-SG" sz="1700" dirty="0">
                <a:ea typeface="SimSun" panose="02010600030101010101" pitchFamily="2" charset="-122"/>
              </a:rPr>
              <a:t> was overturned in 2022, the estimated number of abortions continued to increase to over 1 million in 2024. </a:t>
            </a:r>
          </a:p>
          <a:p>
            <a:pPr lvl="1"/>
            <a:r>
              <a:rPr lang="en-SG" sz="1700" dirty="0">
                <a:ea typeface="SimSun" panose="02010600030101010101" pitchFamily="2" charset="-122"/>
              </a:rPr>
              <a:t>This increase has been attributed to greater availability of telehealth for medication abortions, increased financial support for abortions (including from donations), and policies enacted in some states improve access to abortions (Ibid.). </a:t>
            </a:r>
          </a:p>
          <a:p>
            <a:endParaRPr lang="en-SG" sz="1700" dirty="0">
              <a:ea typeface="SimSun" panose="02010600030101010101" pitchFamily="2" charset="-122"/>
            </a:endParaRPr>
          </a:p>
          <a:p>
            <a:r>
              <a:rPr lang="en-SG" sz="1700" dirty="0">
                <a:effectLst/>
                <a:ea typeface="SimSun" panose="02010600030101010101" pitchFamily="2" charset="-122"/>
              </a:rPr>
              <a:t>It’s estimated that 1 in 4 American women aged 15 to 44 in 2020 will have an abortion by the age of 45, if abortion rates from 2020 remain constant (</a:t>
            </a:r>
            <a:r>
              <a:rPr lang="en-SG" sz="1700" dirty="0">
                <a:ea typeface="SimSun" panose="02010600030101010101" pitchFamily="2" charset="-122"/>
                <a:hlinkClick r:id="rId4"/>
              </a:rPr>
              <a:t>Jones 2024</a:t>
            </a:r>
            <a:r>
              <a:rPr lang="en-SG" sz="1700" dirty="0">
                <a:ea typeface="SimSun" panose="02010600030101010101" pitchFamily="2" charset="-122"/>
              </a:rPr>
              <a:t>; see also </a:t>
            </a:r>
            <a:r>
              <a:rPr lang="en-SG" sz="1700" dirty="0">
                <a:ea typeface="SimSun" panose="02010600030101010101" pitchFamily="2" charset="-122"/>
                <a:hlinkClick r:id="rId5"/>
              </a:rPr>
              <a:t>Guttmacher Institute 2025</a:t>
            </a:r>
            <a:r>
              <a:rPr lang="en-SG" sz="1700" dirty="0">
                <a:ea typeface="SimSun" panose="02010600030101010101" pitchFamily="2" charset="-122"/>
              </a:rPr>
              <a:t>).</a:t>
            </a:r>
            <a:endParaRPr lang="en-SG" sz="1700" dirty="0"/>
          </a:p>
          <a:p>
            <a:endParaRPr lang="en-SG" sz="1700" dirty="0"/>
          </a:p>
          <a:p>
            <a:endParaRPr lang="en-SG" sz="17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15</a:t>
            </a:fld>
            <a:endParaRPr lang="en-US" sz="1200" dirty="0"/>
          </a:p>
        </p:txBody>
      </p:sp>
    </p:spTree>
    <p:extLst>
      <p:ext uri="{BB962C8B-B14F-4D97-AF65-F5344CB8AC3E}">
        <p14:creationId xmlns:p14="http://schemas.microsoft.com/office/powerpoint/2010/main" val="4097674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EDB2082-FECC-95BD-83D3-49324D2896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5458"/>
          <a:stretch>
            <a:fillRect/>
          </a:stretch>
        </p:blipFill>
        <p:spPr bwMode="auto">
          <a:xfrm>
            <a:off x="1697666" y="1370811"/>
            <a:ext cx="6377698" cy="51800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State of abortion in the </a:t>
            </a:r>
            <a:r>
              <a:rPr lang="en-SG" sz="4000" dirty="0" err="1"/>
              <a:t>u.s.</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endParaRPr lang="en-SG" sz="1800" dirty="0"/>
          </a:p>
          <a:p>
            <a:endParaRPr lang="en-SG" sz="18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16</a:t>
            </a:fld>
            <a:endParaRPr lang="en-US" sz="1200" dirty="0"/>
          </a:p>
        </p:txBody>
      </p:sp>
      <p:sp>
        <p:nvSpPr>
          <p:cNvPr id="4" name="Footer Placeholder 3">
            <a:extLst>
              <a:ext uri="{FF2B5EF4-FFF2-40B4-BE49-F238E27FC236}">
                <a16:creationId xmlns:a16="http://schemas.microsoft.com/office/drawing/2014/main" id="{EE9E84B5-1D7E-BFB6-92FC-307F2EF47054}"/>
              </a:ext>
            </a:extLst>
          </p:cNvPr>
          <p:cNvSpPr>
            <a:spLocks noGrp="1"/>
          </p:cNvSpPr>
          <p:nvPr>
            <p:ph type="ftr" sz="quarter" idx="11"/>
          </p:nvPr>
        </p:nvSpPr>
        <p:spPr/>
        <p:txBody>
          <a:bodyPr/>
          <a:lstStyle/>
          <a:p>
            <a:r>
              <a:rPr lang="en-US"/>
              <a:t>Luco - PHIL 1020 - Fall 2025</a:t>
            </a:r>
            <a:endParaRPr lang="en-US" dirty="0"/>
          </a:p>
        </p:txBody>
      </p:sp>
    </p:spTree>
    <p:extLst>
      <p:ext uri="{BB962C8B-B14F-4D97-AF65-F5344CB8AC3E}">
        <p14:creationId xmlns:p14="http://schemas.microsoft.com/office/powerpoint/2010/main" val="4040691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25D75-1DDF-2F89-2209-320FC7A1C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08C00-FEF4-925C-6DB7-2C47B568D134}"/>
              </a:ext>
            </a:extLst>
          </p:cNvPr>
          <p:cNvSpPr>
            <a:spLocks noGrp="1"/>
          </p:cNvSpPr>
          <p:nvPr>
            <p:ph type="title"/>
          </p:nvPr>
        </p:nvSpPr>
        <p:spPr>
          <a:xfrm>
            <a:off x="453146" y="628782"/>
            <a:ext cx="8272212" cy="721203"/>
          </a:xfrm>
        </p:spPr>
        <p:txBody>
          <a:bodyPr anchor="ctr">
            <a:normAutofit/>
          </a:bodyPr>
          <a:lstStyle/>
          <a:p>
            <a:pPr algn="ctr"/>
            <a:r>
              <a:rPr lang="en-SG" sz="4000" dirty="0"/>
              <a:t>State of abortion in the </a:t>
            </a:r>
            <a:r>
              <a:rPr lang="en-SG" sz="4000" dirty="0" err="1"/>
              <a:t>u.s.</a:t>
            </a:r>
            <a:endParaRPr lang="en-SG" sz="4000" dirty="0"/>
          </a:p>
        </p:txBody>
      </p:sp>
      <p:sp>
        <p:nvSpPr>
          <p:cNvPr id="3" name="Content Placeholder 2">
            <a:extLst>
              <a:ext uri="{FF2B5EF4-FFF2-40B4-BE49-F238E27FC236}">
                <a16:creationId xmlns:a16="http://schemas.microsoft.com/office/drawing/2014/main" id="{282D9F31-A156-F6CD-4FEB-476B2AA35156}"/>
              </a:ext>
            </a:extLst>
          </p:cNvPr>
          <p:cNvSpPr>
            <a:spLocks noGrp="1"/>
          </p:cNvSpPr>
          <p:nvPr>
            <p:ph idx="1"/>
          </p:nvPr>
        </p:nvSpPr>
        <p:spPr>
          <a:xfrm>
            <a:off x="435895" y="1579959"/>
            <a:ext cx="8272211" cy="4761781"/>
          </a:xfrm>
        </p:spPr>
        <p:txBody>
          <a:bodyPr anchor="t">
            <a:noAutofit/>
          </a:bodyPr>
          <a:lstStyle/>
          <a:p>
            <a:endParaRPr lang="en-SG" sz="1800" dirty="0"/>
          </a:p>
          <a:p>
            <a:endParaRPr lang="en-SG" sz="1800" dirty="0"/>
          </a:p>
        </p:txBody>
      </p:sp>
      <p:sp>
        <p:nvSpPr>
          <p:cNvPr id="5" name="Slide Number Placeholder 4">
            <a:extLst>
              <a:ext uri="{FF2B5EF4-FFF2-40B4-BE49-F238E27FC236}">
                <a16:creationId xmlns:a16="http://schemas.microsoft.com/office/drawing/2014/main" id="{991E538A-BAB7-5696-091B-CD571E5FDCE6}"/>
              </a:ext>
            </a:extLst>
          </p:cNvPr>
          <p:cNvSpPr>
            <a:spLocks noGrp="1"/>
          </p:cNvSpPr>
          <p:nvPr>
            <p:ph type="sldNum" sz="quarter" idx="12"/>
          </p:nvPr>
        </p:nvSpPr>
        <p:spPr/>
        <p:txBody>
          <a:bodyPr/>
          <a:lstStyle/>
          <a:p>
            <a:fld id="{3A98EE3D-8CD1-4C3F-BD1C-C98C9596463C}" type="slidenum">
              <a:rPr lang="en-US" sz="1200" smtClean="0"/>
              <a:t>17</a:t>
            </a:fld>
            <a:endParaRPr lang="en-US" sz="1200" dirty="0"/>
          </a:p>
        </p:txBody>
      </p:sp>
      <p:pic>
        <p:nvPicPr>
          <p:cNvPr id="7" name="Picture 6" descr="A blue circle with a purple triangle and a green triangle&#10;&#10;AI-generated content may be incorrect.">
            <a:extLst>
              <a:ext uri="{FF2B5EF4-FFF2-40B4-BE49-F238E27FC236}">
                <a16:creationId xmlns:a16="http://schemas.microsoft.com/office/drawing/2014/main" id="{633BAB42-6FC1-099A-64B5-129CD490D460}"/>
              </a:ext>
            </a:extLst>
          </p:cNvPr>
          <p:cNvPicPr>
            <a:picLocks noChangeAspect="1"/>
          </p:cNvPicPr>
          <p:nvPr/>
        </p:nvPicPr>
        <p:blipFill>
          <a:blip r:embed="rId3"/>
          <a:srcRect t="3695"/>
          <a:stretch>
            <a:fillRect/>
          </a:stretch>
        </p:blipFill>
        <p:spPr>
          <a:xfrm>
            <a:off x="1194643" y="1294900"/>
            <a:ext cx="6943725" cy="5424025"/>
          </a:xfrm>
          <a:prstGeom prst="rect">
            <a:avLst/>
          </a:prstGeom>
        </p:spPr>
      </p:pic>
    </p:spTree>
    <p:extLst>
      <p:ext uri="{BB962C8B-B14F-4D97-AF65-F5344CB8AC3E}">
        <p14:creationId xmlns:p14="http://schemas.microsoft.com/office/powerpoint/2010/main" val="2926296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State of abortion in the </a:t>
            </a:r>
            <a:r>
              <a:rPr lang="en-SG" sz="4000" dirty="0" err="1"/>
              <a:t>u.s.</a:t>
            </a:r>
            <a:endParaRPr lang="en-SG" sz="4000" dirty="0"/>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1800" dirty="0"/>
              <a:t>Much attention is now focused on what the consequences of abortion restrictions will be. Two studies published in </a:t>
            </a:r>
            <a:r>
              <a:rPr lang="en-US" sz="1800" i="1" dirty="0"/>
              <a:t>JAMA</a:t>
            </a:r>
            <a:r>
              <a:rPr lang="en-US" sz="1800" dirty="0"/>
              <a:t> reported that infant mortality increased in most U.S. states with abortion bans (</a:t>
            </a:r>
            <a:r>
              <a:rPr lang="en-US" sz="1800" dirty="0">
                <a:hlinkClick r:id="rId3"/>
              </a:rPr>
              <a:t>Johns Hopkins 2025</a:t>
            </a:r>
            <a:r>
              <a:rPr lang="en-US" sz="1800" dirty="0"/>
              <a:t>). </a:t>
            </a:r>
          </a:p>
          <a:p>
            <a:pPr lvl="1"/>
            <a:r>
              <a:rPr lang="en-US" sz="1800" dirty="0"/>
              <a:t>The researchers estimated that “infant deaths were 5.6% higher than they would have been in the 14 states with abortion bans had the bans not been enacted, resulting in an estimated 478 additional deaths” (Ibid.).</a:t>
            </a:r>
          </a:p>
          <a:p>
            <a:pPr lvl="2"/>
            <a:r>
              <a:rPr lang="en-US" sz="1800" dirty="0"/>
              <a:t>384 of these deaths were in Texas, which instituted one of the earliest and most restrictive abortion bans (Ibid.). </a:t>
            </a:r>
          </a:p>
          <a:p>
            <a:pPr lvl="1"/>
            <a:r>
              <a:rPr lang="en-US" sz="1800" dirty="0"/>
              <a:t>Infant mortality rates increased even more for infants with congenital anomalies, black and Hispanic infants, infants with younger parents, and infants whose parents lacked a college degree (</a:t>
            </a:r>
            <a:r>
              <a:rPr lang="en-US" sz="1800" dirty="0">
                <a:hlinkClick r:id="rId4"/>
              </a:rPr>
              <a:t>Lapid 2025</a:t>
            </a:r>
            <a:r>
              <a:rPr lang="en-US" sz="1800" dirty="0"/>
              <a:t>). </a:t>
            </a:r>
          </a:p>
          <a:p>
            <a:pPr lvl="1"/>
            <a:r>
              <a:rPr lang="en-US" sz="1800" dirty="0"/>
              <a:t>Suzanne Bell, one of the co-authors of the studies, said the findings “indicate that many pregnant people were unable to overcome barriers to access abortion services and instead were forced to continue an unwanted or unsafe pregnancy to term” (</a:t>
            </a:r>
            <a:r>
              <a:rPr lang="en-US" sz="1800" dirty="0">
                <a:hlinkClick r:id="rId3"/>
              </a:rPr>
              <a:t>Johns Hopkins 2025</a:t>
            </a:r>
            <a:r>
              <a:rPr lang="en-US" sz="1800" dirty="0"/>
              <a:t>).</a:t>
            </a:r>
          </a:p>
          <a:p>
            <a:endParaRPr lang="en-SG" sz="18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18</a:t>
            </a:fld>
            <a:endParaRPr lang="en-US" sz="1200" dirty="0"/>
          </a:p>
        </p:txBody>
      </p:sp>
    </p:spTree>
    <p:extLst>
      <p:ext uri="{BB962C8B-B14F-4D97-AF65-F5344CB8AC3E}">
        <p14:creationId xmlns:p14="http://schemas.microsoft.com/office/powerpoint/2010/main" val="753098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5C25-A192-54FC-6202-DF577DFE7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94D58-2384-FE9F-4C9D-B8823C6232C1}"/>
              </a:ext>
            </a:extLst>
          </p:cNvPr>
          <p:cNvSpPr>
            <a:spLocks noGrp="1"/>
          </p:cNvSpPr>
          <p:nvPr>
            <p:ph type="title"/>
          </p:nvPr>
        </p:nvSpPr>
        <p:spPr>
          <a:xfrm>
            <a:off x="453146" y="628782"/>
            <a:ext cx="8272212" cy="721203"/>
          </a:xfrm>
        </p:spPr>
        <p:txBody>
          <a:bodyPr anchor="ctr">
            <a:normAutofit/>
          </a:bodyPr>
          <a:lstStyle/>
          <a:p>
            <a:pPr algn="ctr"/>
            <a:r>
              <a:rPr lang="en-SG" sz="4000" dirty="0"/>
              <a:t>State of abortion in the </a:t>
            </a:r>
            <a:r>
              <a:rPr lang="en-SG" sz="4000" dirty="0" err="1"/>
              <a:t>u.s.</a:t>
            </a:r>
            <a:endParaRPr lang="en-SG" sz="4000" dirty="0"/>
          </a:p>
        </p:txBody>
      </p:sp>
      <p:sp>
        <p:nvSpPr>
          <p:cNvPr id="3" name="Content Placeholder 2">
            <a:extLst>
              <a:ext uri="{FF2B5EF4-FFF2-40B4-BE49-F238E27FC236}">
                <a16:creationId xmlns:a16="http://schemas.microsoft.com/office/drawing/2014/main" id="{2B481F7C-A307-FFA3-A749-66476F082BE4}"/>
              </a:ext>
            </a:extLst>
          </p:cNvPr>
          <p:cNvSpPr>
            <a:spLocks noGrp="1"/>
          </p:cNvSpPr>
          <p:nvPr>
            <p:ph idx="1"/>
          </p:nvPr>
        </p:nvSpPr>
        <p:spPr>
          <a:xfrm>
            <a:off x="435895" y="1579959"/>
            <a:ext cx="8272211" cy="4761781"/>
          </a:xfrm>
        </p:spPr>
        <p:txBody>
          <a:bodyPr anchor="t">
            <a:noAutofit/>
          </a:bodyPr>
          <a:lstStyle/>
          <a:p>
            <a:r>
              <a:rPr lang="en-US" altLang="en-US" sz="1900" dirty="0">
                <a:solidFill>
                  <a:schemeClr val="tx1"/>
                </a:solidFill>
              </a:rPr>
              <a:t>Furthermore, statistical data have fueled concerns that abortion bans result in higher </a:t>
            </a:r>
            <a:r>
              <a:rPr lang="en-US" altLang="en-US" sz="1900" i="1" dirty="0">
                <a:solidFill>
                  <a:schemeClr val="tx1"/>
                </a:solidFill>
              </a:rPr>
              <a:t>maternal</a:t>
            </a:r>
            <a:r>
              <a:rPr lang="en-US" altLang="en-US" sz="1900" dirty="0">
                <a:solidFill>
                  <a:schemeClr val="tx1"/>
                </a:solidFill>
              </a:rPr>
              <a:t> mortality by making it more difficult for pregnant women to terminate high-risk pregnancies </a:t>
            </a:r>
            <a:r>
              <a:rPr lang="en-US" altLang="en-US" sz="2000" dirty="0">
                <a:solidFill>
                  <a:schemeClr val="tx1"/>
                </a:solidFill>
              </a:rPr>
              <a:t>(see </a:t>
            </a:r>
            <a:r>
              <a:rPr lang="en-US" altLang="en-US" sz="2000" dirty="0">
                <a:solidFill>
                  <a:schemeClr val="tx1"/>
                </a:solidFill>
                <a:hlinkClick r:id="rId3"/>
              </a:rPr>
              <a:t>Zori et al. 2025</a:t>
            </a:r>
            <a:r>
              <a:rPr lang="en-US" altLang="en-US" sz="2000" dirty="0">
                <a:solidFill>
                  <a:schemeClr val="tx1"/>
                </a:solidFill>
              </a:rPr>
              <a:t>)</a:t>
            </a:r>
            <a:r>
              <a:rPr lang="en-US" altLang="en-US" sz="1900" dirty="0">
                <a:solidFill>
                  <a:schemeClr val="tx1"/>
                </a:solidFill>
              </a:rPr>
              <a:t>. </a:t>
            </a:r>
          </a:p>
          <a:p>
            <a:endParaRPr lang="en-US" altLang="en-US" sz="1900" dirty="0">
              <a:solidFill>
                <a:schemeClr val="tx1"/>
              </a:solidFill>
            </a:endParaRPr>
          </a:p>
          <a:p>
            <a:pPr lvl="1"/>
            <a:r>
              <a:rPr lang="en-US" altLang="en-US" sz="1900" dirty="0">
                <a:solidFill>
                  <a:schemeClr val="tx1"/>
                </a:solidFill>
              </a:rPr>
              <a:t>For instance, an analysis published by the Gender Equity Policy Institute (GEPI) found, based on U.S. data from 2019-2023, that “</a:t>
            </a:r>
            <a:r>
              <a:rPr lang="en-US" altLang="en-US" sz="1900" b="1" dirty="0">
                <a:solidFill>
                  <a:schemeClr val="tx1"/>
                </a:solidFill>
              </a:rPr>
              <a:t>[m]others living in states that banned abortion nearly 2x as likely to die during pregnancy, childbirth, or soon after giving birth, compared to mothers living in supportive states where abortion was legal and accessible</a:t>
            </a:r>
            <a:r>
              <a:rPr lang="en-US" altLang="en-US" sz="1900" dirty="0">
                <a:solidFill>
                  <a:schemeClr val="tx1"/>
                </a:solidFill>
              </a:rPr>
              <a:t>” (</a:t>
            </a:r>
            <a:r>
              <a:rPr lang="en-US" altLang="en-US" sz="1900" dirty="0">
                <a:solidFill>
                  <a:schemeClr val="tx1"/>
                </a:solidFill>
                <a:hlinkClick r:id="rId4"/>
              </a:rPr>
              <a:t>GEPI 2025</a:t>
            </a:r>
            <a:r>
              <a:rPr lang="en-US" altLang="en-US" sz="1900" dirty="0">
                <a:solidFill>
                  <a:schemeClr val="tx1"/>
                </a:solidFill>
              </a:rPr>
              <a:t>).</a:t>
            </a:r>
          </a:p>
          <a:p>
            <a:pPr lvl="1"/>
            <a:endParaRPr lang="en-US" altLang="en-US" sz="1900" dirty="0">
              <a:solidFill>
                <a:schemeClr val="tx1"/>
              </a:solidFill>
            </a:endParaRPr>
          </a:p>
          <a:p>
            <a:pPr lvl="2"/>
            <a:r>
              <a:rPr lang="en-US" altLang="en-US" sz="1900" dirty="0">
                <a:solidFill>
                  <a:schemeClr val="tx1"/>
                </a:solidFill>
              </a:rPr>
              <a:t>The GEPI report notes that after Texas introduced a statewide abortion ban in 2022, the maternal mortality rate increased by 56 percent. In 2023, maternal mortality was 36 percent higher after the ban. </a:t>
            </a:r>
          </a:p>
        </p:txBody>
      </p:sp>
      <p:sp>
        <p:nvSpPr>
          <p:cNvPr id="4" name="Footer Placeholder 3">
            <a:extLst>
              <a:ext uri="{FF2B5EF4-FFF2-40B4-BE49-F238E27FC236}">
                <a16:creationId xmlns:a16="http://schemas.microsoft.com/office/drawing/2014/main" id="{7AF5C2F1-EF29-CB8F-7D93-7B42DB2BB114}"/>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B27EA149-816B-08B1-6AEC-977690A39E55}"/>
              </a:ext>
            </a:extLst>
          </p:cNvPr>
          <p:cNvSpPr>
            <a:spLocks noGrp="1"/>
          </p:cNvSpPr>
          <p:nvPr>
            <p:ph type="sldNum" sz="quarter" idx="12"/>
          </p:nvPr>
        </p:nvSpPr>
        <p:spPr/>
        <p:txBody>
          <a:bodyPr/>
          <a:lstStyle/>
          <a:p>
            <a:fld id="{3A98EE3D-8CD1-4C3F-BD1C-C98C9596463C}" type="slidenum">
              <a:rPr lang="en-US" sz="1200" smtClean="0"/>
              <a:t>19</a:t>
            </a:fld>
            <a:endParaRPr lang="en-US" sz="1200" dirty="0"/>
          </a:p>
        </p:txBody>
      </p:sp>
    </p:spTree>
    <p:extLst>
      <p:ext uri="{BB962C8B-B14F-4D97-AF65-F5344CB8AC3E}">
        <p14:creationId xmlns:p14="http://schemas.microsoft.com/office/powerpoint/2010/main" val="3480631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Judith </a:t>
            </a:r>
            <a:r>
              <a:rPr lang="en-SG" sz="4000" dirty="0" err="1"/>
              <a:t>jarvis</a:t>
            </a:r>
            <a:r>
              <a:rPr lang="en-SG" sz="4000" dirty="0"/>
              <a:t> Thomson (1929–2020)</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4357169" cy="4761781"/>
          </a:xfrm>
        </p:spPr>
        <p:txBody>
          <a:bodyPr anchor="t">
            <a:noAutofit/>
          </a:bodyPr>
          <a:lstStyle/>
          <a:p>
            <a:r>
              <a:rPr lang="en-SG" sz="1700" dirty="0"/>
              <a:t>American moral philosopher.</a:t>
            </a:r>
          </a:p>
          <a:p>
            <a:endParaRPr lang="en-SG" sz="1700" dirty="0"/>
          </a:p>
          <a:p>
            <a:r>
              <a:rPr lang="en-SG" sz="1700" dirty="0"/>
              <a:t>Made groundbreaking contributions to all areas of ethics. Her 1971 essay “A Defense of Abortion” is one of the most widely re-printed and cited works in applied ethics.</a:t>
            </a:r>
          </a:p>
          <a:p>
            <a:pPr marL="0" indent="0">
              <a:buNone/>
            </a:pPr>
            <a:endParaRPr lang="en-SG" sz="1700" dirty="0"/>
          </a:p>
          <a:p>
            <a:r>
              <a:rPr lang="en-SG" sz="1700" dirty="0"/>
              <a:t>Spent most of her career as a philosophy professor at MIT. Held many academic </a:t>
            </a:r>
            <a:r>
              <a:rPr lang="en-SG" sz="1700" dirty="0" err="1"/>
              <a:t>honors</a:t>
            </a:r>
            <a:r>
              <a:rPr lang="en-SG" sz="1700" dirty="0"/>
              <a:t>, including being elected to the American Academy of Arts &amp; Sciences, holding the Laurance S. Rockefeller Chair at MIT, and delivering the Tanner Lectures at Princeton University.</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20</a:t>
            </a:fld>
            <a:endParaRPr lang="en-US" sz="1200" dirty="0"/>
          </a:p>
        </p:txBody>
      </p:sp>
      <p:pic>
        <p:nvPicPr>
          <p:cNvPr id="1026" name="Picture 2" descr="Judith Jarvis Thomson in 2010. A renowned thinker, she created new fields of inquiry in moral philosophy.">
            <a:extLst>
              <a:ext uri="{FF2B5EF4-FFF2-40B4-BE49-F238E27FC236}">
                <a16:creationId xmlns:a16="http://schemas.microsoft.com/office/drawing/2014/main" id="{26352C17-8E34-B589-DB82-AE27FE1CB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9877" y="1887834"/>
            <a:ext cx="405765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886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SG" altLang="en-US" sz="1800" dirty="0"/>
              <a:t>In her article “A </a:t>
            </a:r>
            <a:r>
              <a:rPr lang="en-SG" altLang="en-US" sz="1800" dirty="0" err="1"/>
              <a:t>Defense</a:t>
            </a:r>
            <a:r>
              <a:rPr lang="en-SG" altLang="en-US" sz="1800" dirty="0"/>
              <a:t> of Abortion,” Judith Jarvis Thomson </a:t>
            </a:r>
            <a:r>
              <a:rPr lang="en-SG" sz="1800" dirty="0">
                <a:solidFill>
                  <a:srgbClr val="191B0E"/>
                </a:solidFill>
                <a:latin typeface="Franklin Gothic Book" panose="020B0503020102020204"/>
                <a:ea typeface="SimSun" panose="02010600030101010101" pitchFamily="2" charset="-122"/>
              </a:rPr>
              <a:t>argues that abortion is morally permissible in virtually any circumstance, because a woman has the moral right to control what happens in her own body.</a:t>
            </a:r>
          </a:p>
          <a:p>
            <a:endParaRPr lang="en-SG" altLang="en-US" sz="1800" dirty="0"/>
          </a:p>
          <a:p>
            <a:r>
              <a:rPr lang="en-SG" altLang="en-US" sz="1800" dirty="0"/>
              <a:t>Thomson does not argue that human </a:t>
            </a:r>
            <a:r>
              <a:rPr lang="en-SG" altLang="en-US" sz="1800" dirty="0" err="1"/>
              <a:t>fetuses</a:t>
            </a:r>
            <a:r>
              <a:rPr lang="en-SG" altLang="en-US" sz="1800" dirty="0"/>
              <a:t> lack a moral right to life. Instead, Thomson’s main point is that </a:t>
            </a:r>
            <a:r>
              <a:rPr lang="en-SG" altLang="en-US" sz="1800" i="1" dirty="0"/>
              <a:t>regardless</a:t>
            </a:r>
            <a:r>
              <a:rPr lang="en-SG" altLang="en-US" sz="1800" dirty="0"/>
              <a:t> of whether or not </a:t>
            </a:r>
            <a:r>
              <a:rPr lang="en-SG" altLang="en-US" sz="1800" dirty="0" err="1"/>
              <a:t>fetuses</a:t>
            </a:r>
            <a:r>
              <a:rPr lang="en-SG" altLang="en-US" sz="1800" dirty="0"/>
              <a:t> have the moral right to life, they do </a:t>
            </a:r>
            <a:r>
              <a:rPr lang="en-SG" altLang="en-US" sz="1800" i="1" dirty="0"/>
              <a:t>not</a:t>
            </a:r>
            <a:r>
              <a:rPr lang="en-SG" altLang="en-US" sz="1800" dirty="0"/>
              <a:t> have the moral right to be kept alive by the mother’s internal organs against her will (see Thomson, in Shafer-Landau 2024: 172-173, 196). </a:t>
            </a:r>
            <a:r>
              <a:rPr lang="en-SG" altLang="en-US" sz="1800" b="1" dirty="0"/>
              <a:t>(Moral rights are defined in the notes section below.)</a:t>
            </a:r>
          </a:p>
          <a:p>
            <a:endParaRPr lang="en-SG" altLang="en-US" sz="1800" dirty="0"/>
          </a:p>
          <a:p>
            <a:r>
              <a:rPr lang="en-SG" altLang="en-US" sz="1800" dirty="0"/>
              <a:t>And because </a:t>
            </a:r>
            <a:r>
              <a:rPr lang="en-SG" altLang="en-US" sz="1800" dirty="0" err="1"/>
              <a:t>fetuses</a:t>
            </a:r>
            <a:r>
              <a:rPr lang="en-SG" altLang="en-US" sz="1800" dirty="0"/>
              <a:t> do not have this moral right, it would be morally permissible to abort a </a:t>
            </a:r>
            <a:r>
              <a:rPr lang="en-SG" altLang="en-US" sz="1800" dirty="0" err="1"/>
              <a:t>fetus</a:t>
            </a:r>
            <a:r>
              <a:rPr lang="en-SG" altLang="en-US" sz="1800" dirty="0"/>
              <a:t> whenever the mother is not willing to let her body be used for the </a:t>
            </a:r>
            <a:r>
              <a:rPr lang="en-SG" altLang="en-US" sz="1800" dirty="0" err="1"/>
              <a:t>fetus’s</a:t>
            </a:r>
            <a:r>
              <a:rPr lang="en-SG" altLang="en-US" sz="1800" dirty="0"/>
              <a:t> growth. </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21</a:t>
            </a:fld>
            <a:endParaRPr lang="en-US" sz="1200" dirty="0"/>
          </a:p>
        </p:txBody>
      </p:sp>
    </p:spTree>
    <p:extLst>
      <p:ext uri="{BB962C8B-B14F-4D97-AF65-F5344CB8AC3E}">
        <p14:creationId xmlns:p14="http://schemas.microsoft.com/office/powerpoint/2010/main" val="789218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rmAutofit fontScale="92500" lnSpcReduction="20000"/>
          </a:bodyPr>
          <a:lstStyle/>
          <a:p>
            <a:r>
              <a:rPr lang="en-SG" altLang="en-US" sz="2400" dirty="0"/>
              <a:t>To support her conclusion, Thomson devises one of the most famous thought experiments in ethics. We can call it </a:t>
            </a:r>
            <a:r>
              <a:rPr lang="en-SG" altLang="en-US" sz="2400" b="1" dirty="0"/>
              <a:t>Thomson’s Violinist</a:t>
            </a:r>
            <a:r>
              <a:rPr lang="en-SG" altLang="en-US" sz="2400" dirty="0"/>
              <a:t>.</a:t>
            </a:r>
          </a:p>
          <a:p>
            <a:pPr marL="457200" lvl="1" indent="0">
              <a:buNone/>
            </a:pPr>
            <a:endParaRPr lang="en-SG" altLang="en-US" sz="2400" dirty="0"/>
          </a:p>
          <a:p>
            <a:pPr lvl="1"/>
            <a:r>
              <a:rPr lang="en-SG" altLang="en-US" sz="2400" dirty="0"/>
              <a:t>The passage where Thomson herself explains the violinist story occurs in Shafer-Landau 2024, page 173 (see also the notes under this slide).</a:t>
            </a:r>
          </a:p>
          <a:p>
            <a:pPr lvl="1"/>
            <a:endParaRPr lang="en-SG" altLang="en-US" sz="2400" dirty="0"/>
          </a:p>
          <a:p>
            <a:pPr lvl="1"/>
            <a:r>
              <a:rPr lang="en-SG" altLang="en-US" sz="2400" dirty="0">
                <a:hlinkClick r:id="rId3"/>
              </a:rPr>
              <a:t>This video</a:t>
            </a:r>
            <a:r>
              <a:rPr lang="en-SG" altLang="en-US" sz="2400" dirty="0"/>
              <a:t> nicely explains Thomson’s Violinist.</a:t>
            </a:r>
          </a:p>
          <a:p>
            <a:pPr lvl="1"/>
            <a:endParaRPr lang="en-US" sz="2400" dirty="0"/>
          </a:p>
          <a:p>
            <a:pPr lvl="1"/>
            <a:r>
              <a:rPr lang="en-US" sz="2400" dirty="0"/>
              <a:t>Notice that in the story, the violinist played no part in the plan to kidnap you and connect him to your kidneys. He was unconscious the whole time.</a:t>
            </a:r>
          </a:p>
          <a:p>
            <a:endParaRPr lang="en-SG" altLang="en-US" sz="2400" dirty="0"/>
          </a:p>
          <a:p>
            <a:endParaRPr lang="en-US" sz="24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22</a:t>
            </a:fld>
            <a:endParaRPr lang="en-US" sz="1200" dirty="0"/>
          </a:p>
        </p:txBody>
      </p:sp>
    </p:spTree>
    <p:extLst>
      <p:ext uri="{BB962C8B-B14F-4D97-AF65-F5344CB8AC3E}">
        <p14:creationId xmlns:p14="http://schemas.microsoft.com/office/powerpoint/2010/main" val="1503379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rmAutofit/>
          </a:bodyPr>
          <a:lstStyle/>
          <a:p>
            <a:r>
              <a:rPr lang="en-US" altLang="en-US" sz="2000" dirty="0"/>
              <a:t>Thomson seeks to draw an </a:t>
            </a:r>
            <a:r>
              <a:rPr lang="en-US" altLang="en-US" sz="2000" i="1" dirty="0"/>
              <a:t>analogy </a:t>
            </a:r>
            <a:r>
              <a:rPr lang="en-US" altLang="en-US" sz="2000" dirty="0"/>
              <a:t>between the story about the violinist and having an abortion. She relies on this analogy to support her position that abortion is morally permissible. Her argument may be summarized as follows (see Shafer-Landau 2024: §11.2):</a:t>
            </a:r>
          </a:p>
          <a:p>
            <a:endParaRPr lang="en-US" altLang="en-US" sz="2000" dirty="0"/>
          </a:p>
          <a:p>
            <a:pPr marL="0" indent="0">
              <a:buNone/>
            </a:pPr>
            <a:r>
              <a:rPr lang="en-US" altLang="en-US" sz="2000" i="1" u="sng" dirty="0"/>
              <a:t>Thomson’s Violinist Analogy </a:t>
            </a:r>
          </a:p>
          <a:p>
            <a:pPr marL="457200" indent="-457200">
              <a:buFont typeface="+mj-lt"/>
              <a:buAutoNum type="arabicPeriod"/>
            </a:pPr>
            <a:r>
              <a:rPr lang="en-US" sz="2000" dirty="0"/>
              <a:t>It is morally permissible to unplug from the violinist (even though it will cause his death).</a:t>
            </a:r>
          </a:p>
          <a:p>
            <a:pPr marL="457200" indent="-457200">
              <a:buFont typeface="+mj-lt"/>
              <a:buAutoNum type="arabicPeriod"/>
            </a:pPr>
            <a:r>
              <a:rPr lang="en-US" sz="2000" dirty="0"/>
              <a:t>If it is morally permissible to unplug from the violinist, then it is morally permissible to have an abortion. </a:t>
            </a:r>
          </a:p>
          <a:p>
            <a:pPr marL="457200" indent="-457200">
              <a:buFont typeface="+mj-lt"/>
              <a:buAutoNum type="arabicPeriod"/>
            </a:pPr>
            <a:r>
              <a:rPr lang="en-US" sz="2000" b="1" dirty="0"/>
              <a:t>(Conclusion)</a:t>
            </a:r>
            <a:r>
              <a:rPr lang="en-US" sz="2000" dirty="0"/>
              <a:t> Therefore, it is morally permissible to have an abortion.</a:t>
            </a:r>
            <a:endParaRPr lang="en-US" sz="2000" b="1" dirty="0"/>
          </a:p>
          <a:p>
            <a:endParaRPr lang="en-US" sz="20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23</a:t>
            </a:fld>
            <a:endParaRPr lang="en-US" sz="1200" dirty="0"/>
          </a:p>
        </p:txBody>
      </p:sp>
    </p:spTree>
    <p:extLst>
      <p:ext uri="{BB962C8B-B14F-4D97-AF65-F5344CB8AC3E}">
        <p14:creationId xmlns:p14="http://schemas.microsoft.com/office/powerpoint/2010/main" val="3718005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29719"/>
            <a:ext cx="8272211" cy="4761781"/>
          </a:xfrm>
        </p:spPr>
        <p:txBody>
          <a:bodyPr anchor="t">
            <a:noAutofit/>
          </a:bodyPr>
          <a:lstStyle/>
          <a:p>
            <a:r>
              <a:rPr lang="en-US" altLang="en-US" sz="1750" dirty="0"/>
              <a:t>Thomson takes premise 1 to be obviously true: surely it’s permissible to detach yourself from the violinist.</a:t>
            </a:r>
            <a:endParaRPr lang="en-SG" altLang="en-US" sz="1750" dirty="0"/>
          </a:p>
          <a:p>
            <a:pPr lvl="1"/>
            <a:endParaRPr lang="en-US" altLang="en-US" sz="1750" dirty="0"/>
          </a:p>
          <a:p>
            <a:r>
              <a:rPr lang="en-US" altLang="en-US" sz="1750" dirty="0"/>
              <a:t>Thomson also uses premise 1 to support two broader points: </a:t>
            </a:r>
          </a:p>
          <a:p>
            <a:pPr lvl="2"/>
            <a:endParaRPr lang="en-US" altLang="en-US" sz="1750" dirty="0"/>
          </a:p>
          <a:p>
            <a:pPr lvl="1"/>
            <a:r>
              <a:rPr lang="en-US" altLang="en-US" sz="1750" b="1" dirty="0"/>
              <a:t>First: </a:t>
            </a:r>
            <a:r>
              <a:rPr lang="en-US" altLang="en-US" sz="1750" dirty="0"/>
              <a:t>“…having a right to life does not guarantee having either a right to be given the use of or a right to be allowed continued use of another person’s body—even if one needs it for life itself” (Thomson, in Shafer-Landau 2024: 176). </a:t>
            </a:r>
          </a:p>
          <a:p>
            <a:pPr lvl="1"/>
            <a:endParaRPr lang="en-US" altLang="en-US" sz="1750" dirty="0"/>
          </a:p>
          <a:p>
            <a:pPr lvl="2"/>
            <a:r>
              <a:rPr lang="en-US" altLang="en-US" sz="1750" dirty="0"/>
              <a:t>It’s crucial to note that in Thomson’s Violinist story, the violinist is assumed to be a person with a full moral right to life. However, Thomson uses the story to demonstrate that even if someone has a moral right to life, they do </a:t>
            </a:r>
            <a:r>
              <a:rPr lang="en-US" altLang="en-US" sz="1750" i="1" dirty="0"/>
              <a:t>not </a:t>
            </a:r>
            <a:r>
              <a:rPr lang="en-US" altLang="en-US" sz="1750" dirty="0"/>
              <a:t>have a moral right to sustain their life by using another person’s body against the other person’s will.</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24</a:t>
            </a:fld>
            <a:endParaRPr lang="en-US" sz="1200" dirty="0"/>
          </a:p>
        </p:txBody>
      </p:sp>
    </p:spTree>
    <p:extLst>
      <p:ext uri="{BB962C8B-B14F-4D97-AF65-F5344CB8AC3E}">
        <p14:creationId xmlns:p14="http://schemas.microsoft.com/office/powerpoint/2010/main" val="507887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29719"/>
            <a:ext cx="8272211" cy="4761781"/>
          </a:xfrm>
        </p:spPr>
        <p:txBody>
          <a:bodyPr anchor="t">
            <a:noAutofit/>
          </a:bodyPr>
          <a:lstStyle/>
          <a:p>
            <a:r>
              <a:rPr lang="en-US" altLang="en-US" sz="1800" b="1" dirty="0"/>
              <a:t>(continued from previous slide)</a:t>
            </a:r>
          </a:p>
          <a:p>
            <a:pPr lvl="2"/>
            <a:endParaRPr lang="en-US" altLang="en-US" sz="1800" dirty="0"/>
          </a:p>
          <a:p>
            <a:pPr lvl="1"/>
            <a:r>
              <a:rPr lang="en-US" altLang="en-US" sz="1800" b="1" dirty="0"/>
              <a:t>Second: </a:t>
            </a:r>
            <a:r>
              <a:rPr lang="en-US" sz="1800" dirty="0"/>
              <a:t>“…nobody is morally required to make large sacrifices, of health, of all other interests and concerns, of all other duties and commitments, for nine years, or even for nine months, in order to keep another person alive” (Thomson, in </a:t>
            </a:r>
            <a:r>
              <a:rPr lang="en-US" sz="1800" dirty="0" err="1"/>
              <a:t>Kuhse</a:t>
            </a:r>
            <a:r>
              <a:rPr lang="en-US" sz="1800" dirty="0"/>
              <a:t>, </a:t>
            </a:r>
            <a:r>
              <a:rPr lang="en-US" sz="1800" dirty="0" err="1"/>
              <a:t>Schüklenk</a:t>
            </a:r>
            <a:r>
              <a:rPr lang="en-US" sz="1800" dirty="0"/>
              <a:t>, &amp; Singer 2016: 45).</a:t>
            </a:r>
          </a:p>
          <a:p>
            <a:pPr lvl="2"/>
            <a:endParaRPr lang="en-US" sz="1800" dirty="0"/>
          </a:p>
          <a:p>
            <a:pPr lvl="2"/>
            <a:r>
              <a:rPr lang="en-US" sz="1800" dirty="0"/>
              <a:t>Thomson’s Violinist story is meant to show that it’s generally morally permissible not to make a large sacrifice to keep another person alive, just as it seems to be permissible not to make a large sacrifice to keep the violinist alive. </a:t>
            </a:r>
          </a:p>
          <a:p>
            <a:pPr lvl="1"/>
            <a:endParaRPr lang="en-US" altLang="en-US" sz="1800" dirty="0"/>
          </a:p>
          <a:p>
            <a:endParaRPr lang="en-US" sz="18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25</a:t>
            </a:fld>
            <a:endParaRPr lang="en-US" sz="1200" dirty="0"/>
          </a:p>
        </p:txBody>
      </p:sp>
    </p:spTree>
    <p:extLst>
      <p:ext uri="{BB962C8B-B14F-4D97-AF65-F5344CB8AC3E}">
        <p14:creationId xmlns:p14="http://schemas.microsoft.com/office/powerpoint/2010/main" val="1700452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29719"/>
            <a:ext cx="8272211" cy="4761781"/>
          </a:xfrm>
        </p:spPr>
        <p:txBody>
          <a:bodyPr anchor="t">
            <a:noAutofit/>
          </a:bodyPr>
          <a:lstStyle/>
          <a:p>
            <a:r>
              <a:rPr lang="en-US" altLang="en-US" sz="1800" dirty="0"/>
              <a:t>Thomson’s rationale for premise 2 is that the case of the violinist is similar in relevant respects to the situation of a woman who has an unwanted pregnancy. </a:t>
            </a:r>
          </a:p>
          <a:p>
            <a:pPr lvl="2"/>
            <a:endParaRPr lang="en-US" altLang="en-US" sz="1800" dirty="0"/>
          </a:p>
          <a:p>
            <a:pPr lvl="1"/>
            <a:r>
              <a:rPr lang="en-US" sz="1800" dirty="0"/>
              <a:t>As with the violinist, the fetus’s life depends on its use of the pregnant woman’s body. But as with the person who is unwillingly connected to the violinist, a woman who has an unwanted pregnancy is not willing to let the fetus use her body.</a:t>
            </a:r>
          </a:p>
          <a:p>
            <a:pPr lvl="1"/>
            <a:endParaRPr lang="en-US" sz="1800" dirty="0"/>
          </a:p>
          <a:p>
            <a:pPr lvl="1"/>
            <a:r>
              <a:rPr lang="en-US" sz="1800" dirty="0"/>
              <a:t>Therefore, just as there is no moral obligation to keep the violinist alive by making the large sacrifice of letting him use one’s body for nine months, there is likewise no moral obligation for a woman to keep </a:t>
            </a:r>
            <a:r>
              <a:rPr lang="en-US" sz="1800" i="1" dirty="0"/>
              <a:t>a fetus</a:t>
            </a:r>
            <a:r>
              <a:rPr lang="en-US" sz="1800" dirty="0"/>
              <a:t> alive by allowing it the use of her body for nine months. </a:t>
            </a:r>
          </a:p>
          <a:p>
            <a:pPr lvl="1"/>
            <a:endParaRPr lang="en-US" sz="1800" dirty="0"/>
          </a:p>
          <a:p>
            <a:pPr lvl="1"/>
            <a:r>
              <a:rPr lang="en-US" sz="1800" dirty="0"/>
              <a:t>And so, just as it’s morally permissible to detach from the violinist, it’s also morally permissible for a pregnant woman to have an abortion.</a:t>
            </a:r>
          </a:p>
          <a:p>
            <a:pPr lvl="1"/>
            <a:endParaRPr lang="en-US" sz="1800" dirty="0"/>
          </a:p>
          <a:p>
            <a:pPr lvl="1"/>
            <a:endParaRPr lang="en-US" sz="1800" dirty="0"/>
          </a:p>
          <a:p>
            <a:pPr lvl="1"/>
            <a:endParaRPr lang="en-US" altLang="en-US" sz="1800" dirty="0"/>
          </a:p>
          <a:p>
            <a:endParaRPr lang="en-US" sz="18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26</a:t>
            </a:fld>
            <a:endParaRPr lang="en-US" sz="1200" dirty="0"/>
          </a:p>
        </p:txBody>
      </p:sp>
    </p:spTree>
    <p:extLst>
      <p:ext uri="{BB962C8B-B14F-4D97-AF65-F5344CB8AC3E}">
        <p14:creationId xmlns:p14="http://schemas.microsoft.com/office/powerpoint/2010/main" val="967884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49815"/>
            <a:ext cx="8272211" cy="4761781"/>
          </a:xfrm>
        </p:spPr>
        <p:txBody>
          <a:bodyPr anchor="t">
            <a:noAutofit/>
          </a:bodyPr>
          <a:lstStyle/>
          <a:p>
            <a:r>
              <a:rPr lang="en-SG" sz="2000" b="1" dirty="0">
                <a:solidFill>
                  <a:srgbClr val="FF0000"/>
                </a:solidFill>
              </a:rPr>
              <a:t>Small-group discussion (1): </a:t>
            </a:r>
          </a:p>
          <a:p>
            <a:endParaRPr lang="en-SG" sz="2000" dirty="0">
              <a:solidFill>
                <a:srgbClr val="FF0000"/>
              </a:solidFill>
            </a:endParaRPr>
          </a:p>
          <a:p>
            <a:pPr lvl="1"/>
            <a:r>
              <a:rPr lang="en-SG" sz="2000" dirty="0">
                <a:solidFill>
                  <a:srgbClr val="FF0000"/>
                </a:solidFill>
              </a:rPr>
              <a:t>Do you agree with Thomson that it would be morally permissible to detach yourself from the famous violinist?</a:t>
            </a:r>
          </a:p>
          <a:p>
            <a:pPr lvl="1"/>
            <a:endParaRPr lang="en-SG" sz="2000" dirty="0">
              <a:solidFill>
                <a:srgbClr val="FF0000"/>
              </a:solidFill>
            </a:endParaRPr>
          </a:p>
          <a:p>
            <a:pPr lvl="1"/>
            <a:r>
              <a:rPr lang="en-SG" sz="2000" dirty="0">
                <a:solidFill>
                  <a:srgbClr val="FF0000"/>
                </a:solidFill>
              </a:rPr>
              <a:t>Do you agree with Thomson that </a:t>
            </a:r>
            <a:r>
              <a:rPr lang="en-SG" sz="2000" i="1" dirty="0">
                <a:solidFill>
                  <a:srgbClr val="FF0000"/>
                </a:solidFill>
              </a:rPr>
              <a:t>if</a:t>
            </a:r>
            <a:r>
              <a:rPr lang="en-SG" sz="2000" dirty="0">
                <a:solidFill>
                  <a:srgbClr val="FF0000"/>
                </a:solidFill>
              </a:rPr>
              <a:t> it’s morally permissible to detach yourself from the famous violinist, then it’s also morally permissible for a pregnant woman to get an abortion? </a:t>
            </a:r>
          </a:p>
          <a:p>
            <a:pPr lvl="1"/>
            <a:endParaRPr lang="en-SG" sz="2000" dirty="0">
              <a:solidFill>
                <a:srgbClr val="FF0000"/>
              </a:solidFill>
            </a:endParaRPr>
          </a:p>
          <a:p>
            <a:pPr lvl="2"/>
            <a:r>
              <a:rPr lang="en-SG" sz="2000" dirty="0">
                <a:solidFill>
                  <a:srgbClr val="FF0000"/>
                </a:solidFill>
              </a:rPr>
              <a:t>Please consider only cases where the pregnancy poses no risk to the health of the pregnant woman. These could include cases in which the woman becomes pregnant due to rape, or due to consensual sex.</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27</a:t>
            </a:fld>
            <a:endParaRPr lang="en-US" sz="1200" dirty="0"/>
          </a:p>
        </p:txBody>
      </p:sp>
    </p:spTree>
    <p:extLst>
      <p:ext uri="{BB962C8B-B14F-4D97-AF65-F5344CB8AC3E}">
        <p14:creationId xmlns:p14="http://schemas.microsoft.com/office/powerpoint/2010/main" val="543805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altLang="en-US" sz="1700" dirty="0"/>
              <a:t>A common objection to Thomson’s argument is directed against premise 2. </a:t>
            </a:r>
          </a:p>
          <a:p>
            <a:pPr lvl="1"/>
            <a:endParaRPr lang="en-US" altLang="en-US" sz="1700" dirty="0"/>
          </a:p>
          <a:p>
            <a:pPr lvl="1"/>
            <a:r>
              <a:rPr lang="en-US" altLang="en-US" sz="1700" dirty="0"/>
              <a:t>In the Violinist Analogy, the Society of Music Lovers hooks the famous violinist up to your organs involuntarily—</a:t>
            </a:r>
            <a:r>
              <a:rPr lang="en-US" altLang="en-US" sz="1700" i="1" dirty="0"/>
              <a:t>against your will</a:t>
            </a:r>
            <a:r>
              <a:rPr lang="en-US" altLang="en-US" sz="1700" dirty="0"/>
              <a:t>. This might explain the intuition that it is morally permissible to disconnect from the violinist.</a:t>
            </a:r>
          </a:p>
          <a:p>
            <a:pPr lvl="1"/>
            <a:endParaRPr lang="en-US" altLang="en-US" sz="1700" dirty="0"/>
          </a:p>
          <a:p>
            <a:pPr lvl="1"/>
            <a:r>
              <a:rPr lang="en-US" altLang="en-US" sz="1700" dirty="0"/>
              <a:t>The violinist case might be similar to situations where women became pregnant due to rape—that is, where they were forced to have sex against their will. But, Thomson’s critics point out, the violinist case is not like cases of women seeking abortions after they became pregnant due to having consensual sex.</a:t>
            </a:r>
          </a:p>
          <a:p>
            <a:pPr lvl="1"/>
            <a:endParaRPr lang="en-US" altLang="en-US" sz="1700" dirty="0"/>
          </a:p>
          <a:p>
            <a:pPr lvl="1"/>
            <a:r>
              <a:rPr lang="en-US" altLang="en-US" sz="1700" dirty="0"/>
              <a:t>The objection </a:t>
            </a:r>
            <a:r>
              <a:rPr lang="en-SG" altLang="en-US" sz="1700" dirty="0"/>
              <a:t>suggests that even though it would be morally permissible for one not to keep the famous violinist alive, it may nevertheless </a:t>
            </a:r>
            <a:r>
              <a:rPr lang="en-SG" altLang="en-US" sz="1700" i="1" dirty="0"/>
              <a:t>not</a:t>
            </a:r>
            <a:r>
              <a:rPr lang="en-SG" altLang="en-US" sz="1700" dirty="0"/>
              <a:t> be morally permissible for a woman to abort a </a:t>
            </a:r>
            <a:r>
              <a:rPr lang="en-SG" altLang="en-US" sz="1700" dirty="0" err="1"/>
              <a:t>fetus</a:t>
            </a:r>
            <a:r>
              <a:rPr lang="en-SG" altLang="en-US" sz="1700" dirty="0"/>
              <a:t>, if she became pregnant as a result of having consensual sex with full knowledge that she could get pregnant </a:t>
            </a:r>
            <a:r>
              <a:rPr lang="en-US" altLang="en-US" sz="1700" dirty="0"/>
              <a:t>(Shafer-Landau 2024: §11.2).  </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dirty="0"/>
              <a:t>Luco - PHIL 1020 - Fall 2025</a:t>
            </a:r>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28</a:t>
            </a:fld>
            <a:endParaRPr lang="en-US" sz="1200" dirty="0"/>
          </a:p>
        </p:txBody>
      </p:sp>
    </p:spTree>
    <p:extLst>
      <p:ext uri="{BB962C8B-B14F-4D97-AF65-F5344CB8AC3E}">
        <p14:creationId xmlns:p14="http://schemas.microsoft.com/office/powerpoint/2010/main" val="1801552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1700" dirty="0"/>
              <a:t>Thomson anticipates this objection in her essay. Using a </a:t>
            </a:r>
            <a:r>
              <a:rPr lang="en-US" sz="1700" b="1" dirty="0"/>
              <a:t>“person-plant” scenario</a:t>
            </a:r>
            <a:r>
              <a:rPr lang="en-US" sz="1700" dirty="0"/>
              <a:t>, she argues that even if a woman becomes pregnant as a result of her own informed and voluntary choices, it is still morally permissible for her to have an abortion. </a:t>
            </a:r>
          </a:p>
          <a:p>
            <a:endParaRPr lang="en-US" sz="1700" dirty="0"/>
          </a:p>
          <a:p>
            <a:r>
              <a:rPr lang="en-SG" sz="1700" dirty="0"/>
              <a:t>Here is Thomson’s description of the person-plant scenario:</a:t>
            </a:r>
          </a:p>
          <a:p>
            <a:endParaRPr lang="en-SG" sz="1700" dirty="0"/>
          </a:p>
          <a:p>
            <a:pPr marL="457200" lvl="1" indent="0">
              <a:buNone/>
            </a:pPr>
            <a:r>
              <a:rPr lang="en-SG" sz="1700" dirty="0"/>
              <a:t>“…</a:t>
            </a:r>
            <a:r>
              <a:rPr lang="en-US" sz="1700" dirty="0"/>
              <a:t>suppose it were like this: people‐seeds drift about in the air like pollen, and if you open your windows, one may drift in and take root in your carpets or upholstery. You don’t want children, so you fix up your windows with fine mesh screens, the very best you can buy. As can happen, however, and on very, very rare occasions does happen, one of the screens is defective; and a seed drifts in and takes root. </a:t>
            </a:r>
            <a:r>
              <a:rPr lang="en-US" sz="1700" b="1" dirty="0"/>
              <a:t>Does the person‐plant who now develops have a right to the use of your house? Surely not – despite the fact that you voluntarily opened your windows, you knowingly kept carpets and upholstered furniture, and you knew that screens were sometimes defective</a:t>
            </a:r>
            <a:r>
              <a:rPr lang="en-US" sz="1700" dirty="0"/>
              <a:t>…” (Thomson, in Shafer-Landau 2024: 177)</a:t>
            </a:r>
            <a:endParaRPr lang="en-SG" sz="1700" dirty="0"/>
          </a:p>
          <a:p>
            <a:endParaRPr lang="en-US" sz="17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29</a:t>
            </a:fld>
            <a:endParaRPr lang="en-US" sz="1200" dirty="0"/>
          </a:p>
        </p:txBody>
      </p:sp>
    </p:spTree>
    <p:extLst>
      <p:ext uri="{BB962C8B-B14F-4D97-AF65-F5344CB8AC3E}">
        <p14:creationId xmlns:p14="http://schemas.microsoft.com/office/powerpoint/2010/main" val="141507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SG" sz="1700" dirty="0"/>
              <a:t>The person-plant story is meant to draw an analogy to a woman who becomes pregnant as a result of a failure of contraception (or a failure to use contraception) in voluntary, consensual sex.</a:t>
            </a:r>
          </a:p>
          <a:p>
            <a:pPr lvl="1"/>
            <a:r>
              <a:rPr lang="en-SG" sz="1700" dirty="0"/>
              <a:t>In many cases, women voluntarily have sex with full knowledge that there is a chance they will get pregnant (even if they use contraception). In these cases, women become pregnant at least in part through their informed and voluntary choices.</a:t>
            </a:r>
          </a:p>
          <a:p>
            <a:pPr lvl="1"/>
            <a:r>
              <a:rPr lang="en-SG" sz="1700" dirty="0"/>
              <a:t>But in a similar way, a “person-plant” might take root in your house as a result of your informed and voluntary choices. You might have voluntarily opened your windows, despite knowing the risk of a “person-plant” seed floating inside through the mesh.</a:t>
            </a:r>
          </a:p>
          <a:p>
            <a:pPr lvl="1"/>
            <a:r>
              <a:rPr lang="en-SG" sz="1700" dirty="0"/>
              <a:t>Nevertheless, even granting all the above, Thomson thinks it’s clear that the “person-plant” still has no moral right to grow inside your house against your will, and that you have no moral obligation to make the large sacrifice of living in a sealed house, just to keep the person-plant seeds out. And if that’s so, then it should likewise be true that a </a:t>
            </a:r>
            <a:r>
              <a:rPr lang="en-SG" sz="1700" dirty="0" err="1"/>
              <a:t>fetus</a:t>
            </a:r>
            <a:r>
              <a:rPr lang="en-SG" sz="1700" dirty="0"/>
              <a:t> has no moral right to grow inside a pregnant woman’s uterus against her will.</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30</a:t>
            </a:fld>
            <a:endParaRPr lang="en-US" sz="1200" dirty="0"/>
          </a:p>
        </p:txBody>
      </p:sp>
    </p:spTree>
    <p:extLst>
      <p:ext uri="{BB962C8B-B14F-4D97-AF65-F5344CB8AC3E}">
        <p14:creationId xmlns:p14="http://schemas.microsoft.com/office/powerpoint/2010/main" val="1695601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SG" sz="2000" dirty="0"/>
              <a:t>Thomson’s analogy to person-plants can be summarized as follows (compare to </a:t>
            </a:r>
            <a:r>
              <a:rPr lang="en-US" sz="2000" dirty="0"/>
              <a:t>Thomson, in Shafer-Landau 2024: 177)</a:t>
            </a:r>
            <a:r>
              <a:rPr lang="en-SG" sz="2000" dirty="0"/>
              <a:t>:</a:t>
            </a:r>
          </a:p>
          <a:p>
            <a:pPr marL="0" indent="0">
              <a:buNone/>
            </a:pPr>
            <a:endParaRPr lang="en-SG" sz="2000" dirty="0"/>
          </a:p>
          <a:p>
            <a:pPr marL="243000" lvl="1" indent="0">
              <a:buNone/>
            </a:pPr>
            <a:r>
              <a:rPr lang="en-SG" sz="2000" i="1" u="sng" dirty="0"/>
              <a:t>Thomson’s Person-Plant Analogy</a:t>
            </a:r>
          </a:p>
          <a:p>
            <a:pPr marL="700200" lvl="1" indent="-457200">
              <a:buFont typeface="+mj-lt"/>
              <a:buAutoNum type="arabicPeriod"/>
            </a:pPr>
            <a:r>
              <a:rPr lang="en-SG" sz="2000" dirty="0"/>
              <a:t>It is morally permissible to remove the person-plant (even though the person-plant would die as a result).</a:t>
            </a:r>
          </a:p>
          <a:p>
            <a:pPr marL="700200" lvl="1" indent="-457200">
              <a:buFont typeface="+mj-lt"/>
              <a:buAutoNum type="arabicPeriod"/>
            </a:pPr>
            <a:r>
              <a:rPr lang="en-SG" sz="2000" dirty="0"/>
              <a:t>If it’s morally permissible to remove the person-plant, then it’s morally permissible for a woman to get an abortion, even when she became pregnant after having consensual sex with full knowledge that she could become pregnant.</a:t>
            </a:r>
          </a:p>
          <a:p>
            <a:pPr marL="700200" lvl="1" indent="-457200">
              <a:buFont typeface="+mj-lt"/>
              <a:buAutoNum type="arabicPeriod"/>
            </a:pPr>
            <a:r>
              <a:rPr lang="en-SG" sz="2000" b="1" dirty="0"/>
              <a:t>(Conclusion) </a:t>
            </a:r>
            <a:r>
              <a:rPr lang="en-SG" sz="2000" dirty="0"/>
              <a:t>Therefore, it’s morally permissible for a woman to get an abortion, even when she became pregnant after having consensual sex with full knowledge that she could become pregnant.</a:t>
            </a:r>
          </a:p>
          <a:p>
            <a:pPr marL="700200" lvl="1" indent="-457200">
              <a:buFont typeface="+mj-lt"/>
              <a:buAutoNum type="arabicPeriod"/>
            </a:pPr>
            <a:endParaRPr lang="en-SG" sz="2000" b="1"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31</a:t>
            </a:fld>
            <a:endParaRPr lang="en-US" sz="1200" dirty="0"/>
          </a:p>
        </p:txBody>
      </p:sp>
    </p:spTree>
    <p:extLst>
      <p:ext uri="{BB962C8B-B14F-4D97-AF65-F5344CB8AC3E}">
        <p14:creationId xmlns:p14="http://schemas.microsoft.com/office/powerpoint/2010/main" val="3555162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7516-8FA0-AD3C-6181-2CD3DAF75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45327-0B0D-E711-C467-86ABC15B0B59}"/>
              </a:ext>
            </a:extLst>
          </p:cNvPr>
          <p:cNvSpPr>
            <a:spLocks noGrp="1"/>
          </p:cNvSpPr>
          <p:nvPr>
            <p:ph type="title"/>
          </p:nvPr>
        </p:nvSpPr>
        <p:spPr>
          <a:xfrm>
            <a:off x="453146" y="628782"/>
            <a:ext cx="8272212" cy="721203"/>
          </a:xfrm>
        </p:spPr>
        <p:txBody>
          <a:bodyPr anchor="ctr">
            <a:normAutofit fontScale="90000"/>
          </a:bodyPr>
          <a:lstStyle/>
          <a:p>
            <a:pPr algn="ctr"/>
            <a:r>
              <a:rPr lang="en-SG" sz="4000" dirty="0"/>
              <a:t>Thomson, “a </a:t>
            </a:r>
            <a:r>
              <a:rPr lang="en-SG" sz="4000" dirty="0" err="1"/>
              <a:t>defense</a:t>
            </a:r>
            <a:r>
              <a:rPr lang="en-SG" sz="4000" dirty="0"/>
              <a:t> of abortion”</a:t>
            </a:r>
          </a:p>
        </p:txBody>
      </p:sp>
      <p:sp>
        <p:nvSpPr>
          <p:cNvPr id="3" name="Content Placeholder 2">
            <a:extLst>
              <a:ext uri="{FF2B5EF4-FFF2-40B4-BE49-F238E27FC236}">
                <a16:creationId xmlns:a16="http://schemas.microsoft.com/office/drawing/2014/main" id="{98CED2B9-9ACE-9F8B-22FB-E176A384E5C6}"/>
              </a:ext>
            </a:extLst>
          </p:cNvPr>
          <p:cNvSpPr>
            <a:spLocks noGrp="1"/>
          </p:cNvSpPr>
          <p:nvPr>
            <p:ph idx="1"/>
          </p:nvPr>
        </p:nvSpPr>
        <p:spPr>
          <a:xfrm>
            <a:off x="435895" y="1579959"/>
            <a:ext cx="8272211" cy="4761781"/>
          </a:xfrm>
        </p:spPr>
        <p:txBody>
          <a:bodyPr anchor="t">
            <a:noAutofit/>
          </a:bodyPr>
          <a:lstStyle/>
          <a:p>
            <a:r>
              <a:rPr lang="en-SG" sz="1750" b="1" dirty="0">
                <a:solidFill>
                  <a:srgbClr val="FF0000"/>
                </a:solidFill>
              </a:rPr>
              <a:t>Whole-class discussion: </a:t>
            </a:r>
          </a:p>
          <a:p>
            <a:endParaRPr lang="en-SG" sz="1750" dirty="0">
              <a:solidFill>
                <a:srgbClr val="FF0000"/>
              </a:solidFill>
            </a:endParaRPr>
          </a:p>
          <a:p>
            <a:pPr lvl="1"/>
            <a:r>
              <a:rPr lang="en-SG" sz="1750" dirty="0">
                <a:solidFill>
                  <a:srgbClr val="FF0000"/>
                </a:solidFill>
              </a:rPr>
              <a:t>In my experience, students find the person-plant example difficult to understand. But there is a way to make the same point as this example through a slight adjustment on Thomson’s original violinist analogy.</a:t>
            </a:r>
          </a:p>
          <a:p>
            <a:pPr lvl="1"/>
            <a:endParaRPr lang="en-SG" sz="1750" dirty="0">
              <a:solidFill>
                <a:srgbClr val="FF0000"/>
              </a:solidFill>
            </a:endParaRPr>
          </a:p>
          <a:p>
            <a:pPr lvl="1"/>
            <a:r>
              <a:rPr lang="en-SG" sz="1750" dirty="0">
                <a:solidFill>
                  <a:srgbClr val="FF0000"/>
                </a:solidFill>
              </a:rPr>
              <a:t>Instead of supposing that you are </a:t>
            </a:r>
            <a:r>
              <a:rPr lang="en-SG" sz="1750" i="1" dirty="0">
                <a:solidFill>
                  <a:srgbClr val="FF0000"/>
                </a:solidFill>
              </a:rPr>
              <a:t>unwillingly </a:t>
            </a:r>
            <a:r>
              <a:rPr lang="en-SG" sz="1750" dirty="0">
                <a:solidFill>
                  <a:srgbClr val="FF0000"/>
                </a:solidFill>
              </a:rPr>
              <a:t>hooked up to the famous violinist, let’s imagine that you </a:t>
            </a:r>
            <a:r>
              <a:rPr lang="en-SG" sz="1750" i="1" dirty="0">
                <a:solidFill>
                  <a:srgbClr val="FF0000"/>
                </a:solidFill>
              </a:rPr>
              <a:t>voluntarily consent </a:t>
            </a:r>
            <a:r>
              <a:rPr lang="en-SG" sz="1750" dirty="0">
                <a:solidFill>
                  <a:srgbClr val="FF0000"/>
                </a:solidFill>
              </a:rPr>
              <a:t>to being attached to him. But soon after you are hooked up to the violinist, you change your mind, and you don’t want to be attached anymore.</a:t>
            </a:r>
          </a:p>
          <a:p>
            <a:pPr lvl="1"/>
            <a:endParaRPr lang="en-SG" sz="1750" dirty="0">
              <a:solidFill>
                <a:srgbClr val="FF0000"/>
              </a:solidFill>
            </a:endParaRPr>
          </a:p>
          <a:p>
            <a:pPr lvl="1"/>
            <a:r>
              <a:rPr lang="en-SG" sz="1750" dirty="0">
                <a:solidFill>
                  <a:srgbClr val="FF0000"/>
                </a:solidFill>
              </a:rPr>
              <a:t>Would it be immoral to detach yourself from the violinist in this adjusted case? If not, could it be argued that for similar reasons, it would be morally permissible for a woman to get an abortion after she had become pregnant through consensual sex? </a:t>
            </a:r>
          </a:p>
        </p:txBody>
      </p:sp>
      <p:sp>
        <p:nvSpPr>
          <p:cNvPr id="4" name="Footer Placeholder 3">
            <a:extLst>
              <a:ext uri="{FF2B5EF4-FFF2-40B4-BE49-F238E27FC236}">
                <a16:creationId xmlns:a16="http://schemas.microsoft.com/office/drawing/2014/main" id="{AFF72507-2433-F821-BE40-C546166F78E5}"/>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6E2E1337-C0DC-4A9C-9B6E-8012DBD28BEE}"/>
              </a:ext>
            </a:extLst>
          </p:cNvPr>
          <p:cNvSpPr>
            <a:spLocks noGrp="1"/>
          </p:cNvSpPr>
          <p:nvPr>
            <p:ph type="sldNum" sz="quarter" idx="12"/>
          </p:nvPr>
        </p:nvSpPr>
        <p:spPr/>
        <p:txBody>
          <a:bodyPr/>
          <a:lstStyle/>
          <a:p>
            <a:fld id="{3A98EE3D-8CD1-4C3F-BD1C-C98C9596463C}" type="slidenum">
              <a:rPr lang="en-US" sz="1200" smtClean="0"/>
              <a:t>32</a:t>
            </a:fld>
            <a:endParaRPr lang="en-US" sz="1200" dirty="0"/>
          </a:p>
        </p:txBody>
      </p:sp>
    </p:spTree>
    <p:extLst>
      <p:ext uri="{BB962C8B-B14F-4D97-AF65-F5344CB8AC3E}">
        <p14:creationId xmlns:p14="http://schemas.microsoft.com/office/powerpoint/2010/main" val="1995136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FB7E3-A191-C59B-A2FA-D2FDCD051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BD22A-A0CB-B3E7-482C-A9FD9F385D50}"/>
              </a:ext>
            </a:extLst>
          </p:cNvPr>
          <p:cNvSpPr>
            <a:spLocks noGrp="1"/>
          </p:cNvSpPr>
          <p:nvPr>
            <p:ph type="title"/>
          </p:nvPr>
        </p:nvSpPr>
        <p:spPr>
          <a:xfrm>
            <a:off x="453146" y="628782"/>
            <a:ext cx="8272212" cy="721203"/>
          </a:xfrm>
        </p:spPr>
        <p:txBody>
          <a:bodyPr anchor="ctr">
            <a:normAutofit/>
          </a:bodyPr>
          <a:lstStyle/>
          <a:p>
            <a:pPr algn="ctr"/>
            <a:r>
              <a:rPr lang="en-SG" sz="4000" dirty="0"/>
              <a:t>The responsibility argument</a:t>
            </a:r>
          </a:p>
        </p:txBody>
      </p:sp>
      <p:sp>
        <p:nvSpPr>
          <p:cNvPr id="3" name="Content Placeholder 2">
            <a:extLst>
              <a:ext uri="{FF2B5EF4-FFF2-40B4-BE49-F238E27FC236}">
                <a16:creationId xmlns:a16="http://schemas.microsoft.com/office/drawing/2014/main" id="{850B40F6-B99C-1950-6505-D958689CDAC7}"/>
              </a:ext>
            </a:extLst>
          </p:cNvPr>
          <p:cNvSpPr>
            <a:spLocks noGrp="1"/>
          </p:cNvSpPr>
          <p:nvPr>
            <p:ph idx="1"/>
          </p:nvPr>
        </p:nvSpPr>
        <p:spPr>
          <a:xfrm>
            <a:off x="435895" y="1579959"/>
            <a:ext cx="8272211" cy="4761781"/>
          </a:xfrm>
        </p:spPr>
        <p:txBody>
          <a:bodyPr anchor="t">
            <a:noAutofit/>
          </a:bodyPr>
          <a:lstStyle/>
          <a:p>
            <a:r>
              <a:rPr lang="en-SG" sz="1800" dirty="0">
                <a:solidFill>
                  <a:schemeClr val="tx1"/>
                </a:solidFill>
              </a:rPr>
              <a:t>Now, consider an argument that would go against the conclusion of Thomson’s Person-Plant Analogy (compare Shafer-Landau 2024: §11.2).</a:t>
            </a:r>
          </a:p>
          <a:p>
            <a:endParaRPr lang="en-SG" sz="1800" i="1" u="sng" dirty="0">
              <a:solidFill>
                <a:schemeClr val="tx1"/>
              </a:solidFill>
            </a:endParaRPr>
          </a:p>
          <a:p>
            <a:pPr marL="0" indent="0">
              <a:buNone/>
            </a:pPr>
            <a:r>
              <a:rPr lang="en-SG" sz="1800" i="1" u="sng" dirty="0">
                <a:solidFill>
                  <a:schemeClr val="tx1"/>
                </a:solidFill>
              </a:rPr>
              <a:t>The Responsibility Argument Against Abortion After Consensual Sex</a:t>
            </a:r>
            <a:endParaRPr lang="en-US" sz="1800" dirty="0">
              <a:solidFill>
                <a:schemeClr val="tx1"/>
              </a:solidFill>
            </a:endParaRPr>
          </a:p>
          <a:p>
            <a:pPr marL="342900" indent="-342900">
              <a:buFont typeface="+mj-lt"/>
              <a:buAutoNum type="arabicPeriod"/>
            </a:pPr>
            <a:r>
              <a:rPr lang="en-SG" sz="1800" dirty="0">
                <a:solidFill>
                  <a:schemeClr val="tx1"/>
                </a:solidFill>
              </a:rPr>
              <a:t>If a woman becomes pregnant due to having consensual sex, but she is unwilling to continue the pregnancy, then she bears responsibility for putting the </a:t>
            </a:r>
            <a:r>
              <a:rPr lang="en-SG" sz="1800" dirty="0" err="1">
                <a:solidFill>
                  <a:schemeClr val="tx1"/>
                </a:solidFill>
              </a:rPr>
              <a:t>fetus</a:t>
            </a:r>
            <a:r>
              <a:rPr lang="en-SG" sz="1800" dirty="0">
                <a:solidFill>
                  <a:schemeClr val="tx1"/>
                </a:solidFill>
              </a:rPr>
              <a:t> in a life-threatening situation.</a:t>
            </a:r>
          </a:p>
          <a:p>
            <a:pPr marL="342900" indent="-342900">
              <a:buFont typeface="+mj-lt"/>
              <a:buAutoNum type="arabicPeriod"/>
            </a:pPr>
            <a:r>
              <a:rPr lang="en-SG" sz="1800" dirty="0">
                <a:solidFill>
                  <a:schemeClr val="tx1"/>
                </a:solidFill>
              </a:rPr>
              <a:t>If one bears responsibility for putting others in a life-threatening situation, then one is morally obligated to make a significant sacrifice in order to keep them alive.</a:t>
            </a:r>
            <a:endParaRPr lang="en-US" sz="1800" dirty="0">
              <a:solidFill>
                <a:schemeClr val="tx1"/>
              </a:solidFill>
            </a:endParaRPr>
          </a:p>
          <a:p>
            <a:pPr marL="342900" indent="-342900">
              <a:buFont typeface="+mj-lt"/>
              <a:buAutoNum type="arabicPeriod"/>
            </a:pPr>
            <a:r>
              <a:rPr lang="en-SG" sz="1800" b="1" dirty="0">
                <a:solidFill>
                  <a:schemeClr val="tx1"/>
                </a:solidFill>
              </a:rPr>
              <a:t>(Conclusion) </a:t>
            </a:r>
            <a:r>
              <a:rPr lang="en-SG" sz="1800" dirty="0">
                <a:solidFill>
                  <a:schemeClr val="tx1"/>
                </a:solidFill>
              </a:rPr>
              <a:t>Therefore, if a woman becomes pregnant due to having consensual sex, then she is morally obligated to make a significant sacrifice in order to keep the </a:t>
            </a:r>
            <a:r>
              <a:rPr lang="en-SG" sz="1800" dirty="0" err="1">
                <a:solidFill>
                  <a:schemeClr val="tx1"/>
                </a:solidFill>
              </a:rPr>
              <a:t>fetus</a:t>
            </a:r>
            <a:r>
              <a:rPr lang="en-SG" sz="1800" dirty="0">
                <a:solidFill>
                  <a:schemeClr val="tx1"/>
                </a:solidFill>
              </a:rPr>
              <a:t> alive.</a:t>
            </a:r>
            <a:endParaRPr lang="en-US" sz="1800" dirty="0">
              <a:solidFill>
                <a:schemeClr val="tx1"/>
              </a:solidFill>
            </a:endParaRPr>
          </a:p>
          <a:p>
            <a:endParaRPr lang="en-SG" sz="1800" dirty="0">
              <a:solidFill>
                <a:schemeClr val="tx1"/>
              </a:solidFill>
            </a:endParaRPr>
          </a:p>
        </p:txBody>
      </p:sp>
      <p:sp>
        <p:nvSpPr>
          <p:cNvPr id="4" name="Footer Placeholder 3">
            <a:extLst>
              <a:ext uri="{FF2B5EF4-FFF2-40B4-BE49-F238E27FC236}">
                <a16:creationId xmlns:a16="http://schemas.microsoft.com/office/drawing/2014/main" id="{DB1CF81F-D559-3C0B-1BCF-7A32EF0C518B}"/>
              </a:ext>
            </a:extLst>
          </p:cNvPr>
          <p:cNvSpPr>
            <a:spLocks noGrp="1"/>
          </p:cNvSpPr>
          <p:nvPr>
            <p:ph type="ftr" sz="quarter" idx="11"/>
          </p:nvPr>
        </p:nvSpPr>
        <p:spPr/>
        <p:txBody>
          <a:bodyPr/>
          <a:lstStyle/>
          <a:p>
            <a:r>
              <a:rPr lang="en-US" sz="1200" dirty="0"/>
              <a:t>Luco - PHIL 1020 - Fall 2025</a:t>
            </a:r>
          </a:p>
        </p:txBody>
      </p:sp>
      <p:sp>
        <p:nvSpPr>
          <p:cNvPr id="5" name="Slide Number Placeholder 4">
            <a:extLst>
              <a:ext uri="{FF2B5EF4-FFF2-40B4-BE49-F238E27FC236}">
                <a16:creationId xmlns:a16="http://schemas.microsoft.com/office/drawing/2014/main" id="{0337279E-F65D-B3A6-009C-BC6F2992001A}"/>
              </a:ext>
            </a:extLst>
          </p:cNvPr>
          <p:cNvSpPr>
            <a:spLocks noGrp="1"/>
          </p:cNvSpPr>
          <p:nvPr>
            <p:ph type="sldNum" sz="quarter" idx="12"/>
          </p:nvPr>
        </p:nvSpPr>
        <p:spPr/>
        <p:txBody>
          <a:bodyPr/>
          <a:lstStyle/>
          <a:p>
            <a:fld id="{3A98EE3D-8CD1-4C3F-BD1C-C98C9596463C}" type="slidenum">
              <a:rPr lang="en-US" sz="1200" smtClean="0"/>
              <a:t>33</a:t>
            </a:fld>
            <a:endParaRPr lang="en-US" sz="1200" dirty="0"/>
          </a:p>
        </p:txBody>
      </p:sp>
    </p:spTree>
    <p:extLst>
      <p:ext uri="{BB962C8B-B14F-4D97-AF65-F5344CB8AC3E}">
        <p14:creationId xmlns:p14="http://schemas.microsoft.com/office/powerpoint/2010/main" val="1835115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61EBF-F3AD-1C3F-9171-A9892CB77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4F8A6-F392-0B50-C807-3756E419EE39}"/>
              </a:ext>
            </a:extLst>
          </p:cNvPr>
          <p:cNvSpPr>
            <a:spLocks noGrp="1"/>
          </p:cNvSpPr>
          <p:nvPr>
            <p:ph type="title"/>
          </p:nvPr>
        </p:nvSpPr>
        <p:spPr>
          <a:xfrm>
            <a:off x="453146" y="628782"/>
            <a:ext cx="8272212" cy="721203"/>
          </a:xfrm>
        </p:spPr>
        <p:txBody>
          <a:bodyPr anchor="ctr">
            <a:normAutofit/>
          </a:bodyPr>
          <a:lstStyle/>
          <a:p>
            <a:pPr algn="ctr"/>
            <a:r>
              <a:rPr lang="en-SG" sz="4000" dirty="0"/>
              <a:t>The responsibility argument</a:t>
            </a:r>
          </a:p>
        </p:txBody>
      </p:sp>
      <p:sp>
        <p:nvSpPr>
          <p:cNvPr id="3" name="Content Placeholder 2">
            <a:extLst>
              <a:ext uri="{FF2B5EF4-FFF2-40B4-BE49-F238E27FC236}">
                <a16:creationId xmlns:a16="http://schemas.microsoft.com/office/drawing/2014/main" id="{58B50DDC-C2BB-650C-1564-188BA24612FC}"/>
              </a:ext>
            </a:extLst>
          </p:cNvPr>
          <p:cNvSpPr>
            <a:spLocks noGrp="1"/>
          </p:cNvSpPr>
          <p:nvPr>
            <p:ph idx="1"/>
          </p:nvPr>
        </p:nvSpPr>
        <p:spPr>
          <a:xfrm>
            <a:off x="435895" y="1579959"/>
            <a:ext cx="8272211" cy="4761781"/>
          </a:xfrm>
        </p:spPr>
        <p:txBody>
          <a:bodyPr anchor="t">
            <a:noAutofit/>
          </a:bodyPr>
          <a:lstStyle/>
          <a:p>
            <a:r>
              <a:rPr lang="en-US" sz="1800" b="1" dirty="0">
                <a:solidFill>
                  <a:srgbClr val="FF0000"/>
                </a:solidFill>
              </a:rPr>
              <a:t>Small-group discussion (2): </a:t>
            </a:r>
            <a:endParaRPr lang="en-US" sz="1800" dirty="0">
              <a:solidFill>
                <a:srgbClr val="FF0000"/>
              </a:solidFill>
            </a:endParaRPr>
          </a:p>
          <a:p>
            <a:pPr lvl="1"/>
            <a:r>
              <a:rPr lang="en-US" sz="1800" dirty="0">
                <a:solidFill>
                  <a:srgbClr val="FF0000"/>
                </a:solidFill>
              </a:rPr>
              <a:t>The conclusion of the Responsibility Argument says: </a:t>
            </a:r>
            <a:r>
              <a:rPr lang="en-US" sz="1800" b="1" i="1" dirty="0">
                <a:solidFill>
                  <a:srgbClr val="FF0000"/>
                </a:solidFill>
              </a:rPr>
              <a:t>If </a:t>
            </a:r>
            <a:r>
              <a:rPr lang="en-SG" sz="1800" b="1" i="1" dirty="0">
                <a:solidFill>
                  <a:srgbClr val="FF0000"/>
                </a:solidFill>
              </a:rPr>
              <a:t>a woman becomes pregnant due to having consensual sex, then she is morally obligated to make a significant sacrifice in order to keep the </a:t>
            </a:r>
            <a:r>
              <a:rPr lang="en-SG" sz="1800" b="1" i="1" dirty="0" err="1">
                <a:solidFill>
                  <a:srgbClr val="FF0000"/>
                </a:solidFill>
              </a:rPr>
              <a:t>fetus</a:t>
            </a:r>
            <a:r>
              <a:rPr lang="en-SG" sz="1800" b="1" i="1" dirty="0">
                <a:solidFill>
                  <a:srgbClr val="FF0000"/>
                </a:solidFill>
              </a:rPr>
              <a:t> alive.</a:t>
            </a:r>
            <a:endParaRPr lang="en-US" sz="1800" i="1" dirty="0">
              <a:solidFill>
                <a:srgbClr val="FF0000"/>
              </a:solidFill>
            </a:endParaRPr>
          </a:p>
          <a:p>
            <a:pPr lvl="1"/>
            <a:r>
              <a:rPr lang="en-US" sz="1800" dirty="0">
                <a:solidFill>
                  <a:srgbClr val="FF0000"/>
                </a:solidFill>
              </a:rPr>
              <a:t>Do you agree with this statement? Why or why not? </a:t>
            </a:r>
          </a:p>
          <a:p>
            <a:pPr lvl="1"/>
            <a:r>
              <a:rPr lang="en-US" sz="1800" dirty="0">
                <a:solidFill>
                  <a:srgbClr val="FF0000"/>
                </a:solidFill>
              </a:rPr>
              <a:t>If you do agree, </a:t>
            </a:r>
            <a:r>
              <a:rPr lang="en-US" sz="1800" i="1" dirty="0">
                <a:solidFill>
                  <a:srgbClr val="FF0000"/>
                </a:solidFill>
              </a:rPr>
              <a:t>how </a:t>
            </a:r>
            <a:r>
              <a:rPr lang="en-US" sz="1800" dirty="0">
                <a:solidFill>
                  <a:srgbClr val="FF0000"/>
                </a:solidFill>
              </a:rPr>
              <a:t>significant a sacrifice is the woman morally obligated to make? Evaluate the following possibilities:</a:t>
            </a:r>
          </a:p>
          <a:p>
            <a:pPr marL="788400" lvl="2" indent="-342900">
              <a:buFont typeface="+mj-lt"/>
              <a:buAutoNum type="arabicParenR"/>
            </a:pPr>
            <a:r>
              <a:rPr lang="en-US" sz="1800" dirty="0">
                <a:solidFill>
                  <a:srgbClr val="FF0000"/>
                </a:solidFill>
              </a:rPr>
              <a:t>The woman is morally obligated </a:t>
            </a:r>
            <a:r>
              <a:rPr lang="en-US" sz="1800" b="1" dirty="0">
                <a:solidFill>
                  <a:srgbClr val="FF0000"/>
                </a:solidFill>
              </a:rPr>
              <a:t>to give up her life </a:t>
            </a:r>
            <a:r>
              <a:rPr lang="en-US" sz="1800" dirty="0">
                <a:solidFill>
                  <a:srgbClr val="FF0000"/>
                </a:solidFill>
              </a:rPr>
              <a:t>to keep the fetus alive.</a:t>
            </a:r>
          </a:p>
          <a:p>
            <a:pPr marL="788400" lvl="2" indent="-342900">
              <a:buFont typeface="+mj-lt"/>
              <a:buAutoNum type="arabicParenR"/>
            </a:pPr>
            <a:r>
              <a:rPr lang="en-US" sz="1800" dirty="0">
                <a:solidFill>
                  <a:srgbClr val="FF0000"/>
                </a:solidFill>
              </a:rPr>
              <a:t>The woman is morally obligated </a:t>
            </a:r>
            <a:r>
              <a:rPr lang="en-US" sz="1800" b="1" dirty="0">
                <a:solidFill>
                  <a:srgbClr val="FF0000"/>
                </a:solidFill>
              </a:rPr>
              <a:t>to sustain an irreversible but non-fatal impairment of a major bodily organ or function</a:t>
            </a:r>
            <a:r>
              <a:rPr lang="en-US" sz="1800" dirty="0">
                <a:solidFill>
                  <a:srgbClr val="FF0000"/>
                </a:solidFill>
              </a:rPr>
              <a:t> (e.g., the loss of a uterus or a kidney) to keep the fetus alive. </a:t>
            </a:r>
          </a:p>
          <a:p>
            <a:pPr marL="788400" lvl="2" indent="-342900">
              <a:buFont typeface="+mj-lt"/>
              <a:buAutoNum type="arabicParenR"/>
            </a:pPr>
            <a:r>
              <a:rPr lang="en-US" sz="1800" dirty="0">
                <a:solidFill>
                  <a:srgbClr val="FF0000"/>
                </a:solidFill>
              </a:rPr>
              <a:t>The woman is morally obligated </a:t>
            </a:r>
            <a:r>
              <a:rPr lang="en-US" sz="1800" b="1" dirty="0">
                <a:solidFill>
                  <a:srgbClr val="FF0000"/>
                </a:solidFill>
              </a:rPr>
              <a:t>to live in poverty </a:t>
            </a:r>
            <a:r>
              <a:rPr lang="en-US" sz="1800" dirty="0">
                <a:solidFill>
                  <a:srgbClr val="FF0000"/>
                </a:solidFill>
              </a:rPr>
              <a:t>so that the fetus may live.</a:t>
            </a:r>
          </a:p>
          <a:p>
            <a:pPr marL="788400" lvl="2" indent="-342900">
              <a:buFont typeface="+mj-lt"/>
              <a:buAutoNum type="arabicParenR"/>
            </a:pPr>
            <a:r>
              <a:rPr lang="en-US" sz="1800" dirty="0">
                <a:solidFill>
                  <a:srgbClr val="FF0000"/>
                </a:solidFill>
              </a:rPr>
              <a:t>The woman is morally </a:t>
            </a:r>
            <a:r>
              <a:rPr lang="en-US" sz="1800" b="1" dirty="0">
                <a:solidFill>
                  <a:srgbClr val="FF0000"/>
                </a:solidFill>
              </a:rPr>
              <a:t>obligated to sustain a major, unwanted disruption to her future plans </a:t>
            </a:r>
            <a:r>
              <a:rPr lang="en-US" sz="1800" dirty="0">
                <a:solidFill>
                  <a:srgbClr val="FF0000"/>
                </a:solidFill>
              </a:rPr>
              <a:t>to keep the fetus alive. </a:t>
            </a:r>
          </a:p>
          <a:p>
            <a:endParaRPr lang="en-SG" sz="1700" dirty="0">
              <a:solidFill>
                <a:schemeClr val="tx1"/>
              </a:solidFill>
            </a:endParaRPr>
          </a:p>
        </p:txBody>
      </p:sp>
      <p:sp>
        <p:nvSpPr>
          <p:cNvPr id="4" name="Footer Placeholder 3">
            <a:extLst>
              <a:ext uri="{FF2B5EF4-FFF2-40B4-BE49-F238E27FC236}">
                <a16:creationId xmlns:a16="http://schemas.microsoft.com/office/drawing/2014/main" id="{F8755207-9CB0-DD9B-2F23-E70663041EFF}"/>
              </a:ext>
            </a:extLst>
          </p:cNvPr>
          <p:cNvSpPr>
            <a:spLocks noGrp="1"/>
          </p:cNvSpPr>
          <p:nvPr>
            <p:ph type="ftr" sz="quarter" idx="11"/>
          </p:nvPr>
        </p:nvSpPr>
        <p:spPr/>
        <p:txBody>
          <a:bodyPr/>
          <a:lstStyle/>
          <a:p>
            <a:r>
              <a:rPr lang="en-US" sz="1200" dirty="0"/>
              <a:t>Luco - PHIL 1020 - Fall 2025</a:t>
            </a:r>
          </a:p>
        </p:txBody>
      </p:sp>
      <p:sp>
        <p:nvSpPr>
          <p:cNvPr id="5" name="Slide Number Placeholder 4">
            <a:extLst>
              <a:ext uri="{FF2B5EF4-FFF2-40B4-BE49-F238E27FC236}">
                <a16:creationId xmlns:a16="http://schemas.microsoft.com/office/drawing/2014/main" id="{03F67DC4-B5EF-1BC9-F7A3-F6F59A871CBF}"/>
              </a:ext>
            </a:extLst>
          </p:cNvPr>
          <p:cNvSpPr>
            <a:spLocks noGrp="1"/>
          </p:cNvSpPr>
          <p:nvPr>
            <p:ph type="sldNum" sz="quarter" idx="12"/>
          </p:nvPr>
        </p:nvSpPr>
        <p:spPr/>
        <p:txBody>
          <a:bodyPr/>
          <a:lstStyle/>
          <a:p>
            <a:fld id="{3A98EE3D-8CD1-4C3F-BD1C-C98C9596463C}" type="slidenum">
              <a:rPr lang="en-US" sz="1200" smtClean="0"/>
              <a:t>34</a:t>
            </a:fld>
            <a:endParaRPr lang="en-US" sz="1200" dirty="0"/>
          </a:p>
        </p:txBody>
      </p:sp>
    </p:spTree>
    <p:extLst>
      <p:ext uri="{BB962C8B-B14F-4D97-AF65-F5344CB8AC3E}">
        <p14:creationId xmlns:p14="http://schemas.microsoft.com/office/powerpoint/2010/main" val="2163660040"/>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{8EBEEEC9-7332-4765-9766-770B57008EDA}tf33552983_win32</Template>
  <TotalTime>2966</TotalTime>
  <Words>6940</Words>
  <Application>Microsoft Office PowerPoint</Application>
  <PresentationFormat>On-screen Show (4:3)</PresentationFormat>
  <Paragraphs>388</Paragraphs>
  <Slides>34</Slides>
  <Notes>34</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34</vt:i4>
      </vt:variant>
    </vt:vector>
  </HeadingPairs>
  <TitlesOfParts>
    <vt:vector size="50" baseType="lpstr">
      <vt:lpstr>SimSun</vt:lpstr>
      <vt:lpstr>Arial</vt:lpstr>
      <vt:lpstr>BBC Reith Serif</vt:lpstr>
      <vt:lpstr>BlinkMacSystemFont</vt:lpstr>
      <vt:lpstr>Calibri</vt:lpstr>
      <vt:lpstr>Courier New</vt:lpstr>
      <vt:lpstr>Franklin Gothic Book</vt:lpstr>
      <vt:lpstr>Franklin Gothic Demi</vt:lpstr>
      <vt:lpstr>Georgia</vt:lpstr>
      <vt:lpstr>Helvetica Neue</vt:lpstr>
      <vt:lpstr>LatoWeb</vt:lpstr>
      <vt:lpstr>Noto Sans</vt:lpstr>
      <vt:lpstr>Roboto Mono Web</vt:lpstr>
      <vt:lpstr>Wingdings</vt:lpstr>
      <vt:lpstr>Wingdings 2</vt:lpstr>
      <vt:lpstr>DividendVTI</vt:lpstr>
      <vt:lpstr>Week 10 (10/20): abortion </vt:lpstr>
      <vt:lpstr>Objectives for today</vt:lpstr>
      <vt:lpstr>Development of the human fetus</vt:lpstr>
      <vt:lpstr>Development of the human fetus</vt:lpstr>
      <vt:lpstr>Development of the human fetus</vt:lpstr>
      <vt:lpstr>What is abortion? </vt:lpstr>
      <vt:lpstr>Facts &amp; Findings About Abortion</vt:lpstr>
      <vt:lpstr>Facts &amp; Findings About Abortion</vt:lpstr>
      <vt:lpstr>Facts &amp; Findings About Abortion</vt:lpstr>
      <vt:lpstr>Facts &amp; Findings About Abortion</vt:lpstr>
      <vt:lpstr>Facts &amp; Findings About Abortion</vt:lpstr>
      <vt:lpstr>Facts &amp; Findings About Abortion</vt:lpstr>
      <vt:lpstr>State of abortion in the u.s.</vt:lpstr>
      <vt:lpstr>State of abortion in the u.s.</vt:lpstr>
      <vt:lpstr>State of abortion in the u.s.</vt:lpstr>
      <vt:lpstr>State of abortion in the u.s.</vt:lpstr>
      <vt:lpstr>State of abortion in the u.s.</vt:lpstr>
      <vt:lpstr>State of abortion in the u.s.</vt:lpstr>
      <vt:lpstr>State of abortion in the u.s.</vt:lpstr>
      <vt:lpstr>Judith jarvis Thomson (1929–2020)</vt:lpstr>
      <vt:lpstr>Thomson, “a defense of abortion”</vt:lpstr>
      <vt:lpstr>Thomson, “a defense of abortion”</vt:lpstr>
      <vt:lpstr>Thomson, “a defense of abortion”</vt:lpstr>
      <vt:lpstr>Thomson, “a defense of abortion”</vt:lpstr>
      <vt:lpstr>Thomson, “a defense of abortion”</vt:lpstr>
      <vt:lpstr>Thomson, “a defense of abortion”</vt:lpstr>
      <vt:lpstr>Thomson, “a defense of abortion”</vt:lpstr>
      <vt:lpstr>Thomson, “a defense of abortion”</vt:lpstr>
      <vt:lpstr>Thomson, “a defense of abortion”</vt:lpstr>
      <vt:lpstr>Thomson, “a defense of abortion”</vt:lpstr>
      <vt:lpstr>Thomson, “a defense of abortion”</vt:lpstr>
      <vt:lpstr>Thomson, “a defense of abortion”</vt:lpstr>
      <vt:lpstr>The responsibility argument</vt:lpstr>
      <vt:lpstr>The responsibility argument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12 (10/30): abortion</dc:title>
  <dc:creator>Andres Luco</dc:creator>
  <cp:lastModifiedBy>Andres Luco</cp:lastModifiedBy>
  <cp:revision>119</cp:revision>
  <dcterms:created xsi:type="dcterms:W3CDTF">2023-11-09T21:27:12Z</dcterms:created>
  <dcterms:modified xsi:type="dcterms:W3CDTF">2025-10-31T02:46:28Z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