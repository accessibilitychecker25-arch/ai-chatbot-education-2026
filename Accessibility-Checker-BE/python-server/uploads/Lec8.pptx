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25"/>
  </p:notesMasterIdLst>
  <p:handoutMasterIdLst>
    <p:handoutMasterId r:id="rId26"/>
  </p:handoutMasterIdLst>
  <p:sldIdLst>
    <p:sldId id="557" r:id="rId2"/>
    <p:sldId id="672" r:id="rId3"/>
    <p:sldId id="674" r:id="rId4"/>
    <p:sldId id="677" r:id="rId5"/>
    <p:sldId id="679" r:id="rId6"/>
    <p:sldId id="680" r:id="rId7"/>
    <p:sldId id="685" r:id="rId8"/>
    <p:sldId id="686" r:id="rId9"/>
    <p:sldId id="689" r:id="rId10"/>
    <p:sldId id="690" r:id="rId11"/>
    <p:sldId id="696" r:id="rId12"/>
    <p:sldId id="697" r:id="rId13"/>
    <p:sldId id="698" r:id="rId14"/>
    <p:sldId id="699" r:id="rId15"/>
    <p:sldId id="695" r:id="rId16"/>
    <p:sldId id="700" r:id="rId17"/>
    <p:sldId id="701" r:id="rId18"/>
    <p:sldId id="702" r:id="rId19"/>
    <p:sldId id="703" r:id="rId20"/>
    <p:sldId id="704" r:id="rId21"/>
    <p:sldId id="705" r:id="rId22"/>
    <p:sldId id="706" r:id="rId23"/>
    <p:sldId id="688" r:id="rId24"/>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8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34"/>
    <p:restoredTop sz="74493" autoAdjust="0"/>
  </p:normalViewPr>
  <p:slideViewPr>
    <p:cSldViewPr>
      <p:cViewPr varScale="1">
        <p:scale>
          <a:sx n="94" d="100"/>
          <a:sy n="94" d="100"/>
        </p:scale>
        <p:origin x="90" y="70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984BBF-D090-D94A-958C-707853D134BE}"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64C5CEBC-1F30-5443-B794-80FF362A2AF0}">
      <dgm:prSet phldrT="[Text]"/>
      <dgm:spPr/>
      <dgm:t>
        <a:bodyPr/>
        <a:lstStyle/>
        <a:p>
          <a:r>
            <a:rPr lang="en-US" b="1" i="0" dirty="0"/>
            <a:t>Pages</a:t>
          </a:r>
          <a:r>
            <a:rPr lang="en-US" dirty="0"/>
            <a:t> </a:t>
          </a:r>
        </a:p>
      </dgm:t>
    </dgm:pt>
    <dgm:pt modelId="{BE0C5935-86C3-CE49-BC7C-DB3DC9A56DBA}" type="parTrans" cxnId="{B3689970-B6AA-F841-8AA9-BF33FA1007D0}">
      <dgm:prSet/>
      <dgm:spPr/>
      <dgm:t>
        <a:bodyPr/>
        <a:lstStyle/>
        <a:p>
          <a:endParaRPr lang="en-US"/>
        </a:p>
      </dgm:t>
    </dgm:pt>
    <dgm:pt modelId="{0242CC9F-7F01-C541-AE84-95B60386F567}" type="sibTrans" cxnId="{B3689970-B6AA-F841-8AA9-BF33FA1007D0}">
      <dgm:prSet/>
      <dgm:spPr/>
      <dgm:t>
        <a:bodyPr/>
        <a:lstStyle/>
        <a:p>
          <a:endParaRPr lang="en-US"/>
        </a:p>
      </dgm:t>
    </dgm:pt>
    <dgm:pt modelId="{7AA8A9FF-58E2-CB47-ADA1-DE9E3BDCDC0F}">
      <dgm:prSet/>
      <dgm:spPr/>
      <dgm:t>
        <a:bodyPr/>
        <a:lstStyle/>
        <a:p>
          <a:r>
            <a:rPr lang="en-US" dirty="0"/>
            <a:t>chunks of a process</a:t>
          </a:r>
        </a:p>
      </dgm:t>
    </dgm:pt>
    <dgm:pt modelId="{C2FDA75E-5210-994A-B144-69E8807A517E}" type="parTrans" cxnId="{74DF4162-BDC2-044A-BC90-1D56E973C6EA}">
      <dgm:prSet/>
      <dgm:spPr/>
      <dgm:t>
        <a:bodyPr/>
        <a:lstStyle/>
        <a:p>
          <a:endParaRPr lang="en-US"/>
        </a:p>
      </dgm:t>
    </dgm:pt>
    <dgm:pt modelId="{D0788B77-3E9F-4D46-8831-D6285F658A86}" type="sibTrans" cxnId="{74DF4162-BDC2-044A-BC90-1D56E973C6EA}">
      <dgm:prSet/>
      <dgm:spPr/>
      <dgm:t>
        <a:bodyPr/>
        <a:lstStyle/>
        <a:p>
          <a:endParaRPr lang="en-US"/>
        </a:p>
      </dgm:t>
    </dgm:pt>
    <dgm:pt modelId="{5BAEB20B-3695-E348-9F13-AECB8D7EFA27}">
      <dgm:prSet/>
      <dgm:spPr/>
      <dgm:t>
        <a:bodyPr/>
        <a:lstStyle/>
        <a:p>
          <a:r>
            <a:rPr lang="en-US" b="1" i="0" dirty="0"/>
            <a:t>Frames</a:t>
          </a:r>
        </a:p>
      </dgm:t>
    </dgm:pt>
    <dgm:pt modelId="{F35B4B62-4741-964F-9F55-8BAE5A6BA9A5}" type="parTrans" cxnId="{24914EDD-F887-F145-A25D-9C1F499EEC64}">
      <dgm:prSet/>
      <dgm:spPr/>
      <dgm:t>
        <a:bodyPr/>
        <a:lstStyle/>
        <a:p>
          <a:endParaRPr lang="en-US"/>
        </a:p>
      </dgm:t>
    </dgm:pt>
    <dgm:pt modelId="{E89D1576-1C84-A941-A5F3-6A6E595B57D7}" type="sibTrans" cxnId="{24914EDD-F887-F145-A25D-9C1F499EEC64}">
      <dgm:prSet/>
      <dgm:spPr/>
      <dgm:t>
        <a:bodyPr/>
        <a:lstStyle/>
        <a:p>
          <a:endParaRPr lang="en-US"/>
        </a:p>
      </dgm:t>
    </dgm:pt>
    <dgm:pt modelId="{097D4EAE-CD21-C547-B935-47F8B18B09F5}">
      <dgm:prSet/>
      <dgm:spPr/>
      <dgm:t>
        <a:bodyPr/>
        <a:lstStyle/>
        <a:p>
          <a:r>
            <a:rPr lang="en-US"/>
            <a:t>available chunks of memory</a:t>
          </a:r>
          <a:endParaRPr lang="en-US" dirty="0"/>
        </a:p>
      </dgm:t>
    </dgm:pt>
    <dgm:pt modelId="{87A55BF3-60A6-CA4A-952B-9DB7A9BFC901}" type="parTrans" cxnId="{00913CB1-9610-624A-BE9D-1C50FCC5CCE3}">
      <dgm:prSet/>
      <dgm:spPr/>
      <dgm:t>
        <a:bodyPr/>
        <a:lstStyle/>
        <a:p>
          <a:endParaRPr lang="en-US"/>
        </a:p>
      </dgm:t>
    </dgm:pt>
    <dgm:pt modelId="{5B396445-CB01-9443-9541-38B17C330104}" type="sibTrans" cxnId="{00913CB1-9610-624A-BE9D-1C50FCC5CCE3}">
      <dgm:prSet/>
      <dgm:spPr/>
      <dgm:t>
        <a:bodyPr/>
        <a:lstStyle/>
        <a:p>
          <a:endParaRPr lang="en-US"/>
        </a:p>
      </dgm:t>
    </dgm:pt>
    <dgm:pt modelId="{7427F0B0-35E5-664A-9214-512C0B3A33C3}" type="pres">
      <dgm:prSet presAssocID="{98984BBF-D090-D94A-958C-707853D134BE}" presName="Name0" presStyleCnt="0">
        <dgm:presLayoutVars>
          <dgm:dir/>
          <dgm:animLvl val="lvl"/>
          <dgm:resizeHandles val="exact"/>
        </dgm:presLayoutVars>
      </dgm:prSet>
      <dgm:spPr/>
    </dgm:pt>
    <dgm:pt modelId="{979F7F9E-BB7E-5E47-AEA2-74D0BA117F83}" type="pres">
      <dgm:prSet presAssocID="{64C5CEBC-1F30-5443-B794-80FF362A2AF0}" presName="composite" presStyleCnt="0"/>
      <dgm:spPr/>
    </dgm:pt>
    <dgm:pt modelId="{141F70A1-56B4-7C45-8D55-136594643679}" type="pres">
      <dgm:prSet presAssocID="{64C5CEBC-1F30-5443-B794-80FF362A2AF0}" presName="parTx" presStyleLbl="alignNode1" presStyleIdx="0" presStyleCnt="2">
        <dgm:presLayoutVars>
          <dgm:chMax val="0"/>
          <dgm:chPref val="0"/>
          <dgm:bulletEnabled val="1"/>
        </dgm:presLayoutVars>
      </dgm:prSet>
      <dgm:spPr/>
    </dgm:pt>
    <dgm:pt modelId="{46D6853D-8FF8-D64F-9F4D-3F18C7AC2088}" type="pres">
      <dgm:prSet presAssocID="{64C5CEBC-1F30-5443-B794-80FF362A2AF0}" presName="desTx" presStyleLbl="alignAccFollowNode1" presStyleIdx="0" presStyleCnt="2">
        <dgm:presLayoutVars>
          <dgm:bulletEnabled val="1"/>
        </dgm:presLayoutVars>
      </dgm:prSet>
      <dgm:spPr/>
    </dgm:pt>
    <dgm:pt modelId="{D2371063-AB88-2A4F-820E-F87872FE7F53}" type="pres">
      <dgm:prSet presAssocID="{0242CC9F-7F01-C541-AE84-95B60386F567}" presName="space" presStyleCnt="0"/>
      <dgm:spPr/>
    </dgm:pt>
    <dgm:pt modelId="{3AA422C0-DB0A-694E-A997-DBCDCCB90F7D}" type="pres">
      <dgm:prSet presAssocID="{5BAEB20B-3695-E348-9F13-AECB8D7EFA27}" presName="composite" presStyleCnt="0"/>
      <dgm:spPr/>
    </dgm:pt>
    <dgm:pt modelId="{E43E3212-8A7F-3040-93CF-F261BAF43BC6}" type="pres">
      <dgm:prSet presAssocID="{5BAEB20B-3695-E348-9F13-AECB8D7EFA27}" presName="parTx" presStyleLbl="alignNode1" presStyleIdx="1" presStyleCnt="2">
        <dgm:presLayoutVars>
          <dgm:chMax val="0"/>
          <dgm:chPref val="0"/>
          <dgm:bulletEnabled val="1"/>
        </dgm:presLayoutVars>
      </dgm:prSet>
      <dgm:spPr/>
    </dgm:pt>
    <dgm:pt modelId="{A1162212-C3C8-3A47-829A-648CCE353B98}" type="pres">
      <dgm:prSet presAssocID="{5BAEB20B-3695-E348-9F13-AECB8D7EFA27}" presName="desTx" presStyleLbl="alignAccFollowNode1" presStyleIdx="1" presStyleCnt="2">
        <dgm:presLayoutVars>
          <dgm:bulletEnabled val="1"/>
        </dgm:presLayoutVars>
      </dgm:prSet>
      <dgm:spPr/>
    </dgm:pt>
  </dgm:ptLst>
  <dgm:cxnLst>
    <dgm:cxn modelId="{A97A6232-855D-4009-985A-9EF7FAEE61CE}" type="presOf" srcId="{097D4EAE-CD21-C547-B935-47F8B18B09F5}" destId="{A1162212-C3C8-3A47-829A-648CCE353B98}" srcOrd="0" destOrd="0" presId="urn:microsoft.com/office/officeart/2005/8/layout/hList1"/>
    <dgm:cxn modelId="{74DF4162-BDC2-044A-BC90-1D56E973C6EA}" srcId="{64C5CEBC-1F30-5443-B794-80FF362A2AF0}" destId="{7AA8A9FF-58E2-CB47-ADA1-DE9E3BDCDC0F}" srcOrd="0" destOrd="0" parTransId="{C2FDA75E-5210-994A-B144-69E8807A517E}" sibTransId="{D0788B77-3E9F-4D46-8831-D6285F658A86}"/>
    <dgm:cxn modelId="{B3689970-B6AA-F841-8AA9-BF33FA1007D0}" srcId="{98984BBF-D090-D94A-958C-707853D134BE}" destId="{64C5CEBC-1F30-5443-B794-80FF362A2AF0}" srcOrd="0" destOrd="0" parTransId="{BE0C5935-86C3-CE49-BC7C-DB3DC9A56DBA}" sibTransId="{0242CC9F-7F01-C541-AE84-95B60386F567}"/>
    <dgm:cxn modelId="{AD01F17F-9C96-4BBA-A329-A8160C84559B}" type="presOf" srcId="{64C5CEBC-1F30-5443-B794-80FF362A2AF0}" destId="{141F70A1-56B4-7C45-8D55-136594643679}" srcOrd="0" destOrd="0" presId="urn:microsoft.com/office/officeart/2005/8/layout/hList1"/>
    <dgm:cxn modelId="{EFAFD5A1-A16D-4F3B-B384-B5EAAEF9B24C}" type="presOf" srcId="{7AA8A9FF-58E2-CB47-ADA1-DE9E3BDCDC0F}" destId="{46D6853D-8FF8-D64F-9F4D-3F18C7AC2088}" srcOrd="0" destOrd="0" presId="urn:microsoft.com/office/officeart/2005/8/layout/hList1"/>
    <dgm:cxn modelId="{00913CB1-9610-624A-BE9D-1C50FCC5CCE3}" srcId="{5BAEB20B-3695-E348-9F13-AECB8D7EFA27}" destId="{097D4EAE-CD21-C547-B935-47F8B18B09F5}" srcOrd="0" destOrd="0" parTransId="{87A55BF3-60A6-CA4A-952B-9DB7A9BFC901}" sibTransId="{5B396445-CB01-9443-9541-38B17C330104}"/>
    <dgm:cxn modelId="{9B7E91D5-33B3-41E7-A45E-C49D5EB8BDA6}" type="presOf" srcId="{98984BBF-D090-D94A-958C-707853D134BE}" destId="{7427F0B0-35E5-664A-9214-512C0B3A33C3}" srcOrd="0" destOrd="0" presId="urn:microsoft.com/office/officeart/2005/8/layout/hList1"/>
    <dgm:cxn modelId="{24914EDD-F887-F145-A25D-9C1F499EEC64}" srcId="{98984BBF-D090-D94A-958C-707853D134BE}" destId="{5BAEB20B-3695-E348-9F13-AECB8D7EFA27}" srcOrd="1" destOrd="0" parTransId="{F35B4B62-4741-964F-9F55-8BAE5A6BA9A5}" sibTransId="{E89D1576-1C84-A941-A5F3-6A6E595B57D7}"/>
    <dgm:cxn modelId="{8A59F3E6-A852-40CF-A4D3-EE91B6AEEFF7}" type="presOf" srcId="{5BAEB20B-3695-E348-9F13-AECB8D7EFA27}" destId="{E43E3212-8A7F-3040-93CF-F261BAF43BC6}" srcOrd="0" destOrd="0" presId="urn:microsoft.com/office/officeart/2005/8/layout/hList1"/>
    <dgm:cxn modelId="{265A7728-F351-46A6-9EBC-58EA80309ADD}" type="presParOf" srcId="{7427F0B0-35E5-664A-9214-512C0B3A33C3}" destId="{979F7F9E-BB7E-5E47-AEA2-74D0BA117F83}" srcOrd="0" destOrd="0" presId="urn:microsoft.com/office/officeart/2005/8/layout/hList1"/>
    <dgm:cxn modelId="{7A5A6845-7BBF-4640-905E-7A348539E283}" type="presParOf" srcId="{979F7F9E-BB7E-5E47-AEA2-74D0BA117F83}" destId="{141F70A1-56B4-7C45-8D55-136594643679}" srcOrd="0" destOrd="0" presId="urn:microsoft.com/office/officeart/2005/8/layout/hList1"/>
    <dgm:cxn modelId="{310D38AF-598A-43C4-B2F2-99B780D2F343}" type="presParOf" srcId="{979F7F9E-BB7E-5E47-AEA2-74D0BA117F83}" destId="{46D6853D-8FF8-D64F-9F4D-3F18C7AC2088}" srcOrd="1" destOrd="0" presId="urn:microsoft.com/office/officeart/2005/8/layout/hList1"/>
    <dgm:cxn modelId="{2FE3463E-AB41-42DB-A571-FAE5606117A7}" type="presParOf" srcId="{7427F0B0-35E5-664A-9214-512C0B3A33C3}" destId="{D2371063-AB88-2A4F-820E-F87872FE7F53}" srcOrd="1" destOrd="0" presId="urn:microsoft.com/office/officeart/2005/8/layout/hList1"/>
    <dgm:cxn modelId="{5158F8F0-AA21-4A5C-A1C4-6CA35F9138EF}" type="presParOf" srcId="{7427F0B0-35E5-664A-9214-512C0B3A33C3}" destId="{3AA422C0-DB0A-694E-A997-DBCDCCB90F7D}" srcOrd="2" destOrd="0" presId="urn:microsoft.com/office/officeart/2005/8/layout/hList1"/>
    <dgm:cxn modelId="{3801E9EB-41E0-4E37-A267-7DC7417233B5}" type="presParOf" srcId="{3AA422C0-DB0A-694E-A997-DBCDCCB90F7D}" destId="{E43E3212-8A7F-3040-93CF-F261BAF43BC6}" srcOrd="0" destOrd="0" presId="urn:microsoft.com/office/officeart/2005/8/layout/hList1"/>
    <dgm:cxn modelId="{2AB37C86-3A43-4172-93FB-3AA1EF821965}" type="presParOf" srcId="{3AA422C0-DB0A-694E-A997-DBCDCCB90F7D}" destId="{A1162212-C3C8-3A47-829A-648CCE353B9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F70A1-56B4-7C45-8D55-136594643679}">
      <dsp:nvSpPr>
        <dsp:cNvPr id="0" name=""/>
        <dsp:cNvSpPr/>
      </dsp:nvSpPr>
      <dsp:spPr>
        <a:xfrm>
          <a:off x="26" y="3393"/>
          <a:ext cx="2528106" cy="72000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Pages</a:t>
          </a:r>
          <a:r>
            <a:rPr lang="en-US" sz="2500" kern="1200" dirty="0"/>
            <a:t> </a:t>
          </a:r>
        </a:p>
      </dsp:txBody>
      <dsp:txXfrm>
        <a:off x="26" y="3393"/>
        <a:ext cx="2528106" cy="720000"/>
      </dsp:txXfrm>
    </dsp:sp>
    <dsp:sp modelId="{46D6853D-8FF8-D64F-9F4D-3F18C7AC2088}">
      <dsp:nvSpPr>
        <dsp:cNvPr id="0" name=""/>
        <dsp:cNvSpPr/>
      </dsp:nvSpPr>
      <dsp:spPr>
        <a:xfrm>
          <a:off x="26" y="723393"/>
          <a:ext cx="2528106" cy="14068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chunks of a process</a:t>
          </a:r>
        </a:p>
      </dsp:txBody>
      <dsp:txXfrm>
        <a:off x="26" y="723393"/>
        <a:ext cx="2528106" cy="1406812"/>
      </dsp:txXfrm>
    </dsp:sp>
    <dsp:sp modelId="{E43E3212-8A7F-3040-93CF-F261BAF43BC6}">
      <dsp:nvSpPr>
        <dsp:cNvPr id="0" name=""/>
        <dsp:cNvSpPr/>
      </dsp:nvSpPr>
      <dsp:spPr>
        <a:xfrm>
          <a:off x="2882067" y="3393"/>
          <a:ext cx="2528106" cy="72000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w="9525" cap="flat" cmpd="sng" algn="ctr">
          <a:solidFill>
            <a:schemeClr val="accen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i="0" kern="1200" dirty="0"/>
            <a:t>Frames</a:t>
          </a:r>
        </a:p>
      </dsp:txBody>
      <dsp:txXfrm>
        <a:off x="2882067" y="3393"/>
        <a:ext cx="2528106" cy="720000"/>
      </dsp:txXfrm>
    </dsp:sp>
    <dsp:sp modelId="{A1162212-C3C8-3A47-829A-648CCE353B98}">
      <dsp:nvSpPr>
        <dsp:cNvPr id="0" name=""/>
        <dsp:cNvSpPr/>
      </dsp:nvSpPr>
      <dsp:spPr>
        <a:xfrm>
          <a:off x="2882067" y="723393"/>
          <a:ext cx="2528106" cy="1406812"/>
        </a:xfrm>
        <a:prstGeom prst="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available chunks of memory</a:t>
          </a:r>
          <a:endParaRPr lang="en-US" sz="2500" kern="1200" dirty="0"/>
        </a:p>
      </dsp:txBody>
      <dsp:txXfrm>
        <a:off x="2882067" y="723393"/>
        <a:ext cx="2528106" cy="140681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712EC83D-DF42-934D-9B4C-9DA45B0AF85E}" type="datetimeFigureOut">
              <a:rPr lang="en-US"/>
              <a:pPr>
                <a:defRPr/>
              </a:pPr>
              <a:t>10/25/2022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CD712F13-7286-E547-A1B9-BD5D58A0F480}" type="slidenum">
              <a:rPr lang="en-US"/>
              <a:pPr>
                <a:defRPr/>
              </a:pPr>
              <a:t>‹#›</a:t>
            </a:fld>
            <a:endParaRPr lang="en-US"/>
          </a:p>
        </p:txBody>
      </p:sp>
    </p:spTree>
    <p:extLst>
      <p:ext uri="{BB962C8B-B14F-4D97-AF65-F5344CB8AC3E}">
        <p14:creationId xmlns:p14="http://schemas.microsoft.com/office/powerpoint/2010/main" val="11241172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pPr>
              <a:defRPr/>
            </a:pPr>
            <a:fld id="{DAB72A0E-0C65-6244-A8C3-15FE060AFF12}" type="datetimeFigureOut">
              <a:rPr lang="en-US"/>
              <a:pPr>
                <a:defRPr/>
              </a:pPr>
              <a:t>10/25/2022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pPr>
              <a:defRPr/>
            </a:pPr>
            <a:fld id="{C4C04107-0928-CB46-B9AF-281984CA4CE2}" type="slidenum">
              <a:rPr lang="en-US"/>
              <a:pPr>
                <a:defRPr/>
              </a:pPr>
              <a:t>‹#›</a:t>
            </a:fld>
            <a:endParaRPr lang="en-US"/>
          </a:p>
        </p:txBody>
      </p:sp>
    </p:spTree>
    <p:extLst>
      <p:ext uri="{BB962C8B-B14F-4D97-AF65-F5344CB8AC3E}">
        <p14:creationId xmlns:p14="http://schemas.microsoft.com/office/powerpoint/2010/main" val="295243151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body" idx="1"/>
          </p:nvPr>
        </p:nvSpPr>
        <p:spPr bwMode="auto">
          <a:xfrm>
            <a:off x="914400" y="4343400"/>
            <a:ext cx="5029200" cy="4114800"/>
          </a:xfrm>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438" tIns="44425" rIns="90438" bIns="44425" numCol="1" anchor="t" anchorCtr="0" compatLnSpc="1">
            <a:prstTxWarp prst="textNoShape">
              <a:avLst/>
            </a:prstTxWarp>
            <a:normAutofit fontScale="92500" lnSpcReduction="20000"/>
          </a:bodyPr>
          <a:lstStyle/>
          <a:p>
            <a:pPr eaLnBrk="1" hangingPunct="1"/>
            <a:r>
              <a:rPr lang="en-US" altLang="zh-CN" baseline="0" dirty="0">
                <a:latin typeface="Calibri" charset="0"/>
                <a:ea typeface="SimSun" charset="0"/>
                <a:cs typeface="SimSun" charset="0"/>
              </a:rPr>
              <a:t>Fall’18</a:t>
            </a:r>
          </a:p>
          <a:p>
            <a:pPr eaLnBrk="1" hangingPunct="1"/>
            <a:r>
              <a:rPr lang="en-US" altLang="zh-CN" baseline="0" dirty="0">
                <a:latin typeface="Calibri" charset="0"/>
                <a:ea typeface="SimSun" charset="0"/>
                <a:cs typeface="SimSun" charset="0"/>
              </a:rPr>
              <a:t>20 Min: Slides 1-11</a:t>
            </a:r>
          </a:p>
          <a:p>
            <a:pPr eaLnBrk="1" hangingPunct="1"/>
            <a:endParaRPr lang="en-US" altLang="zh-CN" baseline="0" dirty="0">
              <a:latin typeface="Calibri" charset="0"/>
              <a:ea typeface="SimSun" charset="0"/>
              <a:cs typeface="SimSun" charset="0"/>
            </a:endParaRPr>
          </a:p>
          <a:p>
            <a:pPr eaLnBrk="1" hangingPunct="1"/>
            <a:r>
              <a:rPr lang="en-US" altLang="zh-CN" baseline="0" dirty="0">
                <a:latin typeface="Calibri" charset="0"/>
                <a:ea typeface="SimSun" charset="0"/>
                <a:cs typeface="SimSun" charset="0"/>
              </a:rPr>
              <a:t>Next lecture: Slides 12-23</a:t>
            </a:r>
          </a:p>
          <a:p>
            <a:pPr eaLnBrk="1" hangingPunct="1"/>
            <a:endParaRPr lang="en-US" altLang="zh-CN" baseline="0" dirty="0">
              <a:latin typeface="Calibri" charset="0"/>
              <a:ea typeface="SimSun" charset="0"/>
              <a:cs typeface="SimSun" charset="0"/>
            </a:endParaRPr>
          </a:p>
          <a:p>
            <a:pPr eaLnBrk="1" hangingPunct="1"/>
            <a:r>
              <a:rPr lang="en-US" altLang="zh-CN" baseline="0" dirty="0">
                <a:latin typeface="Calibri" charset="0"/>
                <a:ea typeface="SimSun" charset="0"/>
                <a:cs typeface="SimSun" charset="0"/>
              </a:rPr>
              <a:t>Fall’16</a:t>
            </a:r>
          </a:p>
          <a:p>
            <a:pPr eaLnBrk="1" hangingPunct="1"/>
            <a:r>
              <a:rPr lang="en-US" altLang="zh-CN" baseline="0" dirty="0">
                <a:latin typeface="Calibri" charset="0"/>
                <a:ea typeface="SimSun" charset="0"/>
                <a:cs typeface="SimSun" charset="0"/>
              </a:rPr>
              <a:t>3 Min: Careers and Skills</a:t>
            </a:r>
          </a:p>
          <a:p>
            <a:pPr eaLnBrk="1" hangingPunct="1"/>
            <a:r>
              <a:rPr lang="en-US" altLang="zh-CN" baseline="0" dirty="0">
                <a:latin typeface="Calibri" charset="0"/>
                <a:ea typeface="SimSun" charset="0"/>
                <a:cs typeface="SimSun" charset="0"/>
              </a:rPr>
              <a:t>25 Min: job scheduling excise</a:t>
            </a:r>
          </a:p>
          <a:p>
            <a:pPr eaLnBrk="1" hangingPunct="1"/>
            <a:r>
              <a:rPr lang="en-US" altLang="zh-CN" baseline="0" dirty="0">
                <a:latin typeface="Calibri" charset="0"/>
                <a:ea typeface="SimSun" charset="0"/>
                <a:cs typeface="SimSun" charset="0"/>
              </a:rPr>
              <a:t>20 Min: 10b2-Project 4-3 Adding System Calls</a:t>
            </a: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baseline="0" dirty="0">
                <a:latin typeface="Calibri" charset="0"/>
                <a:ea typeface="SimSun" charset="0"/>
                <a:cs typeface="SimSun" charset="0"/>
              </a:rPr>
              <a:t>5 Min: slides 1-5</a:t>
            </a:r>
          </a:p>
          <a:p>
            <a:pPr eaLnBrk="1" hangingPunct="1"/>
            <a:endParaRPr lang="en-US" altLang="zh-CN" baseline="0" dirty="0">
              <a:latin typeface="Calibri" charset="0"/>
              <a:ea typeface="SimSun" charset="0"/>
              <a:cs typeface="SimSun" charset="0"/>
            </a:endParaRPr>
          </a:p>
          <a:p>
            <a:pPr eaLnBrk="1" hangingPunct="1"/>
            <a:r>
              <a:rPr lang="en-US" altLang="zh-CN" baseline="0" dirty="0">
                <a:latin typeface="Calibri" charset="0"/>
                <a:ea typeface="SimSun" charset="0"/>
                <a:cs typeface="SimSun" charset="0"/>
              </a:rPr>
              <a:t>Fall’15</a:t>
            </a:r>
          </a:p>
          <a:p>
            <a:pPr eaLnBrk="1" hangingPunct="1"/>
            <a:r>
              <a:rPr lang="en-US" altLang="zh-CN" baseline="0" dirty="0">
                <a:latin typeface="Calibri" charset="0"/>
                <a:ea typeface="SimSun" charset="0"/>
                <a:cs typeface="SimSun" charset="0"/>
              </a:rPr>
              <a:t>25 Min: job scheduling excise</a:t>
            </a:r>
          </a:p>
          <a:p>
            <a:pPr eaLnBrk="1" hangingPunct="1"/>
            <a:r>
              <a:rPr lang="en-US" altLang="zh-CN" baseline="0" dirty="0">
                <a:latin typeface="Calibri" charset="0"/>
                <a:ea typeface="SimSun" charset="0"/>
                <a:cs typeface="SimSun" charset="0"/>
              </a:rPr>
              <a:t>25 Min: slides 1-23</a:t>
            </a:r>
          </a:p>
          <a:p>
            <a:pPr eaLnBrk="1" hangingPunct="1"/>
            <a:endParaRPr lang="en-US" altLang="zh-CN" baseline="0" dirty="0">
              <a:latin typeface="Calibri" charset="0"/>
              <a:ea typeface="SimSun" charset="0"/>
              <a:cs typeface="SimSun" charset="0"/>
            </a:endParaRPr>
          </a:p>
          <a:p>
            <a:pPr eaLnBrk="1" hangingPunct="1"/>
            <a:r>
              <a:rPr lang="en-US" altLang="zh-CN" baseline="0" dirty="0">
                <a:latin typeface="Calibri" charset="0"/>
                <a:ea typeface="SimSun" charset="0"/>
                <a:cs typeface="SimSun" charset="0"/>
              </a:rPr>
              <a:t>Learning objectives of memory management:</a:t>
            </a:r>
          </a:p>
          <a:p>
            <a:pPr marL="171450" indent="-171450">
              <a:buFont typeface="Arial" panose="020B0604020202020204" pitchFamily="34" charset="0"/>
              <a:buChar char="•"/>
            </a:pPr>
            <a:r>
              <a:rPr lang="en-US" altLang="en-US" dirty="0"/>
              <a:t>To provide a detailed description of various ways of organizing memory hardware</a:t>
            </a:r>
          </a:p>
          <a:p>
            <a:pPr marL="171450" indent="-171450">
              <a:buFont typeface="Arial" panose="020B0604020202020204" pitchFamily="34" charset="0"/>
              <a:buChar char="•"/>
            </a:pPr>
            <a:r>
              <a:rPr lang="en-US" altLang="en-US" dirty="0"/>
              <a:t>To discuss various memory-management techniques, including paging and segmentation</a:t>
            </a:r>
          </a:p>
          <a:p>
            <a:pPr marL="171450" indent="-171450">
              <a:buFont typeface="Arial" panose="020B0604020202020204" pitchFamily="34" charset="0"/>
              <a:buChar char="•"/>
            </a:pPr>
            <a:r>
              <a:rPr lang="en-US" altLang="en-US" dirty="0"/>
              <a:t>To provide a detailed description of the Intel Pentium, which supports both pure segmentation and segmentation with paging</a:t>
            </a:r>
          </a:p>
          <a:p>
            <a:pPr eaLnBrk="1" hangingPunct="1"/>
            <a:endParaRPr lang="en-US" altLang="zh-CN" baseline="0" dirty="0">
              <a:latin typeface="Calibri" charset="0"/>
              <a:ea typeface="SimSun" charset="0"/>
              <a:cs typeface="SimSun" charset="0"/>
            </a:endParaRPr>
          </a:p>
        </p:txBody>
      </p:sp>
      <p:sp>
        <p:nvSpPr>
          <p:cNvPr id="8194" name="Rectangle 3"/>
          <p:cNvSpPr>
            <a:spLocks noGrp="1" noRot="1" noChangeAspect="1" noTextEdit="1"/>
          </p:cNvSpPr>
          <p:nvPr>
            <p:ph type="sldImg"/>
          </p:nvPr>
        </p:nvSpPr>
        <p:spPr bwMode="auto">
          <a:xfrm>
            <a:off x="382588" y="685800"/>
            <a:ext cx="6096000" cy="3429000"/>
          </a:xfrm>
          <a:noFill/>
          <a:ln cap="flat">
            <a:solidFill>
              <a:schemeClr val="tx1"/>
            </a:solidFill>
            <a:miter lim="800000"/>
            <a:headEnd/>
            <a:tailEnd/>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Lst>
        </p:spPr>
      </p:sp>
    </p:spTree>
    <p:extLst>
      <p:ext uri="{BB962C8B-B14F-4D97-AF65-F5344CB8AC3E}">
        <p14:creationId xmlns:p14="http://schemas.microsoft.com/office/powerpoint/2010/main" val="283529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Sharing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Logical organization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16161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Sharing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Logical organization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1036130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While surveying the various mechanisms and policies associated with memory management, it is helpful to keep in mind the requirements that memory management is intended to satisfy. These requirements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Relocation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Sharing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Logical organization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Physical organization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2132785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multiprogramming system, the available main memory is generally shared among a number of processes. Typically, it is not possible for the programmer to know in advance which other programs will be resident in main memory at the time of execution of his or her program. In addition, we would like to be able to swap active processes in and out of main memory to maximize processor utilization by providing a large pool of ready processes to execute. Once a program is swapped out to disk, it would be quite limiting to specify that when it is next swapped back in, it must be placed in the same main memory region as before. Instead, we may need to </a:t>
            </a:r>
            <a:r>
              <a:rPr lang="en-US" sz="1200" b="1" kern="1200" baseline="0" dirty="0">
                <a:solidFill>
                  <a:schemeClr val="tx1"/>
                </a:solidFill>
                <a:latin typeface="+mn-lt"/>
                <a:ea typeface="+mn-ea"/>
                <a:cs typeface="+mn-cs"/>
              </a:rPr>
              <a:t>relocate </a:t>
            </a:r>
            <a:r>
              <a:rPr lang="en-US" sz="1200" b="0" kern="1200" baseline="0" dirty="0">
                <a:solidFill>
                  <a:schemeClr val="tx1"/>
                </a:solidFill>
                <a:latin typeface="+mn-lt"/>
                <a:ea typeface="+mn-ea"/>
                <a:cs typeface="+mn-cs"/>
              </a:rPr>
              <a:t>the process to a different area of memory.</a:t>
            </a:r>
          </a:p>
          <a:p>
            <a:endParaRPr lang="en-US" sz="1200" b="0" kern="1200" baseline="0" dirty="0">
              <a:solidFill>
                <a:schemeClr val="tx1"/>
              </a:solidFill>
              <a:latin typeface="+mn-lt"/>
              <a:ea typeface="+mn-ea"/>
              <a:cs typeface="+mn-cs"/>
            </a:endParaRPr>
          </a:p>
          <a:p>
            <a:r>
              <a:rPr lang="en-US" sz="1200" b="0" kern="1200" baseline="0">
                <a:solidFill>
                  <a:schemeClr val="tx1"/>
                </a:solidFill>
                <a:latin typeface="+mn-lt"/>
                <a:ea typeface="+mn-ea"/>
                <a:cs typeface="+mn-cs"/>
              </a:rPr>
              <a:t>Breaking Mad</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2083539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Dynamic Linking</a:t>
            </a:r>
          </a:p>
          <a:p>
            <a:endParaRPr lang="en-US" sz="1200" b="1" kern="1200" baseline="0" dirty="0">
              <a:solidFill>
                <a:schemeClr val="tx1"/>
              </a:solidFill>
              <a:latin typeface="+mn-lt"/>
              <a:ea typeface="+mn-ea"/>
              <a:cs typeface="+mn-cs"/>
            </a:endParaRPr>
          </a:p>
          <a:p>
            <a:r>
              <a:rPr lang="en-US" sz="1200" dirty="0"/>
              <a:t>Linking postponed until execution time</a:t>
            </a:r>
          </a:p>
          <a:p>
            <a:r>
              <a:rPr lang="en-US" sz="1200" dirty="0"/>
              <a:t>Small piece of code, </a:t>
            </a:r>
            <a:r>
              <a:rPr lang="en-US" sz="1200" i="1" dirty="0"/>
              <a:t>stub</a:t>
            </a:r>
            <a:r>
              <a:rPr lang="en-US" sz="1200" dirty="0"/>
              <a:t>, used to locate the appropriate memory-resident library routine</a:t>
            </a:r>
          </a:p>
          <a:p>
            <a:r>
              <a:rPr lang="en-US" sz="1200" dirty="0"/>
              <a:t>Stub replaces itself with the address of the routine, and executes the routine</a:t>
            </a:r>
          </a:p>
          <a:p>
            <a:r>
              <a:rPr lang="en-US" sz="1200" dirty="0"/>
              <a:t>Operating system needed to check if routine is in processes</a:t>
            </a:r>
            <a:r>
              <a:rPr lang="ja-JP" altLang="en-US" sz="1200" dirty="0">
                <a:latin typeface="Arial"/>
              </a:rPr>
              <a:t>’</a:t>
            </a:r>
            <a:r>
              <a:rPr lang="en-US" sz="1200" dirty="0"/>
              <a:t> memory address</a:t>
            </a:r>
          </a:p>
          <a:p>
            <a:r>
              <a:rPr lang="en-US" sz="1200" dirty="0"/>
              <a:t>Dynamic linking is particularly useful for libraries</a:t>
            </a:r>
          </a:p>
          <a:p>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1185389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principal operation of memory management is to bring processes into main memory for execution by the processor. In almost all modern multiprogramming systems, this involves a sophisticated scheme known as virtual memory. Virtual memory is, in turn, based on the use of one or both of two basic techniques: segmentation and paging. Before we can look at these virtual memory techniques, we must prepare the ground by looking at simpler techniques that do not involve virtual memory ( Table 7.2 summarizes all the techniques examined in this chapter and the next). One of these techniques, partitioning, has been used in several variations in some now-obsolete operating systems. The other two techniques, simple paging and simple segmentation, are not used by themselves. However, it will clarify the discussion of virtual memory if we look first at these two techniques in the absence of virtual memory considerations.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518995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882302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2875965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604859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difficulties with the use of equal-size fixed partitions: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program may be too big to fit into a partition. In this case, the programmer must design the program with the use of overlays so that only a portion of the program need be in main memory at any one time. When a module is needed that is not present, the user’s program must load that module into the program’s partition, overlaying whatever programs or data are there.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utilization is extremely inefficient. Any program, no matter how small, occupies an entire partition. In our example, there may be a program whose length is less than 2 Mbytes; yet it occupies an 8-Mbyte partition whenever it is swapped in. This phenomenon, in which there is wasted space internal to a partition due to the fact that the block of data loaded is smaller than the partition, is referred to as </a:t>
            </a:r>
            <a:r>
              <a:rPr lang="en-US" sz="1200" b="1" kern="1200" baseline="0" dirty="0">
                <a:solidFill>
                  <a:schemeClr val="tx1"/>
                </a:solidFill>
                <a:latin typeface="+mn-lt"/>
                <a:ea typeface="+mn-ea"/>
                <a:cs typeface="+mn-cs"/>
              </a:rPr>
              <a:t>internal fragmentation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996787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3856124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2435419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3673915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unequal fixed-size and variable-size partitions are inefficient in the use of memory; the former results in internal fragmentation, the latter in external fragmentation. Suppose, however, that main memory is partitioned into equal fixed-size chunks that are relatively small, and that each process is also divided into small fixed-size chunks of the same size. Then the chunks of a process, known as </a:t>
            </a:r>
            <a:r>
              <a:rPr lang="en-US" sz="1200" b="1" kern="1200" baseline="0" dirty="0">
                <a:solidFill>
                  <a:schemeClr val="tx1"/>
                </a:solidFill>
                <a:latin typeface="+mn-lt"/>
                <a:ea typeface="+mn-ea"/>
                <a:cs typeface="+mn-cs"/>
              </a:rPr>
              <a:t>pages , </a:t>
            </a:r>
            <a:r>
              <a:rPr lang="en-US" sz="1200" kern="1200" baseline="0" dirty="0">
                <a:solidFill>
                  <a:schemeClr val="tx1"/>
                </a:solidFill>
                <a:latin typeface="+mn-lt"/>
                <a:ea typeface="+mn-ea"/>
                <a:cs typeface="+mn-cs"/>
              </a:rPr>
              <a:t>could be assigned to available chunks of memory, known as </a:t>
            </a:r>
            <a:r>
              <a:rPr lang="en-US" sz="1200" b="1" kern="1200" baseline="0" dirty="0">
                <a:solidFill>
                  <a:schemeClr val="tx1"/>
                </a:solidFill>
                <a:latin typeface="+mn-lt"/>
                <a:ea typeface="+mn-ea"/>
                <a:cs typeface="+mn-cs"/>
              </a:rPr>
              <a:t>frames , or page frames. </a:t>
            </a:r>
            <a:r>
              <a:rPr lang="en-US" sz="1200" kern="1200" baseline="0" dirty="0">
                <a:solidFill>
                  <a:schemeClr val="tx1"/>
                </a:solidFill>
                <a:latin typeface="+mn-lt"/>
                <a:ea typeface="+mn-ea"/>
                <a:cs typeface="+mn-cs"/>
              </a:rPr>
              <a:t>We show in this section that the wasted space in memory for each process is due to internal fragmentation consisting of only a fraction of the last page of a process. There is no external fragmentation.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1602805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a:t>
            </a:r>
            <a:r>
              <a:rPr lang="en-US" sz="1200" kern="1200" baseline="0" dirty="0" err="1">
                <a:solidFill>
                  <a:schemeClr val="tx1"/>
                </a:solidFill>
                <a:latin typeface="+mn-lt"/>
                <a:ea typeface="+mn-ea"/>
                <a:cs typeface="+mn-cs"/>
              </a:rPr>
              <a:t>uniprogramming</a:t>
            </a:r>
            <a:r>
              <a:rPr lang="en-US" sz="1200" kern="1200" baseline="0" dirty="0">
                <a:solidFill>
                  <a:schemeClr val="tx1"/>
                </a:solidFill>
                <a:latin typeface="+mn-lt"/>
                <a:ea typeface="+mn-ea"/>
                <a:cs typeface="+mn-cs"/>
              </a:rPr>
              <a:t> system, main memory is divided into two parts: one part</a:t>
            </a:r>
          </a:p>
          <a:p>
            <a:r>
              <a:rPr lang="en-US" sz="1200" kern="1200" baseline="0" dirty="0">
                <a:solidFill>
                  <a:schemeClr val="tx1"/>
                </a:solidFill>
                <a:latin typeface="+mn-lt"/>
                <a:ea typeface="+mn-ea"/>
                <a:cs typeface="+mn-cs"/>
              </a:rPr>
              <a:t>for the operating system (resident monitor, kernel) and other part for the program</a:t>
            </a:r>
          </a:p>
          <a:p>
            <a:r>
              <a:rPr lang="en-US" sz="1200" kern="1200" baseline="0" dirty="0">
                <a:solidFill>
                  <a:schemeClr val="tx1"/>
                </a:solidFill>
                <a:latin typeface="+mn-lt"/>
                <a:ea typeface="+mn-ea"/>
                <a:cs typeface="+mn-cs"/>
              </a:rPr>
              <a:t>currently being executed. In a multiprogramming system, the “user” part of</a:t>
            </a:r>
          </a:p>
          <a:p>
            <a:r>
              <a:rPr lang="en-US" sz="1200" kern="1200" baseline="0" dirty="0">
                <a:solidFill>
                  <a:schemeClr val="tx1"/>
                </a:solidFill>
                <a:latin typeface="+mn-lt"/>
                <a:ea typeface="+mn-ea"/>
                <a:cs typeface="+mn-cs"/>
              </a:rPr>
              <a:t>memory must be further subdivided to accommodate multiple processes. The task</a:t>
            </a:r>
          </a:p>
          <a:p>
            <a:r>
              <a:rPr lang="en-US" sz="1200" kern="1200" baseline="0" dirty="0">
                <a:solidFill>
                  <a:schemeClr val="tx1"/>
                </a:solidFill>
                <a:latin typeface="+mn-lt"/>
                <a:ea typeface="+mn-ea"/>
                <a:cs typeface="+mn-cs"/>
              </a:rPr>
              <a:t>of subdivision is carried out dynamically by the operating system and is known as</a:t>
            </a:r>
          </a:p>
          <a:p>
            <a:r>
              <a:rPr lang="en-US" sz="1200" kern="1200" baseline="0" dirty="0">
                <a:solidFill>
                  <a:schemeClr val="tx1"/>
                </a:solidFill>
                <a:latin typeface="+mn-lt"/>
                <a:ea typeface="+mn-ea"/>
                <a:cs typeface="+mn-cs"/>
              </a:rPr>
              <a:t>memory management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Effective memory management is vital in a multiprogramming system. If only</a:t>
            </a:r>
          </a:p>
          <a:p>
            <a:r>
              <a:rPr lang="en-US" sz="1200" kern="1200" baseline="0" dirty="0">
                <a:solidFill>
                  <a:schemeClr val="tx1"/>
                </a:solidFill>
                <a:latin typeface="+mn-lt"/>
                <a:ea typeface="+mn-ea"/>
                <a:cs typeface="+mn-cs"/>
              </a:rPr>
              <a:t>a few processes are in memory, then for much of the time all of the processes will be</a:t>
            </a:r>
          </a:p>
          <a:p>
            <a:r>
              <a:rPr lang="en-US" sz="1200" kern="1200" baseline="0" dirty="0">
                <a:solidFill>
                  <a:schemeClr val="tx1"/>
                </a:solidFill>
                <a:latin typeface="+mn-lt"/>
                <a:ea typeface="+mn-ea"/>
                <a:cs typeface="+mn-cs"/>
              </a:rPr>
              <a:t>waiting for I/O (input/output) and the processor will be idle. Thus memory needs to</a:t>
            </a:r>
          </a:p>
          <a:p>
            <a:r>
              <a:rPr lang="en-US" sz="1200" kern="1200" baseline="0" dirty="0">
                <a:solidFill>
                  <a:schemeClr val="tx1"/>
                </a:solidFill>
                <a:latin typeface="+mn-lt"/>
                <a:ea typeface="+mn-ea"/>
                <a:cs typeface="+mn-cs"/>
              </a:rPr>
              <a:t>be allocated to ensure a reasonable supply of ready processes to consume available</a:t>
            </a:r>
          </a:p>
          <a:p>
            <a:r>
              <a:rPr lang="en-US" sz="1200" kern="1200" baseline="0" dirty="0">
                <a:solidFill>
                  <a:schemeClr val="tx1"/>
                </a:solidFill>
                <a:latin typeface="+mn-lt"/>
                <a:ea typeface="+mn-ea"/>
                <a:cs typeface="+mn-cs"/>
              </a:rPr>
              <a:t>processor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7.1 introduces some key terms for our discussion.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8737704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226484"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8" descr="SGCOE V 158 289"/>
          <p:cNvPicPr>
            <a:picLocks noChangeAspect="1" noChangeArrowheads="1"/>
          </p:cNvPicPr>
          <p:nvPr userDrawn="1"/>
        </p:nvPicPr>
        <p:blipFill>
          <a:blip r:embed="rId3" cstate="email">
            <a:extLst>
              <a:ext uri="{28A0092B-C50C-407E-A947-70E740481C1C}">
                <a14:useLocalDpi xmlns:a14="http://schemas.microsoft.com/office/drawing/2010/main" val="0"/>
              </a:ext>
            </a:extLst>
          </a:blip>
          <a:srcRect/>
          <a:stretch>
            <a:fillRect/>
          </a:stretch>
        </p:blipFill>
        <p:spPr bwMode="auto">
          <a:xfrm>
            <a:off x="10363200" y="5791201"/>
            <a:ext cx="15240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914400" y="2130426"/>
            <a:ext cx="10363200" cy="1470025"/>
          </a:xfrm>
        </p:spPr>
        <p:txBody>
          <a:bodyPr/>
          <a:lstStyle>
            <a:lvl1pPr>
              <a:defRPr>
                <a:solidFill>
                  <a:srgbClr val="0000FF"/>
                </a:solidFill>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0"/>
          </p:nvPr>
        </p:nvSpPr>
        <p:spPr>
          <a:xfrm>
            <a:off x="8737600" y="6356351"/>
            <a:ext cx="1422400" cy="365125"/>
          </a:xfrm>
        </p:spPr>
        <p:txBody>
          <a:bodyPr/>
          <a:lstStyle>
            <a:lvl1pPr algn="l">
              <a:defRPr/>
            </a:lvl1pPr>
          </a:lstStyle>
          <a:p>
            <a:pPr>
              <a:defRPr/>
            </a:pPr>
            <a:fld id="{28F4A3D6-8C1B-B547-85DF-557C25BCE148}" type="slidenum">
              <a:rPr lang="en-US" smtClean="0"/>
              <a:pPr>
                <a:defRPr/>
              </a:pPr>
              <a:t>‹#›</a:t>
            </a:fld>
            <a:endParaRPr lang="en-US" dirty="0"/>
          </a:p>
        </p:txBody>
      </p:sp>
    </p:spTree>
    <p:extLst>
      <p:ext uri="{BB962C8B-B14F-4D97-AF65-F5344CB8AC3E}">
        <p14:creationId xmlns:p14="http://schemas.microsoft.com/office/powerpoint/2010/main" val="85623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4" name="Picture 8" descr="SGCOE V 158 289"/>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10363200" y="5791201"/>
            <a:ext cx="15240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solidFill>
                  <a:srgbClr val="0000FF"/>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10"/>
          </p:nvPr>
        </p:nvSpPr>
        <p:spPr>
          <a:xfrm>
            <a:off x="304800" y="6248401"/>
            <a:ext cx="1625600" cy="365125"/>
          </a:xfrm>
        </p:spPr>
        <p:txBody>
          <a:bodyPr/>
          <a:lstStyle>
            <a:lvl1pPr algn="l">
              <a:defRPr/>
            </a:lvl1pPr>
          </a:lstStyle>
          <a:p>
            <a:pPr>
              <a:defRPr/>
            </a:pPr>
            <a:fld id="{4650CFA0-3E24-3141-A4B7-FE671916A352}" type="slidenum">
              <a:rPr lang="en-US" smtClean="0"/>
              <a:pPr>
                <a:defRPr/>
              </a:pPr>
              <a:t>‹#›</a:t>
            </a:fld>
            <a:endParaRPr lang="en-US" dirty="0"/>
          </a:p>
        </p:txBody>
      </p:sp>
    </p:spTree>
    <p:extLst>
      <p:ext uri="{BB962C8B-B14F-4D97-AF65-F5344CB8AC3E}">
        <p14:creationId xmlns:p14="http://schemas.microsoft.com/office/powerpoint/2010/main" val="234912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a:xfrm>
            <a:off x="8920480" y="6492876"/>
            <a:ext cx="2844800" cy="365125"/>
          </a:xfrm>
          <a:prstGeom prst="rect">
            <a:avLst/>
          </a:prstGeom>
        </p:spPr>
        <p:txBody>
          <a:bodyPr/>
          <a:lstStyle/>
          <a:p>
            <a:pPr>
              <a:defRPr/>
            </a:pPr>
            <a:fld id="{687B09B9-C906-0F40-B5EC-66B104D87495}" type="datetime1">
              <a:rPr lang="en-US" smtClean="0"/>
              <a:t>10/25/2022</a:t>
            </a:fld>
            <a:endParaRPr lang="en-US" dirty="0"/>
          </a:p>
        </p:txBody>
      </p:sp>
      <p:sp>
        <p:nvSpPr>
          <p:cNvPr id="4" name="Footer Placeholder 3"/>
          <p:cNvSpPr>
            <a:spLocks noGrp="1"/>
          </p:cNvSpPr>
          <p:nvPr>
            <p:ph type="ftr" sz="quarter" idx="11"/>
          </p:nvPr>
        </p:nvSpPr>
        <p:spPr>
          <a:xfrm>
            <a:off x="424329" y="6492876"/>
            <a:ext cx="4554072"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lvl1pPr algn="l">
              <a:defRPr/>
            </a:lvl1pPr>
          </a:lstStyle>
          <a:p>
            <a:pPr>
              <a:defRPr/>
            </a:pPr>
            <a:fld id="{97012834-41A2-49E3-8762-B14EE3F5CFB1}" type="slidenum">
              <a:rPr lang="en-US" smtClean="0"/>
              <a:pPr>
                <a:defRPr/>
              </a:pPr>
              <a:t>‹#›</a:t>
            </a:fld>
            <a:endParaRPr lang="en-US" dirty="0"/>
          </a:p>
        </p:txBody>
      </p:sp>
    </p:spTree>
    <p:extLst>
      <p:ext uri="{BB962C8B-B14F-4D97-AF65-F5344CB8AC3E}">
        <p14:creationId xmlns:p14="http://schemas.microsoft.com/office/powerpoint/2010/main" val="2131276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a:xfrm>
            <a:off x="8920480" y="6492876"/>
            <a:ext cx="2844800" cy="365125"/>
          </a:xfrm>
          <a:prstGeom prst="rect">
            <a:avLst/>
          </a:prstGeom>
        </p:spPr>
        <p:txBody>
          <a:bodyPr/>
          <a:lstStyle/>
          <a:p>
            <a:pPr>
              <a:defRPr/>
            </a:pPr>
            <a:fld id="{6B225021-4E49-E94A-BE4C-46DF6C80D5B8}" type="datetime1">
              <a:rPr lang="en-US" smtClean="0"/>
              <a:t>10/25/2022</a:t>
            </a:fld>
            <a:endParaRPr lang="en-US" dirty="0"/>
          </a:p>
        </p:txBody>
      </p:sp>
      <p:sp>
        <p:nvSpPr>
          <p:cNvPr id="3" name="Footer Placeholder 2"/>
          <p:cNvSpPr>
            <a:spLocks noGrp="1"/>
          </p:cNvSpPr>
          <p:nvPr>
            <p:ph type="ftr" sz="quarter" idx="11"/>
          </p:nvPr>
        </p:nvSpPr>
        <p:spPr>
          <a:xfrm>
            <a:off x="424329" y="6492876"/>
            <a:ext cx="4554072" cy="365125"/>
          </a:xfrm>
          <a:prstGeom prst="rect">
            <a:avLst/>
          </a:prstGeom>
        </p:spPr>
        <p:txBody>
          <a:bodyPr/>
          <a:lstStyle/>
          <a:p>
            <a:pPr>
              <a:defRPr/>
            </a:pPr>
            <a:endParaRPr lang="en-US" dirty="0"/>
          </a:p>
        </p:txBody>
      </p:sp>
      <p:sp>
        <p:nvSpPr>
          <p:cNvPr id="4" name="Slide Number Placeholder 3"/>
          <p:cNvSpPr>
            <a:spLocks noGrp="1"/>
          </p:cNvSpPr>
          <p:nvPr>
            <p:ph type="sldNum" sz="quarter" idx="12"/>
          </p:nvPr>
        </p:nvSpPr>
        <p:spPr/>
        <p:txBody>
          <a:bodyPr/>
          <a:lstStyle>
            <a:lvl1pPr algn="l">
              <a:defRPr/>
            </a:lvl1pPr>
          </a:lstStyle>
          <a:p>
            <a:pPr>
              <a:defRPr/>
            </a:pPr>
            <a:fld id="{0A9A6F0D-A611-4358-861D-7B01E8303898}" type="slidenum">
              <a:rPr lang="en-US" smtClean="0"/>
              <a:pPr>
                <a:defRPr/>
              </a:pPr>
              <a:t>‹#›</a:t>
            </a:fld>
            <a:endParaRPr lang="en-US" dirty="0"/>
          </a:p>
        </p:txBody>
      </p:sp>
    </p:spTree>
    <p:extLst>
      <p:ext uri="{BB962C8B-B14F-4D97-AF65-F5344CB8AC3E}">
        <p14:creationId xmlns:p14="http://schemas.microsoft.com/office/powerpoint/2010/main" val="2890542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77824" y="1644868"/>
            <a:ext cx="48768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6437376" y="654268"/>
            <a:ext cx="48768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77824" y="2774732"/>
            <a:ext cx="48768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920480" y="6492876"/>
            <a:ext cx="2844800" cy="365125"/>
          </a:xfrm>
          <a:prstGeom prst="rect">
            <a:avLst/>
          </a:prstGeom>
        </p:spPr>
        <p:txBody>
          <a:bodyPr/>
          <a:lstStyle/>
          <a:p>
            <a:pPr>
              <a:defRPr/>
            </a:pPr>
            <a:fld id="{0688B8AE-CFA3-F447-8BB8-E5238B17FFA5}" type="datetime1">
              <a:rPr lang="en-US" smtClean="0"/>
              <a:t>10/25/2022</a:t>
            </a:fld>
            <a:endParaRPr lang="en-US" dirty="0"/>
          </a:p>
        </p:txBody>
      </p:sp>
      <p:sp>
        <p:nvSpPr>
          <p:cNvPr id="6" name="Footer Placeholder 5"/>
          <p:cNvSpPr>
            <a:spLocks noGrp="1"/>
          </p:cNvSpPr>
          <p:nvPr>
            <p:ph type="ftr" sz="quarter" idx="11"/>
          </p:nvPr>
        </p:nvSpPr>
        <p:spPr>
          <a:xfrm>
            <a:off x="424329" y="6492876"/>
            <a:ext cx="4554072" cy="365125"/>
          </a:xfrm>
          <a:prstGeom prst="rect">
            <a:avLst/>
          </a:prstGeom>
        </p:spPr>
        <p:txBody>
          <a:bodyPr/>
          <a:lstStyle/>
          <a:p>
            <a:pPr>
              <a:defRPr/>
            </a:pPr>
            <a:endParaRPr lang="en-US" dirty="0"/>
          </a:p>
        </p:txBody>
      </p:sp>
      <p:sp>
        <p:nvSpPr>
          <p:cNvPr id="7" name="Slide Number Placeholder 6"/>
          <p:cNvSpPr>
            <a:spLocks noGrp="1"/>
          </p:cNvSpPr>
          <p:nvPr>
            <p:ph type="sldNum" sz="quarter" idx="12"/>
          </p:nvPr>
        </p:nvSpPr>
        <p:spPr/>
        <p:txBody>
          <a:bodyPr/>
          <a:lstStyle>
            <a:lvl1pPr algn="l">
              <a:defRPr/>
            </a:lvl1pPr>
          </a:lstStyle>
          <a:p>
            <a:pPr>
              <a:defRPr/>
            </a:pPr>
            <a:fld id="{BAB79F47-3AF0-4617-BC60-2E592392BB48}" type="slidenum">
              <a:rPr lang="en-US" smtClean="0"/>
              <a:pPr>
                <a:defRPr/>
              </a:pPr>
              <a:t>‹#›</a:t>
            </a:fld>
            <a:endParaRPr lang="en-US" dirty="0"/>
          </a:p>
        </p:txBody>
      </p:sp>
    </p:spTree>
    <p:extLst>
      <p:ext uri="{BB962C8B-B14F-4D97-AF65-F5344CB8AC3E}">
        <p14:creationId xmlns:p14="http://schemas.microsoft.com/office/powerpoint/2010/main" val="4220168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p:cNvSpPr>
            <a:spLocks noGrp="1"/>
          </p:cNvSpPr>
          <p:nvPr>
            <p:ph type="sldNum" sz="quarter" idx="4"/>
          </p:nvPr>
        </p:nvSpPr>
        <p:spPr>
          <a:xfrm>
            <a:off x="508000" y="6324601"/>
            <a:ext cx="1320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charset="0"/>
              </a:defRPr>
            </a:lvl1pPr>
          </a:lstStyle>
          <a:p>
            <a:pPr algn="l">
              <a:defRPr/>
            </a:pPr>
            <a:fld id="{BFA6D376-C5A1-F04E-B9D7-60DF914D4450}" type="slidenum">
              <a:rPr lang="en-US" smtClean="0"/>
              <a:pPr algn="l">
                <a:defRPr/>
              </a:pPr>
              <a:t>‹#›</a:t>
            </a:fld>
            <a:endParaRPr lang="en-US" dirty="0"/>
          </a:p>
        </p:txBody>
      </p:sp>
    </p:spTree>
  </p:cSld>
  <p:clrMap bg1="lt1" tx1="dk1" bg2="lt2" tx2="dk2" accent1="accent1" accent2="accent2" accent3="accent3" accent4="accent4" accent5="accent5" accent6="accent6" hlink="hlink" folHlink="folHlink"/>
  <p:sldLayoutIdLst>
    <p:sldLayoutId id="2147484278" r:id="rId1"/>
    <p:sldLayoutId id="2147484279" r:id="rId2"/>
    <p:sldLayoutId id="2147484283" r:id="rId3"/>
    <p:sldLayoutId id="2147484284" r:id="rId4"/>
    <p:sldLayoutId id="2147484285" r:id="rId5"/>
  </p:sldLayoutIdLst>
  <p:hf hdr="0" ftr="0" dt="0"/>
  <p:txStyles>
    <p:titleStyle>
      <a:lvl1pPr algn="ctr" rtl="0" eaLnBrk="0" fontAlgn="base" hangingPunct="0">
        <a:spcBef>
          <a:spcPct val="0"/>
        </a:spcBef>
        <a:spcAft>
          <a:spcPct val="0"/>
        </a:spcAft>
        <a:defRPr sz="4400" kern="1200">
          <a:solidFill>
            <a:srgbClr val="0000FF"/>
          </a:solidFill>
          <a:latin typeface="Calibri"/>
          <a:ea typeface="ＭＳ Ｐゴシック" charset="0"/>
          <a:cs typeface="ＭＳ Ｐゴシック" charset="0"/>
        </a:defRPr>
      </a:lvl1pPr>
      <a:lvl2pPr algn="ctr" rtl="0" eaLnBrk="0" fontAlgn="base" hangingPunct="0">
        <a:spcBef>
          <a:spcPct val="0"/>
        </a:spcBef>
        <a:spcAft>
          <a:spcPct val="0"/>
        </a:spcAft>
        <a:defRPr sz="4400">
          <a:solidFill>
            <a:srgbClr val="0000FF"/>
          </a:solidFill>
          <a:latin typeface="Calibri" charset="0"/>
          <a:ea typeface="ＭＳ Ｐゴシック" charset="0"/>
          <a:cs typeface="ＭＳ Ｐゴシック" charset="0"/>
        </a:defRPr>
      </a:lvl2pPr>
      <a:lvl3pPr algn="ctr" rtl="0" eaLnBrk="0" fontAlgn="base" hangingPunct="0">
        <a:spcBef>
          <a:spcPct val="0"/>
        </a:spcBef>
        <a:spcAft>
          <a:spcPct val="0"/>
        </a:spcAft>
        <a:defRPr sz="4400">
          <a:solidFill>
            <a:srgbClr val="0000FF"/>
          </a:solidFill>
          <a:latin typeface="Calibri" charset="0"/>
          <a:ea typeface="ＭＳ Ｐゴシック" charset="0"/>
          <a:cs typeface="ＭＳ Ｐゴシック" charset="0"/>
        </a:defRPr>
      </a:lvl3pPr>
      <a:lvl4pPr algn="ctr" rtl="0" eaLnBrk="0" fontAlgn="base" hangingPunct="0">
        <a:spcBef>
          <a:spcPct val="0"/>
        </a:spcBef>
        <a:spcAft>
          <a:spcPct val="0"/>
        </a:spcAft>
        <a:defRPr sz="4400">
          <a:solidFill>
            <a:srgbClr val="0000FF"/>
          </a:solidFill>
          <a:latin typeface="Calibri" charset="0"/>
          <a:ea typeface="ＭＳ Ｐゴシック" charset="0"/>
          <a:cs typeface="ＭＳ Ｐゴシック" charset="0"/>
        </a:defRPr>
      </a:lvl4pPr>
      <a:lvl5pPr algn="ctr" rtl="0" eaLnBrk="0" fontAlgn="base" hangingPunct="0">
        <a:spcBef>
          <a:spcPct val="0"/>
        </a:spcBef>
        <a:spcAft>
          <a:spcPct val="0"/>
        </a:spcAft>
        <a:defRPr sz="4400">
          <a:solidFill>
            <a:srgbClr val="0000FF"/>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0"/>
        </a:spcBef>
        <a:spcAft>
          <a:spcPct val="0"/>
        </a:spcAft>
        <a:buFont typeface="Arial" charset="0"/>
        <a:buChar char="•"/>
        <a:defRPr sz="3200" kern="1200">
          <a:solidFill>
            <a:schemeClr val="tx1"/>
          </a:solidFill>
          <a:latin typeface="Calibri"/>
          <a:ea typeface="ＭＳ Ｐゴシック" charset="0"/>
          <a:cs typeface="ＭＳ Ｐゴシック" charset="0"/>
        </a:defRPr>
      </a:lvl1pPr>
      <a:lvl2pPr marL="742950" indent="-285750" algn="l" rtl="0" eaLnBrk="0" fontAlgn="base" hangingPunct="0">
        <a:spcBef>
          <a:spcPct val="0"/>
        </a:spcBef>
        <a:spcAft>
          <a:spcPct val="0"/>
        </a:spcAft>
        <a:buFont typeface="Arial" charset="0"/>
        <a:buChar char="–"/>
        <a:defRPr sz="2800" kern="1200">
          <a:solidFill>
            <a:schemeClr val="tx1"/>
          </a:solidFill>
          <a:latin typeface="Calibri"/>
          <a:ea typeface="ＭＳ Ｐゴシック" charset="0"/>
          <a:cs typeface="+mn-cs"/>
        </a:defRPr>
      </a:lvl2pPr>
      <a:lvl3pPr marL="1143000" indent="-228600" algn="l" rtl="0" eaLnBrk="0" fontAlgn="base" hangingPunct="0">
        <a:spcBef>
          <a:spcPct val="0"/>
        </a:spcBef>
        <a:spcAft>
          <a:spcPct val="0"/>
        </a:spcAft>
        <a:buFont typeface="Arial" charset="0"/>
        <a:buChar char="•"/>
        <a:defRPr sz="2400" kern="1200">
          <a:solidFill>
            <a:schemeClr val="tx1"/>
          </a:solidFill>
          <a:latin typeface="Calibri"/>
          <a:ea typeface="ＭＳ Ｐゴシック" charset="0"/>
          <a:cs typeface="+mn-cs"/>
        </a:defRPr>
      </a:lvl3pPr>
      <a:lvl4pPr marL="16002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4pPr>
      <a:lvl5pPr marL="20574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tiff"/></Relationships>
</file>

<file path=ppt/slides/_rels/slide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tiff"/></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tiff"/><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tiff"/><Relationship Id="rId5" Type="http://schemas.openxmlformats.org/officeDocument/2006/relationships/image" Target="../media/image7.tiff"/><Relationship Id="rId4" Type="http://schemas.openxmlformats.org/officeDocument/2006/relationships/image" Target="../media/image4.tiff"/></Relationships>
</file>

<file path=ppt/slides/_rels/slide6.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4.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p:cNvSpPr>
          <p:nvPr>
            <p:ph type="ctrTitle" idx="4294967295"/>
          </p:nvPr>
        </p:nvSpPr>
        <p:spPr>
          <a:xfrm>
            <a:off x="1828800" y="533400"/>
            <a:ext cx="8686800" cy="3400425"/>
          </a:xfrm>
        </p:spPr>
        <p:txBody>
          <a:bodyPr/>
          <a:lstStyle/>
          <a:p>
            <a:pPr eaLnBrk="1" hangingPunct="1"/>
            <a:r>
              <a:rPr lang="en-US" altLang="zh-CN" dirty="0">
                <a:latin typeface="Calibri" charset="0"/>
                <a:ea typeface="SimSun" charset="0"/>
                <a:cs typeface="SimSun" charset="0"/>
              </a:rPr>
              <a:t>COMP 3500 </a:t>
            </a:r>
            <a:br>
              <a:rPr lang="en-US" altLang="zh-CN" dirty="0">
                <a:latin typeface="Calibri" charset="0"/>
                <a:ea typeface="SimSun" charset="0"/>
                <a:cs typeface="SimSun" charset="0"/>
              </a:rPr>
            </a:br>
            <a:r>
              <a:rPr lang="en-US" altLang="zh-CN" dirty="0">
                <a:latin typeface="Calibri" charset="0"/>
                <a:ea typeface="SimSun" charset="0"/>
                <a:cs typeface="SimSun" charset="0"/>
              </a:rPr>
              <a:t>Introduction to Operating Systems</a:t>
            </a:r>
            <a:br>
              <a:rPr lang="en-US" altLang="zh-CN" dirty="0">
                <a:latin typeface="Calibri" charset="0"/>
                <a:ea typeface="SimSun" charset="0"/>
                <a:cs typeface="SimSun" charset="0"/>
              </a:rPr>
            </a:br>
            <a:r>
              <a:rPr lang="en-US" dirty="0">
                <a:latin typeface="Calibri" charset="0"/>
              </a:rPr>
              <a:t> </a:t>
            </a:r>
            <a:br>
              <a:rPr lang="en-US">
                <a:latin typeface="Calibri" charset="0"/>
              </a:rPr>
            </a:br>
            <a:r>
              <a:rPr lang="en-US">
                <a:latin typeface="Calibri" charset="0"/>
              </a:rPr>
              <a:t>Chapter8: </a:t>
            </a:r>
            <a:r>
              <a:rPr lang="en-US"/>
              <a:t>Memory </a:t>
            </a:r>
            <a:r>
              <a:rPr lang="en-US" dirty="0"/>
              <a:t>Management</a:t>
            </a:r>
            <a:endParaRPr lang="en-US" altLang="zh-CN" sz="4000" dirty="0">
              <a:latin typeface="Calibri" charset="0"/>
              <a:ea typeface="SimSun" charset="0"/>
              <a:cs typeface="SimSun" charset="0"/>
            </a:endParaRPr>
          </a:p>
        </p:txBody>
      </p:sp>
      <p:sp>
        <p:nvSpPr>
          <p:cNvPr id="7170" name="Text Box 3"/>
          <p:cNvSpPr txBox="1">
            <a:spLocks noChangeArrowheads="1"/>
          </p:cNvSpPr>
          <p:nvPr/>
        </p:nvSpPr>
        <p:spPr bwMode="auto">
          <a:xfrm>
            <a:off x="3581400" y="4162426"/>
            <a:ext cx="4953000" cy="1508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50000"/>
              </a:spcBef>
            </a:pPr>
            <a:r>
              <a:rPr lang="en-US" altLang="zh-CN" sz="3200" b="1" dirty="0">
                <a:latin typeface="Calibri" charset="0"/>
                <a:ea typeface="SimSun" charset="0"/>
                <a:cs typeface="SimSun" charset="0"/>
              </a:rPr>
              <a:t>Dr. Xuechao Li</a:t>
            </a:r>
          </a:p>
          <a:p>
            <a:pPr algn="ctr">
              <a:spcBef>
                <a:spcPct val="50000"/>
              </a:spcBef>
            </a:pPr>
            <a:r>
              <a:rPr kumimoji="1" lang="en-US" i="1" dirty="0">
                <a:latin typeface="Calibri" charset="0"/>
              </a:rPr>
              <a:t>Auburn University</a:t>
            </a:r>
            <a:br>
              <a:rPr kumimoji="1" lang="en-US" i="1" dirty="0">
                <a:latin typeface="Calibri" charset="0"/>
              </a:rPr>
            </a:br>
            <a:endParaRPr kumimoji="1" lang="en-US" altLang="zh-CN" i="1" dirty="0">
              <a:latin typeface="Calibri" charset="0"/>
              <a:ea typeface="SimSun" charset="0"/>
              <a:cs typeface="SimSun"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a:latin typeface="+mj-lt"/>
              </a:rPr>
              <a:t>The External View of the Memory Manager</a:t>
            </a:r>
          </a:p>
        </p:txBody>
      </p:sp>
      <p:pic>
        <p:nvPicPr>
          <p:cNvPr id="4" name="Picture 3"/>
          <p:cNvPicPr>
            <a:picLocks noChangeAspect="1"/>
          </p:cNvPicPr>
          <p:nvPr/>
        </p:nvPicPr>
        <p:blipFill>
          <a:blip r:embed="rId3"/>
          <a:stretch>
            <a:fillRect/>
          </a:stretch>
        </p:blipFill>
        <p:spPr>
          <a:xfrm>
            <a:off x="3200400" y="1676400"/>
            <a:ext cx="5791200" cy="4792991"/>
          </a:xfrm>
          <a:prstGeom prst="rect">
            <a:avLst/>
          </a:prstGeom>
        </p:spPr>
      </p:pic>
      <p:sp>
        <p:nvSpPr>
          <p:cNvPr id="8" name="Rectangle 7"/>
          <p:cNvSpPr/>
          <p:nvPr/>
        </p:nvSpPr>
        <p:spPr>
          <a:xfrm>
            <a:off x="7620000" y="6491610"/>
            <a:ext cx="2743200" cy="307777"/>
          </a:xfrm>
          <a:prstGeom prst="rect">
            <a:avLst/>
          </a:prstGeom>
        </p:spPr>
        <p:txBody>
          <a:bodyPr wrap="square">
            <a:spAutoFit/>
          </a:bodyPr>
          <a:lstStyle/>
          <a:p>
            <a:r>
              <a:rPr lang="en-US" sz="1400" dirty="0">
                <a:latin typeface="+mn-lt"/>
              </a:rPr>
              <a:t>Slide courtesy of Dr. Gary Nutt</a:t>
            </a:r>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2</a:t>
            </a:fld>
            <a:endParaRPr lang="en-US" dirty="0"/>
          </a:p>
        </p:txBody>
      </p:sp>
      <p:pic>
        <p:nvPicPr>
          <p:cNvPr id="3" name="Picture 2"/>
          <p:cNvPicPr>
            <a:picLocks noChangeAspect="1"/>
          </p:cNvPicPr>
          <p:nvPr/>
        </p:nvPicPr>
        <p:blipFill>
          <a:blip r:embed="rId4"/>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421582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470758"/>
          </a:xfrm>
        </p:spPr>
        <p:txBody>
          <a:bodyPr/>
          <a:lstStyle/>
          <a:p>
            <a:pPr algn="l"/>
            <a:r>
              <a:rPr lang="en-NZ" dirty="0">
                <a:latin typeface="+mj-lt"/>
              </a:rPr>
              <a:t>                    Basic Memory Hierarchy</a:t>
            </a:r>
            <a:br>
              <a:rPr lang="en-NZ" sz="3200" dirty="0">
                <a:latin typeface="+mj-lt"/>
              </a:rPr>
            </a:br>
            <a:r>
              <a:rPr lang="en-US" sz="3200" dirty="0"/>
              <a:t> Please rank and compare registers, primary memory, and disks in terms of capacity and speed. </a:t>
            </a:r>
            <a:endParaRPr lang="en-NZ" sz="3200" dirty="0">
              <a:latin typeface="+mj-lt"/>
            </a:endParaRPr>
          </a:p>
        </p:txBody>
      </p:sp>
      <p:sp>
        <p:nvSpPr>
          <p:cNvPr id="5" name="Rectangle 3"/>
          <p:cNvSpPr>
            <a:spLocks noChangeArrowheads="1"/>
          </p:cNvSpPr>
          <p:nvPr/>
        </p:nvSpPr>
        <p:spPr bwMode="auto">
          <a:xfrm>
            <a:off x="2590800" y="1905000"/>
            <a:ext cx="2057400" cy="3810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t>CPU Registers</a:t>
            </a:r>
          </a:p>
        </p:txBody>
      </p:sp>
      <p:sp>
        <p:nvSpPr>
          <p:cNvPr id="7" name="Rectangle 4"/>
          <p:cNvSpPr>
            <a:spLocks noChangeArrowheads="1"/>
          </p:cNvSpPr>
          <p:nvPr/>
        </p:nvSpPr>
        <p:spPr bwMode="auto">
          <a:xfrm>
            <a:off x="4572000" y="2895600"/>
            <a:ext cx="2819400" cy="10668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b="1" u="sng" dirty="0"/>
              <a:t>Primary Memory</a:t>
            </a:r>
          </a:p>
          <a:p>
            <a:pPr algn="ctr" eaLnBrk="0" hangingPunct="0"/>
            <a:r>
              <a:rPr lang="en-US" dirty="0"/>
              <a:t>(Executable Memory)</a:t>
            </a:r>
          </a:p>
          <a:p>
            <a:pPr algn="ctr" eaLnBrk="0" hangingPunct="0"/>
            <a:r>
              <a:rPr lang="en-US" dirty="0">
                <a:solidFill>
                  <a:schemeClr val="accent2"/>
                </a:solidFill>
              </a:rPr>
              <a:t>e.g. RAM</a:t>
            </a:r>
          </a:p>
        </p:txBody>
      </p:sp>
      <p:sp>
        <p:nvSpPr>
          <p:cNvPr id="8" name="Rectangle 5"/>
          <p:cNvSpPr>
            <a:spLocks noChangeArrowheads="1"/>
          </p:cNvSpPr>
          <p:nvPr/>
        </p:nvSpPr>
        <p:spPr bwMode="auto">
          <a:xfrm>
            <a:off x="6324601" y="4495800"/>
            <a:ext cx="3112945" cy="1752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b="1" u="sng"/>
              <a:t>Secondary Memory</a:t>
            </a:r>
          </a:p>
          <a:p>
            <a:pPr algn="ctr" eaLnBrk="0" hangingPunct="0"/>
            <a:r>
              <a:rPr lang="en-US">
                <a:solidFill>
                  <a:schemeClr val="accent2"/>
                </a:solidFill>
              </a:rPr>
              <a:t>e.g. Disk or Tape</a:t>
            </a:r>
          </a:p>
        </p:txBody>
      </p:sp>
      <p:sp>
        <p:nvSpPr>
          <p:cNvPr id="9" name="AutoShape 6"/>
          <p:cNvSpPr>
            <a:spLocks noChangeArrowheads="1"/>
          </p:cNvSpPr>
          <p:nvPr/>
        </p:nvSpPr>
        <p:spPr bwMode="auto">
          <a:xfrm rot="1985841">
            <a:off x="7620000" y="3581400"/>
            <a:ext cx="1447800" cy="381000"/>
          </a:xfrm>
          <a:prstGeom prst="curvedDownArrow">
            <a:avLst>
              <a:gd name="adj1" fmla="val 76000"/>
              <a:gd name="adj2" fmla="val 152000"/>
              <a:gd name="adj3" fmla="val 33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0" name="AutoShape 7"/>
          <p:cNvSpPr>
            <a:spLocks noChangeArrowheads="1"/>
          </p:cNvSpPr>
          <p:nvPr/>
        </p:nvSpPr>
        <p:spPr bwMode="auto">
          <a:xfrm rot="12785841">
            <a:off x="2971800" y="2895600"/>
            <a:ext cx="1447800" cy="381000"/>
          </a:xfrm>
          <a:prstGeom prst="curvedDownArrow">
            <a:avLst>
              <a:gd name="adj1" fmla="val 76000"/>
              <a:gd name="adj2" fmla="val 152000"/>
              <a:gd name="adj3" fmla="val 33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 name="AutoShape 8"/>
          <p:cNvSpPr>
            <a:spLocks noChangeArrowheads="1"/>
          </p:cNvSpPr>
          <p:nvPr/>
        </p:nvSpPr>
        <p:spPr bwMode="auto">
          <a:xfrm rot="1985841">
            <a:off x="4876800" y="2133600"/>
            <a:ext cx="1447800" cy="381000"/>
          </a:xfrm>
          <a:prstGeom prst="curvedDownArrow">
            <a:avLst>
              <a:gd name="adj1" fmla="val 76000"/>
              <a:gd name="adj2" fmla="val 152000"/>
              <a:gd name="adj3" fmla="val 33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 name="AutoShape 9"/>
          <p:cNvSpPr>
            <a:spLocks noChangeArrowheads="1"/>
          </p:cNvSpPr>
          <p:nvPr/>
        </p:nvSpPr>
        <p:spPr bwMode="auto">
          <a:xfrm rot="12785841">
            <a:off x="4876800" y="4572000"/>
            <a:ext cx="1447800" cy="381000"/>
          </a:xfrm>
          <a:prstGeom prst="curvedDownArrow">
            <a:avLst>
              <a:gd name="adj1" fmla="val 76000"/>
              <a:gd name="adj2" fmla="val 152000"/>
              <a:gd name="adj3" fmla="val 33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 name="Text Box 10"/>
          <p:cNvSpPr txBox="1">
            <a:spLocks noChangeArrowheads="1"/>
          </p:cNvSpPr>
          <p:nvPr/>
        </p:nvSpPr>
        <p:spPr bwMode="auto">
          <a:xfrm rot="2884367">
            <a:off x="3260726" y="4294873"/>
            <a:ext cx="2378075"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US" dirty="0"/>
              <a:t>More Frequently Used Information</a:t>
            </a:r>
          </a:p>
        </p:txBody>
      </p:sp>
      <p:sp>
        <p:nvSpPr>
          <p:cNvPr id="14" name="Text Box 11"/>
          <p:cNvSpPr txBox="1">
            <a:spLocks noChangeArrowheads="1"/>
          </p:cNvSpPr>
          <p:nvPr/>
        </p:nvSpPr>
        <p:spPr bwMode="auto">
          <a:xfrm rot="2475109">
            <a:off x="6629401" y="2145398"/>
            <a:ext cx="2378075"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US"/>
              <a:t>Less Frequently Used Information</a:t>
            </a:r>
          </a:p>
        </p:txBody>
      </p:sp>
      <p:sp>
        <p:nvSpPr>
          <p:cNvPr id="15" name="Rectangle 14"/>
          <p:cNvSpPr/>
          <p:nvPr/>
        </p:nvSpPr>
        <p:spPr>
          <a:xfrm>
            <a:off x="1981200" y="6172201"/>
            <a:ext cx="2743200" cy="307777"/>
          </a:xfrm>
          <a:prstGeom prst="rect">
            <a:avLst/>
          </a:prstGeom>
        </p:spPr>
        <p:txBody>
          <a:bodyPr wrap="square">
            <a:spAutoFit/>
          </a:bodyPr>
          <a:lstStyle/>
          <a:p>
            <a:r>
              <a:rPr lang="en-US" sz="1400" dirty="0">
                <a:latin typeface="+mn-lt"/>
              </a:rPr>
              <a:t>Slide courtesy of Dr. Gary Nutt</a:t>
            </a:r>
          </a:p>
        </p:txBody>
      </p:sp>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3</a:t>
            </a:fld>
            <a:endParaRPr lang="en-US" dirty="0"/>
          </a:p>
        </p:txBody>
      </p:sp>
      <p:sp>
        <p:nvSpPr>
          <p:cNvPr id="16" name="AutoShape 37"/>
          <p:cNvSpPr>
            <a:spLocks noChangeArrowheads="1"/>
          </p:cNvSpPr>
          <p:nvPr/>
        </p:nvSpPr>
        <p:spPr bwMode="auto">
          <a:xfrm>
            <a:off x="1905000" y="1981200"/>
            <a:ext cx="609600" cy="2971800"/>
          </a:xfrm>
          <a:prstGeom prst="downArrow">
            <a:avLst>
              <a:gd name="adj1" fmla="val 50000"/>
              <a:gd name="adj2" fmla="val 121875"/>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 name="Text Box 38"/>
          <p:cNvSpPr txBox="1">
            <a:spLocks noChangeArrowheads="1"/>
          </p:cNvSpPr>
          <p:nvPr/>
        </p:nvSpPr>
        <p:spPr bwMode="auto">
          <a:xfrm rot="16200000">
            <a:off x="1405362" y="3107016"/>
            <a:ext cx="168507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t>Larger storage</a:t>
            </a:r>
          </a:p>
        </p:txBody>
      </p:sp>
      <p:sp>
        <p:nvSpPr>
          <p:cNvPr id="18" name="TextBox 17"/>
          <p:cNvSpPr txBox="1"/>
          <p:nvPr/>
        </p:nvSpPr>
        <p:spPr>
          <a:xfrm>
            <a:off x="1828800" y="5112604"/>
            <a:ext cx="1600200" cy="461665"/>
          </a:xfrm>
          <a:prstGeom prst="rect">
            <a:avLst/>
          </a:prstGeom>
          <a:noFill/>
        </p:spPr>
        <p:txBody>
          <a:bodyPr wrap="square" rtlCol="0">
            <a:spAutoFit/>
          </a:bodyPr>
          <a:lstStyle/>
          <a:p>
            <a:r>
              <a:rPr lang="en-US" sz="2400" dirty="0">
                <a:solidFill>
                  <a:srgbClr val="FF0000"/>
                </a:solidFill>
                <a:latin typeface="+mn-lt"/>
              </a:rPr>
              <a:t>Capacity?</a:t>
            </a:r>
          </a:p>
        </p:txBody>
      </p:sp>
      <p:sp>
        <p:nvSpPr>
          <p:cNvPr id="19" name="AutoShape 39"/>
          <p:cNvSpPr>
            <a:spLocks noChangeArrowheads="1"/>
          </p:cNvSpPr>
          <p:nvPr/>
        </p:nvSpPr>
        <p:spPr bwMode="auto">
          <a:xfrm flipV="1">
            <a:off x="9829800" y="1307068"/>
            <a:ext cx="609600" cy="2971800"/>
          </a:xfrm>
          <a:prstGeom prst="downArrow">
            <a:avLst>
              <a:gd name="adj1" fmla="val 50000"/>
              <a:gd name="adj2" fmla="val 121875"/>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 name="Text Box 40"/>
          <p:cNvSpPr txBox="1">
            <a:spLocks noChangeArrowheads="1"/>
          </p:cNvSpPr>
          <p:nvPr/>
        </p:nvSpPr>
        <p:spPr bwMode="auto">
          <a:xfrm rot="16200000">
            <a:off x="9298721" y="2898021"/>
            <a:ext cx="162095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t>Faster access</a:t>
            </a:r>
          </a:p>
        </p:txBody>
      </p:sp>
      <p:sp>
        <p:nvSpPr>
          <p:cNvPr id="21" name="Rectangle 20"/>
          <p:cNvSpPr/>
          <p:nvPr/>
        </p:nvSpPr>
        <p:spPr>
          <a:xfrm>
            <a:off x="9525001" y="4433372"/>
            <a:ext cx="1099981" cy="461665"/>
          </a:xfrm>
          <a:prstGeom prst="rect">
            <a:avLst/>
          </a:prstGeom>
        </p:spPr>
        <p:txBody>
          <a:bodyPr wrap="none">
            <a:spAutoFit/>
          </a:bodyPr>
          <a:lstStyle/>
          <a:p>
            <a:r>
              <a:rPr lang="en-US" sz="2400" dirty="0">
                <a:solidFill>
                  <a:srgbClr val="FF0000"/>
                </a:solidFill>
                <a:latin typeface="+mn-lt"/>
              </a:rPr>
              <a:t>Speed?</a:t>
            </a:r>
          </a:p>
        </p:txBody>
      </p:sp>
      <p:pic>
        <p:nvPicPr>
          <p:cNvPr id="22" name="Picture 21"/>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204200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up)">
                                      <p:cBhvr>
                                        <p:cTn id="7" dur="500"/>
                                        <p:tgtEl>
                                          <p:spTgt spid="1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up)">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9" grpId="0" animBg="1"/>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28600"/>
            <a:ext cx="8763000" cy="1752600"/>
          </a:xfrm>
        </p:spPr>
        <p:txBody>
          <a:bodyPr/>
          <a:lstStyle/>
          <a:p>
            <a:r>
              <a:rPr lang="en-NZ" dirty="0">
                <a:latin typeface="+mj-lt"/>
              </a:rPr>
              <a:t>Memory Management Requirements </a:t>
            </a:r>
            <a:br>
              <a:rPr lang="en-NZ" dirty="0">
                <a:latin typeface="+mj-lt"/>
              </a:rPr>
            </a:br>
            <a:r>
              <a:rPr lang="en-NZ" sz="3200" dirty="0"/>
              <a:t>List two or three functionalities of the memory management</a:t>
            </a:r>
            <a:endParaRPr lang="en-NZ" sz="3200" dirty="0">
              <a:latin typeface="+mj-lt"/>
            </a:endParaRPr>
          </a:p>
        </p:txBody>
      </p:sp>
      <p:sp>
        <p:nvSpPr>
          <p:cNvPr id="3" name="Content Placeholder 2"/>
          <p:cNvSpPr>
            <a:spLocks noGrp="1"/>
          </p:cNvSpPr>
          <p:nvPr>
            <p:ph idx="4294967295"/>
          </p:nvPr>
        </p:nvSpPr>
        <p:spPr>
          <a:xfrm>
            <a:off x="2209800" y="2057400"/>
            <a:ext cx="7924800" cy="4267200"/>
          </a:xfrm>
        </p:spPr>
        <p:txBody>
          <a:bodyPr>
            <a:normAutofit/>
          </a:bodyPr>
          <a:lstStyle/>
          <a:p>
            <a:r>
              <a:rPr lang="en-US" sz="2800" dirty="0"/>
              <a:t>Relocation</a:t>
            </a:r>
          </a:p>
          <a:p>
            <a:endParaRPr lang="en-US" sz="2800" dirty="0"/>
          </a:p>
          <a:p>
            <a:r>
              <a:rPr lang="en-US" sz="2800" dirty="0"/>
              <a:t>Protection</a:t>
            </a:r>
          </a:p>
          <a:p>
            <a:endParaRPr lang="en-US" sz="2800" dirty="0"/>
          </a:p>
          <a:p>
            <a:r>
              <a:rPr lang="en-US" sz="2800" dirty="0"/>
              <a:t>Sharing</a:t>
            </a:r>
          </a:p>
          <a:p>
            <a:endParaRPr lang="en-US" sz="2800" dirty="0"/>
          </a:p>
          <a:p>
            <a:r>
              <a:rPr lang="en-US" sz="2800" dirty="0"/>
              <a:t>Logical organization</a:t>
            </a:r>
          </a:p>
          <a:p>
            <a:endParaRPr lang="en-US" sz="2800" dirty="0"/>
          </a:p>
          <a:p>
            <a:r>
              <a:rPr lang="en-US" sz="2800" dirty="0"/>
              <a:t>Physical organization</a:t>
            </a:r>
          </a:p>
          <a:p>
            <a:pPr marL="793750" indent="0">
              <a:buNone/>
            </a:pPr>
            <a:endParaRPr lang="en-NZ" sz="2800" dirty="0"/>
          </a:p>
        </p:txBody>
      </p:sp>
      <p:pic>
        <p:nvPicPr>
          <p:cNvPr id="2050" name="Picture 2" descr="http://2.bp.blogspot.com/-WuVJUInar30/U7lZ-VXOg3I/AAAAAAAAKYc/rb2fVflEtio/s1600/main+memory.gif"/>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867401" y="2209800"/>
            <a:ext cx="4330307" cy="3276600"/>
          </a:xfrm>
          <a:prstGeom prst="rect">
            <a:avLst/>
          </a:prstGeom>
          <a:noFill/>
          <a:extLst>
            <a:ext uri="{909E8E84-426E-40dd-AFC4-6F175D3DCCD1}">
              <a14:hiddenFill xmlns=""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369558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wipe(up)">
                                      <p:cBhvr>
                                        <p:cTn id="10" dur="500"/>
                                        <p:tgtEl>
                                          <p:spTgt spid="3">
                                            <p:txEl>
                                              <p:pRg st="2" end="2"/>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up)">
                                      <p:cBhvr>
                                        <p:cTn id="13" dur="500"/>
                                        <p:tgtEl>
                                          <p:spTgt spid="3">
                                            <p:txEl>
                                              <p:pRg st="4" end="4"/>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up)">
                                      <p:cBhvr>
                                        <p:cTn id="16" dur="500"/>
                                        <p:tgtEl>
                                          <p:spTgt spid="3">
                                            <p:txEl>
                                              <p:pRg st="6" end="6"/>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wipe(up)">
                                      <p:cBhvr>
                                        <p:cTn id="1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229600" cy="1143948"/>
          </a:xfrm>
        </p:spPr>
        <p:txBody>
          <a:bodyPr/>
          <a:lstStyle/>
          <a:p>
            <a:pPr algn="l"/>
            <a:r>
              <a:rPr lang="en-US" dirty="0">
                <a:latin typeface="+mj-lt"/>
              </a:rPr>
              <a:t>Address Space vs. Primary Memory</a:t>
            </a:r>
          </a:p>
        </p:txBody>
      </p:sp>
      <p:sp>
        <p:nvSpPr>
          <p:cNvPr id="4" name="Slide Number Placeholder 3"/>
          <p:cNvSpPr>
            <a:spLocks noGrp="1"/>
          </p:cNvSpPr>
          <p:nvPr>
            <p:ph type="sldNum" sz="quarter" idx="12"/>
          </p:nvPr>
        </p:nvSpPr>
        <p:spPr/>
        <p:txBody>
          <a:bodyPr/>
          <a:lstStyle/>
          <a:p>
            <a:pPr>
              <a:defRPr/>
            </a:pPr>
            <a:fld id="{97012834-41A2-49E3-8762-B14EE3F5CFB1}" type="slidenum">
              <a:rPr lang="en-US" smtClean="0"/>
              <a:pPr>
                <a:defRPr/>
              </a:pPr>
              <a:t>5</a:t>
            </a:fld>
            <a:endParaRPr lang="en-US" dirty="0"/>
          </a:p>
        </p:txBody>
      </p:sp>
      <p:sp>
        <p:nvSpPr>
          <p:cNvPr id="6" name="Rectangle 3"/>
          <p:cNvSpPr>
            <a:spLocks noChangeArrowheads="1"/>
          </p:cNvSpPr>
          <p:nvPr/>
        </p:nvSpPr>
        <p:spPr bwMode="auto">
          <a:xfrm>
            <a:off x="3655483" y="2743201"/>
            <a:ext cx="825500" cy="1253359"/>
          </a:xfrm>
          <a:prstGeom prst="rect">
            <a:avLst/>
          </a:prstGeom>
          <a:solidFill>
            <a:schemeClr val="accent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7" name="Rectangle 4"/>
          <p:cNvSpPr>
            <a:spLocks noChangeArrowheads="1"/>
          </p:cNvSpPr>
          <p:nvPr/>
        </p:nvSpPr>
        <p:spPr bwMode="auto">
          <a:xfrm>
            <a:off x="3655483" y="3962401"/>
            <a:ext cx="825500" cy="208893"/>
          </a:xfrm>
          <a:prstGeom prst="rect">
            <a:avLst/>
          </a:prstGeom>
          <a:solidFill>
            <a:schemeClr val="folHlink"/>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8" name="Rectangle 5"/>
          <p:cNvSpPr>
            <a:spLocks noChangeArrowheads="1"/>
          </p:cNvSpPr>
          <p:nvPr/>
        </p:nvSpPr>
        <p:spPr bwMode="auto">
          <a:xfrm>
            <a:off x="7253817" y="2438400"/>
            <a:ext cx="825500" cy="4038600"/>
          </a:xfrm>
          <a:prstGeom prst="rect">
            <a:avLst/>
          </a:prstGeom>
          <a:solidFill>
            <a:schemeClr val="folHlink"/>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9" name="Rectangle 6"/>
          <p:cNvSpPr>
            <a:spLocks noChangeArrowheads="1"/>
          </p:cNvSpPr>
          <p:nvPr/>
        </p:nvSpPr>
        <p:spPr bwMode="auto">
          <a:xfrm>
            <a:off x="7255329" y="3810001"/>
            <a:ext cx="825500" cy="1253359"/>
          </a:xfrm>
          <a:prstGeom prst="rect">
            <a:avLst/>
          </a:prstGeom>
          <a:solidFill>
            <a:schemeClr val="accent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10" name="Line 7"/>
          <p:cNvSpPr>
            <a:spLocks noChangeShapeType="1"/>
          </p:cNvSpPr>
          <p:nvPr/>
        </p:nvSpPr>
        <p:spPr bwMode="auto">
          <a:xfrm>
            <a:off x="4495800" y="2765534"/>
            <a:ext cx="2667000" cy="10444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1" name="Line 8"/>
          <p:cNvSpPr>
            <a:spLocks noChangeShapeType="1"/>
          </p:cNvSpPr>
          <p:nvPr/>
        </p:nvSpPr>
        <p:spPr bwMode="auto">
          <a:xfrm>
            <a:off x="4495800" y="3962400"/>
            <a:ext cx="2667000" cy="104446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2" name="Text Box 9"/>
          <p:cNvSpPr txBox="1">
            <a:spLocks noChangeArrowheads="1"/>
          </p:cNvSpPr>
          <p:nvPr/>
        </p:nvSpPr>
        <p:spPr bwMode="auto">
          <a:xfrm>
            <a:off x="3276600" y="4953000"/>
            <a:ext cx="2310078"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0" hangingPunct="0"/>
            <a:r>
              <a:rPr lang="en-US" sz="2000" dirty="0">
                <a:latin typeface="+mn-lt"/>
              </a:rPr>
              <a:t>Mapped to object</a:t>
            </a:r>
          </a:p>
          <a:p>
            <a:pPr eaLnBrk="0" hangingPunct="0"/>
            <a:r>
              <a:rPr lang="en-US" sz="2000" dirty="0">
                <a:latin typeface="+mn-lt"/>
              </a:rPr>
              <a:t>other than memory</a:t>
            </a:r>
          </a:p>
        </p:txBody>
      </p:sp>
      <p:sp>
        <p:nvSpPr>
          <p:cNvPr id="13" name="Freeform 10"/>
          <p:cNvSpPr>
            <a:spLocks/>
          </p:cNvSpPr>
          <p:nvPr/>
        </p:nvSpPr>
        <p:spPr bwMode="auto">
          <a:xfrm>
            <a:off x="2664883" y="4267200"/>
            <a:ext cx="825500" cy="835572"/>
          </a:xfrm>
          <a:custGeom>
            <a:avLst/>
            <a:gdLst>
              <a:gd name="T0" fmla="*/ 432 w 624"/>
              <a:gd name="T1" fmla="*/ 576 h 576"/>
              <a:gd name="T2" fmla="*/ 0 w 624"/>
              <a:gd name="T3" fmla="*/ 576 h 576"/>
              <a:gd name="T4" fmla="*/ 624 w 624"/>
              <a:gd name="T5" fmla="*/ 0 h 576"/>
            </a:gdLst>
            <a:ahLst/>
            <a:cxnLst>
              <a:cxn ang="0">
                <a:pos x="T0" y="T1"/>
              </a:cxn>
              <a:cxn ang="0">
                <a:pos x="T2" y="T3"/>
              </a:cxn>
              <a:cxn ang="0">
                <a:pos x="T4" y="T5"/>
              </a:cxn>
            </a:cxnLst>
            <a:rect l="0" t="0" r="r" b="b"/>
            <a:pathLst>
              <a:path w="624" h="576">
                <a:moveTo>
                  <a:pt x="432" y="576"/>
                </a:moveTo>
                <a:lnTo>
                  <a:pt x="0" y="576"/>
                </a:lnTo>
                <a:lnTo>
                  <a:pt x="624" y="0"/>
                </a:lnTo>
              </a:path>
            </a:pathLst>
          </a:custGeom>
          <a:noFill/>
          <a:ln w="9525" cap="flat">
            <a:solidFill>
              <a:schemeClr val="tx1"/>
            </a:solidFill>
            <a:prstDash val="sysDot"/>
            <a:round/>
            <a:headEnd type="non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 name="Text Box 11"/>
          <p:cNvSpPr txBox="1">
            <a:spLocks noChangeArrowheads="1"/>
          </p:cNvSpPr>
          <p:nvPr/>
        </p:nvSpPr>
        <p:spPr bwMode="auto">
          <a:xfrm>
            <a:off x="2877609" y="2098675"/>
            <a:ext cx="2496344"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0" hangingPunct="0"/>
            <a:r>
              <a:rPr lang="en-US" sz="2000" dirty="0">
                <a:latin typeface="+mn-lt"/>
              </a:rPr>
              <a:t>Process Address Space</a:t>
            </a:r>
          </a:p>
        </p:txBody>
      </p:sp>
      <p:sp>
        <p:nvSpPr>
          <p:cNvPr id="15" name="Text Box 12"/>
          <p:cNvSpPr txBox="1">
            <a:spLocks noChangeArrowheads="1"/>
          </p:cNvSpPr>
          <p:nvPr/>
        </p:nvSpPr>
        <p:spPr bwMode="auto">
          <a:xfrm>
            <a:off x="6474127" y="1898620"/>
            <a:ext cx="3180746"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0" hangingPunct="0"/>
            <a:r>
              <a:rPr lang="en-US" sz="2000" dirty="0">
                <a:latin typeface="+mn-lt"/>
              </a:rPr>
              <a:t>Hardware Primary Memory</a:t>
            </a:r>
          </a:p>
        </p:txBody>
      </p:sp>
      <p:pic>
        <p:nvPicPr>
          <p:cNvPr id="3074" name="Picture 2" descr="http://www.igcseict.info/theory/1/comp/files/stacks_image_69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3400" y="3186935"/>
            <a:ext cx="2381250" cy="1876425"/>
          </a:xfrm>
          <a:prstGeom prst="rect">
            <a:avLst/>
          </a:prstGeom>
          <a:noFill/>
          <a:extLst>
            <a:ext uri="{909E8E84-426E-40dd-AFC4-6F175D3DCCD1}">
              <a14:hiddenFill xmlns="" xmlns:a14="http://schemas.microsoft.com/office/drawing/2010/main">
                <a:solidFill>
                  <a:srgbClr val="FFFFFF"/>
                </a:solidFill>
              </a14:hiddenFill>
            </a:ext>
          </a:extLst>
        </p:spPr>
      </p:pic>
      <p:pic>
        <p:nvPicPr>
          <p:cNvPr id="16" name="Picture 15"/>
          <p:cNvPicPr>
            <a:picLocks noChangeAspect="1"/>
          </p:cNvPicPr>
          <p:nvPr/>
        </p:nvPicPr>
        <p:blipFill>
          <a:blip r:embed="rId4"/>
          <a:stretch>
            <a:fillRect/>
          </a:stretch>
        </p:blipFill>
        <p:spPr>
          <a:xfrm>
            <a:off x="10591800" y="5537071"/>
            <a:ext cx="1371600" cy="1162594"/>
          </a:xfrm>
          <a:prstGeom prst="rect">
            <a:avLst/>
          </a:prstGeom>
        </p:spPr>
      </p:pic>
      <p:pic>
        <p:nvPicPr>
          <p:cNvPr id="3" name="Picture 2"/>
          <p:cNvPicPr>
            <a:picLocks noChangeAspect="1"/>
          </p:cNvPicPr>
          <p:nvPr/>
        </p:nvPicPr>
        <p:blipFill>
          <a:blip r:embed="rId5"/>
          <a:stretch>
            <a:fillRect/>
          </a:stretch>
        </p:blipFill>
        <p:spPr>
          <a:xfrm>
            <a:off x="6389953" y="3326004"/>
            <a:ext cx="5802047" cy="3531996"/>
          </a:xfrm>
          <a:prstGeom prst="rect">
            <a:avLst/>
          </a:prstGeom>
        </p:spPr>
      </p:pic>
      <p:pic>
        <p:nvPicPr>
          <p:cNvPr id="5" name="Picture 4"/>
          <p:cNvPicPr>
            <a:picLocks noChangeAspect="1"/>
          </p:cNvPicPr>
          <p:nvPr/>
        </p:nvPicPr>
        <p:blipFill>
          <a:blip r:embed="rId6"/>
          <a:stretch>
            <a:fillRect/>
          </a:stretch>
        </p:blipFill>
        <p:spPr>
          <a:xfrm>
            <a:off x="24078" y="3683000"/>
            <a:ext cx="3784600" cy="3175000"/>
          </a:xfrm>
          <a:prstGeom prst="rect">
            <a:avLst/>
          </a:prstGeom>
        </p:spPr>
      </p:pic>
      <p:pic>
        <p:nvPicPr>
          <p:cNvPr id="17" name="Picture 16"/>
          <p:cNvPicPr>
            <a:picLocks noChangeAspect="1"/>
          </p:cNvPicPr>
          <p:nvPr/>
        </p:nvPicPr>
        <p:blipFill>
          <a:blip r:embed="rId7"/>
          <a:stretch>
            <a:fillRect/>
          </a:stretch>
        </p:blipFill>
        <p:spPr>
          <a:xfrm>
            <a:off x="0" y="0"/>
            <a:ext cx="12222178" cy="6858000"/>
          </a:xfrm>
          <a:prstGeom prst="rect">
            <a:avLst/>
          </a:prstGeom>
        </p:spPr>
      </p:pic>
      <p:sp>
        <p:nvSpPr>
          <p:cNvPr id="18" name="TextBox 17"/>
          <p:cNvSpPr txBox="1"/>
          <p:nvPr/>
        </p:nvSpPr>
        <p:spPr>
          <a:xfrm>
            <a:off x="368168" y="5554763"/>
            <a:ext cx="4953000" cy="1077218"/>
          </a:xfrm>
          <a:prstGeom prst="rect">
            <a:avLst/>
          </a:prstGeom>
          <a:noFill/>
        </p:spPr>
        <p:txBody>
          <a:bodyPr wrap="square" rtlCol="0">
            <a:spAutoFit/>
          </a:bodyPr>
          <a:lstStyle/>
          <a:p>
            <a:r>
              <a:rPr lang="en-US" sz="3200" dirty="0">
                <a:solidFill>
                  <a:schemeClr val="bg1"/>
                </a:solidFill>
                <a:latin typeface="Calibri"/>
                <a:cs typeface="Calibri"/>
              </a:rPr>
              <a:t>Breaking Bad is the greatest TV drama of all-time</a:t>
            </a:r>
          </a:p>
        </p:txBody>
      </p:sp>
    </p:spTree>
    <p:extLst>
      <p:ext uri="{BB962C8B-B14F-4D97-AF65-F5344CB8AC3E}">
        <p14:creationId xmlns:p14="http://schemas.microsoft.com/office/powerpoint/2010/main" val="1497038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p:bldP spid="13" grpId="0" animBg="1"/>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0A9A6F0D-A611-4358-861D-7B01E8303898}" type="slidenum">
              <a:rPr lang="en-US" smtClean="0"/>
              <a:pPr>
                <a:defRPr/>
              </a:pPr>
              <a:t>6</a:t>
            </a:fld>
            <a:endParaRPr lang="en-US" dirty="0"/>
          </a:p>
        </p:txBody>
      </p:sp>
      <p:grpSp>
        <p:nvGrpSpPr>
          <p:cNvPr id="44" name="Group 43"/>
          <p:cNvGrpSpPr/>
          <p:nvPr/>
        </p:nvGrpSpPr>
        <p:grpSpPr>
          <a:xfrm>
            <a:off x="1828800" y="4676776"/>
            <a:ext cx="7848600" cy="1704975"/>
            <a:chOff x="304800" y="4676775"/>
            <a:chExt cx="7848600" cy="1704975"/>
          </a:xfrm>
        </p:grpSpPr>
        <p:sp>
          <p:nvSpPr>
            <p:cNvPr id="10" name="Text Box 8"/>
            <p:cNvSpPr txBox="1">
              <a:spLocks noChangeArrowheads="1"/>
            </p:cNvSpPr>
            <p:nvPr/>
          </p:nvSpPr>
          <p:spPr bwMode="auto">
            <a:xfrm>
              <a:off x="304800" y="5181600"/>
              <a:ext cx="7848600" cy="1200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buFontTx/>
                <a:buChar char="•"/>
              </a:pPr>
              <a:r>
                <a:rPr lang="en-US" dirty="0"/>
                <a:t>Load time:</a:t>
              </a:r>
            </a:p>
            <a:p>
              <a:pPr lvl="1" eaLnBrk="0" hangingPunct="0">
                <a:buFontTx/>
                <a:buChar char="•"/>
              </a:pPr>
              <a:r>
                <a:rPr lang="en-US" dirty="0"/>
                <a:t>Allocate primary memory</a:t>
              </a:r>
            </a:p>
            <a:p>
              <a:pPr lvl="1" eaLnBrk="0" hangingPunct="0">
                <a:buFontTx/>
                <a:buChar char="•"/>
              </a:pPr>
              <a:r>
                <a:rPr lang="en-US" dirty="0"/>
                <a:t>Adjust addresses in address space</a:t>
              </a:r>
            </a:p>
            <a:p>
              <a:pPr lvl="1" eaLnBrk="0" hangingPunct="0">
                <a:buFontTx/>
                <a:buChar char="•"/>
              </a:pPr>
              <a:r>
                <a:rPr lang="en-US" dirty="0"/>
                <a:t>Copy address space from secondary to primary memory</a:t>
              </a:r>
            </a:p>
          </p:txBody>
        </p:sp>
        <p:sp>
          <p:nvSpPr>
            <p:cNvPr id="11" name="AutoShape 9"/>
            <p:cNvSpPr>
              <a:spLocks noChangeArrowheads="1"/>
            </p:cNvSpPr>
            <p:nvPr/>
          </p:nvSpPr>
          <p:spPr bwMode="auto">
            <a:xfrm>
              <a:off x="4953000" y="4676775"/>
              <a:ext cx="1219200" cy="762000"/>
            </a:xfrm>
            <a:prstGeom prst="roundRect">
              <a:avLst>
                <a:gd name="adj" fmla="val 16667"/>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eaLnBrk="0" hangingPunct="0"/>
              <a:r>
                <a:rPr lang="en-US" sz="2000" dirty="0"/>
                <a:t>Loader</a:t>
              </a:r>
              <a:endParaRPr lang="en-US" dirty="0"/>
            </a:p>
          </p:txBody>
        </p:sp>
      </p:grpSp>
      <p:grpSp>
        <p:nvGrpSpPr>
          <p:cNvPr id="45" name="Group 44"/>
          <p:cNvGrpSpPr/>
          <p:nvPr/>
        </p:nvGrpSpPr>
        <p:grpSpPr>
          <a:xfrm>
            <a:off x="7924801" y="3228975"/>
            <a:ext cx="2328799" cy="2971800"/>
            <a:chOff x="6400800" y="3228975"/>
            <a:chExt cx="2328799" cy="2971800"/>
          </a:xfrm>
        </p:grpSpPr>
        <p:sp>
          <p:nvSpPr>
            <p:cNvPr id="12" name="Line 10"/>
            <p:cNvSpPr>
              <a:spLocks noChangeShapeType="1"/>
            </p:cNvSpPr>
            <p:nvPr/>
          </p:nvSpPr>
          <p:spPr bwMode="auto">
            <a:xfrm>
              <a:off x="7467600" y="3914775"/>
              <a:ext cx="0" cy="22860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 name="Line 11"/>
            <p:cNvSpPr>
              <a:spLocks noChangeShapeType="1"/>
            </p:cNvSpPr>
            <p:nvPr/>
          </p:nvSpPr>
          <p:spPr bwMode="auto">
            <a:xfrm>
              <a:off x="8686800" y="3838575"/>
              <a:ext cx="0" cy="23622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 name="Rectangle 12"/>
            <p:cNvSpPr>
              <a:spLocks noChangeArrowheads="1"/>
            </p:cNvSpPr>
            <p:nvPr/>
          </p:nvSpPr>
          <p:spPr bwMode="auto">
            <a:xfrm>
              <a:off x="7467600" y="4752975"/>
              <a:ext cx="1219200" cy="1219200"/>
            </a:xfrm>
            <a:prstGeom prst="rect">
              <a:avLst/>
            </a:prstGeom>
            <a:solidFill>
              <a:schemeClr val="hlink"/>
            </a:solidFill>
            <a:ln w="9525">
              <a:solidFill>
                <a:schemeClr val="tx2">
                  <a:lumMod val="20000"/>
                  <a:lumOff val="80000"/>
                </a:schemeClr>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sz="2000" dirty="0">
                  <a:solidFill>
                    <a:schemeClr val="bg1"/>
                  </a:solidFill>
                </a:rPr>
                <a:t>Process</a:t>
              </a:r>
            </a:p>
            <a:p>
              <a:pPr algn="ctr" eaLnBrk="0" hangingPunct="0"/>
              <a:r>
                <a:rPr lang="en-US" sz="2000" dirty="0">
                  <a:solidFill>
                    <a:schemeClr val="bg1"/>
                  </a:solidFill>
                </a:rPr>
                <a:t>address</a:t>
              </a:r>
            </a:p>
            <a:p>
              <a:pPr algn="ctr" eaLnBrk="0" hangingPunct="0"/>
              <a:r>
                <a:rPr lang="en-US" sz="2000" dirty="0">
                  <a:solidFill>
                    <a:schemeClr val="bg1"/>
                  </a:solidFill>
                </a:rPr>
                <a:t>space</a:t>
              </a:r>
              <a:endParaRPr lang="en-US" dirty="0">
                <a:solidFill>
                  <a:schemeClr val="bg1"/>
                </a:solidFill>
              </a:endParaRPr>
            </a:p>
          </p:txBody>
        </p:sp>
        <p:sp>
          <p:nvSpPr>
            <p:cNvPr id="15" name="Text Box 13"/>
            <p:cNvSpPr txBox="1">
              <a:spLocks noChangeArrowheads="1"/>
            </p:cNvSpPr>
            <p:nvPr/>
          </p:nvSpPr>
          <p:spPr bwMode="auto">
            <a:xfrm>
              <a:off x="7620000" y="3228975"/>
              <a:ext cx="1109599"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000" dirty="0"/>
                <a:t>Primary</a:t>
              </a:r>
            </a:p>
            <a:p>
              <a:pPr eaLnBrk="0" hangingPunct="0"/>
              <a:r>
                <a:rPr lang="en-US" sz="2000" dirty="0"/>
                <a:t>memory</a:t>
              </a:r>
              <a:endParaRPr lang="en-US" dirty="0"/>
            </a:p>
          </p:txBody>
        </p:sp>
        <p:sp>
          <p:nvSpPr>
            <p:cNvPr id="16" name="AutoShape 14"/>
            <p:cNvSpPr>
              <a:spLocks noChangeArrowheads="1"/>
            </p:cNvSpPr>
            <p:nvPr/>
          </p:nvSpPr>
          <p:spPr bwMode="auto">
            <a:xfrm>
              <a:off x="6400800" y="4905375"/>
              <a:ext cx="914400" cy="381000"/>
            </a:xfrm>
            <a:prstGeom prst="rightArrow">
              <a:avLst>
                <a:gd name="adj1" fmla="val 50000"/>
                <a:gd name="adj2" fmla="val 60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17" name="AutoShape 15"/>
          <p:cNvSpPr>
            <a:spLocks noChangeArrowheads="1"/>
          </p:cNvSpPr>
          <p:nvPr/>
        </p:nvSpPr>
        <p:spPr bwMode="auto">
          <a:xfrm>
            <a:off x="6934200" y="4219575"/>
            <a:ext cx="381000" cy="3048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 name="Group 39"/>
          <p:cNvGrpSpPr/>
          <p:nvPr/>
        </p:nvGrpSpPr>
        <p:grpSpPr>
          <a:xfrm>
            <a:off x="1828800" y="1323976"/>
            <a:ext cx="5105400" cy="3464957"/>
            <a:chOff x="304800" y="1323975"/>
            <a:chExt cx="5105400" cy="3464957"/>
          </a:xfrm>
        </p:grpSpPr>
        <p:sp>
          <p:nvSpPr>
            <p:cNvPr id="8" name="Text Box 6"/>
            <p:cNvSpPr txBox="1">
              <a:spLocks noChangeArrowheads="1"/>
            </p:cNvSpPr>
            <p:nvPr/>
          </p:nvSpPr>
          <p:spPr bwMode="auto">
            <a:xfrm>
              <a:off x="304800" y="4419600"/>
              <a:ext cx="51054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buFontTx/>
                <a:buChar char="•"/>
              </a:pPr>
              <a:r>
                <a:rPr lang="en-US" dirty="0"/>
                <a:t>Compile time: Translate elements</a:t>
              </a:r>
            </a:p>
          </p:txBody>
        </p:sp>
        <p:grpSp>
          <p:nvGrpSpPr>
            <p:cNvPr id="3" name="Group 2"/>
            <p:cNvGrpSpPr/>
            <p:nvPr/>
          </p:nvGrpSpPr>
          <p:grpSpPr>
            <a:xfrm>
              <a:off x="838200" y="1323975"/>
              <a:ext cx="1066800" cy="2819400"/>
              <a:chOff x="838200" y="1323975"/>
              <a:chExt cx="1066800" cy="2819400"/>
            </a:xfrm>
          </p:grpSpPr>
          <p:sp>
            <p:nvSpPr>
              <p:cNvPr id="4" name="Rectangle 3"/>
              <p:cNvSpPr>
                <a:spLocks noChangeArrowheads="1"/>
              </p:cNvSpPr>
              <p:nvPr/>
            </p:nvSpPr>
            <p:spPr bwMode="auto">
              <a:xfrm>
                <a:off x="914400" y="13239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6" name="Rectangle 4"/>
              <p:cNvSpPr>
                <a:spLocks noChangeArrowheads="1"/>
              </p:cNvSpPr>
              <p:nvPr/>
            </p:nvSpPr>
            <p:spPr bwMode="auto">
              <a:xfrm>
                <a:off x="1066800" y="14763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7" name="Rectangle 5"/>
              <p:cNvSpPr>
                <a:spLocks noChangeArrowheads="1"/>
              </p:cNvSpPr>
              <p:nvPr/>
            </p:nvSpPr>
            <p:spPr bwMode="auto">
              <a:xfrm>
                <a:off x="1219200" y="16287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eaLnBrk="0" hangingPunct="0"/>
                <a:r>
                  <a:rPr lang="en-US" dirty="0"/>
                  <a:t>Source</a:t>
                </a:r>
              </a:p>
              <a:p>
                <a:pPr algn="ctr" eaLnBrk="0" hangingPunct="0"/>
                <a:r>
                  <a:rPr lang="en-US" dirty="0"/>
                  <a:t>code</a:t>
                </a:r>
              </a:p>
            </p:txBody>
          </p:sp>
          <p:sp>
            <p:nvSpPr>
              <p:cNvPr id="18" name="AutoShape 16"/>
              <p:cNvSpPr>
                <a:spLocks noChangeArrowheads="1"/>
              </p:cNvSpPr>
              <p:nvPr/>
            </p:nvSpPr>
            <p:spPr bwMode="auto">
              <a:xfrm>
                <a:off x="1219200" y="2619375"/>
                <a:ext cx="457200" cy="3048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b="1" dirty="0"/>
                  <a:t>C</a:t>
                </a:r>
              </a:p>
            </p:txBody>
          </p:sp>
          <p:sp>
            <p:nvSpPr>
              <p:cNvPr id="19" name="Rectangle 17"/>
              <p:cNvSpPr>
                <a:spLocks noChangeArrowheads="1"/>
              </p:cNvSpPr>
              <p:nvPr/>
            </p:nvSpPr>
            <p:spPr bwMode="auto">
              <a:xfrm>
                <a:off x="838200" y="30003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20" name="Rectangle 18"/>
              <p:cNvSpPr>
                <a:spLocks noChangeArrowheads="1"/>
              </p:cNvSpPr>
              <p:nvPr/>
            </p:nvSpPr>
            <p:spPr bwMode="auto">
              <a:xfrm>
                <a:off x="990600" y="31527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21" name="Rectangle 19"/>
              <p:cNvSpPr>
                <a:spLocks noChangeArrowheads="1"/>
              </p:cNvSpPr>
              <p:nvPr/>
            </p:nvSpPr>
            <p:spPr bwMode="auto">
              <a:xfrm>
                <a:off x="1143000" y="33051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eaLnBrk="0" hangingPunct="0"/>
                <a:r>
                  <a:rPr lang="en-US" dirty="0" err="1"/>
                  <a:t>Reloc</a:t>
                </a:r>
                <a:endParaRPr lang="en-US" dirty="0"/>
              </a:p>
              <a:p>
                <a:pPr algn="ctr" eaLnBrk="0" hangingPunct="0"/>
                <a:r>
                  <a:rPr lang="en-US" dirty="0"/>
                  <a:t>Object</a:t>
                </a:r>
              </a:p>
              <a:p>
                <a:pPr algn="ctr" eaLnBrk="0" hangingPunct="0"/>
                <a:r>
                  <a:rPr lang="en-US" dirty="0"/>
                  <a:t>code</a:t>
                </a:r>
              </a:p>
            </p:txBody>
          </p:sp>
        </p:grpSp>
      </p:grpSp>
      <p:sp>
        <p:nvSpPr>
          <p:cNvPr id="23" name="AutoShape 21"/>
          <p:cNvSpPr>
            <a:spLocks noChangeArrowheads="1"/>
          </p:cNvSpPr>
          <p:nvPr/>
        </p:nvSpPr>
        <p:spPr bwMode="auto">
          <a:xfrm>
            <a:off x="3962400" y="3228975"/>
            <a:ext cx="838200" cy="762000"/>
          </a:xfrm>
          <a:prstGeom prst="roundRect">
            <a:avLst>
              <a:gd name="adj" fmla="val 16667"/>
            </a:avLst>
          </a:prstGeom>
          <a:solidFill>
            <a:schemeClr val="bg1"/>
          </a:solidFill>
          <a:ln w="9525">
            <a:solidFill>
              <a:schemeClr val="tx1"/>
            </a:solidFill>
            <a:round/>
            <a:headEnd/>
            <a:tailEnd/>
          </a:ln>
          <a:effectLst>
            <a:outerShdw blurRad="63500" dist="107763" dir="2700000" algn="ctr" rotWithShape="0">
              <a:schemeClr val="bg2">
                <a:alpha val="74998"/>
              </a:schemeClr>
            </a:outerShdw>
          </a:effectLst>
        </p:spPr>
        <p:txBody>
          <a:bodyPr wrap="none" anchor="ctr"/>
          <a:lstStyle/>
          <a:p>
            <a:pPr algn="ctr" eaLnBrk="0" hangingPunct="0"/>
            <a:r>
              <a:rPr lang="en-US" sz="2000" dirty="0"/>
              <a:t>Link</a:t>
            </a:r>
          </a:p>
          <a:p>
            <a:pPr algn="ctr" eaLnBrk="0" hangingPunct="0"/>
            <a:r>
              <a:rPr lang="en-US" sz="2000" dirty="0"/>
              <a:t>Edit</a:t>
            </a:r>
            <a:endParaRPr lang="en-US" dirty="0"/>
          </a:p>
        </p:txBody>
      </p:sp>
      <p:grpSp>
        <p:nvGrpSpPr>
          <p:cNvPr id="41" name="Group 40"/>
          <p:cNvGrpSpPr/>
          <p:nvPr/>
        </p:nvGrpSpPr>
        <p:grpSpPr>
          <a:xfrm>
            <a:off x="3657600" y="1323975"/>
            <a:ext cx="2209800" cy="1143000"/>
            <a:chOff x="2133600" y="1323975"/>
            <a:chExt cx="2209800" cy="1143000"/>
          </a:xfrm>
        </p:grpSpPr>
        <p:sp>
          <p:nvSpPr>
            <p:cNvPr id="24" name="Rectangle 22"/>
            <p:cNvSpPr>
              <a:spLocks noChangeArrowheads="1"/>
            </p:cNvSpPr>
            <p:nvPr/>
          </p:nvSpPr>
          <p:spPr bwMode="auto">
            <a:xfrm>
              <a:off x="2133600" y="13239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25" name="Rectangle 23"/>
            <p:cNvSpPr>
              <a:spLocks noChangeArrowheads="1"/>
            </p:cNvSpPr>
            <p:nvPr/>
          </p:nvSpPr>
          <p:spPr bwMode="auto">
            <a:xfrm>
              <a:off x="2286000" y="14763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26" name="Rectangle 24"/>
            <p:cNvSpPr>
              <a:spLocks noChangeArrowheads="1"/>
            </p:cNvSpPr>
            <p:nvPr/>
          </p:nvSpPr>
          <p:spPr bwMode="auto">
            <a:xfrm>
              <a:off x="2438400" y="16287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eaLnBrk="0" hangingPunct="0"/>
              <a:r>
                <a:rPr lang="en-US" dirty="0"/>
                <a:t>Library</a:t>
              </a:r>
            </a:p>
            <a:p>
              <a:pPr algn="ctr" eaLnBrk="0" hangingPunct="0"/>
              <a:r>
                <a:rPr lang="en-US" dirty="0"/>
                <a:t>code</a:t>
              </a:r>
            </a:p>
          </p:txBody>
        </p:sp>
        <p:sp>
          <p:nvSpPr>
            <p:cNvPr id="28" name="Rectangle 26"/>
            <p:cNvSpPr>
              <a:spLocks noChangeArrowheads="1"/>
            </p:cNvSpPr>
            <p:nvPr/>
          </p:nvSpPr>
          <p:spPr bwMode="auto">
            <a:xfrm>
              <a:off x="3352800" y="13239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29" name="Rectangle 27"/>
            <p:cNvSpPr>
              <a:spLocks noChangeArrowheads="1"/>
            </p:cNvSpPr>
            <p:nvPr/>
          </p:nvSpPr>
          <p:spPr bwMode="auto">
            <a:xfrm>
              <a:off x="3505200" y="14763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endParaRPr lang="en-US"/>
            </a:p>
          </p:txBody>
        </p:sp>
        <p:sp>
          <p:nvSpPr>
            <p:cNvPr id="30" name="Rectangle 28"/>
            <p:cNvSpPr>
              <a:spLocks noChangeArrowheads="1"/>
            </p:cNvSpPr>
            <p:nvPr/>
          </p:nvSpPr>
          <p:spPr bwMode="auto">
            <a:xfrm>
              <a:off x="3657600" y="1628775"/>
              <a:ext cx="685800" cy="838200"/>
            </a:xfrm>
            <a:prstGeom prst="rect">
              <a:avLst/>
            </a:prstGeom>
            <a:solidFill>
              <a:schemeClr val="bg1"/>
            </a:solidFill>
            <a:ln w="9525">
              <a:solidFill>
                <a:schemeClr val="tx1"/>
              </a:solidFill>
              <a:miter lim="800000"/>
              <a:headEnd/>
              <a:tailEnd/>
            </a:ln>
            <a:effectLst>
              <a:outerShdw blurRad="63500" dist="107763" dir="2700000" algn="ctr" rotWithShape="0">
                <a:schemeClr val="bg2">
                  <a:alpha val="74998"/>
                </a:schemeClr>
              </a:outerShdw>
            </a:effectLst>
          </p:spPr>
          <p:txBody>
            <a:bodyPr wrap="none" anchor="ctr"/>
            <a:lstStyle/>
            <a:p>
              <a:pPr algn="ctr" eaLnBrk="0" hangingPunct="0"/>
              <a:r>
                <a:rPr lang="en-US"/>
                <a:t>Other</a:t>
              </a:r>
            </a:p>
            <a:p>
              <a:pPr algn="ctr" eaLnBrk="0" hangingPunct="0"/>
              <a:r>
                <a:rPr lang="en-US"/>
                <a:t>objects</a:t>
              </a:r>
            </a:p>
          </p:txBody>
        </p:sp>
      </p:grpSp>
      <p:grpSp>
        <p:nvGrpSpPr>
          <p:cNvPr id="43" name="Group 42"/>
          <p:cNvGrpSpPr/>
          <p:nvPr/>
        </p:nvGrpSpPr>
        <p:grpSpPr>
          <a:xfrm>
            <a:off x="5105400" y="2466975"/>
            <a:ext cx="3544564" cy="1600200"/>
            <a:chOff x="3581400" y="2466975"/>
            <a:chExt cx="3544564" cy="1600200"/>
          </a:xfrm>
        </p:grpSpPr>
        <p:sp>
          <p:nvSpPr>
            <p:cNvPr id="32" name="AutoShape 30"/>
            <p:cNvSpPr>
              <a:spLocks noChangeArrowheads="1"/>
            </p:cNvSpPr>
            <p:nvPr/>
          </p:nvSpPr>
          <p:spPr bwMode="auto">
            <a:xfrm>
              <a:off x="4953000" y="3228975"/>
              <a:ext cx="1295400" cy="838200"/>
            </a:xfrm>
            <a:prstGeom prst="can">
              <a:avLst>
                <a:gd name="adj" fmla="val 25000"/>
              </a:avLst>
            </a:prstGeom>
            <a:solidFill>
              <a:schemeClr val="bg1"/>
            </a:soli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endParaRPr lang="en-US"/>
            </a:p>
          </p:txBody>
        </p:sp>
        <p:sp>
          <p:nvSpPr>
            <p:cNvPr id="33" name="AutoShape 31"/>
            <p:cNvSpPr>
              <a:spLocks noChangeArrowheads="1"/>
            </p:cNvSpPr>
            <p:nvPr/>
          </p:nvSpPr>
          <p:spPr bwMode="auto">
            <a:xfrm>
              <a:off x="3581400" y="3457575"/>
              <a:ext cx="1143000" cy="381000"/>
            </a:xfrm>
            <a:prstGeom prst="rightArrow">
              <a:avLst>
                <a:gd name="adj1" fmla="val 50000"/>
                <a:gd name="adj2" fmla="val 7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4" name="Text Box 32"/>
            <p:cNvSpPr txBox="1">
              <a:spLocks noChangeArrowheads="1"/>
            </p:cNvSpPr>
            <p:nvPr/>
          </p:nvSpPr>
          <p:spPr bwMode="auto">
            <a:xfrm>
              <a:off x="5715000" y="2466975"/>
              <a:ext cx="1410964" cy="70788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sz="2000" dirty="0"/>
                <a:t>Secondary</a:t>
              </a:r>
            </a:p>
            <a:p>
              <a:pPr eaLnBrk="0" hangingPunct="0"/>
              <a:r>
                <a:rPr lang="en-US" sz="2000" dirty="0"/>
                <a:t>  memory</a:t>
              </a:r>
              <a:endParaRPr lang="en-US" dirty="0"/>
            </a:p>
          </p:txBody>
        </p:sp>
        <p:sp>
          <p:nvSpPr>
            <p:cNvPr id="35" name="Rectangle 33"/>
            <p:cNvSpPr>
              <a:spLocks noChangeArrowheads="1"/>
            </p:cNvSpPr>
            <p:nvPr/>
          </p:nvSpPr>
          <p:spPr bwMode="auto">
            <a:xfrm>
              <a:off x="5334000" y="3533775"/>
              <a:ext cx="457200" cy="381000"/>
            </a:xfrm>
            <a:prstGeom prst="rect">
              <a:avLst/>
            </a:prstGeom>
            <a:solidFill>
              <a:schemeClr val="hlink"/>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2" name="Group 41"/>
          <p:cNvGrpSpPr/>
          <p:nvPr/>
        </p:nvGrpSpPr>
        <p:grpSpPr>
          <a:xfrm>
            <a:off x="3505200" y="2619375"/>
            <a:ext cx="1676400" cy="990600"/>
            <a:chOff x="1981200" y="2619375"/>
            <a:chExt cx="1676400" cy="990600"/>
          </a:xfrm>
        </p:grpSpPr>
        <p:sp>
          <p:nvSpPr>
            <p:cNvPr id="27" name="AutoShape 25"/>
            <p:cNvSpPr>
              <a:spLocks noChangeArrowheads="1"/>
            </p:cNvSpPr>
            <p:nvPr/>
          </p:nvSpPr>
          <p:spPr bwMode="auto">
            <a:xfrm rot="8239224">
              <a:off x="3352800" y="2619375"/>
              <a:ext cx="304800" cy="381000"/>
            </a:xfrm>
            <a:prstGeom prst="right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1" name="AutoShape 29"/>
            <p:cNvSpPr>
              <a:spLocks noChangeArrowheads="1"/>
            </p:cNvSpPr>
            <p:nvPr/>
          </p:nvSpPr>
          <p:spPr bwMode="auto">
            <a:xfrm>
              <a:off x="2514600" y="2695575"/>
              <a:ext cx="381000" cy="228600"/>
            </a:xfrm>
            <a:prstGeom prst="down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6" name="AutoShape 34"/>
            <p:cNvSpPr>
              <a:spLocks noChangeArrowheads="1"/>
            </p:cNvSpPr>
            <p:nvPr/>
          </p:nvSpPr>
          <p:spPr bwMode="auto">
            <a:xfrm>
              <a:off x="1981200" y="3228975"/>
              <a:ext cx="304800" cy="381000"/>
            </a:xfrm>
            <a:prstGeom prst="rightArrow">
              <a:avLst>
                <a:gd name="adj1" fmla="val 50000"/>
                <a:gd name="adj2" fmla="val 25000"/>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7" name="Text Box 35"/>
          <p:cNvSpPr txBox="1">
            <a:spLocks noChangeArrowheads="1"/>
          </p:cNvSpPr>
          <p:nvPr/>
        </p:nvSpPr>
        <p:spPr bwMode="auto">
          <a:xfrm>
            <a:off x="1828800" y="4800600"/>
            <a:ext cx="510540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buFontTx/>
              <a:buChar char="•"/>
            </a:pPr>
            <a:r>
              <a:rPr lang="en-US" dirty="0"/>
              <a:t>Link time: Combine elements</a:t>
            </a:r>
          </a:p>
        </p:txBody>
      </p:sp>
      <p:sp>
        <p:nvSpPr>
          <p:cNvPr id="39" name="Rectangle 2"/>
          <p:cNvSpPr txBox="1">
            <a:spLocks noChangeArrowheads="1"/>
          </p:cNvSpPr>
          <p:nvPr/>
        </p:nvSpPr>
        <p:spPr bwMode="auto">
          <a:xfrm>
            <a:off x="2286000" y="533400"/>
            <a:ext cx="7772400" cy="6096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accent2"/>
                </a:solidFill>
                <a:latin typeface="+mj-lt"/>
                <a:ea typeface="+mj-ea"/>
                <a:cs typeface="+mj-cs"/>
              </a:defRPr>
            </a:lvl1pPr>
            <a:lvl2pPr algn="ctr" rtl="0" fontAlgn="base">
              <a:spcBef>
                <a:spcPct val="0"/>
              </a:spcBef>
              <a:spcAft>
                <a:spcPct val="0"/>
              </a:spcAft>
              <a:defRPr sz="4400">
                <a:solidFill>
                  <a:schemeClr val="accent2"/>
                </a:solidFill>
                <a:latin typeface="Times New Roman" charset="0"/>
                <a:ea typeface="ＭＳ Ｐゴシック" charset="0"/>
              </a:defRPr>
            </a:lvl2pPr>
            <a:lvl3pPr algn="ctr" rtl="0" fontAlgn="base">
              <a:spcBef>
                <a:spcPct val="0"/>
              </a:spcBef>
              <a:spcAft>
                <a:spcPct val="0"/>
              </a:spcAft>
              <a:defRPr sz="4400">
                <a:solidFill>
                  <a:schemeClr val="accent2"/>
                </a:solidFill>
                <a:latin typeface="Times New Roman" charset="0"/>
                <a:ea typeface="ＭＳ Ｐゴシック" charset="0"/>
              </a:defRPr>
            </a:lvl3pPr>
            <a:lvl4pPr algn="ctr" rtl="0" fontAlgn="base">
              <a:spcBef>
                <a:spcPct val="0"/>
              </a:spcBef>
              <a:spcAft>
                <a:spcPct val="0"/>
              </a:spcAft>
              <a:defRPr sz="4400">
                <a:solidFill>
                  <a:schemeClr val="accent2"/>
                </a:solidFill>
                <a:latin typeface="Times New Roman" charset="0"/>
                <a:ea typeface="ＭＳ Ｐゴシック" charset="0"/>
              </a:defRPr>
            </a:lvl4pPr>
            <a:lvl5pPr algn="ctr" rtl="0" fontAlgn="base">
              <a:spcBef>
                <a:spcPct val="0"/>
              </a:spcBef>
              <a:spcAft>
                <a:spcPct val="0"/>
              </a:spcAft>
              <a:defRPr sz="4400">
                <a:solidFill>
                  <a:schemeClr val="accent2"/>
                </a:solidFill>
                <a:latin typeface="Times New Roman" charset="0"/>
                <a:ea typeface="ＭＳ Ｐゴシック" charset="0"/>
              </a:defRPr>
            </a:lvl5pPr>
            <a:lvl6pPr marL="457200" algn="ctr" rtl="0" fontAlgn="base">
              <a:spcBef>
                <a:spcPct val="0"/>
              </a:spcBef>
              <a:spcAft>
                <a:spcPct val="0"/>
              </a:spcAft>
              <a:defRPr sz="4400">
                <a:solidFill>
                  <a:schemeClr val="accent2"/>
                </a:solidFill>
                <a:latin typeface="Times New Roman" charset="0"/>
                <a:ea typeface="ＭＳ Ｐゴシック" charset="0"/>
              </a:defRPr>
            </a:lvl6pPr>
            <a:lvl7pPr marL="914400" algn="ctr" rtl="0" fontAlgn="base">
              <a:spcBef>
                <a:spcPct val="0"/>
              </a:spcBef>
              <a:spcAft>
                <a:spcPct val="0"/>
              </a:spcAft>
              <a:defRPr sz="4400">
                <a:solidFill>
                  <a:schemeClr val="accent2"/>
                </a:solidFill>
                <a:latin typeface="Times New Roman" charset="0"/>
                <a:ea typeface="ＭＳ Ｐゴシック" charset="0"/>
              </a:defRPr>
            </a:lvl7pPr>
            <a:lvl8pPr marL="1371600" algn="ctr" rtl="0" fontAlgn="base">
              <a:spcBef>
                <a:spcPct val="0"/>
              </a:spcBef>
              <a:spcAft>
                <a:spcPct val="0"/>
              </a:spcAft>
              <a:defRPr sz="4400">
                <a:solidFill>
                  <a:schemeClr val="accent2"/>
                </a:solidFill>
                <a:latin typeface="Times New Roman" charset="0"/>
                <a:ea typeface="ＭＳ Ｐゴシック" charset="0"/>
              </a:defRPr>
            </a:lvl8pPr>
            <a:lvl9pPr marL="1828800" algn="ctr" rtl="0" fontAlgn="base">
              <a:spcBef>
                <a:spcPct val="0"/>
              </a:spcBef>
              <a:spcAft>
                <a:spcPct val="0"/>
              </a:spcAft>
              <a:defRPr sz="4400">
                <a:solidFill>
                  <a:schemeClr val="accent2"/>
                </a:solidFill>
                <a:latin typeface="Times New Roman" charset="0"/>
                <a:ea typeface="ＭＳ Ｐゴシック" charset="0"/>
              </a:defRPr>
            </a:lvl9pPr>
          </a:lstStyle>
          <a:p>
            <a:pPr>
              <a:defRPr/>
            </a:pPr>
            <a:r>
              <a:rPr lang="en-US" dirty="0">
                <a:solidFill>
                  <a:srgbClr val="0000FF"/>
                </a:solidFill>
                <a:ea typeface="ＭＳ Ｐゴシック" charset="0"/>
                <a:cs typeface="ＭＳ Ｐゴシック" charset="0"/>
              </a:rPr>
              <a:t>Creating an Executable Program</a:t>
            </a:r>
          </a:p>
        </p:txBody>
      </p:sp>
      <p:pic>
        <p:nvPicPr>
          <p:cNvPr id="46" name="Picture 45"/>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15844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up)">
                                      <p:cBhvr>
                                        <p:cTn id="33" dur="500"/>
                                        <p:tgtEl>
                                          <p:spTgt spid="1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wipe(left)">
                                      <p:cBhvr>
                                        <p:cTn id="3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3" grpId="0" animBg="1"/>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a:xfrm>
            <a:off x="609600" y="76200"/>
            <a:ext cx="11277600" cy="1600200"/>
          </a:xfrm>
        </p:spPr>
        <p:txBody>
          <a:bodyPr/>
          <a:lstStyle/>
          <a:p>
            <a:pPr algn="ctr"/>
            <a:r>
              <a:rPr lang="en-US" dirty="0">
                <a:latin typeface="+mj-lt"/>
              </a:rPr>
              <a:t>Dynamic Relocation using a Relocation Register</a:t>
            </a:r>
          </a:p>
        </p:txBody>
      </p:sp>
      <p:pic>
        <p:nvPicPr>
          <p:cNvPr id="837635"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l="841" t="3482" r="1089" b="3784"/>
          <a:stretch>
            <a:fillRect/>
          </a:stretch>
        </p:blipFill>
        <p:spPr bwMode="auto">
          <a:xfrm>
            <a:off x="582826" y="1447800"/>
            <a:ext cx="6425873" cy="4724400"/>
          </a:xfrm>
          <a:prstGeom prst="rect">
            <a:avLst/>
          </a:prstGeom>
          <a:noFill/>
          <a:ln w="38100" cmpd="dbl">
            <a:solidFill>
              <a:srgbClr val="CC66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sp>
        <p:nvSpPr>
          <p:cNvPr id="837636" name="Rectangle 4"/>
          <p:cNvSpPr>
            <a:spLocks noChangeArrowheads="1"/>
          </p:cNvSpPr>
          <p:nvPr/>
        </p:nvSpPr>
        <p:spPr bwMode="auto">
          <a:xfrm>
            <a:off x="7162800" y="1371600"/>
            <a:ext cx="4677032" cy="48006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a:lstStyle/>
          <a:p>
            <a:pPr marL="342900" indent="-342900">
              <a:spcBef>
                <a:spcPct val="20000"/>
              </a:spcBef>
              <a:buFontTx/>
              <a:buChar char="•"/>
            </a:pPr>
            <a:r>
              <a:rPr lang="en-US" sz="2800" dirty="0">
                <a:latin typeface="+mn-lt"/>
              </a:rPr>
              <a:t>Hardware device that maps </a:t>
            </a:r>
            <a:r>
              <a:rPr lang="en-US" sz="2800" dirty="0">
                <a:solidFill>
                  <a:srgbClr val="FF0000"/>
                </a:solidFill>
                <a:latin typeface="+mn-lt"/>
              </a:rPr>
              <a:t>virtual to physical address</a:t>
            </a:r>
          </a:p>
          <a:p>
            <a:pPr marL="342900" indent="-342900">
              <a:spcBef>
                <a:spcPct val="20000"/>
              </a:spcBef>
              <a:buFontTx/>
              <a:buChar char="•"/>
            </a:pPr>
            <a:r>
              <a:rPr lang="en-US" sz="2800" dirty="0">
                <a:latin typeface="+mn-lt"/>
              </a:rPr>
              <a:t>The value in the relocation register is added to every address generated by a user process at the time it is sent to memory</a:t>
            </a:r>
          </a:p>
          <a:p>
            <a:pPr marL="342900" indent="-342900">
              <a:spcBef>
                <a:spcPct val="20000"/>
              </a:spcBef>
              <a:buFontTx/>
              <a:buChar char="•"/>
            </a:pPr>
            <a:r>
              <a:rPr lang="en-US" sz="2800" dirty="0">
                <a:latin typeface="+mn-lt"/>
              </a:rPr>
              <a:t>The </a:t>
            </a:r>
            <a:r>
              <a:rPr lang="en-US" sz="2800" dirty="0">
                <a:solidFill>
                  <a:srgbClr val="FF0000"/>
                </a:solidFill>
                <a:latin typeface="+mn-lt"/>
              </a:rPr>
              <a:t>user program </a:t>
            </a:r>
            <a:r>
              <a:rPr lang="en-US" sz="2800" dirty="0">
                <a:latin typeface="+mn-lt"/>
              </a:rPr>
              <a:t>deals with </a:t>
            </a:r>
            <a:r>
              <a:rPr lang="en-US" sz="2800" i="1" dirty="0">
                <a:solidFill>
                  <a:srgbClr val="FF0000"/>
                </a:solidFill>
                <a:latin typeface="+mn-lt"/>
              </a:rPr>
              <a:t>logical</a:t>
            </a:r>
            <a:r>
              <a:rPr lang="en-US" sz="2800" dirty="0">
                <a:solidFill>
                  <a:srgbClr val="FF0000"/>
                </a:solidFill>
                <a:latin typeface="+mn-lt"/>
              </a:rPr>
              <a:t> addresses</a:t>
            </a:r>
            <a:r>
              <a:rPr lang="en-US" sz="2800" dirty="0">
                <a:latin typeface="+mn-lt"/>
              </a:rPr>
              <a:t>; it never sees the </a:t>
            </a:r>
            <a:r>
              <a:rPr lang="en-US" sz="2800" i="1" dirty="0">
                <a:latin typeface="+mn-lt"/>
              </a:rPr>
              <a:t>real</a:t>
            </a:r>
            <a:r>
              <a:rPr lang="en-US" sz="2800" dirty="0">
                <a:latin typeface="+mn-lt"/>
              </a:rPr>
              <a:t> physical addresses</a:t>
            </a:r>
          </a:p>
        </p:txBody>
      </p:sp>
      <p:pic>
        <p:nvPicPr>
          <p:cNvPr id="5" name="Picture 4"/>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2756158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a:t>Static Memory Partitioning</a:t>
            </a:r>
            <a:endParaRPr lang="en-NZ" dirty="0"/>
          </a:p>
        </p:txBody>
      </p:sp>
      <p:sp>
        <p:nvSpPr>
          <p:cNvPr id="4" name="Slide Number Placeholder 3"/>
          <p:cNvSpPr>
            <a:spLocks noGrp="1"/>
          </p:cNvSpPr>
          <p:nvPr>
            <p:ph type="sldNum" sz="quarter" idx="12"/>
          </p:nvPr>
        </p:nvSpPr>
        <p:spPr/>
        <p:txBody>
          <a:bodyPr/>
          <a:lstStyle/>
          <a:p>
            <a:fld id="{97012834-41A2-49E3-8762-B14EE3F5CFB1}" type="slidenum">
              <a:rPr lang="en-US" smtClean="0"/>
              <a:pPr/>
              <a:t>8</a:t>
            </a:fld>
            <a:endParaRPr lang="en-US" dirty="0"/>
          </a:p>
        </p:txBody>
      </p:sp>
      <p:sp>
        <p:nvSpPr>
          <p:cNvPr id="3" name="Content Placeholder 2"/>
          <p:cNvSpPr>
            <a:spLocks noGrp="1"/>
          </p:cNvSpPr>
          <p:nvPr>
            <p:ph idx="4294967295"/>
          </p:nvPr>
        </p:nvSpPr>
        <p:spPr>
          <a:xfrm>
            <a:off x="8229600" y="2590800"/>
            <a:ext cx="3962400" cy="2667000"/>
          </a:xfrm>
        </p:spPr>
        <p:txBody>
          <a:bodyPr/>
          <a:lstStyle/>
          <a:p>
            <a:pPr marL="0" lvl="4" indent="-288925">
              <a:buClr>
                <a:schemeClr val="accent1">
                  <a:lumMod val="75000"/>
                </a:schemeClr>
              </a:buClr>
              <a:buFont typeface="Wingdings" charset="2"/>
              <a:buChar char="§"/>
            </a:pPr>
            <a:r>
              <a:rPr lang="en-NZ" dirty="0"/>
              <a:t>Used in several variations in some now-obsolete operating systems</a:t>
            </a:r>
          </a:p>
          <a:p>
            <a:pPr marL="0" lvl="4" indent="-288925">
              <a:buClr>
                <a:schemeClr val="accent1">
                  <a:lumMod val="75000"/>
                </a:schemeClr>
              </a:buClr>
              <a:buFont typeface="Wingdings" charset="2"/>
              <a:buChar char="§"/>
            </a:pPr>
            <a:endParaRPr lang="en-NZ" dirty="0"/>
          </a:p>
          <a:p>
            <a:pPr marL="0" lvl="4" indent="-288925">
              <a:buClr>
                <a:schemeClr val="accent1">
                  <a:lumMod val="75000"/>
                </a:schemeClr>
              </a:buClr>
              <a:buFont typeface="Wingdings" charset="2"/>
              <a:buChar char="§"/>
            </a:pPr>
            <a:r>
              <a:rPr lang="en-NZ" dirty="0"/>
              <a:t>Does not involve virtual memory</a:t>
            </a:r>
          </a:p>
        </p:txBody>
      </p:sp>
      <p:sp>
        <p:nvSpPr>
          <p:cNvPr id="6" name="Rectangle 2"/>
          <p:cNvSpPr>
            <a:spLocks noChangeArrowheads="1"/>
          </p:cNvSpPr>
          <p:nvPr/>
        </p:nvSpPr>
        <p:spPr bwMode="auto">
          <a:xfrm>
            <a:off x="5486400" y="2209800"/>
            <a:ext cx="1676400" cy="4038600"/>
          </a:xfrm>
          <a:prstGeom prst="rect">
            <a:avLst/>
          </a:prstGeom>
          <a:solidFill>
            <a:schemeClr val="folHlink"/>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 name="Rectangle 4"/>
          <p:cNvSpPr>
            <a:spLocks noChangeArrowheads="1"/>
          </p:cNvSpPr>
          <p:nvPr/>
        </p:nvSpPr>
        <p:spPr bwMode="auto">
          <a:xfrm>
            <a:off x="5486400" y="2209800"/>
            <a:ext cx="1676400" cy="6858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dirty="0"/>
              <a:t>Operating</a:t>
            </a:r>
          </a:p>
          <a:p>
            <a:pPr algn="ctr" eaLnBrk="0" hangingPunct="0"/>
            <a:r>
              <a:rPr lang="en-US" dirty="0"/>
              <a:t>System</a:t>
            </a:r>
          </a:p>
        </p:txBody>
      </p:sp>
      <p:sp>
        <p:nvSpPr>
          <p:cNvPr id="9" name="Rectangle 5"/>
          <p:cNvSpPr>
            <a:spLocks noChangeArrowheads="1"/>
          </p:cNvSpPr>
          <p:nvPr/>
        </p:nvSpPr>
        <p:spPr bwMode="auto">
          <a:xfrm>
            <a:off x="5486400" y="3124200"/>
            <a:ext cx="1676400" cy="609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dirty="0"/>
              <a:t>Process 3</a:t>
            </a:r>
          </a:p>
        </p:txBody>
      </p:sp>
      <p:sp>
        <p:nvSpPr>
          <p:cNvPr id="10" name="Rectangle 6"/>
          <p:cNvSpPr>
            <a:spLocks noChangeArrowheads="1"/>
          </p:cNvSpPr>
          <p:nvPr/>
        </p:nvSpPr>
        <p:spPr bwMode="auto">
          <a:xfrm>
            <a:off x="5486400" y="3810000"/>
            <a:ext cx="1676400" cy="6858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dirty="0"/>
              <a:t>Process 0</a:t>
            </a:r>
          </a:p>
        </p:txBody>
      </p:sp>
      <p:sp>
        <p:nvSpPr>
          <p:cNvPr id="11" name="Rectangle 7"/>
          <p:cNvSpPr>
            <a:spLocks noChangeArrowheads="1"/>
          </p:cNvSpPr>
          <p:nvPr/>
        </p:nvSpPr>
        <p:spPr bwMode="auto">
          <a:xfrm>
            <a:off x="5486400" y="4495800"/>
            <a:ext cx="1676400" cy="990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t>Process 2</a:t>
            </a:r>
          </a:p>
        </p:txBody>
      </p:sp>
      <p:sp>
        <p:nvSpPr>
          <p:cNvPr id="12" name="Rectangle 8"/>
          <p:cNvSpPr>
            <a:spLocks noChangeArrowheads="1"/>
          </p:cNvSpPr>
          <p:nvPr/>
        </p:nvSpPr>
        <p:spPr bwMode="auto">
          <a:xfrm>
            <a:off x="5486400" y="5791200"/>
            <a:ext cx="1676400" cy="4572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t>Process 1</a:t>
            </a:r>
          </a:p>
        </p:txBody>
      </p:sp>
      <p:sp>
        <p:nvSpPr>
          <p:cNvPr id="13" name="Rectangle 9"/>
          <p:cNvSpPr>
            <a:spLocks noChangeArrowheads="1"/>
          </p:cNvSpPr>
          <p:nvPr/>
        </p:nvSpPr>
        <p:spPr bwMode="auto">
          <a:xfrm>
            <a:off x="2438400" y="2209800"/>
            <a:ext cx="457200" cy="304800"/>
          </a:xfrm>
          <a:prstGeom prst="rect">
            <a:avLst/>
          </a:prstGeom>
          <a:solidFill>
            <a:schemeClr val="folHlink"/>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 name="Text Box 10"/>
          <p:cNvSpPr txBox="1">
            <a:spLocks noChangeArrowheads="1"/>
          </p:cNvSpPr>
          <p:nvPr/>
        </p:nvSpPr>
        <p:spPr bwMode="auto">
          <a:xfrm>
            <a:off x="2955926" y="2098675"/>
            <a:ext cx="979755"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Unused</a:t>
            </a:r>
          </a:p>
        </p:txBody>
      </p:sp>
      <p:sp>
        <p:nvSpPr>
          <p:cNvPr id="15" name="Rectangle 11"/>
          <p:cNvSpPr>
            <a:spLocks noChangeArrowheads="1"/>
          </p:cNvSpPr>
          <p:nvPr/>
        </p:nvSpPr>
        <p:spPr bwMode="auto">
          <a:xfrm>
            <a:off x="2438400" y="2667000"/>
            <a:ext cx="457200" cy="3048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 name="Text Box 12"/>
          <p:cNvSpPr txBox="1">
            <a:spLocks noChangeArrowheads="1"/>
          </p:cNvSpPr>
          <p:nvPr/>
        </p:nvSpPr>
        <p:spPr bwMode="auto">
          <a:xfrm>
            <a:off x="2955926" y="2555875"/>
            <a:ext cx="851515"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In Use</a:t>
            </a:r>
          </a:p>
        </p:txBody>
      </p:sp>
      <p:sp>
        <p:nvSpPr>
          <p:cNvPr id="17" name="Text Box 13"/>
          <p:cNvSpPr txBox="1">
            <a:spLocks noChangeArrowheads="1"/>
          </p:cNvSpPr>
          <p:nvPr/>
        </p:nvSpPr>
        <p:spPr bwMode="auto">
          <a:xfrm>
            <a:off x="1905001" y="4343401"/>
            <a:ext cx="3444875" cy="132343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0" hangingPunct="0"/>
            <a:r>
              <a:rPr lang="en-US" sz="2000" u="sng" dirty="0">
                <a:latin typeface="+mj-lt"/>
              </a:rPr>
              <a:t>Issue</a:t>
            </a:r>
            <a:r>
              <a:rPr lang="en-US" sz="2000" dirty="0">
                <a:latin typeface="+mj-lt"/>
              </a:rPr>
              <a:t>: </a:t>
            </a:r>
          </a:p>
          <a:p>
            <a:pPr eaLnBrk="0" hangingPunct="0"/>
            <a:r>
              <a:rPr lang="en-US" sz="2000" dirty="0">
                <a:latin typeface="+mj-lt"/>
              </a:rPr>
              <a:t>Need a mechanism/policy for loading p</a:t>
            </a:r>
            <a:r>
              <a:rPr lang="en-US" sz="2000" baseline="-25000" dirty="0">
                <a:latin typeface="+mj-lt"/>
              </a:rPr>
              <a:t>i</a:t>
            </a:r>
            <a:r>
              <a:rPr lang="ja-JP" altLang="en-US" sz="2000" dirty="0">
                <a:latin typeface="+mj-lt"/>
              </a:rPr>
              <a:t>’</a:t>
            </a:r>
            <a:r>
              <a:rPr lang="en-US" sz="2000" dirty="0">
                <a:latin typeface="+mj-lt"/>
              </a:rPr>
              <a:t>s address space into primary memory </a:t>
            </a:r>
          </a:p>
        </p:txBody>
      </p:sp>
      <p:sp>
        <p:nvSpPr>
          <p:cNvPr id="18" name="Rectangle 14"/>
          <p:cNvSpPr>
            <a:spLocks noChangeArrowheads="1"/>
          </p:cNvSpPr>
          <p:nvPr/>
        </p:nvSpPr>
        <p:spPr bwMode="auto">
          <a:xfrm>
            <a:off x="2133600" y="3505200"/>
            <a:ext cx="1676400" cy="609600"/>
          </a:xfrm>
          <a:prstGeom prst="rect">
            <a:avLst/>
          </a:prstGeom>
          <a:solidFill>
            <a:schemeClr val="hlink"/>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dirty="0">
                <a:solidFill>
                  <a:schemeClr val="bg1"/>
                </a:solidFill>
              </a:rPr>
              <a:t>p</a:t>
            </a:r>
            <a:r>
              <a:rPr lang="en-US" baseline="-25000" dirty="0">
                <a:solidFill>
                  <a:schemeClr val="bg1"/>
                </a:solidFill>
              </a:rPr>
              <a:t>i</a:t>
            </a:r>
          </a:p>
        </p:txBody>
      </p:sp>
      <p:pic>
        <p:nvPicPr>
          <p:cNvPr id="19" name="Picture 18"/>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3534223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2"/>
          <p:cNvSpPr>
            <a:spLocks noGrp="1" noChangeArrowheads="1"/>
          </p:cNvSpPr>
          <p:nvPr>
            <p:ph type="title"/>
          </p:nvPr>
        </p:nvSpPr>
        <p:spPr/>
        <p:txBody>
          <a:bodyPr/>
          <a:lstStyle/>
          <a:p>
            <a:r>
              <a:rPr lang="en-US" dirty="0">
                <a:latin typeface="+mj-lt"/>
              </a:rPr>
              <a:t>Static Memory Allocation</a:t>
            </a:r>
          </a:p>
        </p:txBody>
      </p:sp>
      <p:sp>
        <p:nvSpPr>
          <p:cNvPr id="849923" name="Rectangle 3"/>
          <p:cNvSpPr>
            <a:spLocks noGrp="1" noChangeArrowheads="1"/>
          </p:cNvSpPr>
          <p:nvPr>
            <p:ph type="body" idx="1"/>
          </p:nvPr>
        </p:nvSpPr>
        <p:spPr>
          <a:xfrm>
            <a:off x="825843" y="3750277"/>
            <a:ext cx="10744200" cy="2514600"/>
          </a:xfrm>
        </p:spPr>
        <p:txBody>
          <a:bodyPr>
            <a:normAutofit fontScale="85000" lnSpcReduction="20000"/>
          </a:bodyPr>
          <a:lstStyle/>
          <a:p>
            <a:r>
              <a:rPr lang="en-US" i="1" dirty="0"/>
              <a:t>Hole</a:t>
            </a:r>
            <a:r>
              <a:rPr lang="en-US" dirty="0"/>
              <a:t> – block of available memory; holes of various size are scattered throughout memory</a:t>
            </a:r>
          </a:p>
          <a:p>
            <a:endParaRPr lang="en-US" dirty="0"/>
          </a:p>
          <a:p>
            <a:r>
              <a:rPr lang="en-US" dirty="0"/>
              <a:t>When a process arrives, it is allocated memory from a hole large enough to accommodate it</a:t>
            </a:r>
          </a:p>
          <a:p>
            <a:endParaRPr lang="en-US" dirty="0"/>
          </a:p>
          <a:p>
            <a:r>
              <a:rPr lang="en-US" dirty="0"/>
              <a:t>Operating system maintains information about:</a:t>
            </a:r>
            <a:br>
              <a:rPr lang="en-US" dirty="0"/>
            </a:br>
            <a:r>
              <a:rPr lang="en-US" dirty="0"/>
              <a:t>a) allocated partitions    b) free partitions (hole)</a:t>
            </a:r>
          </a:p>
        </p:txBody>
      </p:sp>
      <p:sp>
        <p:nvSpPr>
          <p:cNvPr id="849924" name="Rectangle 4"/>
          <p:cNvSpPr>
            <a:spLocks noChangeArrowheads="1"/>
          </p:cNvSpPr>
          <p:nvPr/>
        </p:nvSpPr>
        <p:spPr bwMode="auto">
          <a:xfrm>
            <a:off x="2628900" y="1371600"/>
            <a:ext cx="1143000" cy="2133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25" name="Line 5"/>
          <p:cNvSpPr>
            <a:spLocks noChangeShapeType="1"/>
          </p:cNvSpPr>
          <p:nvPr/>
        </p:nvSpPr>
        <p:spPr bwMode="auto">
          <a:xfrm>
            <a:off x="2628900" y="1735138"/>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26" name="Line 6"/>
          <p:cNvSpPr>
            <a:spLocks noChangeShapeType="1"/>
          </p:cNvSpPr>
          <p:nvPr/>
        </p:nvSpPr>
        <p:spPr bwMode="auto">
          <a:xfrm>
            <a:off x="2628900" y="2146300"/>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27" name="Line 7"/>
          <p:cNvSpPr>
            <a:spLocks noChangeShapeType="1"/>
          </p:cNvSpPr>
          <p:nvPr/>
        </p:nvSpPr>
        <p:spPr bwMode="auto">
          <a:xfrm>
            <a:off x="2628900" y="3078163"/>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28" name="Text Box 8"/>
          <p:cNvSpPr txBox="1">
            <a:spLocks noChangeArrowheads="1"/>
          </p:cNvSpPr>
          <p:nvPr/>
        </p:nvSpPr>
        <p:spPr bwMode="auto">
          <a:xfrm>
            <a:off x="2933701" y="1371600"/>
            <a:ext cx="441325"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spcBef>
                <a:spcPct val="50000"/>
              </a:spcBef>
            </a:pPr>
            <a:r>
              <a:rPr lang="en-US" sz="1400">
                <a:latin typeface="Helvetica" charset="0"/>
              </a:rPr>
              <a:t>OS</a:t>
            </a:r>
          </a:p>
        </p:txBody>
      </p:sp>
      <p:sp>
        <p:nvSpPr>
          <p:cNvPr id="849929" name="Text Box 9"/>
          <p:cNvSpPr txBox="1">
            <a:spLocks noChangeArrowheads="1"/>
          </p:cNvSpPr>
          <p:nvPr/>
        </p:nvSpPr>
        <p:spPr bwMode="auto">
          <a:xfrm>
            <a:off x="2628900" y="18161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5</a:t>
            </a:r>
          </a:p>
        </p:txBody>
      </p:sp>
      <p:sp>
        <p:nvSpPr>
          <p:cNvPr id="849930" name="Text Box 10"/>
          <p:cNvSpPr txBox="1">
            <a:spLocks noChangeArrowheads="1"/>
          </p:cNvSpPr>
          <p:nvPr/>
        </p:nvSpPr>
        <p:spPr bwMode="auto">
          <a:xfrm>
            <a:off x="2628900" y="2498725"/>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8</a:t>
            </a:r>
          </a:p>
        </p:txBody>
      </p:sp>
      <p:sp>
        <p:nvSpPr>
          <p:cNvPr id="849931" name="Text Box 11"/>
          <p:cNvSpPr txBox="1">
            <a:spLocks noChangeArrowheads="1"/>
          </p:cNvSpPr>
          <p:nvPr/>
        </p:nvSpPr>
        <p:spPr bwMode="auto">
          <a:xfrm>
            <a:off x="2628900" y="3095625"/>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2</a:t>
            </a:r>
          </a:p>
        </p:txBody>
      </p:sp>
      <p:sp>
        <p:nvSpPr>
          <p:cNvPr id="849932" name="Rectangle 12"/>
          <p:cNvSpPr>
            <a:spLocks noChangeArrowheads="1"/>
          </p:cNvSpPr>
          <p:nvPr/>
        </p:nvSpPr>
        <p:spPr bwMode="auto">
          <a:xfrm>
            <a:off x="4457700" y="1371600"/>
            <a:ext cx="1143000" cy="2133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33" name="Line 13"/>
          <p:cNvSpPr>
            <a:spLocks noChangeShapeType="1"/>
          </p:cNvSpPr>
          <p:nvPr/>
        </p:nvSpPr>
        <p:spPr bwMode="auto">
          <a:xfrm>
            <a:off x="4457700" y="1735138"/>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34" name="Line 14"/>
          <p:cNvSpPr>
            <a:spLocks noChangeShapeType="1"/>
          </p:cNvSpPr>
          <p:nvPr/>
        </p:nvSpPr>
        <p:spPr bwMode="auto">
          <a:xfrm>
            <a:off x="4457700" y="2146300"/>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35" name="Line 15"/>
          <p:cNvSpPr>
            <a:spLocks noChangeShapeType="1"/>
          </p:cNvSpPr>
          <p:nvPr/>
        </p:nvSpPr>
        <p:spPr bwMode="auto">
          <a:xfrm>
            <a:off x="4457700" y="3078163"/>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36" name="Text Box 16"/>
          <p:cNvSpPr txBox="1">
            <a:spLocks noChangeArrowheads="1"/>
          </p:cNvSpPr>
          <p:nvPr/>
        </p:nvSpPr>
        <p:spPr bwMode="auto">
          <a:xfrm>
            <a:off x="4762501" y="1371600"/>
            <a:ext cx="441325"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spcBef>
                <a:spcPct val="50000"/>
              </a:spcBef>
            </a:pPr>
            <a:r>
              <a:rPr lang="en-US" sz="1400">
                <a:latin typeface="Helvetica" charset="0"/>
              </a:rPr>
              <a:t>OS</a:t>
            </a:r>
          </a:p>
        </p:txBody>
      </p:sp>
      <p:sp>
        <p:nvSpPr>
          <p:cNvPr id="849937" name="Text Box 17"/>
          <p:cNvSpPr txBox="1">
            <a:spLocks noChangeArrowheads="1"/>
          </p:cNvSpPr>
          <p:nvPr/>
        </p:nvSpPr>
        <p:spPr bwMode="auto">
          <a:xfrm>
            <a:off x="4457700" y="18161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5</a:t>
            </a:r>
          </a:p>
        </p:txBody>
      </p:sp>
      <p:sp>
        <p:nvSpPr>
          <p:cNvPr id="849938" name="Text Box 18"/>
          <p:cNvSpPr txBox="1">
            <a:spLocks noChangeArrowheads="1"/>
          </p:cNvSpPr>
          <p:nvPr/>
        </p:nvSpPr>
        <p:spPr bwMode="auto">
          <a:xfrm>
            <a:off x="4457700" y="3095625"/>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2</a:t>
            </a:r>
          </a:p>
        </p:txBody>
      </p:sp>
      <p:sp>
        <p:nvSpPr>
          <p:cNvPr id="849939" name="Rectangle 19"/>
          <p:cNvSpPr>
            <a:spLocks noChangeArrowheads="1"/>
          </p:cNvSpPr>
          <p:nvPr/>
        </p:nvSpPr>
        <p:spPr bwMode="auto">
          <a:xfrm>
            <a:off x="6286500" y="1371600"/>
            <a:ext cx="1143000" cy="2133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0" name="Line 20"/>
          <p:cNvSpPr>
            <a:spLocks noChangeShapeType="1"/>
          </p:cNvSpPr>
          <p:nvPr/>
        </p:nvSpPr>
        <p:spPr bwMode="auto">
          <a:xfrm>
            <a:off x="6286500" y="1735138"/>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1" name="Line 21"/>
          <p:cNvSpPr>
            <a:spLocks noChangeShapeType="1"/>
          </p:cNvSpPr>
          <p:nvPr/>
        </p:nvSpPr>
        <p:spPr bwMode="auto">
          <a:xfrm>
            <a:off x="6286500" y="2146300"/>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2" name="Line 22"/>
          <p:cNvSpPr>
            <a:spLocks noChangeShapeType="1"/>
          </p:cNvSpPr>
          <p:nvPr/>
        </p:nvSpPr>
        <p:spPr bwMode="auto">
          <a:xfrm>
            <a:off x="6286500" y="3078163"/>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3" name="Text Box 23"/>
          <p:cNvSpPr txBox="1">
            <a:spLocks noChangeArrowheads="1"/>
          </p:cNvSpPr>
          <p:nvPr/>
        </p:nvSpPr>
        <p:spPr bwMode="auto">
          <a:xfrm>
            <a:off x="6591301" y="1371600"/>
            <a:ext cx="441325"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spcBef>
                <a:spcPct val="50000"/>
              </a:spcBef>
            </a:pPr>
            <a:r>
              <a:rPr lang="en-US" sz="1400">
                <a:latin typeface="Helvetica" charset="0"/>
              </a:rPr>
              <a:t>OS</a:t>
            </a:r>
          </a:p>
        </p:txBody>
      </p:sp>
      <p:sp>
        <p:nvSpPr>
          <p:cNvPr id="849944" name="Text Box 24"/>
          <p:cNvSpPr txBox="1">
            <a:spLocks noChangeArrowheads="1"/>
          </p:cNvSpPr>
          <p:nvPr/>
        </p:nvSpPr>
        <p:spPr bwMode="auto">
          <a:xfrm>
            <a:off x="6286500" y="18161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5</a:t>
            </a:r>
          </a:p>
        </p:txBody>
      </p:sp>
      <p:sp>
        <p:nvSpPr>
          <p:cNvPr id="849945" name="Text Box 25"/>
          <p:cNvSpPr txBox="1">
            <a:spLocks noChangeArrowheads="1"/>
          </p:cNvSpPr>
          <p:nvPr/>
        </p:nvSpPr>
        <p:spPr bwMode="auto">
          <a:xfrm>
            <a:off x="6286500" y="3095625"/>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2</a:t>
            </a:r>
          </a:p>
        </p:txBody>
      </p:sp>
      <p:sp>
        <p:nvSpPr>
          <p:cNvPr id="849946" name="Rectangle 26"/>
          <p:cNvSpPr>
            <a:spLocks noChangeArrowheads="1"/>
          </p:cNvSpPr>
          <p:nvPr/>
        </p:nvSpPr>
        <p:spPr bwMode="auto">
          <a:xfrm>
            <a:off x="8115300" y="1371600"/>
            <a:ext cx="1143000" cy="2133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7" name="Line 27"/>
          <p:cNvSpPr>
            <a:spLocks noChangeShapeType="1"/>
          </p:cNvSpPr>
          <p:nvPr/>
        </p:nvSpPr>
        <p:spPr bwMode="auto">
          <a:xfrm>
            <a:off x="8115300" y="1735138"/>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8" name="Line 28"/>
          <p:cNvSpPr>
            <a:spLocks noChangeShapeType="1"/>
          </p:cNvSpPr>
          <p:nvPr/>
        </p:nvSpPr>
        <p:spPr bwMode="auto">
          <a:xfrm>
            <a:off x="8115300" y="2146300"/>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49" name="Line 29"/>
          <p:cNvSpPr>
            <a:spLocks noChangeShapeType="1"/>
          </p:cNvSpPr>
          <p:nvPr/>
        </p:nvSpPr>
        <p:spPr bwMode="auto">
          <a:xfrm>
            <a:off x="8115300" y="3078163"/>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50" name="Text Box 30"/>
          <p:cNvSpPr txBox="1">
            <a:spLocks noChangeArrowheads="1"/>
          </p:cNvSpPr>
          <p:nvPr/>
        </p:nvSpPr>
        <p:spPr bwMode="auto">
          <a:xfrm>
            <a:off x="8420101" y="1371600"/>
            <a:ext cx="441325"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pPr algn="ctr" eaLnBrk="0" hangingPunct="0">
              <a:spcBef>
                <a:spcPct val="50000"/>
              </a:spcBef>
            </a:pPr>
            <a:r>
              <a:rPr lang="en-US" sz="1400">
                <a:latin typeface="Helvetica" charset="0"/>
              </a:rPr>
              <a:t>OS</a:t>
            </a:r>
          </a:p>
        </p:txBody>
      </p:sp>
      <p:sp>
        <p:nvSpPr>
          <p:cNvPr id="849951" name="Text Box 31"/>
          <p:cNvSpPr txBox="1">
            <a:spLocks noChangeArrowheads="1"/>
          </p:cNvSpPr>
          <p:nvPr/>
        </p:nvSpPr>
        <p:spPr bwMode="auto">
          <a:xfrm>
            <a:off x="8115300" y="18161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5</a:t>
            </a:r>
          </a:p>
        </p:txBody>
      </p:sp>
      <p:sp>
        <p:nvSpPr>
          <p:cNvPr id="849952" name="Text Box 32"/>
          <p:cNvSpPr txBox="1">
            <a:spLocks noChangeArrowheads="1"/>
          </p:cNvSpPr>
          <p:nvPr/>
        </p:nvSpPr>
        <p:spPr bwMode="auto">
          <a:xfrm>
            <a:off x="8115300" y="21336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9</a:t>
            </a:r>
          </a:p>
        </p:txBody>
      </p:sp>
      <p:sp>
        <p:nvSpPr>
          <p:cNvPr id="849953" name="Text Box 33"/>
          <p:cNvSpPr txBox="1">
            <a:spLocks noChangeArrowheads="1"/>
          </p:cNvSpPr>
          <p:nvPr/>
        </p:nvSpPr>
        <p:spPr bwMode="auto">
          <a:xfrm>
            <a:off x="8115300" y="3095625"/>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2</a:t>
            </a:r>
          </a:p>
        </p:txBody>
      </p:sp>
      <p:sp>
        <p:nvSpPr>
          <p:cNvPr id="849954" name="Rectangle 34"/>
          <p:cNvSpPr>
            <a:spLocks noChangeArrowheads="1"/>
          </p:cNvSpPr>
          <p:nvPr/>
        </p:nvSpPr>
        <p:spPr bwMode="auto">
          <a:xfrm>
            <a:off x="4457700" y="2133600"/>
            <a:ext cx="1143000" cy="990600"/>
          </a:xfrm>
          <a:prstGeom prst="rect">
            <a:avLst/>
          </a:prstGeom>
          <a:solidFill>
            <a:srgbClr val="DDDDDD"/>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55" name="Rectangle 35"/>
          <p:cNvSpPr>
            <a:spLocks noChangeArrowheads="1"/>
          </p:cNvSpPr>
          <p:nvPr/>
        </p:nvSpPr>
        <p:spPr bwMode="auto">
          <a:xfrm>
            <a:off x="6286500" y="2514600"/>
            <a:ext cx="1143000" cy="609600"/>
          </a:xfrm>
          <a:prstGeom prst="rect">
            <a:avLst/>
          </a:prstGeom>
          <a:solidFill>
            <a:srgbClr val="DDDDDD"/>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56" name="Text Box 36"/>
          <p:cNvSpPr txBox="1">
            <a:spLocks noChangeArrowheads="1"/>
          </p:cNvSpPr>
          <p:nvPr/>
        </p:nvSpPr>
        <p:spPr bwMode="auto">
          <a:xfrm>
            <a:off x="6286500" y="21336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9</a:t>
            </a:r>
          </a:p>
        </p:txBody>
      </p:sp>
      <p:sp>
        <p:nvSpPr>
          <p:cNvPr id="849957" name="Rectangle 37"/>
          <p:cNvSpPr>
            <a:spLocks noChangeArrowheads="1"/>
          </p:cNvSpPr>
          <p:nvPr/>
        </p:nvSpPr>
        <p:spPr bwMode="auto">
          <a:xfrm>
            <a:off x="8115300" y="2819400"/>
            <a:ext cx="1143000" cy="304800"/>
          </a:xfrm>
          <a:prstGeom prst="rect">
            <a:avLst/>
          </a:prstGeom>
          <a:solidFill>
            <a:srgbClr val="DDDDDD"/>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58" name="Line 38"/>
          <p:cNvSpPr>
            <a:spLocks noChangeShapeType="1"/>
          </p:cNvSpPr>
          <p:nvPr/>
        </p:nvSpPr>
        <p:spPr bwMode="auto">
          <a:xfrm>
            <a:off x="8115300" y="2470150"/>
            <a:ext cx="11430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59" name="Text Box 39"/>
          <p:cNvSpPr txBox="1">
            <a:spLocks noChangeArrowheads="1"/>
          </p:cNvSpPr>
          <p:nvPr/>
        </p:nvSpPr>
        <p:spPr bwMode="auto">
          <a:xfrm>
            <a:off x="8115300" y="2514600"/>
            <a:ext cx="106680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eaLnBrk="0" hangingPunct="0">
              <a:spcBef>
                <a:spcPct val="50000"/>
              </a:spcBef>
            </a:pPr>
            <a:r>
              <a:rPr lang="en-US" sz="1400">
                <a:latin typeface="Helvetica" charset="0"/>
              </a:rPr>
              <a:t>process 10</a:t>
            </a:r>
          </a:p>
        </p:txBody>
      </p:sp>
      <p:sp>
        <p:nvSpPr>
          <p:cNvPr id="849960" name="AutoShape 40"/>
          <p:cNvSpPr>
            <a:spLocks noChangeArrowheads="1"/>
          </p:cNvSpPr>
          <p:nvPr/>
        </p:nvSpPr>
        <p:spPr bwMode="auto">
          <a:xfrm>
            <a:off x="3848100" y="2514600"/>
            <a:ext cx="533400" cy="228600"/>
          </a:xfrm>
          <a:prstGeom prst="rightArrow">
            <a:avLst>
              <a:gd name="adj1" fmla="val 50000"/>
              <a:gd name="adj2" fmla="val 58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61" name="AutoShape 41"/>
          <p:cNvSpPr>
            <a:spLocks noChangeArrowheads="1"/>
          </p:cNvSpPr>
          <p:nvPr/>
        </p:nvSpPr>
        <p:spPr bwMode="auto">
          <a:xfrm>
            <a:off x="5676900" y="2514600"/>
            <a:ext cx="533400" cy="228600"/>
          </a:xfrm>
          <a:prstGeom prst="rightArrow">
            <a:avLst>
              <a:gd name="adj1" fmla="val 50000"/>
              <a:gd name="adj2" fmla="val 58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49962" name="AutoShape 42"/>
          <p:cNvSpPr>
            <a:spLocks noChangeArrowheads="1"/>
          </p:cNvSpPr>
          <p:nvPr/>
        </p:nvSpPr>
        <p:spPr bwMode="auto">
          <a:xfrm>
            <a:off x="7505700" y="2514600"/>
            <a:ext cx="533400" cy="228600"/>
          </a:xfrm>
          <a:prstGeom prst="rightArrow">
            <a:avLst>
              <a:gd name="adj1" fmla="val 50000"/>
              <a:gd name="adj2" fmla="val 58333"/>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Tree>
    <p:extLst>
      <p:ext uri="{BB962C8B-B14F-4D97-AF65-F5344CB8AC3E}">
        <p14:creationId xmlns:p14="http://schemas.microsoft.com/office/powerpoint/2010/main" val="2921081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082" name="Rectangle 2"/>
          <p:cNvSpPr>
            <a:spLocks noGrp="1" noChangeArrowheads="1"/>
          </p:cNvSpPr>
          <p:nvPr>
            <p:ph type="title"/>
          </p:nvPr>
        </p:nvSpPr>
        <p:spPr>
          <a:xfrm>
            <a:off x="1143000" y="304800"/>
            <a:ext cx="9601200" cy="1524000"/>
          </a:xfrm>
        </p:spPr>
        <p:txBody>
          <a:bodyPr/>
          <a:lstStyle/>
          <a:p>
            <a:r>
              <a:rPr lang="en-US" dirty="0">
                <a:latin typeface="+mj-lt"/>
              </a:rPr>
              <a:t>Fixed-Partition Memory Mechanism</a:t>
            </a:r>
          </a:p>
        </p:txBody>
      </p:sp>
      <p:sp>
        <p:nvSpPr>
          <p:cNvPr id="814083" name="Rectangle 3"/>
          <p:cNvSpPr>
            <a:spLocks noChangeArrowheads="1"/>
          </p:cNvSpPr>
          <p:nvPr/>
        </p:nvSpPr>
        <p:spPr bwMode="auto">
          <a:xfrm>
            <a:off x="5056187" y="1600200"/>
            <a:ext cx="1676400" cy="4038600"/>
          </a:xfrm>
          <a:prstGeom prst="rect">
            <a:avLst/>
          </a:prstGeom>
          <a:solidFill>
            <a:schemeClr val="folHlink"/>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endParaRPr lang="en-US"/>
          </a:p>
        </p:txBody>
      </p:sp>
      <p:sp>
        <p:nvSpPr>
          <p:cNvPr id="814084" name="Rectangle 4"/>
          <p:cNvSpPr>
            <a:spLocks noChangeArrowheads="1"/>
          </p:cNvSpPr>
          <p:nvPr/>
        </p:nvSpPr>
        <p:spPr bwMode="auto">
          <a:xfrm>
            <a:off x="5056187" y="1600200"/>
            <a:ext cx="1676400" cy="6858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t>Operating</a:t>
            </a:r>
          </a:p>
          <a:p>
            <a:pPr algn="ctr" eaLnBrk="0" hangingPunct="0"/>
            <a:r>
              <a:rPr lang="en-US"/>
              <a:t>System</a:t>
            </a:r>
          </a:p>
        </p:txBody>
      </p:sp>
      <p:sp>
        <p:nvSpPr>
          <p:cNvPr id="814085" name="Rectangle 5"/>
          <p:cNvSpPr>
            <a:spLocks noChangeArrowheads="1"/>
          </p:cNvSpPr>
          <p:nvPr/>
        </p:nvSpPr>
        <p:spPr bwMode="auto">
          <a:xfrm>
            <a:off x="5056187" y="2286000"/>
            <a:ext cx="1676400" cy="12192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086" name="Rectangle 6"/>
          <p:cNvSpPr>
            <a:spLocks noChangeArrowheads="1"/>
          </p:cNvSpPr>
          <p:nvPr/>
        </p:nvSpPr>
        <p:spPr bwMode="auto">
          <a:xfrm>
            <a:off x="5056187" y="3505200"/>
            <a:ext cx="1676400" cy="9144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087" name="Rectangle 7"/>
          <p:cNvSpPr>
            <a:spLocks noChangeArrowheads="1"/>
          </p:cNvSpPr>
          <p:nvPr/>
        </p:nvSpPr>
        <p:spPr bwMode="auto">
          <a:xfrm>
            <a:off x="5056187" y="4419600"/>
            <a:ext cx="1676400" cy="6858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088" name="Rectangle 8"/>
          <p:cNvSpPr>
            <a:spLocks noChangeArrowheads="1"/>
          </p:cNvSpPr>
          <p:nvPr/>
        </p:nvSpPr>
        <p:spPr bwMode="auto">
          <a:xfrm>
            <a:off x="5056187" y="5105400"/>
            <a:ext cx="1676400" cy="5334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089" name="Text Box 9"/>
          <p:cNvSpPr txBox="1">
            <a:spLocks noChangeArrowheads="1"/>
          </p:cNvSpPr>
          <p:nvPr/>
        </p:nvSpPr>
        <p:spPr bwMode="auto">
          <a:xfrm>
            <a:off x="5208587" y="5105400"/>
            <a:ext cx="110799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solidFill>
                  <a:schemeClr val="bg1"/>
                </a:solidFill>
              </a:rPr>
              <a:t>Region 3</a:t>
            </a:r>
          </a:p>
        </p:txBody>
      </p:sp>
      <p:sp>
        <p:nvSpPr>
          <p:cNvPr id="814090" name="Text Box 10"/>
          <p:cNvSpPr txBox="1">
            <a:spLocks noChangeArrowheads="1"/>
          </p:cNvSpPr>
          <p:nvPr/>
        </p:nvSpPr>
        <p:spPr bwMode="auto">
          <a:xfrm>
            <a:off x="5208587" y="4572000"/>
            <a:ext cx="110799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solidFill>
                  <a:schemeClr val="bg1"/>
                </a:solidFill>
              </a:rPr>
              <a:t>Region 2</a:t>
            </a:r>
          </a:p>
        </p:txBody>
      </p:sp>
      <p:sp>
        <p:nvSpPr>
          <p:cNvPr id="814091" name="Text Box 11"/>
          <p:cNvSpPr txBox="1">
            <a:spLocks noChangeArrowheads="1"/>
          </p:cNvSpPr>
          <p:nvPr/>
        </p:nvSpPr>
        <p:spPr bwMode="auto">
          <a:xfrm>
            <a:off x="5208587" y="3657600"/>
            <a:ext cx="110799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solidFill>
                  <a:schemeClr val="bg1"/>
                </a:solidFill>
              </a:rPr>
              <a:t>Region 1</a:t>
            </a:r>
          </a:p>
        </p:txBody>
      </p:sp>
      <p:sp>
        <p:nvSpPr>
          <p:cNvPr id="814092" name="Text Box 12"/>
          <p:cNvSpPr txBox="1">
            <a:spLocks noChangeArrowheads="1"/>
          </p:cNvSpPr>
          <p:nvPr/>
        </p:nvSpPr>
        <p:spPr bwMode="auto">
          <a:xfrm>
            <a:off x="5208587" y="2667000"/>
            <a:ext cx="1107996"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dirty="0">
                <a:solidFill>
                  <a:schemeClr val="bg1"/>
                </a:solidFill>
              </a:rPr>
              <a:t>Region 0</a:t>
            </a:r>
          </a:p>
        </p:txBody>
      </p:sp>
      <p:sp>
        <p:nvSpPr>
          <p:cNvPr id="814093" name="Text Box 13"/>
          <p:cNvSpPr txBox="1">
            <a:spLocks noChangeArrowheads="1"/>
          </p:cNvSpPr>
          <p:nvPr/>
        </p:nvSpPr>
        <p:spPr bwMode="auto">
          <a:xfrm>
            <a:off x="6884988" y="2667000"/>
            <a:ext cx="43633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N</a:t>
            </a:r>
            <a:r>
              <a:rPr lang="en-US" baseline="-25000"/>
              <a:t>0</a:t>
            </a:r>
            <a:endParaRPr lang="en-US"/>
          </a:p>
        </p:txBody>
      </p:sp>
      <p:sp>
        <p:nvSpPr>
          <p:cNvPr id="814094" name="Text Box 14"/>
          <p:cNvSpPr txBox="1">
            <a:spLocks noChangeArrowheads="1"/>
          </p:cNvSpPr>
          <p:nvPr/>
        </p:nvSpPr>
        <p:spPr bwMode="auto">
          <a:xfrm>
            <a:off x="6884988" y="3657600"/>
            <a:ext cx="43633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N</a:t>
            </a:r>
            <a:r>
              <a:rPr lang="en-US" baseline="-25000"/>
              <a:t>1</a:t>
            </a:r>
            <a:endParaRPr lang="en-US"/>
          </a:p>
        </p:txBody>
      </p:sp>
      <p:sp>
        <p:nvSpPr>
          <p:cNvPr id="814095" name="Text Box 15"/>
          <p:cNvSpPr txBox="1">
            <a:spLocks noChangeArrowheads="1"/>
          </p:cNvSpPr>
          <p:nvPr/>
        </p:nvSpPr>
        <p:spPr bwMode="auto">
          <a:xfrm>
            <a:off x="6884988" y="4495800"/>
            <a:ext cx="43633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N</a:t>
            </a:r>
            <a:r>
              <a:rPr lang="en-US" baseline="-25000"/>
              <a:t>2</a:t>
            </a:r>
            <a:endParaRPr lang="en-US"/>
          </a:p>
        </p:txBody>
      </p:sp>
      <p:sp>
        <p:nvSpPr>
          <p:cNvPr id="814096" name="Text Box 16"/>
          <p:cNvSpPr txBox="1">
            <a:spLocks noChangeArrowheads="1"/>
          </p:cNvSpPr>
          <p:nvPr/>
        </p:nvSpPr>
        <p:spPr bwMode="auto">
          <a:xfrm>
            <a:off x="6884988" y="5105400"/>
            <a:ext cx="436338"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N</a:t>
            </a:r>
            <a:r>
              <a:rPr lang="en-US" baseline="-25000"/>
              <a:t>3</a:t>
            </a:r>
            <a:endParaRPr lang="en-US"/>
          </a:p>
        </p:txBody>
      </p:sp>
      <p:sp>
        <p:nvSpPr>
          <p:cNvPr id="814097" name="Line 17"/>
          <p:cNvSpPr>
            <a:spLocks noChangeShapeType="1"/>
          </p:cNvSpPr>
          <p:nvPr/>
        </p:nvSpPr>
        <p:spPr bwMode="auto">
          <a:xfrm>
            <a:off x="6808787" y="22860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098" name="Line 18"/>
          <p:cNvSpPr>
            <a:spLocks noChangeShapeType="1"/>
          </p:cNvSpPr>
          <p:nvPr/>
        </p:nvSpPr>
        <p:spPr bwMode="auto">
          <a:xfrm>
            <a:off x="6808787" y="35052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099" name="Line 19"/>
          <p:cNvSpPr>
            <a:spLocks noChangeShapeType="1"/>
          </p:cNvSpPr>
          <p:nvPr/>
        </p:nvSpPr>
        <p:spPr bwMode="auto">
          <a:xfrm>
            <a:off x="6808787" y="44196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100" name="Line 20"/>
          <p:cNvSpPr>
            <a:spLocks noChangeShapeType="1"/>
          </p:cNvSpPr>
          <p:nvPr/>
        </p:nvSpPr>
        <p:spPr bwMode="auto">
          <a:xfrm>
            <a:off x="6808787" y="51054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101" name="Line 21"/>
          <p:cNvSpPr>
            <a:spLocks noChangeShapeType="1"/>
          </p:cNvSpPr>
          <p:nvPr/>
        </p:nvSpPr>
        <p:spPr bwMode="auto">
          <a:xfrm>
            <a:off x="6808787" y="5638800"/>
            <a:ext cx="5334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102" name="Rectangle 22"/>
          <p:cNvSpPr>
            <a:spLocks noChangeArrowheads="1"/>
          </p:cNvSpPr>
          <p:nvPr/>
        </p:nvSpPr>
        <p:spPr bwMode="auto">
          <a:xfrm>
            <a:off x="2693987" y="2895600"/>
            <a:ext cx="1676400" cy="609600"/>
          </a:xfrm>
          <a:prstGeom prst="rect">
            <a:avLst/>
          </a:prstGeom>
          <a:solidFill>
            <a:schemeClr val="bg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hangingPunct="0"/>
            <a:r>
              <a:rPr lang="en-US"/>
              <a:t>p</a:t>
            </a:r>
            <a:r>
              <a:rPr lang="en-US" baseline="-25000"/>
              <a:t>i</a:t>
            </a:r>
          </a:p>
        </p:txBody>
      </p:sp>
      <p:sp>
        <p:nvSpPr>
          <p:cNvPr id="814103" name="Text Box 23"/>
          <p:cNvSpPr txBox="1">
            <a:spLocks noChangeArrowheads="1"/>
          </p:cNvSpPr>
          <p:nvPr/>
        </p:nvSpPr>
        <p:spPr bwMode="auto">
          <a:xfrm>
            <a:off x="2465388" y="2362200"/>
            <a:ext cx="1816523"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p</a:t>
            </a:r>
            <a:r>
              <a:rPr lang="en-US" baseline="-25000"/>
              <a:t>i</a:t>
            </a:r>
            <a:r>
              <a:rPr lang="en-US"/>
              <a:t> needs n</a:t>
            </a:r>
            <a:r>
              <a:rPr lang="en-US" baseline="-25000"/>
              <a:t>i</a:t>
            </a:r>
            <a:r>
              <a:rPr lang="en-US"/>
              <a:t> units</a:t>
            </a:r>
          </a:p>
        </p:txBody>
      </p:sp>
      <p:sp>
        <p:nvSpPr>
          <p:cNvPr id="814104" name="Text Box 24"/>
          <p:cNvSpPr txBox="1">
            <a:spLocks noChangeArrowheads="1"/>
          </p:cNvSpPr>
          <p:nvPr/>
        </p:nvSpPr>
        <p:spPr bwMode="auto">
          <a:xfrm>
            <a:off x="2312987" y="2971800"/>
            <a:ext cx="34657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hangingPunct="0"/>
            <a:r>
              <a:rPr lang="en-US"/>
              <a:t>n</a:t>
            </a:r>
            <a:r>
              <a:rPr lang="en-US" baseline="-25000"/>
              <a:t>i</a:t>
            </a:r>
          </a:p>
        </p:txBody>
      </p:sp>
      <p:sp>
        <p:nvSpPr>
          <p:cNvPr id="814105" name="Line 25"/>
          <p:cNvSpPr>
            <a:spLocks noChangeShapeType="1"/>
          </p:cNvSpPr>
          <p:nvPr/>
        </p:nvSpPr>
        <p:spPr bwMode="auto">
          <a:xfrm>
            <a:off x="2312987" y="28956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106" name="Line 26"/>
          <p:cNvSpPr>
            <a:spLocks noChangeShapeType="1"/>
          </p:cNvSpPr>
          <p:nvPr/>
        </p:nvSpPr>
        <p:spPr bwMode="auto">
          <a:xfrm>
            <a:off x="2312987" y="3505200"/>
            <a:ext cx="304800" cy="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107" name="Line 27"/>
          <p:cNvSpPr>
            <a:spLocks noChangeShapeType="1"/>
          </p:cNvSpPr>
          <p:nvPr/>
        </p:nvSpPr>
        <p:spPr bwMode="auto">
          <a:xfrm flipV="1">
            <a:off x="2465387" y="2895600"/>
            <a:ext cx="0" cy="2286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814108" name="Line 28"/>
          <p:cNvSpPr>
            <a:spLocks noChangeShapeType="1"/>
          </p:cNvSpPr>
          <p:nvPr/>
        </p:nvSpPr>
        <p:spPr bwMode="auto">
          <a:xfrm>
            <a:off x="2465387" y="3352800"/>
            <a:ext cx="0" cy="152400"/>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29" name="Picture 28"/>
          <p:cNvPicPr>
            <a:picLocks noChangeAspect="1"/>
          </p:cNvPicPr>
          <p:nvPr/>
        </p:nvPicPr>
        <p:blipFill>
          <a:blip r:embed="rId2"/>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540879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Fixed-Partition Memory Mechanism-1</a:t>
            </a:r>
            <a:endParaRPr lang="en-US" dirty="0">
              <a:latin typeface="+mj-lt"/>
            </a:endParaRPr>
          </a:p>
        </p:txBody>
      </p:sp>
      <p:sp>
        <p:nvSpPr>
          <p:cNvPr id="3" name="Content Placeholder 2"/>
          <p:cNvSpPr>
            <a:spLocks noGrp="1"/>
          </p:cNvSpPr>
          <p:nvPr>
            <p:ph idx="4294967295"/>
          </p:nvPr>
        </p:nvSpPr>
        <p:spPr>
          <a:xfrm>
            <a:off x="762000" y="1371600"/>
            <a:ext cx="10820400" cy="4343400"/>
          </a:xfrm>
        </p:spPr>
        <p:txBody>
          <a:bodyPr/>
          <a:lstStyle/>
          <a:p>
            <a:r>
              <a:rPr lang="en-US" b="1" dirty="0">
                <a:solidFill>
                  <a:srgbClr val="000000"/>
                </a:solidFill>
                <a:latin typeface="Times New Roman" panose="02020603050405020304" pitchFamily="18" charset="0"/>
              </a:rPr>
              <a:t>Best fit</a:t>
            </a:r>
            <a:r>
              <a:rPr lang="en-US" dirty="0">
                <a:solidFill>
                  <a:srgbClr val="000000"/>
                </a:solidFill>
                <a:latin typeface="Times New Roman" panose="02020603050405020304" pitchFamily="18" charset="0"/>
              </a:rPr>
              <a:t>: The allocator places a process in the smallest block of unallocated memory in which it will fit. </a:t>
            </a:r>
          </a:p>
          <a:p>
            <a:endParaRPr lang="en-US" b="1" i="1"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11</a:t>
            </a:fld>
            <a:endParaRPr lang="en-US" dirty="0"/>
          </a:p>
        </p:txBody>
      </p:sp>
      <p:pic>
        <p:nvPicPr>
          <p:cNvPr id="6" name="Picture 5"/>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297965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Fixed-Partition Memory Mechanism-2</a:t>
            </a:r>
            <a:endParaRPr lang="en-US" dirty="0">
              <a:latin typeface="+mj-lt"/>
            </a:endParaRPr>
          </a:p>
        </p:txBody>
      </p:sp>
      <p:sp>
        <p:nvSpPr>
          <p:cNvPr id="3" name="Content Placeholder 2"/>
          <p:cNvSpPr>
            <a:spLocks noGrp="1"/>
          </p:cNvSpPr>
          <p:nvPr>
            <p:ph idx="4294967295"/>
          </p:nvPr>
        </p:nvSpPr>
        <p:spPr>
          <a:xfrm>
            <a:off x="762000" y="1371600"/>
            <a:ext cx="10820400" cy="4343400"/>
          </a:xfrm>
        </p:spPr>
        <p:txBody>
          <a:bodyPr/>
          <a:lstStyle/>
          <a:p>
            <a:r>
              <a:rPr lang="en-US" b="1" dirty="0">
                <a:solidFill>
                  <a:srgbClr val="000000"/>
                </a:solidFill>
                <a:latin typeface="Times New Roman" panose="02020603050405020304" pitchFamily="18" charset="0"/>
              </a:rPr>
              <a:t>First fit:</a:t>
            </a:r>
            <a:r>
              <a:rPr lang="en-US" dirty="0">
                <a:solidFill>
                  <a:srgbClr val="000000"/>
                </a:solidFill>
                <a:latin typeface="Times New Roman" panose="02020603050405020304" pitchFamily="18" charset="0"/>
              </a:rPr>
              <a:t> There may be many holes in the memory, so the operating system, to reduce the amount of time it spends analyzing the available spaces, begins at the start of primary memory and allocates memory from the first hole it encounters large enough to satisfy the request.</a:t>
            </a:r>
            <a:endParaRPr lang="en-US" b="1" i="1"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12</a:t>
            </a:fld>
            <a:endParaRPr lang="en-US" dirty="0"/>
          </a:p>
        </p:txBody>
      </p:sp>
      <p:pic>
        <p:nvPicPr>
          <p:cNvPr id="6" name="Picture 5"/>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1044533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Fixed-Partition Memory Mechanism-3</a:t>
            </a:r>
            <a:endParaRPr lang="en-US" dirty="0">
              <a:latin typeface="+mj-lt"/>
            </a:endParaRPr>
          </a:p>
        </p:txBody>
      </p:sp>
      <p:sp>
        <p:nvSpPr>
          <p:cNvPr id="3" name="Content Placeholder 2"/>
          <p:cNvSpPr>
            <a:spLocks noGrp="1"/>
          </p:cNvSpPr>
          <p:nvPr>
            <p:ph idx="4294967295"/>
          </p:nvPr>
        </p:nvSpPr>
        <p:spPr>
          <a:xfrm>
            <a:off x="762000" y="1371600"/>
            <a:ext cx="10820400" cy="4343400"/>
          </a:xfrm>
        </p:spPr>
        <p:txBody>
          <a:bodyPr/>
          <a:lstStyle/>
          <a:p>
            <a:pPr lvl="0"/>
            <a:r>
              <a:rPr lang="en-US" b="1" dirty="0">
                <a:solidFill>
                  <a:srgbClr val="000000"/>
                </a:solidFill>
                <a:latin typeface="Times New Roman" panose="02020603050405020304" pitchFamily="18" charset="0"/>
              </a:rPr>
              <a:t>Worst fit:</a:t>
            </a:r>
            <a:r>
              <a:rPr lang="en-US" dirty="0">
                <a:solidFill>
                  <a:srgbClr val="000000"/>
                </a:solidFill>
                <a:latin typeface="Times New Roman" panose="02020603050405020304" pitchFamily="18" charset="0"/>
              </a:rPr>
              <a:t> The memory manager places a process in the largest block of unallocated memory available. The idea is that this placement will create the largest hold after the allocations, thus increasing the possibility that, compared to best fit, another process can use the remaining space.</a:t>
            </a:r>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13</a:t>
            </a:fld>
            <a:endParaRPr lang="en-US" dirty="0"/>
          </a:p>
        </p:txBody>
      </p:sp>
      <p:pic>
        <p:nvPicPr>
          <p:cNvPr id="6" name="Picture 5"/>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366370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Fixed-Partition Memory Mechanism</a:t>
            </a:r>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14</a:t>
            </a:fld>
            <a:endParaRPr lang="en-US" dirty="0"/>
          </a:p>
        </p:txBody>
      </p:sp>
      <p:pic>
        <p:nvPicPr>
          <p:cNvPr id="4" name="Picture 3"/>
          <p:cNvPicPr>
            <a:picLocks noChangeAspect="1"/>
          </p:cNvPicPr>
          <p:nvPr/>
        </p:nvPicPr>
        <p:blipFill>
          <a:blip r:embed="rId2"/>
          <a:stretch>
            <a:fillRect/>
          </a:stretch>
        </p:blipFill>
        <p:spPr>
          <a:xfrm>
            <a:off x="566737" y="1257300"/>
            <a:ext cx="11058525" cy="4343400"/>
          </a:xfrm>
          <a:prstGeom prst="rect">
            <a:avLst/>
          </a:prstGeom>
        </p:spPr>
      </p:pic>
    </p:spTree>
    <p:extLst>
      <p:ext uri="{BB962C8B-B14F-4D97-AF65-F5344CB8AC3E}">
        <p14:creationId xmlns:p14="http://schemas.microsoft.com/office/powerpoint/2010/main" val="521841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Disadvantages</a:t>
            </a:r>
          </a:p>
        </p:txBody>
      </p:sp>
      <p:sp>
        <p:nvSpPr>
          <p:cNvPr id="3" name="Content Placeholder 2"/>
          <p:cNvSpPr>
            <a:spLocks noGrp="1"/>
          </p:cNvSpPr>
          <p:nvPr>
            <p:ph idx="4294967295"/>
          </p:nvPr>
        </p:nvSpPr>
        <p:spPr>
          <a:xfrm>
            <a:off x="2057400" y="1371600"/>
            <a:ext cx="8001000" cy="4343400"/>
          </a:xfrm>
        </p:spPr>
        <p:txBody>
          <a:bodyPr/>
          <a:lstStyle/>
          <a:p>
            <a:r>
              <a:rPr lang="en-US" sz="2800" dirty="0"/>
              <a:t>A program may be too big to fit in a partition </a:t>
            </a:r>
          </a:p>
          <a:p>
            <a:pPr lvl="1"/>
            <a:r>
              <a:rPr lang="en-US" sz="2400" dirty="0"/>
              <a:t>program needs to be designed with the use of overlays</a:t>
            </a:r>
          </a:p>
          <a:p>
            <a:pPr marL="457200" lvl="1" indent="0">
              <a:buNone/>
            </a:pPr>
            <a:endParaRPr lang="en-US" sz="2400" dirty="0"/>
          </a:p>
          <a:p>
            <a:r>
              <a:rPr lang="en-US" sz="2800" dirty="0"/>
              <a:t>Main memory utilization is inefficient  </a:t>
            </a:r>
          </a:p>
          <a:p>
            <a:pPr lvl="1"/>
            <a:r>
              <a:rPr lang="en-US" sz="2400" dirty="0"/>
              <a:t>any program, regardless of size, occupies an entire partition</a:t>
            </a:r>
          </a:p>
          <a:p>
            <a:pPr lvl="1"/>
            <a:endParaRPr lang="en-US" sz="2400" dirty="0"/>
          </a:p>
          <a:p>
            <a:pPr lvl="1"/>
            <a:r>
              <a:rPr lang="en-US" sz="2400" b="1" i="1" dirty="0"/>
              <a:t>internal fragmentation </a:t>
            </a:r>
          </a:p>
          <a:p>
            <a:pPr lvl="2"/>
            <a:r>
              <a:rPr lang="en-US" dirty="0"/>
              <a:t>wasted space due to the block of data loaded being smaller than the partition</a:t>
            </a:r>
            <a:endParaRPr lang="en-US" b="1" i="1"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15</a:t>
            </a:fld>
            <a:endParaRPr lang="en-US" dirty="0"/>
          </a:p>
        </p:txBody>
      </p:sp>
      <p:pic>
        <p:nvPicPr>
          <p:cNvPr id="6" name="Picture 5"/>
          <p:cNvPicPr>
            <a:picLocks noChangeAspect="1"/>
          </p:cNvPicPr>
          <p:nvPr/>
        </p:nvPicPr>
        <p:blipFill>
          <a:blip r:embed="rId3"/>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3090414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Fragmentation</a:t>
            </a:r>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16</a:t>
            </a:fld>
            <a:endParaRPr lang="en-US" dirty="0"/>
          </a:p>
        </p:txBody>
      </p:sp>
      <p:sp>
        <p:nvSpPr>
          <p:cNvPr id="5" name="Content Placeholder 2"/>
          <p:cNvSpPr txBox="1">
            <a:spLocks/>
          </p:cNvSpPr>
          <p:nvPr/>
        </p:nvSpPr>
        <p:spPr bwMode="auto">
          <a:xfrm>
            <a:off x="609600" y="1371600"/>
            <a:ext cx="10820400" cy="43434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0"/>
              </a:spcAft>
              <a:buFont typeface="Arial" charset="0"/>
              <a:buChar char="•"/>
              <a:defRPr sz="3200" kern="1200">
                <a:solidFill>
                  <a:schemeClr val="tx1"/>
                </a:solidFill>
                <a:latin typeface="Calibri"/>
                <a:ea typeface="ＭＳ Ｐゴシック" charset="0"/>
                <a:cs typeface="ＭＳ Ｐゴシック" charset="0"/>
              </a:defRPr>
            </a:lvl1pPr>
            <a:lvl2pPr marL="742950" indent="-285750" algn="l" rtl="0" eaLnBrk="0" fontAlgn="base" hangingPunct="0">
              <a:spcBef>
                <a:spcPct val="0"/>
              </a:spcBef>
              <a:spcAft>
                <a:spcPct val="0"/>
              </a:spcAft>
              <a:buFont typeface="Arial" charset="0"/>
              <a:buChar char="–"/>
              <a:defRPr sz="2800" kern="1200">
                <a:solidFill>
                  <a:schemeClr val="tx1"/>
                </a:solidFill>
                <a:latin typeface="Calibri"/>
                <a:ea typeface="ＭＳ Ｐゴシック" charset="0"/>
                <a:cs typeface="+mn-cs"/>
              </a:defRPr>
            </a:lvl2pPr>
            <a:lvl3pPr marL="1143000" indent="-228600" algn="l" rtl="0" eaLnBrk="0" fontAlgn="base" hangingPunct="0">
              <a:spcBef>
                <a:spcPct val="0"/>
              </a:spcBef>
              <a:spcAft>
                <a:spcPct val="0"/>
              </a:spcAft>
              <a:buFont typeface="Arial" charset="0"/>
              <a:buChar char="•"/>
              <a:defRPr sz="2400" kern="1200">
                <a:solidFill>
                  <a:schemeClr val="tx1"/>
                </a:solidFill>
                <a:latin typeface="Calibri"/>
                <a:ea typeface="ＭＳ Ｐゴシック" charset="0"/>
                <a:cs typeface="+mn-cs"/>
              </a:defRPr>
            </a:lvl3pPr>
            <a:lvl4pPr marL="16002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4pPr>
            <a:lvl5pPr marL="20574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b="1" dirty="0"/>
              <a:t>Fragmentation</a:t>
            </a:r>
            <a:r>
              <a:rPr lang="en-US" sz="2800" dirty="0"/>
              <a:t> is a condition that occurs when we dynamically allocate the RAM to the processes, then many free memory blocks are available but they are not enough to load the process on RAM.</a:t>
            </a:r>
          </a:p>
          <a:p>
            <a:r>
              <a:rPr lang="en-US" dirty="0">
                <a:solidFill>
                  <a:srgbClr val="333333"/>
                </a:solidFill>
                <a:latin typeface="q_serif"/>
              </a:rPr>
              <a:t> </a:t>
            </a:r>
            <a:endParaRPr lang="en-US" b="1" i="1" dirty="0"/>
          </a:p>
        </p:txBody>
      </p:sp>
    </p:spTree>
    <p:extLst>
      <p:ext uri="{BB962C8B-B14F-4D97-AF65-F5344CB8AC3E}">
        <p14:creationId xmlns:p14="http://schemas.microsoft.com/office/powerpoint/2010/main" val="1590947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Fragmentation</a:t>
            </a:r>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17</a:t>
            </a:fld>
            <a:endParaRPr lang="en-US" dirty="0"/>
          </a:p>
        </p:txBody>
      </p:sp>
      <p:sp>
        <p:nvSpPr>
          <p:cNvPr id="5" name="Content Placeholder 2"/>
          <p:cNvSpPr txBox="1">
            <a:spLocks/>
          </p:cNvSpPr>
          <p:nvPr/>
        </p:nvSpPr>
        <p:spPr bwMode="auto">
          <a:xfrm>
            <a:off x="609600" y="1371600"/>
            <a:ext cx="10820400" cy="43434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0"/>
              </a:spcAft>
              <a:buFont typeface="Arial" charset="0"/>
              <a:buChar char="•"/>
              <a:defRPr sz="3200" kern="1200">
                <a:solidFill>
                  <a:schemeClr val="tx1"/>
                </a:solidFill>
                <a:latin typeface="Calibri"/>
                <a:ea typeface="ＭＳ Ｐゴシック" charset="0"/>
                <a:cs typeface="ＭＳ Ｐゴシック" charset="0"/>
              </a:defRPr>
            </a:lvl1pPr>
            <a:lvl2pPr marL="742950" indent="-285750" algn="l" rtl="0" eaLnBrk="0" fontAlgn="base" hangingPunct="0">
              <a:spcBef>
                <a:spcPct val="0"/>
              </a:spcBef>
              <a:spcAft>
                <a:spcPct val="0"/>
              </a:spcAft>
              <a:buFont typeface="Arial" charset="0"/>
              <a:buChar char="–"/>
              <a:defRPr sz="2800" kern="1200">
                <a:solidFill>
                  <a:schemeClr val="tx1"/>
                </a:solidFill>
                <a:latin typeface="Calibri"/>
                <a:ea typeface="ＭＳ Ｐゴシック" charset="0"/>
                <a:cs typeface="+mn-cs"/>
              </a:defRPr>
            </a:lvl2pPr>
            <a:lvl3pPr marL="1143000" indent="-228600" algn="l" rtl="0" eaLnBrk="0" fontAlgn="base" hangingPunct="0">
              <a:spcBef>
                <a:spcPct val="0"/>
              </a:spcBef>
              <a:spcAft>
                <a:spcPct val="0"/>
              </a:spcAft>
              <a:buFont typeface="Arial" charset="0"/>
              <a:buChar char="•"/>
              <a:defRPr sz="2400" kern="1200">
                <a:solidFill>
                  <a:schemeClr val="tx1"/>
                </a:solidFill>
                <a:latin typeface="Calibri"/>
                <a:ea typeface="ＭＳ Ｐゴシック" charset="0"/>
                <a:cs typeface="+mn-cs"/>
              </a:defRPr>
            </a:lvl3pPr>
            <a:lvl4pPr marL="16002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4pPr>
            <a:lvl5pPr marL="20574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i="1" dirty="0"/>
              <a:t>External fragmentation--</a:t>
            </a:r>
            <a:r>
              <a:rPr lang="en-US" sz="2800" dirty="0"/>
              <a:t>available memory is broken up into lots of little pieces, none of which is big enough to satisfy the next memory requirement, although the sum total could. </a:t>
            </a:r>
          </a:p>
        </p:txBody>
      </p:sp>
    </p:spTree>
    <p:extLst>
      <p:ext uri="{BB962C8B-B14F-4D97-AF65-F5344CB8AC3E}">
        <p14:creationId xmlns:p14="http://schemas.microsoft.com/office/powerpoint/2010/main" val="1202328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Fragmentation</a:t>
            </a:r>
          </a:p>
        </p:txBody>
      </p:sp>
      <p:sp>
        <p:nvSpPr>
          <p:cNvPr id="3" name="Slide Number Placeholder 2"/>
          <p:cNvSpPr>
            <a:spLocks noGrp="1"/>
          </p:cNvSpPr>
          <p:nvPr>
            <p:ph type="sldNum" sz="quarter" idx="12"/>
          </p:nvPr>
        </p:nvSpPr>
        <p:spPr/>
        <p:txBody>
          <a:bodyPr/>
          <a:lstStyle/>
          <a:p>
            <a:pPr>
              <a:defRPr/>
            </a:pPr>
            <a:fld id="{97012834-41A2-49E3-8762-B14EE3F5CFB1}" type="slidenum">
              <a:rPr lang="en-US" smtClean="0"/>
              <a:pPr>
                <a:defRPr/>
              </a:pPr>
              <a:t>18</a:t>
            </a:fld>
            <a:endParaRPr lang="en-US" dirty="0"/>
          </a:p>
        </p:txBody>
      </p:sp>
      <p:sp>
        <p:nvSpPr>
          <p:cNvPr id="5" name="Content Placeholder 2"/>
          <p:cNvSpPr txBox="1">
            <a:spLocks/>
          </p:cNvSpPr>
          <p:nvPr/>
        </p:nvSpPr>
        <p:spPr bwMode="auto">
          <a:xfrm>
            <a:off x="609600" y="1371600"/>
            <a:ext cx="10820400" cy="434340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0"/>
              </a:spcBef>
              <a:spcAft>
                <a:spcPct val="0"/>
              </a:spcAft>
              <a:buFont typeface="Arial" charset="0"/>
              <a:buChar char="•"/>
              <a:defRPr sz="3200" kern="1200">
                <a:solidFill>
                  <a:schemeClr val="tx1"/>
                </a:solidFill>
                <a:latin typeface="Calibri"/>
                <a:ea typeface="ＭＳ Ｐゴシック" charset="0"/>
                <a:cs typeface="ＭＳ Ｐゴシック" charset="0"/>
              </a:defRPr>
            </a:lvl1pPr>
            <a:lvl2pPr marL="742950" indent="-285750" algn="l" rtl="0" eaLnBrk="0" fontAlgn="base" hangingPunct="0">
              <a:spcBef>
                <a:spcPct val="0"/>
              </a:spcBef>
              <a:spcAft>
                <a:spcPct val="0"/>
              </a:spcAft>
              <a:buFont typeface="Arial" charset="0"/>
              <a:buChar char="–"/>
              <a:defRPr sz="2800" kern="1200">
                <a:solidFill>
                  <a:schemeClr val="tx1"/>
                </a:solidFill>
                <a:latin typeface="Calibri"/>
                <a:ea typeface="ＭＳ Ｐゴシック" charset="0"/>
                <a:cs typeface="+mn-cs"/>
              </a:defRPr>
            </a:lvl2pPr>
            <a:lvl3pPr marL="1143000" indent="-228600" algn="l" rtl="0" eaLnBrk="0" fontAlgn="base" hangingPunct="0">
              <a:spcBef>
                <a:spcPct val="0"/>
              </a:spcBef>
              <a:spcAft>
                <a:spcPct val="0"/>
              </a:spcAft>
              <a:buFont typeface="Arial" charset="0"/>
              <a:buChar char="•"/>
              <a:defRPr sz="2400" kern="1200">
                <a:solidFill>
                  <a:schemeClr val="tx1"/>
                </a:solidFill>
                <a:latin typeface="Calibri"/>
                <a:ea typeface="ＭＳ Ｐゴシック" charset="0"/>
                <a:cs typeface="+mn-cs"/>
              </a:defRPr>
            </a:lvl3pPr>
            <a:lvl4pPr marL="16002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4pPr>
            <a:lvl5pPr marL="20574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i="1" dirty="0"/>
              <a:t>Internal fragmentation--</a:t>
            </a:r>
            <a:r>
              <a:rPr lang="en-US" sz="2800" dirty="0"/>
              <a:t>occurs when fixed sized memory blocks are available and a process gets a block that is too much larger than the storage requirement of a process.(worst fit)</a:t>
            </a:r>
          </a:p>
        </p:txBody>
      </p:sp>
      <p:pic>
        <p:nvPicPr>
          <p:cNvPr id="4" name="Picture 3"/>
          <p:cNvPicPr>
            <a:picLocks noChangeAspect="1"/>
          </p:cNvPicPr>
          <p:nvPr/>
        </p:nvPicPr>
        <p:blipFill>
          <a:blip r:embed="rId2"/>
          <a:stretch>
            <a:fillRect/>
          </a:stretch>
        </p:blipFill>
        <p:spPr>
          <a:xfrm>
            <a:off x="1066800" y="2895600"/>
            <a:ext cx="8448675" cy="1543050"/>
          </a:xfrm>
          <a:prstGeom prst="rect">
            <a:avLst/>
          </a:prstGeom>
        </p:spPr>
      </p:pic>
      <p:pic>
        <p:nvPicPr>
          <p:cNvPr id="6" name="Picture 5"/>
          <p:cNvPicPr>
            <a:picLocks noChangeAspect="1"/>
          </p:cNvPicPr>
          <p:nvPr/>
        </p:nvPicPr>
        <p:blipFill>
          <a:blip r:embed="rId3"/>
          <a:stretch>
            <a:fillRect/>
          </a:stretch>
        </p:blipFill>
        <p:spPr>
          <a:xfrm>
            <a:off x="1168400" y="4702058"/>
            <a:ext cx="8429625" cy="1190625"/>
          </a:xfrm>
          <a:prstGeom prst="rect">
            <a:avLst/>
          </a:prstGeom>
        </p:spPr>
      </p:pic>
    </p:spTree>
    <p:extLst>
      <p:ext uri="{BB962C8B-B14F-4D97-AF65-F5344CB8AC3E}">
        <p14:creationId xmlns:p14="http://schemas.microsoft.com/office/powerpoint/2010/main" val="27742299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304801"/>
            <a:ext cx="7824788" cy="1323041"/>
          </a:xfrm>
        </p:spPr>
        <p:txBody>
          <a:bodyPr/>
          <a:lstStyle/>
          <a:p>
            <a:pPr algn="ctr"/>
            <a:r>
              <a:rPr lang="en-US" dirty="0"/>
              <a:t>Paging</a:t>
            </a:r>
          </a:p>
        </p:txBody>
      </p:sp>
      <p:sp>
        <p:nvSpPr>
          <p:cNvPr id="3" name="Content Placeholder 2"/>
          <p:cNvSpPr>
            <a:spLocks noGrp="1"/>
          </p:cNvSpPr>
          <p:nvPr>
            <p:ph idx="4294967295"/>
          </p:nvPr>
        </p:nvSpPr>
        <p:spPr>
          <a:xfrm>
            <a:off x="990600" y="1524000"/>
            <a:ext cx="10287000" cy="4267200"/>
          </a:xfrm>
        </p:spPr>
        <p:txBody>
          <a:bodyPr>
            <a:normAutofit/>
          </a:bodyPr>
          <a:lstStyle/>
          <a:p>
            <a:r>
              <a:rPr lang="en-US" sz="2800" dirty="0"/>
              <a:t>Partition </a:t>
            </a:r>
            <a:r>
              <a:rPr lang="en-US" sz="2800" dirty="0">
                <a:solidFill>
                  <a:srgbClr val="FF0000"/>
                </a:solidFill>
              </a:rPr>
              <a:t>memory</a:t>
            </a:r>
            <a:r>
              <a:rPr lang="en-US" sz="2800" dirty="0"/>
              <a:t> into </a:t>
            </a:r>
            <a:r>
              <a:rPr lang="en-US" sz="2800" dirty="0">
                <a:solidFill>
                  <a:srgbClr val="FF0000"/>
                </a:solidFill>
              </a:rPr>
              <a:t>equal fixed-size chunks</a:t>
            </a:r>
            <a:r>
              <a:rPr lang="en-US" sz="2800" dirty="0"/>
              <a:t> that are relatively </a:t>
            </a:r>
            <a:r>
              <a:rPr lang="en-US" sz="2800" dirty="0">
                <a:solidFill>
                  <a:srgbClr val="FF0000"/>
                </a:solidFill>
              </a:rPr>
              <a:t>small</a:t>
            </a:r>
          </a:p>
          <a:p>
            <a:endParaRPr lang="en-US" sz="2800" dirty="0">
              <a:solidFill>
                <a:srgbClr val="FF0000"/>
              </a:solidFill>
            </a:endParaRPr>
          </a:p>
          <a:p>
            <a:r>
              <a:rPr lang="en-US" sz="2800" dirty="0">
                <a:solidFill>
                  <a:srgbClr val="FF0000"/>
                </a:solidFill>
              </a:rPr>
              <a:t>Process</a:t>
            </a:r>
            <a:r>
              <a:rPr lang="en-US" sz="2800" dirty="0"/>
              <a:t> is also divided into small fixed-size chunks of the same size</a:t>
            </a:r>
          </a:p>
        </p:txBody>
      </p:sp>
      <p:graphicFrame>
        <p:nvGraphicFramePr>
          <p:cNvPr id="4" name="Diagram 3"/>
          <p:cNvGraphicFramePr/>
          <p:nvPr/>
        </p:nvGraphicFramePr>
        <p:xfrm>
          <a:off x="3429000" y="3962400"/>
          <a:ext cx="5410200"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19</a:t>
            </a:fld>
            <a:endParaRPr lang="en-US" dirty="0"/>
          </a:p>
        </p:txBody>
      </p:sp>
    </p:spTree>
    <p:extLst>
      <p:ext uri="{BB962C8B-B14F-4D97-AF65-F5344CB8AC3E}">
        <p14:creationId xmlns:p14="http://schemas.microsoft.com/office/powerpoint/2010/main" val="1497585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304801"/>
            <a:ext cx="7824788" cy="1323041"/>
          </a:xfrm>
        </p:spPr>
        <p:txBody>
          <a:bodyPr/>
          <a:lstStyle/>
          <a:p>
            <a:pPr algn="ctr"/>
            <a:r>
              <a:rPr lang="en-US" dirty="0"/>
              <a:t>Paging</a:t>
            </a:r>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20</a:t>
            </a:fld>
            <a:endParaRPr lang="en-US" dirty="0"/>
          </a:p>
        </p:txBody>
      </p:sp>
      <p:sp>
        <p:nvSpPr>
          <p:cNvPr id="6" name="Rectangle 1027"/>
          <p:cNvSpPr txBox="1">
            <a:spLocks noChangeArrowheads="1"/>
          </p:cNvSpPr>
          <p:nvPr/>
        </p:nvSpPr>
        <p:spPr>
          <a:xfrm>
            <a:off x="841375" y="1125538"/>
            <a:ext cx="10664825" cy="4483100"/>
          </a:xfrm>
          <a:prstGeom prst="rect">
            <a:avLst/>
          </a:prstGeom>
        </p:spPr>
        <p:txBody>
          <a:bodyPr/>
          <a:lstStyle>
            <a:lvl1pPr marL="342900" indent="-342900" algn="l" rtl="0" eaLnBrk="0" fontAlgn="base" hangingPunct="0">
              <a:spcBef>
                <a:spcPct val="0"/>
              </a:spcBef>
              <a:spcAft>
                <a:spcPct val="0"/>
              </a:spcAft>
              <a:buFont typeface="Arial" charset="0"/>
              <a:buChar char="•"/>
              <a:defRPr sz="3200" kern="1200">
                <a:solidFill>
                  <a:schemeClr val="tx1"/>
                </a:solidFill>
                <a:latin typeface="Calibri"/>
                <a:ea typeface="ＭＳ Ｐゴシック" charset="0"/>
                <a:cs typeface="ＭＳ Ｐゴシック" charset="0"/>
              </a:defRPr>
            </a:lvl1pPr>
            <a:lvl2pPr marL="742950" indent="-285750" algn="l" rtl="0" eaLnBrk="0" fontAlgn="base" hangingPunct="0">
              <a:spcBef>
                <a:spcPct val="0"/>
              </a:spcBef>
              <a:spcAft>
                <a:spcPct val="0"/>
              </a:spcAft>
              <a:buFont typeface="Arial" charset="0"/>
              <a:buChar char="–"/>
              <a:defRPr sz="2800" kern="1200">
                <a:solidFill>
                  <a:schemeClr val="tx1"/>
                </a:solidFill>
                <a:latin typeface="Calibri"/>
                <a:ea typeface="ＭＳ Ｐゴシック" charset="0"/>
                <a:cs typeface="+mn-cs"/>
              </a:defRPr>
            </a:lvl2pPr>
            <a:lvl3pPr marL="1143000" indent="-228600" algn="l" rtl="0" eaLnBrk="0" fontAlgn="base" hangingPunct="0">
              <a:spcBef>
                <a:spcPct val="0"/>
              </a:spcBef>
              <a:spcAft>
                <a:spcPct val="0"/>
              </a:spcAft>
              <a:buFont typeface="Arial" charset="0"/>
              <a:buChar char="•"/>
              <a:defRPr sz="2400" kern="1200">
                <a:solidFill>
                  <a:schemeClr val="tx1"/>
                </a:solidFill>
                <a:latin typeface="Calibri"/>
                <a:ea typeface="ＭＳ Ｐゴシック" charset="0"/>
                <a:cs typeface="+mn-cs"/>
              </a:defRPr>
            </a:lvl3pPr>
            <a:lvl4pPr marL="16002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4pPr>
            <a:lvl5pPr marL="2057400" indent="-228600" algn="l" rtl="0" eaLnBrk="0" fontAlgn="base" hangingPunct="0">
              <a:spcBef>
                <a:spcPct val="0"/>
              </a:spcBef>
              <a:spcAft>
                <a:spcPct val="0"/>
              </a:spcAft>
              <a:buFont typeface="Arial" charset="0"/>
              <a:buChar char="»"/>
              <a:defRPr sz="2000" kern="1200">
                <a:solidFill>
                  <a:schemeClr val="tx1"/>
                </a:solidFill>
                <a:latin typeface="Calibri"/>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altLang="en-US"/>
              <a:t>Address generated by CPU is divided into:</a:t>
            </a:r>
          </a:p>
          <a:p>
            <a:pPr lvl="1">
              <a:defRPr/>
            </a:pPr>
            <a:r>
              <a:rPr lang="en-US" altLang="en-US" b="1">
                <a:solidFill>
                  <a:srgbClr val="3366FF"/>
                </a:solidFill>
              </a:rPr>
              <a:t>Page number </a:t>
            </a:r>
            <a:r>
              <a:rPr lang="en-US" altLang="en-US"/>
              <a:t>(</a:t>
            </a:r>
            <a:r>
              <a:rPr lang="en-US" altLang="en-US" b="1" i="1">
                <a:solidFill>
                  <a:srgbClr val="3366FF"/>
                </a:solidFill>
              </a:rPr>
              <a:t>p</a:t>
            </a:r>
            <a:r>
              <a:rPr lang="en-US" altLang="en-US"/>
              <a:t>)</a:t>
            </a:r>
            <a:r>
              <a:rPr lang="en-US" altLang="en-US">
                <a:solidFill>
                  <a:srgbClr val="3366FF"/>
                </a:solidFill>
              </a:rPr>
              <a:t> </a:t>
            </a:r>
            <a:r>
              <a:rPr lang="en-US" altLang="en-US"/>
              <a:t>– used as an index into a </a:t>
            </a:r>
            <a:r>
              <a:rPr lang="en-US" altLang="en-US" b="1">
                <a:solidFill>
                  <a:srgbClr val="3366FF"/>
                </a:solidFill>
              </a:rPr>
              <a:t>page table </a:t>
            </a:r>
            <a:r>
              <a:rPr lang="en-US" altLang="en-US"/>
              <a:t>which contains base address of each page in physical memory</a:t>
            </a:r>
          </a:p>
          <a:p>
            <a:pPr lvl="1">
              <a:defRPr/>
            </a:pPr>
            <a:r>
              <a:rPr lang="en-US" altLang="en-US" b="1">
                <a:solidFill>
                  <a:srgbClr val="3366FF"/>
                </a:solidFill>
              </a:rPr>
              <a:t>Page offset </a:t>
            </a:r>
            <a:r>
              <a:rPr lang="en-US" altLang="en-US"/>
              <a:t>(</a:t>
            </a:r>
            <a:r>
              <a:rPr lang="en-US" altLang="en-US" b="1" i="1">
                <a:solidFill>
                  <a:srgbClr val="3366FF"/>
                </a:solidFill>
              </a:rPr>
              <a:t>d</a:t>
            </a:r>
            <a:r>
              <a:rPr lang="en-US" altLang="en-US"/>
              <a:t>)</a:t>
            </a:r>
            <a:r>
              <a:rPr lang="en-US" altLang="en-US">
                <a:solidFill>
                  <a:srgbClr val="3366FF"/>
                </a:solidFill>
              </a:rPr>
              <a:t> </a:t>
            </a:r>
            <a:r>
              <a:rPr lang="en-US" altLang="en-US"/>
              <a:t>– combined with base address to define the physical memory address that is sent to the memory unit</a:t>
            </a:r>
          </a:p>
          <a:p>
            <a:pPr lvl="1">
              <a:defRPr/>
            </a:pPr>
            <a:endParaRPr lang="en-US" altLang="en-US"/>
          </a:p>
          <a:p>
            <a:pPr lvl="1">
              <a:defRPr/>
            </a:pPr>
            <a:endParaRPr lang="en-US" altLang="en-US"/>
          </a:p>
          <a:p>
            <a:pPr marL="457200" lvl="1" indent="0">
              <a:buFont typeface="Monotype Sorts" pitchFamily="-84" charset="2"/>
              <a:buNone/>
              <a:defRPr/>
            </a:pPr>
            <a:endParaRPr lang="en-US" altLang="en-US"/>
          </a:p>
          <a:p>
            <a:pPr lvl="1">
              <a:defRPr/>
            </a:pPr>
            <a:endParaRPr lang="en-US" altLang="en-US"/>
          </a:p>
          <a:p>
            <a:pPr lvl="1">
              <a:defRPr/>
            </a:pPr>
            <a:r>
              <a:rPr lang="en-US" altLang="en-US"/>
              <a:t>For given logical address space 2</a:t>
            </a:r>
            <a:r>
              <a:rPr lang="en-US" altLang="en-US" i="1" baseline="30000"/>
              <a:t>m </a:t>
            </a:r>
            <a:r>
              <a:rPr lang="en-US" altLang="en-US"/>
              <a:t>and page size</a:t>
            </a:r>
            <a:r>
              <a:rPr lang="en-US" altLang="en-US" baseline="30000"/>
              <a:t> </a:t>
            </a:r>
            <a:r>
              <a:rPr lang="en-US" altLang="en-US" i="1"/>
              <a:t>2</a:t>
            </a:r>
            <a:r>
              <a:rPr lang="en-US" altLang="en-US" baseline="30000"/>
              <a:t>n</a:t>
            </a:r>
            <a:endParaRPr lang="en-US" altLang="en-US" baseline="30000" dirty="0"/>
          </a:p>
        </p:txBody>
      </p:sp>
      <p:pic>
        <p:nvPicPr>
          <p:cNvPr id="7" name="Picture 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33800" y="3505200"/>
            <a:ext cx="434340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159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9800" y="304801"/>
            <a:ext cx="7824788" cy="1323041"/>
          </a:xfrm>
        </p:spPr>
        <p:txBody>
          <a:bodyPr/>
          <a:lstStyle/>
          <a:p>
            <a:pPr algn="ctr"/>
            <a:r>
              <a:rPr lang="en-US" dirty="0"/>
              <a:t>Paging</a:t>
            </a:r>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21</a:t>
            </a:fld>
            <a:endParaRPr lang="en-US" dirty="0"/>
          </a:p>
        </p:txBody>
      </p:sp>
      <p:pic>
        <p:nvPicPr>
          <p:cNvPr id="6" name="Picture 7" descr="C:\Users\as668\Desktop\9_08.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679575" y="1666875"/>
            <a:ext cx="7921625" cy="412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2976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606" y="152400"/>
            <a:ext cx="7824788" cy="1323041"/>
          </a:xfrm>
        </p:spPr>
        <p:txBody>
          <a:bodyPr/>
          <a:lstStyle/>
          <a:p>
            <a:pPr algn="ctr"/>
            <a:r>
              <a:rPr lang="en-US" dirty="0"/>
              <a:t>Paging</a:t>
            </a:r>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22</a:t>
            </a:fld>
            <a:endParaRPr lang="en-US" dirty="0"/>
          </a:p>
        </p:txBody>
      </p:sp>
      <p:pic>
        <p:nvPicPr>
          <p:cNvPr id="4" name="Picture 10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2" y="1203325"/>
            <a:ext cx="7900987"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9876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881743" y="2133601"/>
            <a:ext cx="10428513" cy="2895600"/>
          </a:xfrm>
          <a:prstGeom prst="rect">
            <a:avLst/>
          </a:prstGeom>
        </p:spPr>
      </p:pic>
      <p:sp>
        <p:nvSpPr>
          <p:cNvPr id="7" name="TextBox 6"/>
          <p:cNvSpPr txBox="1"/>
          <p:nvPr/>
        </p:nvSpPr>
        <p:spPr>
          <a:xfrm>
            <a:off x="1979482" y="5420380"/>
            <a:ext cx="8229600" cy="523220"/>
          </a:xfrm>
          <a:prstGeom prst="rect">
            <a:avLst/>
          </a:prstGeom>
          <a:noFill/>
        </p:spPr>
        <p:txBody>
          <a:bodyPr wrap="square" rtlCol="0">
            <a:spAutoFit/>
          </a:bodyPr>
          <a:lstStyle/>
          <a:p>
            <a:pPr algn="ctr"/>
            <a:r>
              <a:rPr lang="en-US" sz="2800" dirty="0">
                <a:latin typeface="+mn-lt"/>
              </a:rPr>
              <a:t>Memory Management Terms </a:t>
            </a:r>
          </a:p>
        </p:txBody>
      </p:sp>
      <p:sp>
        <p:nvSpPr>
          <p:cNvPr id="2" name="Slide Number Placeholder 1"/>
          <p:cNvSpPr>
            <a:spLocks noGrp="1"/>
          </p:cNvSpPr>
          <p:nvPr>
            <p:ph type="sldNum" sz="quarter" idx="12"/>
          </p:nvPr>
        </p:nvSpPr>
        <p:spPr/>
        <p:txBody>
          <a:bodyPr/>
          <a:lstStyle/>
          <a:p>
            <a:pPr>
              <a:defRPr/>
            </a:pPr>
            <a:fld id="{BAB79F47-3AF0-4617-BC60-2E592392BB48}" type="slidenum">
              <a:rPr lang="en-US" smtClean="0"/>
              <a:pPr>
                <a:defRPr/>
              </a:pPr>
              <a:t>23</a:t>
            </a:fld>
            <a:endParaRPr lang="en-US" dirty="0"/>
          </a:p>
        </p:txBody>
      </p:sp>
      <p:sp>
        <p:nvSpPr>
          <p:cNvPr id="5" name="Title 1"/>
          <p:cNvSpPr>
            <a:spLocks noGrp="1"/>
          </p:cNvSpPr>
          <p:nvPr>
            <p:ph type="title"/>
          </p:nvPr>
        </p:nvSpPr>
        <p:spPr>
          <a:xfrm>
            <a:off x="1981200" y="914400"/>
            <a:ext cx="8229600" cy="914400"/>
          </a:xfrm>
        </p:spPr>
        <p:txBody>
          <a:bodyPr/>
          <a:lstStyle/>
          <a:p>
            <a:pPr algn="ctr"/>
            <a:r>
              <a:rPr lang="en-NZ" sz="4400" dirty="0">
                <a:solidFill>
                  <a:srgbClr val="0000FF"/>
                </a:solidFill>
                <a:latin typeface="+mj-lt"/>
              </a:rPr>
              <a:t>Frame vs. Page vs. Segment</a:t>
            </a:r>
          </a:p>
        </p:txBody>
      </p:sp>
      <p:pic>
        <p:nvPicPr>
          <p:cNvPr id="8" name="Picture 7"/>
          <p:cNvPicPr>
            <a:picLocks noChangeAspect="1"/>
          </p:cNvPicPr>
          <p:nvPr/>
        </p:nvPicPr>
        <p:blipFill>
          <a:blip r:embed="rId4"/>
          <a:stretch>
            <a:fillRect/>
          </a:stretch>
        </p:blipFill>
        <p:spPr>
          <a:xfrm>
            <a:off x="10591800" y="5537071"/>
            <a:ext cx="1371600" cy="1162594"/>
          </a:xfrm>
          <a:prstGeom prst="rect">
            <a:avLst/>
          </a:prstGeom>
        </p:spPr>
      </p:pic>
    </p:spTree>
    <p:extLst>
      <p:ext uri="{BB962C8B-B14F-4D97-AF65-F5344CB8AC3E}">
        <p14:creationId xmlns:p14="http://schemas.microsoft.com/office/powerpoint/2010/main" val="2081883361"/>
      </p:ext>
    </p:extLst>
  </p:cSld>
  <p:clrMapOvr>
    <a:masterClrMapping/>
  </p:clrMapOvr>
</p:sld>
</file>

<file path=ppt/theme/theme1.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dirty="0" smtClean="0">
            <a:solidFill>
              <a:srgbClr val="FF0000"/>
            </a:solidFill>
            <a:latin typeface="Calibri"/>
            <a:cs typeface="Calibri"/>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5888</TotalTime>
  <Words>2807</Words>
  <Application>Microsoft Office PowerPoint</Application>
  <PresentationFormat>Widescreen</PresentationFormat>
  <Paragraphs>295</Paragraphs>
  <Slides>23</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Monotype Sorts</vt:lpstr>
      <vt:lpstr>q_serif</vt:lpstr>
      <vt:lpstr>Arial</vt:lpstr>
      <vt:lpstr>Calibri</vt:lpstr>
      <vt:lpstr>Helvetica</vt:lpstr>
      <vt:lpstr>Times New Roman</vt:lpstr>
      <vt:lpstr>Wingdings</vt:lpstr>
      <vt:lpstr>5_Office Theme</vt:lpstr>
      <vt:lpstr>COMP 3500  Introduction to Operating Systems   Chapter8: Memory Management</vt:lpstr>
      <vt:lpstr>The External View of the Memory Manager</vt:lpstr>
      <vt:lpstr>                    Basic Memory Hierarchy  Please rank and compare registers, primary memory, and disks in terms of capacity and speed. </vt:lpstr>
      <vt:lpstr>Memory Management Requirements  List two or three functionalities of the memory management</vt:lpstr>
      <vt:lpstr>Address Space vs. Primary Memory</vt:lpstr>
      <vt:lpstr>PowerPoint Presentation</vt:lpstr>
      <vt:lpstr>Dynamic Relocation using a Relocation Register</vt:lpstr>
      <vt:lpstr>Static Memory Partitioning</vt:lpstr>
      <vt:lpstr>Static Memory Allocation</vt:lpstr>
      <vt:lpstr>Fixed-Partition Memory Mechanism</vt:lpstr>
      <vt:lpstr>Fixed-Partition Memory Mechanism-1</vt:lpstr>
      <vt:lpstr>Fixed-Partition Memory Mechanism-2</vt:lpstr>
      <vt:lpstr>Fixed-Partition Memory Mechanism-3</vt:lpstr>
      <vt:lpstr>Fixed-Partition Memory Mechanism</vt:lpstr>
      <vt:lpstr>Disadvantages</vt:lpstr>
      <vt:lpstr>Fragmentation</vt:lpstr>
      <vt:lpstr>External Fragmentation</vt:lpstr>
      <vt:lpstr>Internal Fragmentation</vt:lpstr>
      <vt:lpstr>Paging</vt:lpstr>
      <vt:lpstr>Paging</vt:lpstr>
      <vt:lpstr>Paging</vt:lpstr>
      <vt:lpstr>Paging</vt:lpstr>
      <vt:lpstr>Frame vs. Page vs. Segment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xiao</dc:creator>
  <cp:lastModifiedBy>Xuechao Li</cp:lastModifiedBy>
  <cp:revision>430</cp:revision>
  <dcterms:created xsi:type="dcterms:W3CDTF">2006-08-16T00:00:00Z</dcterms:created>
  <dcterms:modified xsi:type="dcterms:W3CDTF">2022-10-26T01:40:53Z</dcterms:modified>
</cp:coreProperties>
</file>