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88" r:id="rId1"/>
  </p:sldMasterIdLst>
  <p:notesMasterIdLst>
    <p:notesMasterId r:id="rId17"/>
  </p:notesMasterIdLst>
  <p:handoutMasterIdLst>
    <p:handoutMasterId r:id="rId18"/>
  </p:handoutMasterIdLst>
  <p:sldIdLst>
    <p:sldId id="309" r:id="rId2"/>
    <p:sldId id="2643" r:id="rId3"/>
    <p:sldId id="2644" r:id="rId4"/>
    <p:sldId id="646" r:id="rId5"/>
    <p:sldId id="606" r:id="rId6"/>
    <p:sldId id="648" r:id="rId7"/>
    <p:sldId id="639" r:id="rId8"/>
    <p:sldId id="640" r:id="rId9"/>
    <p:sldId id="617" r:id="rId10"/>
    <p:sldId id="614" r:id="rId11"/>
    <p:sldId id="615" r:id="rId12"/>
    <p:sldId id="616" r:id="rId13"/>
    <p:sldId id="632" r:id="rId14"/>
    <p:sldId id="633" r:id="rId15"/>
    <p:sldId id="645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44D"/>
    <a:srgbClr val="DD550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/>
    <p:restoredTop sz="67244" autoAdjust="0"/>
  </p:normalViewPr>
  <p:slideViewPr>
    <p:cSldViewPr>
      <p:cViewPr varScale="1">
        <p:scale>
          <a:sx n="74" d="100"/>
          <a:sy n="74" d="100"/>
        </p:scale>
        <p:origin x="2070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E64E6-A954-E949-8FB5-286ABB9C3224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9A22D-AAAA-2248-A5BC-62C709E3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925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FC062BE1-9E58-E44B-AEF2-88288090696B}" type="datetimeFigureOut">
              <a:rPr lang="en-US"/>
              <a:pPr>
                <a:defRPr/>
              </a:pPr>
              <a:t>10/16/2023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E125A137-AA7B-6040-BEE2-8CA520FC8C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483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38" tIns="44425" rIns="90438" bIns="44425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 dirty="0"/>
          </a:p>
        </p:txBody>
      </p:sp>
      <p:sp>
        <p:nvSpPr>
          <p:cNvPr id="7170" name="Rectangle 3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2588" y="685800"/>
            <a:ext cx="6096000" cy="34290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12930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E308EB49-522C-DE3D-EBF0-CE3202B40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29BCDFD9-D72D-1DE8-1DCA-446426E5B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1C8153F1-19CB-1F57-DA6F-33A9D4634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6D17BD1-E069-46A1-9AD2-ABE9774F8D4F}" type="slidenum">
              <a:rPr lang="en-US" altLang="en-US" smtClean="0">
                <a:solidFill>
                  <a:srgbClr val="000000"/>
                </a:solidFill>
                <a:ea typeface="MS PGothic" panose="020B0600070205080204" pitchFamily="34" charset="-128"/>
              </a:rPr>
              <a:pPr/>
              <a:t>2</a:t>
            </a:fld>
            <a:endParaRPr lang="en-US" altLang="en-US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4F1248C2-35B1-F104-35D1-18C098230B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BEBB43EB-8E78-CD95-F3FA-5B9022796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CF6E56BF-6B1B-A205-67DF-4F35C3D93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2BB8768-C8D6-4574-8372-ED93669E096D}" type="slidenum">
              <a:rPr lang="en-US" altLang="en-US" smtClean="0">
                <a:solidFill>
                  <a:srgbClr val="000000"/>
                </a:solidFill>
                <a:ea typeface="MS PGothic" panose="020B0600070205080204" pitchFamily="34" charset="-128"/>
              </a:rPr>
              <a:pPr/>
              <a:t>3</a:t>
            </a:fld>
            <a:endParaRPr lang="en-US" altLang="en-US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25A137-AA7B-6040-BEE2-8CA520FC8CE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63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25A137-AA7B-6040-BEE2-8CA520FC8CE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50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9B39C2CA-DF68-9348-9560-B303065FAB9B}" type="slidenum">
              <a:rPr lang="en-US">
                <a:latin typeface="Times New Roman" charset="0"/>
              </a:rPr>
              <a:pPr/>
              <a:t>7</a:t>
            </a:fld>
            <a:endParaRPr lang="en-US">
              <a:latin typeface="Times New Roman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876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9B39C2CA-DF68-9348-9560-B303065FAB9B}" type="slidenum">
              <a:rPr lang="en-US">
                <a:latin typeface="Times New Roman" charset="0"/>
              </a:rPr>
              <a:pPr/>
              <a:t>8</a:t>
            </a:fld>
            <a:endParaRPr lang="en-US">
              <a:latin typeface="Times New Roman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9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739775" algn="l"/>
                <a:tab pos="1020763" algn="l"/>
                <a:tab pos="1257300" algn="l"/>
              </a:tabLs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93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998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81B61FF-577B-A741-9A54-C57615E7B17B}" type="slidenum">
              <a:rPr lang="en-US">
                <a:latin typeface="Times New Roman" charset="0"/>
              </a:rPr>
              <a:pPr/>
              <a:t>11</a:t>
            </a:fld>
            <a:endParaRPr lang="en-US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375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D053C7AE-86B0-7744-BCFA-77D6359A591F}" type="slidenum">
              <a:rPr lang="en-US">
                <a:latin typeface="Times New Roman" charset="0"/>
              </a:rPr>
              <a:pPr/>
              <a:t>12</a:t>
            </a:fld>
            <a:endParaRPr lang="en-US">
              <a:latin typeface="Times New Roman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52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B9A9E5C8-0B72-F14A-B131-A91D3273230C}" type="slidenum">
              <a:rPr lang="en-US">
                <a:latin typeface="Times New Roman" charset="0"/>
              </a:rPr>
              <a:pPr/>
              <a:t>13</a:t>
            </a:fld>
            <a:endParaRPr lang="en-US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442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EA9A1D88-A39D-4C45-9E3C-AFA64DD300D4}" type="slidenum">
              <a:rPr lang="en-US">
                <a:latin typeface="Times New Roman" charset="0"/>
              </a:rPr>
              <a:pPr/>
              <a:t>14</a:t>
            </a:fld>
            <a:endParaRPr lang="en-US">
              <a:latin typeface="Times New Roman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35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You have n processes, process </a:t>
            </a:r>
            <a:r>
              <a:rPr lang="en-US" dirty="0" err="1"/>
              <a:t>i</a:t>
            </a:r>
            <a:r>
              <a:rPr lang="en-US" dirty="0"/>
              <a:t> is currently executing, when it enters the critical section, it sets its waiting to false.</a:t>
            </a:r>
          </a:p>
          <a:p>
            <a:endParaRPr lang="en-US" dirty="0"/>
          </a:p>
          <a:p>
            <a:r>
              <a:rPr lang="en-US" dirty="0"/>
              <a:t>Now, what happens when process </a:t>
            </a:r>
            <a:r>
              <a:rPr lang="en-US" dirty="0" err="1"/>
              <a:t>i</a:t>
            </a:r>
            <a:r>
              <a:rPr lang="en-US" dirty="0"/>
              <a:t> has finished ? Process </a:t>
            </a:r>
            <a:r>
              <a:rPr lang="en-US" dirty="0" err="1"/>
              <a:t>i</a:t>
            </a:r>
            <a:r>
              <a:rPr lang="en-US" dirty="0"/>
              <a:t> will look for an index j (process j) that is waiting to run in critical section. In other words, we are looking for a process that is waiting to enter the critical section that is different from the current process that ran in critical section.</a:t>
            </a:r>
          </a:p>
          <a:p>
            <a:endParaRPr lang="en-US" dirty="0"/>
          </a:p>
          <a:p>
            <a:r>
              <a:rPr lang="en-US" dirty="0"/>
              <a:t>if (</a:t>
            </a:r>
            <a:r>
              <a:rPr lang="en-US" dirty="0" err="1"/>
              <a:t>i</a:t>
            </a:r>
            <a:r>
              <a:rPr lang="en-US" dirty="0"/>
              <a:t>==j), then no such process exists, we set lock to false. Otherwise, we set the process that is waiting to run and prevent starvation. And this way you satisfy Bounded Waiting.</a:t>
            </a:r>
          </a:p>
          <a:p>
            <a:endParaRPr lang="en-US" dirty="0"/>
          </a:p>
          <a:p>
            <a:r>
              <a:rPr lang="en-US" dirty="0"/>
              <a:t>This is achieved because you do a circular search, you first check processes</a:t>
            </a:r>
          </a:p>
          <a:p>
            <a:endParaRPr lang="en-US" dirty="0"/>
          </a:p>
          <a:p>
            <a:r>
              <a:rPr lang="en-US" dirty="0"/>
              <a:t>i+1, i+2, .... n, 0, 1, ... </a:t>
            </a:r>
            <a:r>
              <a:rPr lang="en-US"/>
              <a:t>,(i-1)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90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" y="63500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CCE1-ED68-4673-B2B8-9A8ACC32B7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6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" y="63500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CCE1-ED68-4673-B2B8-9A8ACC32B7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0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9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3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0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5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03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6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7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4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" y="63500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CCE1-ED68-4673-B2B8-9A8ACC32B7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 descr="SGCOE V 158 289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5791201"/>
            <a:ext cx="1524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31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ctrTitle"/>
          </p:nvPr>
        </p:nvSpPr>
        <p:spPr>
          <a:xfrm>
            <a:off x="1828800" y="457200"/>
            <a:ext cx="8686800" cy="3048000"/>
          </a:xfrm>
        </p:spPr>
        <p:txBody>
          <a:bodyPr>
            <a:normAutofit fontScale="90000"/>
          </a:bodyPr>
          <a:lstStyle/>
          <a:p>
            <a:r>
              <a:rPr lang="en-US" altLang="zh-CN" sz="4900" dirty="0">
                <a:latin typeface="Calibri" charset="0"/>
                <a:ea typeface="SimSun" charset="0"/>
                <a:cs typeface="SimSun" charset="0"/>
              </a:rPr>
              <a:t>COMP 3500 </a:t>
            </a:r>
            <a:br>
              <a:rPr lang="en-US" altLang="zh-CN" sz="4900" dirty="0">
                <a:latin typeface="Calibri" charset="0"/>
                <a:ea typeface="SimSun" charset="0"/>
                <a:cs typeface="SimSun" charset="0"/>
              </a:rPr>
            </a:br>
            <a:r>
              <a:rPr lang="en-US" altLang="zh-CN" sz="4900" dirty="0">
                <a:latin typeface="Calibri" charset="0"/>
                <a:ea typeface="SimSun" charset="0"/>
                <a:cs typeface="SimSun" charset="0"/>
              </a:rPr>
              <a:t>Introduction to Operating Systems</a:t>
            </a:r>
            <a:br>
              <a:rPr lang="en-US" altLang="zh-CN" sz="3600" dirty="0">
                <a:latin typeface="Calibri" charset="0"/>
                <a:ea typeface="SimSun" charset="0"/>
                <a:cs typeface="SimSun" charset="0"/>
              </a:rPr>
            </a:br>
            <a:br>
              <a:rPr lang="en-US" altLang="zh-CN" sz="3600" dirty="0">
                <a:latin typeface="Calibri" charset="0"/>
                <a:ea typeface="SimSun" charset="0"/>
                <a:cs typeface="SimSun" charset="0"/>
              </a:rPr>
            </a:br>
            <a:r>
              <a:rPr lang="en-US" altLang="zh-CN" sz="4000">
                <a:latin typeface="Calibri" charset="0"/>
                <a:ea typeface="SimSun" charset="0"/>
                <a:cs typeface="SimSun" charset="0"/>
              </a:rPr>
              <a:t>Race Condition--2</a:t>
            </a:r>
            <a:endParaRPr lang="en-US" altLang="zh-CN" sz="4000" dirty="0">
              <a:latin typeface="Calibri" charset="0"/>
              <a:ea typeface="SimSun" charset="0"/>
              <a:cs typeface="SimSun" charset="0"/>
            </a:endParaRPr>
          </a:p>
        </p:txBody>
      </p:sp>
      <p:sp>
        <p:nvSpPr>
          <p:cNvPr id="6146" name="Text Box 3"/>
          <p:cNvSpPr txBox="1">
            <a:spLocks noChangeArrowheads="1"/>
          </p:cNvSpPr>
          <p:nvPr/>
        </p:nvSpPr>
        <p:spPr bwMode="auto">
          <a:xfrm>
            <a:off x="3581400" y="3810001"/>
            <a:ext cx="495300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3200" b="1" dirty="0">
                <a:latin typeface="Calibri" charset="0"/>
                <a:ea typeface="SimSun" charset="0"/>
                <a:cs typeface="SimSun" charset="0"/>
              </a:rPr>
              <a:t>Dr. Xuechao Li</a:t>
            </a:r>
          </a:p>
          <a:p>
            <a:pPr algn="ctr">
              <a:spcBef>
                <a:spcPct val="50000"/>
              </a:spcBef>
            </a:pPr>
            <a:r>
              <a:rPr kumimoji="1" lang="en-US" i="1" dirty="0">
                <a:latin typeface="Calibri" charset="0"/>
              </a:rPr>
              <a:t>Auburn University</a:t>
            </a:r>
            <a:br>
              <a:rPr kumimoji="1" lang="en-US" i="1" dirty="0">
                <a:latin typeface="Calibri" charset="0"/>
              </a:rPr>
            </a:br>
            <a:endParaRPr kumimoji="1" lang="en-US" altLang="zh-CN" i="1" dirty="0">
              <a:latin typeface="Calibri" charset="0"/>
              <a:ea typeface="SimSun" charset="0"/>
              <a:cs typeface="SimSun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905000" y="6350001"/>
            <a:ext cx="2133600" cy="365125"/>
          </a:xfrm>
        </p:spPr>
        <p:txBody>
          <a:bodyPr/>
          <a:lstStyle/>
          <a:p>
            <a:fld id="{8353CCE1-ED68-4673-B2B8-9A8ACC32B75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>
            <a:extLst>
              <a:ext uri="{FF2B5EF4-FFF2-40B4-BE49-F238E27FC236}">
                <a16:creationId xmlns:a16="http://schemas.microsoft.com/office/drawing/2014/main" id="{CCC6E3ED-1D9E-5DB9-A15F-F60C241B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B3B376F-5F19-49ED-A81E-9DDC20BE7950}" type="slidenum">
              <a:rPr lang="en-US" altLang="en-US" sz="600">
                <a:solidFill>
                  <a:srgbClr val="898989"/>
                </a:solidFill>
                <a:ea typeface="MS PGothic" panose="020B0600070205080204" pitchFamily="34" charset="-128"/>
              </a:rPr>
              <a:pPr/>
              <a:t>2</a:t>
            </a:fld>
            <a:endParaRPr lang="en-US" altLang="en-US" sz="600">
              <a:solidFill>
                <a:srgbClr val="898989"/>
              </a:solidFill>
              <a:ea typeface="MS PGothic" panose="020B0600070205080204" pitchFamily="34" charset="-128"/>
            </a:endParaRPr>
          </a:p>
        </p:txBody>
      </p:sp>
      <p:pic>
        <p:nvPicPr>
          <p:cNvPr id="7171" name="Picture 6">
            <a:extLst>
              <a:ext uri="{FF2B5EF4-FFF2-40B4-BE49-F238E27FC236}">
                <a16:creationId xmlns:a16="http://schemas.microsoft.com/office/drawing/2014/main" id="{1A268DE4-0C74-A82E-97B6-AF2DC843213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1" y="1709738"/>
            <a:ext cx="6011863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1">
            <a:extLst>
              <a:ext uri="{FF2B5EF4-FFF2-40B4-BE49-F238E27FC236}">
                <a16:creationId xmlns:a16="http://schemas.microsoft.com/office/drawing/2014/main" id="{88C869B1-C5B2-6E61-2DEC-38EC847433E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4800600"/>
            <a:ext cx="8143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>
            <a:extLst>
              <a:ext uri="{FF2B5EF4-FFF2-40B4-BE49-F238E27FC236}">
                <a16:creationId xmlns:a16="http://schemas.microsoft.com/office/drawing/2014/main" id="{52B397E7-62D1-C3EF-889F-528A3F2668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76" y="480695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4">
            <a:extLst>
              <a:ext uri="{FF2B5EF4-FFF2-40B4-BE49-F238E27FC236}">
                <a16:creationId xmlns:a16="http://schemas.microsoft.com/office/drawing/2014/main" id="{568F7D65-DD8C-DC29-B9F1-E562307D1A0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4" y="1800225"/>
            <a:ext cx="9604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2">
            <a:extLst>
              <a:ext uri="{FF2B5EF4-FFF2-40B4-BE49-F238E27FC236}">
                <a16:creationId xmlns:a16="http://schemas.microsoft.com/office/drawing/2014/main" id="{0391BF55-064D-FF1D-1C63-FF6BC203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514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514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02D4A94-1C4D-42BB-BFA2-0ED00ABDA2E4}" type="slidenum">
              <a:rPr lang="en-US" altLang="en-US" sz="600">
                <a:solidFill>
                  <a:srgbClr val="898989"/>
                </a:solidFill>
                <a:ea typeface="MS PGothic" panose="020B0600070205080204" pitchFamily="34" charset="-128"/>
              </a:rPr>
              <a:pPr/>
              <a:t>3</a:t>
            </a:fld>
            <a:endParaRPr lang="en-US" altLang="en-US" sz="600">
              <a:solidFill>
                <a:srgbClr val="898989"/>
              </a:solidFill>
              <a:ea typeface="MS PGothic" panose="020B0600070205080204" pitchFamily="34" charset="-128"/>
            </a:endParaRPr>
          </a:p>
        </p:txBody>
      </p:sp>
      <p:pic>
        <p:nvPicPr>
          <p:cNvPr id="9219" name="Picture 1">
            <a:extLst>
              <a:ext uri="{FF2B5EF4-FFF2-40B4-BE49-F238E27FC236}">
                <a16:creationId xmlns:a16="http://schemas.microsoft.com/office/drawing/2014/main" id="{A151CC0A-B7F7-9667-0865-61C76B0C74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6" y="1747838"/>
            <a:ext cx="6392863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3">
            <a:extLst>
              <a:ext uri="{FF2B5EF4-FFF2-40B4-BE49-F238E27FC236}">
                <a16:creationId xmlns:a16="http://schemas.microsoft.com/office/drawing/2014/main" id="{CB2640E8-811B-9D21-AD1F-F8FABF1FA2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827588"/>
            <a:ext cx="812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>
            <a:extLst>
              <a:ext uri="{FF2B5EF4-FFF2-40B4-BE49-F238E27FC236}">
                <a16:creationId xmlns:a16="http://schemas.microsoft.com/office/drawing/2014/main" id="{3A75BF2E-8E6F-127D-29B2-A52970038D4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439" y="4841876"/>
            <a:ext cx="64293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5">
            <a:extLst>
              <a:ext uri="{FF2B5EF4-FFF2-40B4-BE49-F238E27FC236}">
                <a16:creationId xmlns:a16="http://schemas.microsoft.com/office/drawing/2014/main" id="{B5B0F94B-506F-E8A4-5AE8-B3BA606F99D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25" y="1762126"/>
            <a:ext cx="1093788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44885"/>
            <a:ext cx="10972800" cy="1554162"/>
          </a:xfrm>
        </p:spPr>
        <p:txBody>
          <a:bodyPr/>
          <a:lstStyle/>
          <a:p>
            <a:r>
              <a:rPr lang="en-US" dirty="0"/>
              <a:t>Recap: Three Terms in </a:t>
            </a:r>
            <a:r>
              <a:rPr lang="en-US" dirty="0">
                <a:solidFill>
                  <a:srgbClr val="FF0000"/>
                </a:solidFill>
              </a:rPr>
              <a:t>Concurrent Computing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Pentagon 3"/>
          <p:cNvSpPr/>
          <p:nvPr/>
        </p:nvSpPr>
        <p:spPr>
          <a:xfrm>
            <a:off x="533400" y="1699047"/>
            <a:ext cx="3780483" cy="1371600"/>
          </a:xfrm>
          <a:prstGeom prst="homePlate">
            <a:avLst/>
          </a:prstGeom>
          <a:solidFill>
            <a:srgbClr val="07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Race Condition</a:t>
            </a:r>
            <a:endParaRPr lang="en-US" sz="2200" dirty="0"/>
          </a:p>
        </p:txBody>
      </p:sp>
      <p:sp>
        <p:nvSpPr>
          <p:cNvPr id="5" name="Pentagon 4"/>
          <p:cNvSpPr/>
          <p:nvPr/>
        </p:nvSpPr>
        <p:spPr>
          <a:xfrm>
            <a:off x="4343400" y="1676400"/>
            <a:ext cx="3733800" cy="1371600"/>
          </a:xfrm>
          <a:prstGeom prst="homePlate">
            <a:avLst/>
          </a:prstGeom>
          <a:solidFill>
            <a:srgbClr val="07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Critical Section</a:t>
            </a:r>
            <a:endParaRPr lang="en-US" sz="2200" dirty="0"/>
          </a:p>
        </p:txBody>
      </p:sp>
      <p:sp>
        <p:nvSpPr>
          <p:cNvPr id="6" name="Pentagon 5"/>
          <p:cNvSpPr/>
          <p:nvPr/>
        </p:nvSpPr>
        <p:spPr>
          <a:xfrm>
            <a:off x="8149234" y="1691067"/>
            <a:ext cx="3737966" cy="1371600"/>
          </a:xfrm>
          <a:prstGeom prst="homePlate">
            <a:avLst/>
          </a:prstGeom>
          <a:solidFill>
            <a:srgbClr val="07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Mutual Exclusion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313192"/>
            <a:ext cx="6703348" cy="32193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800" y="2773039"/>
            <a:ext cx="1473200" cy="523220"/>
          </a:xfrm>
          <a:prstGeom prst="rect">
            <a:avLst/>
          </a:prstGeom>
          <a:solidFill>
            <a:srgbClr val="DD550C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n-l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648" y="2817990"/>
            <a:ext cx="1473200" cy="523220"/>
          </a:xfrm>
          <a:prstGeom prst="rect">
            <a:avLst/>
          </a:prstGeom>
          <a:solidFill>
            <a:srgbClr val="DD550C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n-lt"/>
              </a:rPr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7A390-645D-5949-A1C5-27A279364D44}"/>
              </a:ext>
            </a:extLst>
          </p:cNvPr>
          <p:cNvSpPr txBox="1"/>
          <p:nvPr/>
        </p:nvSpPr>
        <p:spPr>
          <a:xfrm>
            <a:off x="4132724" y="2773039"/>
            <a:ext cx="2191876" cy="523220"/>
          </a:xfrm>
          <a:prstGeom prst="rect">
            <a:avLst/>
          </a:prstGeom>
          <a:solidFill>
            <a:srgbClr val="DD550C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n-lt"/>
              </a:rPr>
              <a:t>Programming</a:t>
            </a:r>
          </a:p>
        </p:txBody>
      </p:sp>
    </p:spTree>
    <p:extLst>
      <p:ext uri="{BB962C8B-B14F-4D97-AF65-F5344CB8AC3E}">
        <p14:creationId xmlns:p14="http://schemas.microsoft.com/office/powerpoint/2010/main" val="1957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2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447800" y="188913"/>
            <a:ext cx="9601200" cy="1030287"/>
          </a:xfrm>
        </p:spPr>
        <p:txBody>
          <a:bodyPr>
            <a:noAutofit/>
          </a:bodyPr>
          <a:lstStyle/>
          <a:p>
            <a:r>
              <a:rPr lang="en-US" dirty="0">
                <a:ea typeface="MS PGothic" charset="0"/>
              </a:rPr>
              <a:t>Recap: General Structure of </a:t>
            </a:r>
            <a:r>
              <a:rPr lang="en-US">
                <a:ea typeface="MS PGothic" charset="0"/>
              </a:rPr>
              <a:t>a Process </a:t>
            </a:r>
            <a:r>
              <a:rPr lang="en-US" b="1" i="1" dirty="0">
                <a:ea typeface="MS PGothic" charset="0"/>
              </a:rPr>
              <a:t>P</a:t>
            </a:r>
            <a:r>
              <a:rPr lang="en-US" b="1" i="1" baseline="-25000" dirty="0">
                <a:ea typeface="MS PGothic" charset="0"/>
              </a:rPr>
              <a:t>i  </a:t>
            </a:r>
            <a:endParaRPr lang="en-US" dirty="0">
              <a:ea typeface="MS PGothic" charset="0"/>
            </a:endParaRPr>
          </a:p>
        </p:txBody>
      </p:sp>
      <p:pic>
        <p:nvPicPr>
          <p:cNvPr id="1126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7167972" cy="495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105400" y="2209800"/>
            <a:ext cx="1905000" cy="609600"/>
          </a:xfrm>
          <a:prstGeom prst="rect">
            <a:avLst/>
          </a:prstGeom>
          <a:solidFill>
            <a:srgbClr val="FF0000">
              <a:alpha val="3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05400" y="3886200"/>
            <a:ext cx="1676400" cy="533400"/>
          </a:xfrm>
          <a:prstGeom prst="rect">
            <a:avLst/>
          </a:prstGeom>
          <a:solidFill>
            <a:srgbClr val="FF0000">
              <a:alpha val="3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181600" y="3048000"/>
            <a:ext cx="3200400" cy="53340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Pentagon 7"/>
          <p:cNvSpPr/>
          <p:nvPr/>
        </p:nvSpPr>
        <p:spPr>
          <a:xfrm>
            <a:off x="815941" y="2743200"/>
            <a:ext cx="3737966" cy="1371600"/>
          </a:xfrm>
          <a:prstGeom prst="homePlate">
            <a:avLst/>
          </a:prstGeom>
          <a:solidFill>
            <a:srgbClr val="07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Mutual Exclusion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627355" y="3870123"/>
            <a:ext cx="1473200" cy="523220"/>
          </a:xfrm>
          <a:prstGeom prst="rect">
            <a:avLst/>
          </a:prstGeom>
          <a:solidFill>
            <a:srgbClr val="DD550C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n-lt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56173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2629"/>
            <a:ext cx="114300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ea typeface="MS PGothic" charset="0"/>
              </a:rPr>
              <a:t>Exercise </a:t>
            </a:r>
            <a:r>
              <a:rPr lang="en-US" dirty="0"/>
              <a:t>Which variable is a shared one?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9600" y="1745192"/>
            <a:ext cx="5334000" cy="47704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Process </a:t>
            </a:r>
            <a:r>
              <a:rPr lang="en-US" b="1" dirty="0" err="1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endParaRPr lang="en-US" b="1" dirty="0">
              <a:solidFill>
                <a:srgbClr val="000000"/>
              </a:solidFill>
              <a:latin typeface="Courier New" charset="0"/>
              <a:ea typeface="MS PGothic" charset="0"/>
              <a:cs typeface="Courier New" charset="0"/>
            </a:endParaRP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  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do {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while (turn == j);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2400" dirty="0">
              <a:solidFill>
                <a:srgbClr val="000000"/>
              </a:solidFill>
              <a:latin typeface="Courier New" charset="0"/>
              <a:ea typeface="MS PGothic" charset="0"/>
              <a:cs typeface="Courier New" charset="0"/>
            </a:endParaRP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critical section;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turn = j;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2400" dirty="0">
              <a:solidFill>
                <a:srgbClr val="000000"/>
              </a:solidFill>
              <a:latin typeface="Courier New" charset="0"/>
              <a:ea typeface="MS PGothic" charset="0"/>
              <a:cs typeface="Courier New" charset="0"/>
            </a:endParaRP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remainder section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 } while (true);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1600" dirty="0">
              <a:solidFill>
                <a:srgbClr val="0000FF"/>
              </a:solidFill>
              <a:latin typeface="Helvetica" charset="0"/>
              <a:ea typeface="MS PGothic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0" y="1745192"/>
            <a:ext cx="5334000" cy="47704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Process j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  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do {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while (turn == </a:t>
            </a:r>
            <a:r>
              <a:rPr lang="en-US" sz="2400" dirty="0" err="1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2400" dirty="0">
              <a:solidFill>
                <a:srgbClr val="000000"/>
              </a:solidFill>
              <a:latin typeface="Courier New" charset="0"/>
              <a:ea typeface="MS PGothic" charset="0"/>
              <a:cs typeface="Courier New" charset="0"/>
            </a:endParaRP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critical section;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turn = </a:t>
            </a:r>
            <a:r>
              <a:rPr lang="en-US" sz="2400" dirty="0" err="1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2400" dirty="0">
              <a:solidFill>
                <a:srgbClr val="000000"/>
              </a:solidFill>
              <a:latin typeface="Courier New" charset="0"/>
              <a:ea typeface="MS PGothic" charset="0"/>
              <a:cs typeface="Courier New" charset="0"/>
            </a:endParaRP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remainder section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 } while (true);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1600" dirty="0">
              <a:solidFill>
                <a:srgbClr val="0000FF"/>
              </a:solidFill>
              <a:latin typeface="Helvetica" charset="0"/>
              <a:ea typeface="MS PGothic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943600" y="1828800"/>
            <a:ext cx="0" cy="4343400"/>
          </a:xfrm>
          <a:prstGeom prst="line">
            <a:avLst/>
          </a:prstGeom>
          <a:ln w="63500">
            <a:solidFill>
              <a:srgbClr val="0324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2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1" y="838200"/>
            <a:ext cx="6096000" cy="200542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+mn-lt"/>
                <a:ea typeface="MS PGothic" charset="0"/>
              </a:rPr>
              <a:t>A. Process </a:t>
            </a:r>
            <a:r>
              <a:rPr lang="en-US" sz="2800" dirty="0" err="1">
                <a:latin typeface="+mn-lt"/>
                <a:ea typeface="MS PGothic" charset="0"/>
              </a:rPr>
              <a:t>i</a:t>
            </a:r>
            <a:r>
              <a:rPr lang="en-US" sz="2800" dirty="0">
                <a:latin typeface="+mn-lt"/>
                <a:ea typeface="MS PGothic" charset="0"/>
              </a:rPr>
              <a:t> is not in the critical section.</a:t>
            </a:r>
            <a:br>
              <a:rPr lang="en-US" sz="2800" dirty="0">
                <a:latin typeface="+mn-lt"/>
                <a:ea typeface="MS PGothic" charset="0"/>
              </a:rPr>
            </a:br>
            <a:r>
              <a:rPr lang="en-US" sz="2800" dirty="0">
                <a:latin typeface="+mn-lt"/>
                <a:ea typeface="MS PGothic" charset="0"/>
              </a:rPr>
              <a:t>B. Process j is not in the critical section.</a:t>
            </a:r>
            <a:br>
              <a:rPr lang="en-US" sz="2800" dirty="0">
                <a:latin typeface="+mn-lt"/>
                <a:ea typeface="MS PGothic" charset="0"/>
              </a:rPr>
            </a:br>
            <a:r>
              <a:rPr lang="en-US" sz="2800" dirty="0">
                <a:latin typeface="+mn-lt"/>
                <a:ea typeface="MS PGothic" charset="0"/>
              </a:rPr>
              <a:t>C. It is Process i’s turn now.</a:t>
            </a:r>
            <a:br>
              <a:rPr lang="en-US" sz="2800" dirty="0">
                <a:latin typeface="+mn-lt"/>
                <a:ea typeface="MS PGothic" charset="0"/>
              </a:rPr>
            </a:br>
            <a:r>
              <a:rPr lang="en-US" sz="2800" dirty="0">
                <a:latin typeface="+mn-lt"/>
                <a:ea typeface="MS PGothic" charset="0"/>
              </a:rPr>
              <a:t>D. It is Process j’s turn now.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-304800" y="2819400"/>
            <a:ext cx="6629400" cy="4770438"/>
          </a:xfrm>
        </p:spPr>
        <p:txBody>
          <a:bodyPr>
            <a:normAutofit/>
          </a:bodyPr>
          <a:lstStyle/>
          <a:p>
            <a:pPr>
              <a:buFont typeface="Monotype Sort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do { 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] = true;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turn = j;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while (flag[j] &amp;&amp; turn = = j);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critical section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] = false;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remainder section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 } while (true); </a:t>
            </a:r>
          </a:p>
          <a:p>
            <a:pPr>
              <a:buFont typeface="Monotype Sorts" charset="0"/>
              <a:buNone/>
            </a:pPr>
            <a:endParaRPr lang="en-US" sz="2800" dirty="0">
              <a:solidFill>
                <a:srgbClr val="0000FF"/>
              </a:solidFill>
              <a:latin typeface="Helvetica" charset="0"/>
              <a:ea typeface="MS PGothic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9601" y="2286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ea typeface="MS PGothic" charset="0"/>
              </a:rPr>
              <a:t>Exercise  </a:t>
            </a:r>
            <a:r>
              <a:rPr lang="en-US" sz="3200" dirty="0">
                <a:ea typeface="MS PGothic" charset="0"/>
              </a:rPr>
              <a:t>What does </a:t>
            </a:r>
            <a:r>
              <a:rPr lang="en-US" sz="3200" dirty="0"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Flag[j] = false</a:t>
            </a:r>
            <a:r>
              <a:rPr lang="en-US" sz="3200" dirty="0">
                <a:ea typeface="MS PGothic" charset="0"/>
              </a:rPr>
              <a:t> mean?</a:t>
            </a:r>
            <a:endParaRPr lang="en-US" sz="3200" dirty="0">
              <a:ln w="1905"/>
              <a:solidFill>
                <a:srgbClr val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562600" y="2819400"/>
            <a:ext cx="6629400" cy="4770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do { 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flag[j] = true;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turn = 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while (flag[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] &amp;&amp; turn = = 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critical section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flag[j] = false;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remainder section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 } while (true);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2800" dirty="0">
              <a:solidFill>
                <a:srgbClr val="0000FF"/>
              </a:solidFill>
              <a:latin typeface="Helvetica" charset="0"/>
              <a:ea typeface="MS PGothic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77000" y="5168524"/>
            <a:ext cx="3124200" cy="394076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966496" y="4296453"/>
            <a:ext cx="1233904" cy="351747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9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3390901" y="1042580"/>
            <a:ext cx="5562600" cy="200542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+mn-lt"/>
                <a:ea typeface="MS PGothic" charset="0"/>
              </a:rPr>
              <a:t>A. The turn should be switched now. </a:t>
            </a:r>
            <a:br>
              <a:rPr lang="en-US" sz="2800" dirty="0">
                <a:latin typeface="+mn-lt"/>
                <a:ea typeface="MS PGothic" charset="0"/>
              </a:rPr>
            </a:br>
            <a:r>
              <a:rPr lang="en-US" sz="2800" dirty="0">
                <a:latin typeface="+mn-lt"/>
                <a:ea typeface="MS PGothic" charset="0"/>
              </a:rPr>
              <a:t>B. It is another process’s turn now. </a:t>
            </a:r>
            <a:br>
              <a:rPr lang="en-US" sz="2800" dirty="0">
                <a:latin typeface="+mn-lt"/>
                <a:ea typeface="MS PGothic" charset="0"/>
              </a:rPr>
            </a:br>
            <a:r>
              <a:rPr lang="en-US" sz="2800" dirty="0">
                <a:latin typeface="+mn-lt"/>
                <a:ea typeface="MS PGothic" charset="0"/>
              </a:rPr>
              <a:t>C. It is Process i’s turn now.</a:t>
            </a:r>
            <a:br>
              <a:rPr lang="en-US" sz="2800" dirty="0">
                <a:latin typeface="+mn-lt"/>
                <a:ea typeface="MS PGothic" charset="0"/>
              </a:rPr>
            </a:br>
            <a:r>
              <a:rPr lang="en-US" sz="2800" dirty="0">
                <a:latin typeface="+mn-lt"/>
                <a:ea typeface="MS PGothic" charset="0"/>
              </a:rPr>
              <a:t>D. It is Process j’s turn now.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9601" y="2286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ea typeface="MS PGothic" charset="0"/>
              </a:rPr>
              <a:t>Exercise </a:t>
            </a:r>
            <a:r>
              <a:rPr lang="en-US" sz="3200" dirty="0">
                <a:ea typeface="MS PGothic" charset="0"/>
              </a:rPr>
              <a:t>The following statements explain the meaning of </a:t>
            </a:r>
            <a:r>
              <a:rPr lang="en-US" sz="3200" dirty="0"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turn = j</a:t>
            </a:r>
            <a:r>
              <a:rPr lang="en-US" sz="3200" dirty="0">
                <a:ea typeface="MS PGothic" charset="0"/>
              </a:rPr>
              <a:t> . Which statement is incorrect?</a:t>
            </a:r>
            <a:endParaRPr lang="en-US" sz="3200" dirty="0">
              <a:ln w="1905"/>
              <a:solidFill>
                <a:srgbClr val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-304800" y="2819400"/>
            <a:ext cx="6629400" cy="3733800"/>
          </a:xfrm>
        </p:spPr>
        <p:txBody>
          <a:bodyPr>
            <a:normAutofit/>
          </a:bodyPr>
          <a:lstStyle/>
          <a:p>
            <a:pPr>
              <a:buFont typeface="Monotype Sort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do { 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] = true;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turn = j;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while (flag[j] &amp;&amp; turn = = j);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critical section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] = false;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remainder section </a:t>
            </a:r>
          </a:p>
          <a:p>
            <a:pPr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 } while (true); </a:t>
            </a:r>
          </a:p>
          <a:p>
            <a:pPr>
              <a:buFont typeface="Monotype Sorts" charset="0"/>
              <a:buNone/>
            </a:pPr>
            <a:endParaRPr lang="en-US" sz="2800" dirty="0">
              <a:solidFill>
                <a:srgbClr val="0000FF"/>
              </a:solidFill>
              <a:latin typeface="Helvetica" charset="0"/>
              <a:ea typeface="MS PGothic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562600" y="2819400"/>
            <a:ext cx="6629400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do { 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flag[j] = true;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turn = 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		while (flag[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] &amp;&amp; turn = = 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critical section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  <a:ea typeface="MS PGothic" charset="0"/>
                <a:cs typeface="Courier New" charset="0"/>
              </a:rPr>
              <a:t>flag[j] = false;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		remainder section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r>
              <a:rPr lang="en-US" sz="24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 } while (true); </a:t>
            </a:r>
          </a:p>
          <a:p>
            <a:pPr fontAlgn="auto">
              <a:spcAft>
                <a:spcPts val="0"/>
              </a:spcAft>
              <a:buFont typeface="Monotype Sorts" charset="0"/>
              <a:buNone/>
            </a:pPr>
            <a:endParaRPr lang="en-US" sz="2800" dirty="0">
              <a:solidFill>
                <a:srgbClr val="0000FF"/>
              </a:solidFill>
              <a:latin typeface="Helvetica" charset="0"/>
              <a:ea typeface="MS PGothic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1" y="3858128"/>
            <a:ext cx="1828799" cy="40907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3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64955"/>
            <a:ext cx="11811000" cy="114300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rgbClr val="FF0000"/>
                </a:solidFill>
                <a:ea typeface="MS PGothic" charset="0"/>
              </a:rPr>
              <a:t>Exercise  </a:t>
            </a:r>
            <a:r>
              <a:rPr lang="en-US" sz="3200" dirty="0">
                <a:ea typeface="MS PGothic" charset="0"/>
              </a:rPr>
              <a:t>What is </a:t>
            </a:r>
            <a:r>
              <a:rPr lang="en-US" sz="3200" b="1" dirty="0">
                <a:solidFill>
                  <a:srgbClr val="FF0000"/>
                </a:solidFill>
                <a:ea typeface="MS PGothic" charset="0"/>
              </a:rPr>
              <a:t>NOT </a:t>
            </a:r>
            <a:r>
              <a:rPr lang="en-US" sz="3200" dirty="0">
                <a:ea typeface="MS PGothic" charset="0"/>
              </a:rPr>
              <a:t>a problem with interrupt disabling?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170719"/>
            <a:ext cx="41910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Wingdings" charset="2"/>
              <a:buChar char="§"/>
            </a:pPr>
            <a:r>
              <a:rPr lang="en-US" sz="3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</a:rPr>
              <a:t>Interrupt Disabling</a:t>
            </a:r>
          </a:p>
          <a:p>
            <a:pPr marL="342900" lvl="1" indent="-342900"/>
            <a:endParaRPr lang="en-US" sz="1600" b="1" dirty="0">
              <a:solidFill>
                <a:schemeClr val="accent4">
                  <a:lumMod val="50000"/>
                </a:schemeClr>
              </a:solidFill>
            </a:endParaRPr>
          </a:p>
          <a:p>
            <a:pPr lvl="1">
              <a:buClr>
                <a:schemeClr val="accent3">
                  <a:lumMod val="50000"/>
                </a:schemeClr>
              </a:buClr>
              <a:buFont typeface="Wingdings" charset="2"/>
              <a:buChar char="§"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uniprocessor</a:t>
            </a:r>
            <a:r>
              <a:rPr lang="en-US" sz="2400" dirty="0">
                <a:latin typeface="+mn-lt"/>
              </a:rPr>
              <a:t> system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Wingdings" charset="2"/>
              <a:buChar char="§"/>
            </a:pPr>
            <a:endParaRPr lang="en-US" sz="2400" dirty="0">
              <a:latin typeface="+mn-lt"/>
            </a:endParaRPr>
          </a:p>
          <a:p>
            <a:pPr lvl="1">
              <a:buClr>
                <a:schemeClr val="accent3">
                  <a:lumMod val="50000"/>
                </a:schemeClr>
              </a:buClr>
              <a:buFont typeface="Wingdings" charset="2"/>
              <a:buChar char="§"/>
            </a:pPr>
            <a:r>
              <a:rPr lang="en-US" sz="2400" dirty="0">
                <a:latin typeface="+mn-lt"/>
              </a:rPr>
              <a:t> disabling interrupts      </a:t>
            </a:r>
          </a:p>
          <a:p>
            <a:pPr lvl="1">
              <a:buClr>
                <a:schemeClr val="accent3">
                  <a:lumMod val="50000"/>
                </a:schemeClr>
              </a:buClr>
            </a:pPr>
            <a:r>
              <a:rPr lang="en-US" sz="2400" dirty="0">
                <a:latin typeface="+mn-lt"/>
              </a:rPr>
              <a:t>   guarantees mutual  </a:t>
            </a:r>
          </a:p>
          <a:p>
            <a:pPr lvl="1">
              <a:buClr>
                <a:schemeClr val="accent3">
                  <a:lumMod val="50000"/>
                </a:schemeClr>
              </a:buClr>
            </a:pPr>
            <a:r>
              <a:rPr lang="en-US" sz="2400" dirty="0">
                <a:latin typeface="+mn-lt"/>
              </a:rPr>
              <a:t>   exclusion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24600" y="2864316"/>
            <a:ext cx="3962400" cy="4001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Wingdings" charset="2"/>
              <a:buChar char="§"/>
            </a:pPr>
            <a:r>
              <a:rPr lang="en-US" sz="3200" b="1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</a:rPr>
              <a:t>Disadvantages</a:t>
            </a:r>
          </a:p>
          <a:p>
            <a:pPr marL="342900" lvl="1" indent="-342900"/>
            <a:endParaRPr lang="en-US" sz="1200" dirty="0"/>
          </a:p>
          <a:p>
            <a:pPr lvl="1">
              <a:buClr>
                <a:schemeClr val="accent3">
                  <a:lumMod val="50000"/>
                </a:schemeClr>
              </a:buClr>
              <a:buFont typeface="Wingdings" charset="2"/>
              <a:buChar char="§"/>
            </a:pPr>
            <a:r>
              <a:rPr lang="en-US" sz="2400" dirty="0"/>
              <a:t> </a:t>
            </a:r>
            <a:r>
              <a:rPr lang="en-US" sz="2400" dirty="0">
                <a:latin typeface="+mn-lt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efficiency</a:t>
            </a:r>
            <a:r>
              <a:rPr lang="en-US" sz="2400" dirty="0">
                <a:latin typeface="+mn-lt"/>
              </a:rPr>
              <a:t> of  </a:t>
            </a:r>
          </a:p>
          <a:p>
            <a:pPr lvl="1">
              <a:buClr>
                <a:schemeClr val="accent3">
                  <a:lumMod val="50000"/>
                </a:schemeClr>
              </a:buClr>
            </a:pPr>
            <a:r>
              <a:rPr lang="en-US" sz="2400" dirty="0">
                <a:latin typeface="+mn-lt"/>
              </a:rPr>
              <a:t>   execution could be </a:t>
            </a:r>
          </a:p>
          <a:p>
            <a:pPr lvl="1">
              <a:buClr>
                <a:schemeClr val="accent3">
                  <a:lumMod val="50000"/>
                </a:schemeClr>
              </a:buClr>
            </a:pPr>
            <a:r>
              <a:rPr lang="en-US" sz="2400" dirty="0">
                <a:latin typeface="+mn-lt"/>
              </a:rPr>
              <a:t>   noticeably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degraded</a:t>
            </a:r>
          </a:p>
          <a:p>
            <a:pPr lvl="1">
              <a:buClr>
                <a:schemeClr val="accent3">
                  <a:lumMod val="50000"/>
                </a:schemeClr>
              </a:buClr>
              <a:buFont typeface="Wingdings" charset="2"/>
              <a:buChar char="§"/>
            </a:pPr>
            <a:endParaRPr lang="en-US" sz="2400" dirty="0">
              <a:latin typeface="+mn-lt"/>
            </a:endParaRPr>
          </a:p>
          <a:p>
            <a:pPr lvl="1">
              <a:buClr>
                <a:schemeClr val="accent3">
                  <a:lumMod val="50000"/>
                </a:schemeClr>
              </a:buClr>
              <a:buFont typeface="Wingdings" charset="2"/>
              <a:buChar char="§"/>
            </a:pPr>
            <a:r>
              <a:rPr lang="en-US" sz="2400" dirty="0">
                <a:latin typeface="+mn-lt"/>
              </a:rPr>
              <a:t> this approach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will not </a:t>
            </a:r>
          </a:p>
          <a:p>
            <a:pPr lvl="1">
              <a:buClr>
                <a:schemeClr val="accent3">
                  <a:lumMod val="50000"/>
                </a:schemeClr>
              </a:buClr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   work</a:t>
            </a:r>
            <a:r>
              <a:rPr lang="en-US" sz="2400" dirty="0">
                <a:latin typeface="+mn-lt"/>
              </a:rPr>
              <a:t> in a  </a:t>
            </a:r>
          </a:p>
          <a:p>
            <a:pPr lvl="1">
              <a:buClr>
                <a:schemeClr val="accent3">
                  <a:lumMod val="50000"/>
                </a:schemeClr>
              </a:buClr>
            </a:pPr>
            <a:r>
              <a:rPr lang="en-US" sz="2400" dirty="0">
                <a:latin typeface="+mn-lt"/>
              </a:rPr>
              <a:t>   multiprocessor </a:t>
            </a:r>
          </a:p>
          <a:p>
            <a:pPr lvl="1">
              <a:buClr>
                <a:schemeClr val="accent3">
                  <a:lumMod val="50000"/>
                </a:schemeClr>
              </a:buClr>
            </a:pPr>
            <a:r>
              <a:rPr lang="en-US" sz="2400" dirty="0">
                <a:latin typeface="+mn-lt"/>
              </a:rPr>
              <a:t>   architecture</a:t>
            </a:r>
          </a:p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382294" y="4837906"/>
            <a:ext cx="3581400" cy="1588"/>
          </a:xfrm>
          <a:prstGeom prst="line">
            <a:avLst/>
          </a:prstGeom>
          <a:ln w="349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28600" y="1191913"/>
            <a:ext cx="5410200" cy="1978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en-US" sz="2800" dirty="0">
              <a:ea typeface="MS PGothic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38900" y="2727158"/>
            <a:ext cx="3733800" cy="38862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43000" y="1191913"/>
            <a:ext cx="10591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sz="2800" dirty="0">
                <a:latin typeface="+mn-lt"/>
                <a:ea typeface="SimSun" panose="02010600030101010101" pitchFamily="2" charset="-122"/>
                <a:cs typeface="Arial" panose="020B0604020202020204" pitchFamily="34" charset="0"/>
              </a:rPr>
              <a:t>The efficiency of execution could be noticeably degraded</a:t>
            </a:r>
            <a:r>
              <a:rPr lang="en-US" sz="2800" dirty="0">
                <a:solidFill>
                  <a:srgbClr val="000000"/>
                </a:solidFill>
                <a:latin typeface="+mn-lt"/>
                <a:ea typeface="SimSun" panose="02010600030101010101" pitchFamily="2" charset="-122"/>
                <a:cs typeface="Arial" panose="020B0604020202020204" pitchFamily="34" charset="0"/>
              </a:rPr>
              <a:t>. </a:t>
            </a:r>
            <a:endParaRPr lang="en-US" sz="2800" dirty="0">
              <a:latin typeface="+mn-lt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sz="2800" dirty="0">
                <a:latin typeface="+mn-lt"/>
                <a:ea typeface="SimSun" panose="02010600030101010101" pitchFamily="2" charset="-122"/>
                <a:cs typeface="Arial" panose="020B0604020202020204" pitchFamily="34" charset="0"/>
              </a:rPr>
              <a:t>This approach will not work in a multiprocessor architecture</a:t>
            </a:r>
            <a:r>
              <a:rPr lang="en-US" sz="2800" dirty="0">
                <a:solidFill>
                  <a:srgbClr val="000000"/>
                </a:solidFill>
                <a:latin typeface="+mn-lt"/>
                <a:ea typeface="SimSun" panose="02010600030101010101" pitchFamily="2" charset="-122"/>
                <a:cs typeface="Arial" panose="020B0604020202020204" pitchFamily="34" charset="0"/>
              </a:rPr>
              <a:t>. </a:t>
            </a:r>
            <a:endParaRPr lang="en-US" sz="2800" dirty="0">
              <a:latin typeface="+mn-lt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sz="2800" dirty="0">
                <a:solidFill>
                  <a:srgbClr val="000000"/>
                </a:solidFill>
                <a:latin typeface="+mn-lt"/>
                <a:ea typeface="SimSun" panose="02010600030101010101" pitchFamily="2" charset="-122"/>
                <a:cs typeface="Arial" panose="020B0604020202020204" pitchFamily="34" charset="0"/>
              </a:rPr>
              <a:t>This approach can’t enforce mutual exclusion.</a:t>
            </a:r>
            <a:endParaRPr lang="en-US" sz="2800" dirty="0">
              <a:latin typeface="+mn-lt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sz="2800" dirty="0">
                <a:solidFill>
                  <a:srgbClr val="000000"/>
                </a:solidFill>
                <a:latin typeface="+mn-lt"/>
                <a:ea typeface="SimSun" panose="02010600030101010101" pitchFamily="2" charset="-122"/>
                <a:cs typeface="Arial" panose="020B0604020202020204" pitchFamily="34" charset="0"/>
              </a:rPr>
              <a:t>This approach can’t be applied to real-time systems. </a:t>
            </a:r>
            <a:endParaRPr lang="en-US" sz="2800" dirty="0">
              <a:effectLst/>
              <a:latin typeface="+mn-lt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842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itle 1"/>
          <p:cNvSpPr>
            <a:spLocks noGrp="1"/>
          </p:cNvSpPr>
          <p:nvPr>
            <p:ph type="title"/>
          </p:nvPr>
        </p:nvSpPr>
        <p:spPr>
          <a:xfrm>
            <a:off x="1706562" y="533400"/>
            <a:ext cx="8154988" cy="1371600"/>
          </a:xfrm>
        </p:spPr>
        <p:txBody>
          <a:bodyPr>
            <a:noAutofit/>
          </a:bodyPr>
          <a:lstStyle/>
          <a:p>
            <a:r>
              <a:rPr lang="en-US" dirty="0">
                <a:latin typeface="+mn-lt"/>
                <a:ea typeface="MS PGothic" charset="0"/>
              </a:rPr>
              <a:t>Solution to Critical-section Problem Using Locks</a:t>
            </a:r>
          </a:p>
        </p:txBody>
      </p:sp>
      <p:sp>
        <p:nvSpPr>
          <p:cNvPr id="19461" name="Content Placeholder 2"/>
          <p:cNvSpPr>
            <a:spLocks noGrp="1"/>
          </p:cNvSpPr>
          <p:nvPr>
            <p:ph idx="1"/>
          </p:nvPr>
        </p:nvSpPr>
        <p:spPr>
          <a:xfrm>
            <a:off x="2133600" y="2321179"/>
            <a:ext cx="7727950" cy="4530725"/>
          </a:xfrm>
        </p:spPr>
        <p:txBody>
          <a:bodyPr/>
          <a:lstStyle/>
          <a:p>
            <a:pPr>
              <a:buFont typeface="Monotype Sorts" charset="0"/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MS PGothic" charset="0"/>
                <a:cs typeface="Courier New"/>
              </a:rPr>
              <a:t>do { </a:t>
            </a:r>
          </a:p>
          <a:p>
            <a:pPr>
              <a:buFont typeface="Monotype Sorts" charset="0"/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MS PGothic" charset="0"/>
                <a:cs typeface="Courier New"/>
              </a:rPr>
              <a:t>		</a:t>
            </a:r>
            <a:r>
              <a:rPr lang="en-US" sz="2800" dirty="0">
                <a:solidFill>
                  <a:srgbClr val="FF0000"/>
                </a:solidFill>
                <a:latin typeface="Courier New"/>
                <a:ea typeface="MS PGothic" charset="0"/>
                <a:cs typeface="Courier New"/>
              </a:rPr>
              <a:t>acquire lock </a:t>
            </a:r>
          </a:p>
          <a:p>
            <a:pPr>
              <a:buFont typeface="Monotype Sorts" charset="0"/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MS PGothic" charset="0"/>
                <a:cs typeface="Courier New"/>
              </a:rPr>
              <a:t>			critical section </a:t>
            </a:r>
          </a:p>
          <a:p>
            <a:pPr>
              <a:buFont typeface="Monotype Sorts" charset="0"/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MS PGothic" charset="0"/>
                <a:cs typeface="Courier New"/>
              </a:rPr>
              <a:t>		</a:t>
            </a:r>
            <a:r>
              <a:rPr lang="en-US" sz="2800" dirty="0">
                <a:solidFill>
                  <a:srgbClr val="FF0000"/>
                </a:solidFill>
                <a:latin typeface="Courier New"/>
                <a:ea typeface="MS PGothic" charset="0"/>
                <a:cs typeface="Courier New"/>
              </a:rPr>
              <a:t>release lock </a:t>
            </a:r>
          </a:p>
          <a:p>
            <a:pPr>
              <a:buFont typeface="Monotype Sorts" charset="0"/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MS PGothic" charset="0"/>
                <a:cs typeface="Courier New"/>
              </a:rPr>
              <a:t>			remainder section </a:t>
            </a:r>
          </a:p>
          <a:p>
            <a:pPr>
              <a:buFont typeface="Monotype Sorts" charset="0"/>
              <a:buNone/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MS PGothic" charset="0"/>
                <a:cs typeface="Courier New"/>
              </a:rPr>
              <a:t>	} while (TRUE);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16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1" y="161926"/>
            <a:ext cx="8381999" cy="809622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latin typeface="+mn-lt"/>
                <a:ea typeface="MS PGothic" charset="0"/>
              </a:rPr>
              <a:t>The </a:t>
            </a:r>
            <a:r>
              <a:rPr lang="en-US" dirty="0">
                <a:latin typeface="Courier New"/>
                <a:ea typeface="MS PGothic" charset="0"/>
                <a:cs typeface="Courier New"/>
              </a:rPr>
              <a:t>test_and_set</a:t>
            </a:r>
            <a:r>
              <a:rPr lang="en-US" dirty="0">
                <a:latin typeface="+mn-lt"/>
                <a:ea typeface="MS PGothic" charset="0"/>
              </a:rPr>
              <a:t>  Instruction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330450" y="2133600"/>
            <a:ext cx="8032750" cy="2590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boolean test_and_set (boolean *target)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{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      boolean </a:t>
            </a:r>
            <a:r>
              <a:rPr lang="en-US" sz="2600" dirty="0" err="1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rv</a:t>
            </a: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= *target;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      *target = TRUE;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      return </a:t>
            </a:r>
            <a:r>
              <a:rPr lang="en-US" sz="2600" dirty="0" err="1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rv</a:t>
            </a: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;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sz="2600" dirty="0">
                <a:solidFill>
                  <a:srgbClr val="000000"/>
                </a:solidFill>
                <a:latin typeface="Courier New" charset="0"/>
                <a:ea typeface="MS PGothic" charset="0"/>
                <a:cs typeface="Courier New" charset="0"/>
              </a:rPr>
              <a:t> }</a:t>
            </a:r>
            <a:endParaRPr lang="en-US" sz="1600" dirty="0">
              <a:solidFill>
                <a:srgbClr val="0000FF"/>
              </a:solidFill>
              <a:latin typeface="Helvetica" charset="0"/>
              <a:ea typeface="MS PGothic" charset="0"/>
            </a:endParaRPr>
          </a:p>
          <a:p>
            <a:pPr>
              <a:lnSpc>
                <a:spcPct val="90000"/>
              </a:lnSpc>
              <a:tabLst>
                <a:tab pos="739775" algn="l"/>
                <a:tab pos="1020763" algn="l"/>
                <a:tab pos="1257300" algn="l"/>
              </a:tabLst>
            </a:pPr>
            <a:endParaRPr lang="en-US" sz="2800" dirty="0">
              <a:ea typeface="MS PGothic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67000" y="1143000"/>
            <a:ext cx="67818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  <a:ea typeface="MS PGothic" charset="0"/>
              </a:rPr>
              <a:t>Exercise  </a:t>
            </a:r>
            <a:r>
              <a:rPr lang="en-US" dirty="0">
                <a:ea typeface="MS PGothic" charset="0"/>
              </a:rPr>
              <a:t>What does this function do?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19350" y="4961099"/>
            <a:ext cx="7277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Executed atomically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Returns the original value of passed 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Set the new value of passed parameter to “TRUE”.</a:t>
            </a:r>
          </a:p>
        </p:txBody>
      </p:sp>
    </p:spTree>
    <p:extLst>
      <p:ext uri="{BB962C8B-B14F-4D97-AF65-F5344CB8AC3E}">
        <p14:creationId xmlns:p14="http://schemas.microsoft.com/office/powerpoint/2010/main" val="412139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61926"/>
            <a:ext cx="8305800" cy="904875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>
                <a:ea typeface="MS PGothic" charset="0"/>
              </a:rPr>
              <a:t>How to use </a:t>
            </a:r>
            <a:r>
              <a:rPr lang="en-US" dirty="0">
                <a:latin typeface="Courier New"/>
                <a:ea typeface="MS PGothic" charset="0"/>
                <a:cs typeface="Courier New"/>
              </a:rPr>
              <a:t>test_and_set()?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193800"/>
            <a:ext cx="8458200" cy="5588000"/>
          </a:xfrm>
        </p:spPr>
        <p:txBody>
          <a:bodyPr>
            <a:normAutofit fontScale="92500" lnSpcReduction="10000"/>
          </a:bodyPr>
          <a:lstStyle/>
          <a:p>
            <a:pPr marL="342866" indent="-342866">
              <a:lnSpc>
                <a:spcPct val="90000"/>
              </a:lnSpc>
              <a:tabLst>
                <a:tab pos="742278" algn="l"/>
                <a:tab pos="1023411" algn="l"/>
                <a:tab pos="1258984" algn="l"/>
              </a:tabLst>
              <a:defRPr/>
            </a:pPr>
            <a:r>
              <a:rPr lang="en-US" sz="3000" dirty="0">
                <a:ea typeface="ＭＳ Ｐゴシック" charset="0"/>
                <a:cs typeface="ＭＳ Ｐゴシック" charset="0"/>
              </a:rPr>
              <a:t>Shared Boolean variable lock, initialized to </a:t>
            </a:r>
            <a:r>
              <a:rPr lang="en-US" sz="3000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FALSE</a:t>
            </a:r>
          </a:p>
          <a:p>
            <a:pPr marL="0" indent="0">
              <a:lnSpc>
                <a:spcPct val="90000"/>
              </a:lnSpc>
              <a:buNone/>
              <a:tabLst>
                <a:tab pos="742278" algn="l"/>
                <a:tab pos="1023411" algn="l"/>
                <a:tab pos="1258984" algn="l"/>
              </a:tabLst>
              <a:defRPr/>
            </a:pPr>
            <a:endParaRPr lang="en-US" altLang="en-US" sz="31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90000"/>
              </a:lnSpc>
              <a:buNone/>
              <a:tabLst>
                <a:tab pos="742278" algn="l"/>
                <a:tab pos="1023411" algn="l"/>
                <a:tab pos="1258984" algn="l"/>
              </a:tabLst>
              <a:defRPr/>
            </a:pPr>
            <a:endParaRPr lang="en-US" altLang="en-US" sz="31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indent="0">
              <a:lnSpc>
                <a:spcPct val="90000"/>
              </a:lnSpc>
              <a:buNone/>
              <a:tabLst>
                <a:tab pos="742278" algn="l"/>
                <a:tab pos="1023411" algn="l"/>
                <a:tab pos="1258984" algn="l"/>
              </a:tabLst>
              <a:defRPr/>
            </a:pP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do {</a:t>
            </a:r>
            <a:b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</a:b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      </a:t>
            </a:r>
            <a:r>
              <a:rPr lang="en-US" altLang="en-US" sz="3000" dirty="0">
                <a:solidFill>
                  <a:srgbClr val="FF0000"/>
                </a:solidFill>
                <a:latin typeface="Courier New"/>
                <a:cs typeface="Courier New"/>
              </a:rPr>
              <a:t>while (test_and_set(&amp;lock))</a:t>
            </a:r>
          </a:p>
          <a:p>
            <a:pPr marL="0" indent="0">
              <a:buNone/>
              <a:defRPr/>
            </a:pP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altLang="en-US" sz="30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/* do nothing */</a:t>
            </a:r>
          </a:p>
          <a:p>
            <a:pPr marL="0" indent="0">
              <a:buNone/>
              <a:defRPr/>
            </a:pPr>
            <a:endParaRPr lang="en-US" altLang="en-US" sz="30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      /* critical section */ </a:t>
            </a:r>
          </a:p>
          <a:p>
            <a:pPr marL="0" indent="0">
              <a:buNone/>
              <a:defRPr/>
            </a:pPr>
            <a:endParaRPr lang="en-US" altLang="en-US" sz="30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      lock = false; </a:t>
            </a:r>
          </a:p>
          <a:p>
            <a:pPr marL="0" indent="0">
              <a:buNone/>
              <a:defRPr/>
            </a:pP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      /* remainder section */ </a:t>
            </a:r>
          </a:p>
          <a:p>
            <a:pPr marL="0" indent="0">
              <a:buNone/>
              <a:defRPr/>
            </a:pPr>
            <a:r>
              <a:rPr lang="en-US" altLang="en-US" sz="3000" dirty="0">
                <a:solidFill>
                  <a:srgbClr val="000000"/>
                </a:solidFill>
                <a:latin typeface="Courier New"/>
                <a:cs typeface="Courier New"/>
              </a:rPr>
              <a:t>} while (true);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000" y="1600200"/>
            <a:ext cx="2743200" cy="990600"/>
            <a:chOff x="6324600" y="3352800"/>
            <a:chExt cx="2400301" cy="990600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>
            <a:xfrm>
              <a:off x="6477000" y="3352800"/>
              <a:ext cx="2247901" cy="8382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TRUE means it is locked!</a:t>
              </a:r>
            </a:p>
          </p:txBody>
        </p:sp>
        <p:sp>
          <p:nvSpPr>
            <p:cNvPr id="6" name="Rounded Rectangular Callout 5"/>
            <p:cNvSpPr/>
            <p:nvPr/>
          </p:nvSpPr>
          <p:spPr>
            <a:xfrm>
              <a:off x="6324600" y="3352800"/>
              <a:ext cx="2400300" cy="990600"/>
            </a:xfrm>
            <a:prstGeom prst="wedgeRoundRectCallout">
              <a:avLst>
                <a:gd name="adj1" fmla="val -22361"/>
                <a:gd name="adj2" fmla="val 76283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781801" y="4953000"/>
            <a:ext cx="2286000" cy="609600"/>
            <a:chOff x="5782597" y="3505200"/>
            <a:chExt cx="2400300" cy="609600"/>
          </a:xfrm>
        </p:grpSpPr>
        <p:sp>
          <p:nvSpPr>
            <p:cNvPr id="8" name="Rectangle 3"/>
            <p:cNvSpPr txBox="1">
              <a:spLocks noChangeArrowheads="1"/>
            </p:cNvSpPr>
            <p:nvPr/>
          </p:nvSpPr>
          <p:spPr>
            <a:xfrm>
              <a:off x="5860025" y="3505200"/>
              <a:ext cx="2162851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Unlocked it!</a:t>
              </a:r>
            </a:p>
          </p:txBody>
        </p:sp>
        <p:sp>
          <p:nvSpPr>
            <p:cNvPr id="9" name="Rounded Rectangular Callout 8"/>
            <p:cNvSpPr/>
            <p:nvPr/>
          </p:nvSpPr>
          <p:spPr>
            <a:xfrm>
              <a:off x="5782597" y="3505200"/>
              <a:ext cx="2400300" cy="609600"/>
            </a:xfrm>
            <a:prstGeom prst="wedgeRoundRectCallout">
              <a:avLst>
                <a:gd name="adj1" fmla="val -72799"/>
                <a:gd name="adj2" fmla="val 26884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305800" y="3429000"/>
            <a:ext cx="2667000" cy="990600"/>
            <a:chOff x="5782597" y="3505200"/>
            <a:chExt cx="2400300" cy="609600"/>
          </a:xfrm>
        </p:grpSpPr>
        <p:sp>
          <p:nvSpPr>
            <p:cNvPr id="12" name="Rectangle 3"/>
            <p:cNvSpPr txBox="1">
              <a:spLocks noChangeArrowheads="1"/>
            </p:cNvSpPr>
            <p:nvPr/>
          </p:nvSpPr>
          <p:spPr>
            <a:xfrm>
              <a:off x="5860025" y="3505200"/>
              <a:ext cx="2162851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Who locks this section?</a:t>
              </a:r>
            </a:p>
          </p:txBody>
        </p:sp>
        <p:sp>
          <p:nvSpPr>
            <p:cNvPr id="13" name="Rounded Rectangular Callout 12"/>
            <p:cNvSpPr/>
            <p:nvPr/>
          </p:nvSpPr>
          <p:spPr>
            <a:xfrm>
              <a:off x="5782597" y="3505200"/>
              <a:ext cx="2400300" cy="609600"/>
            </a:xfrm>
            <a:prstGeom prst="wedgeRoundRectCallout">
              <a:avLst>
                <a:gd name="adj1" fmla="val -70293"/>
                <a:gd name="adj2" fmla="val 35559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2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76199"/>
            <a:ext cx="9143999" cy="1008563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latin typeface="+mn-lt"/>
                <a:ea typeface="MS PGothic" charset="0"/>
              </a:rPr>
              <a:t>The </a:t>
            </a:r>
            <a:r>
              <a:rPr lang="en-US" sz="4000" dirty="0" err="1">
                <a:latin typeface="Courier New"/>
                <a:ea typeface="MS PGothic" charset="0"/>
                <a:cs typeface="Courier New"/>
              </a:rPr>
              <a:t>compare_and_swap</a:t>
            </a:r>
            <a:r>
              <a:rPr lang="en-US" sz="4000" dirty="0">
                <a:latin typeface="+mn-lt"/>
                <a:ea typeface="MS PGothic" charset="0"/>
              </a:rPr>
              <a:t> Instruction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4759910"/>
            <a:ext cx="10896600" cy="17726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ea typeface="MS PGothic" charset="0"/>
              </a:rPr>
              <a:t>Executed </a:t>
            </a:r>
            <a:r>
              <a:rPr lang="en-US" sz="2400" dirty="0">
                <a:solidFill>
                  <a:srgbClr val="FF0000"/>
                </a:solidFill>
                <a:ea typeface="MS PGothic" charset="0"/>
              </a:rPr>
              <a:t>atomically</a:t>
            </a:r>
          </a:p>
          <a:p>
            <a:pPr>
              <a:lnSpc>
                <a:spcPct val="90000"/>
              </a:lnSpc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ea typeface="MS PGothic" charset="0"/>
              </a:rPr>
              <a:t>Returns the original value of passed parameter “value”</a:t>
            </a:r>
          </a:p>
          <a:p>
            <a:pPr>
              <a:lnSpc>
                <a:spcPct val="90000"/>
              </a:lnSpc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ea typeface="MS PGothic" charset="0"/>
              </a:rPr>
              <a:t>Set  the variable “value”  the value of the passed parameter “</a:t>
            </a:r>
            <a:r>
              <a:rPr lang="en-US" sz="2400" dirty="0" err="1">
                <a:ea typeface="MS PGothic" charset="0"/>
              </a:rPr>
              <a:t>new_value</a:t>
            </a:r>
            <a:r>
              <a:rPr lang="en-US" sz="2400" dirty="0">
                <a:ea typeface="MS PGothic" charset="0"/>
              </a:rPr>
              <a:t>” but only if “value” ==“expected”. That is, the swap takes place only under this condition.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14400" y="1752600"/>
            <a:ext cx="10896600" cy="29089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latin typeface="Courier New"/>
                <a:ea typeface="MS PGothic" charset="0"/>
                <a:cs typeface="Courier New"/>
              </a:rPr>
              <a:t>int </a:t>
            </a:r>
            <a:r>
              <a:rPr lang="en-US" sz="2400" dirty="0" err="1">
                <a:latin typeface="Courier New"/>
                <a:ea typeface="MS PGothic" charset="0"/>
                <a:cs typeface="Courier New"/>
              </a:rPr>
              <a:t>compare_and_swap</a:t>
            </a:r>
            <a:r>
              <a:rPr lang="en-US" sz="2400" dirty="0">
                <a:latin typeface="Courier New"/>
                <a:ea typeface="MS PGothic" charset="0"/>
                <a:cs typeface="Courier New"/>
              </a:rPr>
              <a:t>(int *value, int expected, int </a:t>
            </a:r>
            <a:r>
              <a:rPr lang="en-US" sz="2400" dirty="0" err="1">
                <a:latin typeface="Courier New"/>
                <a:ea typeface="MS PGothic" charset="0"/>
                <a:cs typeface="Courier New"/>
              </a:rPr>
              <a:t>new_value</a:t>
            </a:r>
            <a:r>
              <a:rPr lang="en-US" sz="2400" dirty="0">
                <a:latin typeface="Courier New"/>
                <a:ea typeface="MS PGothic" charset="0"/>
                <a:cs typeface="Courier New"/>
              </a:rPr>
              <a:t>) {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latin typeface="Courier New"/>
                <a:ea typeface="MS PGothic" charset="0"/>
                <a:cs typeface="Courier New"/>
              </a:rPr>
              <a:t>    int temp = *value;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latin typeface="Courier New"/>
                <a:ea typeface="MS PGothic" charset="0"/>
                <a:cs typeface="Courier New"/>
              </a:rPr>
              <a:t>    if (*value == expected)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latin typeface="Courier New"/>
                <a:ea typeface="MS PGothic" charset="0"/>
                <a:cs typeface="Courier New"/>
              </a:rPr>
              <a:t>        *value = </a:t>
            </a:r>
            <a:r>
              <a:rPr lang="en-US" sz="2400" dirty="0" err="1">
                <a:latin typeface="Courier New"/>
                <a:ea typeface="MS PGothic" charset="0"/>
                <a:cs typeface="Courier New"/>
              </a:rPr>
              <a:t>new_value</a:t>
            </a:r>
            <a:r>
              <a:rPr lang="en-US" sz="2400" dirty="0">
                <a:latin typeface="Courier New"/>
                <a:ea typeface="MS PGothic" charset="0"/>
                <a:cs typeface="Courier New"/>
              </a:rPr>
              <a:t>;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latin typeface="Courier New"/>
                <a:ea typeface="MS PGothic" charset="0"/>
                <a:cs typeface="Courier New"/>
              </a:rPr>
              <a:t>    return temp;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400" dirty="0">
                <a:latin typeface="Courier New"/>
                <a:ea typeface="MS PGothic" charset="0"/>
                <a:cs typeface="Courier New"/>
              </a:rPr>
              <a:t>} 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sz="2400" dirty="0">
              <a:latin typeface="Courier New"/>
              <a:ea typeface="MS PGothic" charset="0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56658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219076"/>
            <a:ext cx="8534399" cy="6953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+mn-lt"/>
                <a:ea typeface="MS PGothic" charset="0"/>
              </a:rPr>
              <a:t>How to use </a:t>
            </a:r>
            <a:r>
              <a:rPr lang="en-US" dirty="0" err="1">
                <a:latin typeface="Courier New"/>
                <a:ea typeface="MS PGothic" charset="0"/>
                <a:cs typeface="Courier New"/>
              </a:rPr>
              <a:t>compare_and_swap</a:t>
            </a:r>
            <a:r>
              <a:rPr lang="en-US" dirty="0">
                <a:latin typeface="Courier New"/>
                <a:ea typeface="MS PGothic" charset="0"/>
                <a:cs typeface="Courier New"/>
              </a:rPr>
              <a:t>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211264"/>
            <a:ext cx="8915400" cy="5341937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tabLst>
                <a:tab pos="741363" algn="l"/>
                <a:tab pos="1022350" algn="l"/>
                <a:tab pos="1258888" algn="l"/>
              </a:tabLst>
            </a:pPr>
            <a:r>
              <a:rPr lang="en-US" sz="3000" dirty="0">
                <a:ea typeface="MS PGothic" charset="0"/>
              </a:rPr>
              <a:t>Shared integer  </a:t>
            </a:r>
            <a:r>
              <a:rPr lang="ja-JP" altLang="en-US" sz="3000" dirty="0">
                <a:ea typeface="MS PGothic" charset="0"/>
              </a:rPr>
              <a:t>“</a:t>
            </a:r>
            <a:r>
              <a:rPr lang="en-US" altLang="ja-JP" sz="3000" dirty="0">
                <a:ea typeface="MS PGothic" charset="0"/>
              </a:rPr>
              <a:t>lock</a:t>
            </a:r>
            <a:r>
              <a:rPr lang="ja-JP" altLang="en-US" sz="3000" dirty="0">
                <a:ea typeface="MS PGothic" charset="0"/>
              </a:rPr>
              <a:t>”</a:t>
            </a:r>
            <a:r>
              <a:rPr lang="en-US" altLang="ja-JP" sz="3000" dirty="0">
                <a:ea typeface="MS PGothic" charset="0"/>
              </a:rPr>
              <a:t>  initialized to 0; </a:t>
            </a:r>
          </a:p>
          <a:p>
            <a:pPr>
              <a:lnSpc>
                <a:spcPct val="90000"/>
              </a:lnSpc>
              <a:tabLst>
                <a:tab pos="741363" algn="l"/>
                <a:tab pos="1022350" algn="l"/>
                <a:tab pos="1258888" algn="l"/>
              </a:tabLst>
            </a:pPr>
            <a:endParaRPr lang="en-US" altLang="ja-JP" sz="2800" dirty="0">
              <a:ea typeface="MS PGothic" charset="0"/>
            </a:endParaRPr>
          </a:p>
          <a:p>
            <a:pPr marL="0" indent="0">
              <a:lnSpc>
                <a:spcPct val="90000"/>
              </a:lnSpc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do {</a:t>
            </a:r>
            <a:br>
              <a:rPr lang="en-US" sz="2600" dirty="0">
                <a:latin typeface="Courier New"/>
                <a:ea typeface="MS PGothic" charset="0"/>
                <a:cs typeface="Courier New"/>
              </a:rPr>
            </a:br>
            <a:r>
              <a:rPr lang="en-US" sz="2600" dirty="0">
                <a:latin typeface="Courier New"/>
                <a:ea typeface="MS PGothic" charset="0"/>
                <a:cs typeface="Courier New"/>
              </a:rPr>
              <a:t>    while (</a:t>
            </a:r>
            <a:r>
              <a:rPr lang="en-US" sz="2600" dirty="0" err="1">
                <a:latin typeface="Courier New"/>
                <a:ea typeface="MS PGothic" charset="0"/>
                <a:cs typeface="Courier New"/>
              </a:rPr>
              <a:t>compare_and_swap</a:t>
            </a:r>
            <a:r>
              <a:rPr lang="en-US" sz="2600" dirty="0">
                <a:latin typeface="Courier New"/>
                <a:ea typeface="MS PGothic" charset="0"/>
                <a:cs typeface="Courier New"/>
              </a:rPr>
              <a:t>(&amp;lock, 0, 1) != 0 )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        ; /* do nothing */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     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    /* critical section */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   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    lock = 0;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         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    /* remainder section */ </a:t>
            </a:r>
          </a:p>
          <a:p>
            <a:pPr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sz="2600" dirty="0">
                <a:latin typeface="Courier New"/>
                <a:ea typeface="MS PGothic" charset="0"/>
                <a:cs typeface="Courier New"/>
              </a:rPr>
              <a:t>} while (true);    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9296400" y="2362200"/>
            <a:ext cx="838200" cy="53340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8458200" y="3200400"/>
            <a:ext cx="2057400" cy="685800"/>
            <a:chOff x="6934200" y="3276600"/>
            <a:chExt cx="2057400" cy="685800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>
            <a:xfrm>
              <a:off x="7086600" y="3352800"/>
              <a:ext cx="1905000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It is locked!</a:t>
              </a:r>
            </a:p>
          </p:txBody>
        </p:sp>
        <p:sp>
          <p:nvSpPr>
            <p:cNvPr id="2" name="Rounded Rectangular Callout 1"/>
            <p:cNvSpPr/>
            <p:nvPr/>
          </p:nvSpPr>
          <p:spPr>
            <a:xfrm>
              <a:off x="6934200" y="3276600"/>
              <a:ext cx="2057400" cy="685800"/>
            </a:xfrm>
            <a:prstGeom prst="wedgeRoundRectCallout">
              <a:avLst>
                <a:gd name="adj1" fmla="val -4883"/>
                <a:gd name="adj2" fmla="val -89119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724400" y="4800600"/>
            <a:ext cx="2286000" cy="609600"/>
            <a:chOff x="5782597" y="3505200"/>
            <a:chExt cx="2400300" cy="609600"/>
          </a:xfrm>
        </p:grpSpPr>
        <p:sp>
          <p:nvSpPr>
            <p:cNvPr id="9" name="Rectangle 3"/>
            <p:cNvSpPr txBox="1">
              <a:spLocks noChangeArrowheads="1"/>
            </p:cNvSpPr>
            <p:nvPr/>
          </p:nvSpPr>
          <p:spPr>
            <a:xfrm>
              <a:off x="5860025" y="3505200"/>
              <a:ext cx="2162851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Unlocked it!</a:t>
              </a:r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5782597" y="3505200"/>
              <a:ext cx="2400300" cy="609600"/>
            </a:xfrm>
            <a:prstGeom prst="wedgeRoundRectCallout">
              <a:avLst>
                <a:gd name="adj1" fmla="val -70710"/>
                <a:gd name="adj2" fmla="val -35768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467600" y="4419600"/>
            <a:ext cx="2667000" cy="990600"/>
            <a:chOff x="5699828" y="3505200"/>
            <a:chExt cx="2400300" cy="609600"/>
          </a:xfrm>
        </p:grpSpPr>
        <p:sp>
          <p:nvSpPr>
            <p:cNvPr id="12" name="Rectangle 3"/>
            <p:cNvSpPr txBox="1">
              <a:spLocks noChangeArrowheads="1"/>
            </p:cNvSpPr>
            <p:nvPr/>
          </p:nvSpPr>
          <p:spPr>
            <a:xfrm>
              <a:off x="5860025" y="3505200"/>
              <a:ext cx="2162851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Who locks this section?</a:t>
              </a:r>
            </a:p>
          </p:txBody>
        </p:sp>
        <p:sp>
          <p:nvSpPr>
            <p:cNvPr id="13" name="Rounded Rectangular Callout 12"/>
            <p:cNvSpPr/>
            <p:nvPr/>
          </p:nvSpPr>
          <p:spPr>
            <a:xfrm>
              <a:off x="5699828" y="3505200"/>
              <a:ext cx="2400300" cy="609600"/>
            </a:xfrm>
            <a:prstGeom prst="wedgeRoundRectCallout">
              <a:avLst>
                <a:gd name="adj1" fmla="val -105725"/>
                <a:gd name="adj2" fmla="val -73360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6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438400" y="152402"/>
            <a:ext cx="7931150" cy="609599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  <a:ea typeface="MS PGothic" charset="0"/>
              </a:rPr>
              <a:t>Bounded-waiting Mutual Exclusion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819400" y="838200"/>
            <a:ext cx="6553200" cy="563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do {</a:t>
            </a:r>
            <a:br>
              <a:rPr lang="en-US" sz="2000" dirty="0">
                <a:latin typeface="Courier New" charset="0"/>
                <a:ea typeface="MS PGothic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waiting[</a:t>
            </a:r>
            <a:r>
              <a:rPr lang="en-US" sz="2000" dirty="0" err="1"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] = true;</a:t>
            </a:r>
            <a:br>
              <a:rPr lang="en-US" sz="2000" dirty="0">
                <a:latin typeface="Courier New" charset="0"/>
                <a:ea typeface="MS PGothic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key = true;</a:t>
            </a:r>
            <a:br>
              <a:rPr lang="en-US" sz="2000" dirty="0">
                <a:latin typeface="Courier New" charset="0"/>
                <a:ea typeface="MS PGothic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while (waiting[</a:t>
            </a:r>
            <a:r>
              <a:rPr lang="en-US" sz="2000" dirty="0" err="1"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] &amp;&amp; key)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   key = test_and_set(&amp;lock);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waiting[</a:t>
            </a:r>
            <a:r>
              <a:rPr lang="en-US" sz="2000" dirty="0" err="1"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] = false;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</a:t>
            </a:r>
            <a:r>
              <a:rPr lang="en-US" sz="2000" b="1" dirty="0">
                <a:latin typeface="Courier New" charset="0"/>
                <a:ea typeface="MS PGothic" charset="0"/>
                <a:cs typeface="Courier New" charset="0"/>
              </a:rPr>
              <a:t>/* critical section *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/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j = (</a:t>
            </a:r>
            <a:r>
              <a:rPr lang="en-US" sz="2000" dirty="0" err="1"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+ 1) % n;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while ((j != </a:t>
            </a:r>
            <a:r>
              <a:rPr lang="en-US" sz="2000" dirty="0" err="1"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) &amp;&amp; !waiting[j])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   j = (j + 1) % n;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if (j == </a:t>
            </a:r>
            <a:r>
              <a:rPr lang="en-US" sz="2000" dirty="0" err="1">
                <a:latin typeface="Courier New" charset="0"/>
                <a:ea typeface="MS PGothic" charset="0"/>
                <a:cs typeface="Courier New" charset="0"/>
              </a:rPr>
              <a:t>i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)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   lock = false;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else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      waiting[j] = false</a:t>
            </a:r>
            <a:r>
              <a:rPr lang="en-US" sz="2000" b="1" dirty="0">
                <a:latin typeface="Courier New" charset="0"/>
                <a:ea typeface="MS PGothic" charset="0"/>
                <a:cs typeface="Courier New" charset="0"/>
              </a:rPr>
              <a:t>; </a:t>
            </a:r>
          </a:p>
          <a:p>
            <a:pPr marL="0" indent="0">
              <a:buNone/>
            </a:pPr>
            <a:r>
              <a:rPr lang="en-US" sz="2000" b="1" dirty="0">
                <a:latin typeface="Courier New" charset="0"/>
                <a:ea typeface="MS PGothic" charset="0"/>
                <a:cs typeface="Courier New" charset="0"/>
              </a:rPr>
              <a:t>   /* remainder section *</a:t>
            </a: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/ </a:t>
            </a:r>
          </a:p>
          <a:p>
            <a:pPr marL="0" indent="0">
              <a:buNone/>
            </a:pPr>
            <a:r>
              <a:rPr lang="en-US" sz="2000" dirty="0">
                <a:latin typeface="Courier New" charset="0"/>
                <a:ea typeface="MS PGothic" charset="0"/>
                <a:cs typeface="Courier New" charset="0"/>
              </a:rPr>
              <a:t>} while (true);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53CCE1-ED68-4673-B2B8-9A8ACC32B759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781801" y="914400"/>
            <a:ext cx="2895599" cy="609600"/>
            <a:chOff x="5782597" y="3505200"/>
            <a:chExt cx="2465172" cy="609600"/>
          </a:xfrm>
        </p:grpSpPr>
        <p:sp>
          <p:nvSpPr>
            <p:cNvPr id="6" name="Rectangle 3"/>
            <p:cNvSpPr txBox="1">
              <a:spLocks noChangeArrowheads="1"/>
            </p:cNvSpPr>
            <p:nvPr/>
          </p:nvSpPr>
          <p:spPr>
            <a:xfrm>
              <a:off x="5860024" y="3505200"/>
              <a:ext cx="2387745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 err="1">
                  <a:solidFill>
                    <a:srgbClr val="FF0000"/>
                  </a:solidFill>
                  <a:ea typeface="MS PGothic" charset="0"/>
                </a:rPr>
                <a:t>i</a:t>
              </a: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 is waiting now</a:t>
              </a:r>
            </a:p>
          </p:txBody>
        </p:sp>
        <p:sp>
          <p:nvSpPr>
            <p:cNvPr id="7" name="Rounded Rectangular Callout 6"/>
            <p:cNvSpPr/>
            <p:nvPr/>
          </p:nvSpPr>
          <p:spPr>
            <a:xfrm>
              <a:off x="5782597" y="3505200"/>
              <a:ext cx="2400300" cy="609600"/>
            </a:xfrm>
            <a:prstGeom prst="wedgeRoundRectCallout">
              <a:avLst>
                <a:gd name="adj1" fmla="val -72799"/>
                <a:gd name="adj2" fmla="val 26884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558548" y="1524000"/>
            <a:ext cx="2880853" cy="609600"/>
            <a:chOff x="5523105" y="3505200"/>
            <a:chExt cx="2452618" cy="609600"/>
          </a:xfrm>
        </p:grpSpPr>
        <p:sp>
          <p:nvSpPr>
            <p:cNvPr id="9" name="Rectangle 3"/>
            <p:cNvSpPr txBox="1">
              <a:spLocks noChangeArrowheads="1"/>
            </p:cNvSpPr>
            <p:nvPr/>
          </p:nvSpPr>
          <p:spPr>
            <a:xfrm>
              <a:off x="5587978" y="3505200"/>
              <a:ext cx="2387745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 err="1">
                  <a:solidFill>
                    <a:srgbClr val="FF0000"/>
                  </a:solidFill>
                  <a:ea typeface="MS PGothic" charset="0"/>
                </a:rPr>
                <a:t>i</a:t>
              </a: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 waits and locked</a:t>
              </a:r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5523105" y="3505200"/>
              <a:ext cx="2400300" cy="609600"/>
            </a:xfrm>
            <a:prstGeom prst="wedgeRoundRectCallout">
              <a:avLst>
                <a:gd name="adj1" fmla="val -62639"/>
                <a:gd name="adj2" fmla="val 26884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467600" y="2514600"/>
            <a:ext cx="3352800" cy="609600"/>
            <a:chOff x="5517137" y="3505200"/>
            <a:chExt cx="2659793" cy="609600"/>
          </a:xfrm>
        </p:grpSpPr>
        <p:sp>
          <p:nvSpPr>
            <p:cNvPr id="12" name="Rectangle 3"/>
            <p:cNvSpPr txBox="1">
              <a:spLocks noChangeArrowheads="1"/>
            </p:cNvSpPr>
            <p:nvPr/>
          </p:nvSpPr>
          <p:spPr>
            <a:xfrm>
              <a:off x="5517137" y="3505200"/>
              <a:ext cx="2659793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>
                  <a:solidFill>
                    <a:srgbClr val="FF0000"/>
                  </a:solidFill>
                  <a:ea typeface="MS PGothic" charset="0"/>
                </a:rPr>
                <a:t>Unlocked</a:t>
              </a: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 but what?</a:t>
              </a:r>
            </a:p>
          </p:txBody>
        </p:sp>
        <p:sp>
          <p:nvSpPr>
            <p:cNvPr id="13" name="Rounded Rectangular Callout 12"/>
            <p:cNvSpPr/>
            <p:nvPr/>
          </p:nvSpPr>
          <p:spPr>
            <a:xfrm>
              <a:off x="5523105" y="3505200"/>
              <a:ext cx="2400300" cy="609600"/>
            </a:xfrm>
            <a:prstGeom prst="wedgeRoundRectCallout">
              <a:avLst>
                <a:gd name="adj1" fmla="val -65323"/>
                <a:gd name="adj2" fmla="val -53079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467600" y="2514600"/>
            <a:ext cx="2514600" cy="609600"/>
            <a:chOff x="5523105" y="3505200"/>
            <a:chExt cx="2400300" cy="609600"/>
          </a:xfrm>
        </p:grpSpPr>
        <p:sp>
          <p:nvSpPr>
            <p:cNvPr id="15" name="Rectangle 3"/>
            <p:cNvSpPr txBox="1">
              <a:spLocks noChangeArrowheads="1"/>
            </p:cNvSpPr>
            <p:nvPr/>
          </p:nvSpPr>
          <p:spPr>
            <a:xfrm>
              <a:off x="5587978" y="3505200"/>
              <a:ext cx="2335426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 err="1">
                  <a:solidFill>
                    <a:srgbClr val="FF0000"/>
                  </a:solidFill>
                  <a:ea typeface="MS PGothic" charset="0"/>
                </a:rPr>
                <a:t>i</a:t>
              </a: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 is not waiting</a:t>
              </a:r>
            </a:p>
          </p:txBody>
        </p:sp>
        <p:sp>
          <p:nvSpPr>
            <p:cNvPr id="16" name="Rounded Rectangular Callout 15"/>
            <p:cNvSpPr/>
            <p:nvPr/>
          </p:nvSpPr>
          <p:spPr>
            <a:xfrm>
              <a:off x="5523105" y="3505200"/>
              <a:ext cx="2400300" cy="609600"/>
            </a:xfrm>
            <a:prstGeom prst="wedgeRoundRectCallout">
              <a:avLst>
                <a:gd name="adj1" fmla="val -93547"/>
                <a:gd name="adj2" fmla="val -11983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200400" y="3276600"/>
            <a:ext cx="6858000" cy="2286000"/>
            <a:chOff x="1676400" y="3276600"/>
            <a:chExt cx="6858000" cy="2286000"/>
          </a:xfrm>
        </p:grpSpPr>
        <p:sp>
          <p:nvSpPr>
            <p:cNvPr id="17" name="Rectangle 16"/>
            <p:cNvSpPr/>
            <p:nvPr/>
          </p:nvSpPr>
          <p:spPr>
            <a:xfrm>
              <a:off x="1676400" y="3276600"/>
              <a:ext cx="5029200" cy="1066800"/>
            </a:xfrm>
            <a:prstGeom prst="rect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5867400" y="4648200"/>
              <a:ext cx="2667000" cy="914400"/>
              <a:chOff x="5523105" y="3505200"/>
              <a:chExt cx="2400300" cy="609600"/>
            </a:xfrm>
          </p:grpSpPr>
          <p:sp>
            <p:nvSpPr>
              <p:cNvPr id="19" name="Rectangle 3"/>
              <p:cNvSpPr txBox="1">
                <a:spLocks noChangeArrowheads="1"/>
              </p:cNvSpPr>
              <p:nvPr/>
            </p:nvSpPr>
            <p:spPr>
              <a:xfrm>
                <a:off x="5587978" y="3505200"/>
                <a:ext cx="2335426" cy="533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n-US" sz="2800" dirty="0">
                    <a:solidFill>
                      <a:srgbClr val="FF0000"/>
                    </a:solidFill>
                    <a:ea typeface="MS PGothic" charset="0"/>
                  </a:rPr>
                  <a:t>Find the next waiting process</a:t>
                </a:r>
              </a:p>
            </p:txBody>
          </p:sp>
          <p:sp>
            <p:nvSpPr>
              <p:cNvPr id="20" name="Rounded Rectangular Callout 19"/>
              <p:cNvSpPr/>
              <p:nvPr/>
            </p:nvSpPr>
            <p:spPr>
              <a:xfrm>
                <a:off x="5523105" y="3505200"/>
                <a:ext cx="2400300" cy="609600"/>
              </a:xfrm>
              <a:prstGeom prst="wedgeRoundRectCallout">
                <a:avLst>
                  <a:gd name="adj1" fmla="val -19970"/>
                  <a:gd name="adj2" fmla="val -81425"/>
                  <a:gd name="adj3" fmla="val 16667"/>
                </a:avLst>
              </a:prstGeom>
              <a:noFill/>
              <a:ln w="381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6553201" y="4419600"/>
            <a:ext cx="2895599" cy="609600"/>
            <a:chOff x="5782597" y="3505200"/>
            <a:chExt cx="2465172" cy="609600"/>
          </a:xfrm>
        </p:grpSpPr>
        <p:sp>
          <p:nvSpPr>
            <p:cNvPr id="24" name="Rectangle 3"/>
            <p:cNvSpPr txBox="1">
              <a:spLocks noChangeArrowheads="1"/>
            </p:cNvSpPr>
            <p:nvPr/>
          </p:nvSpPr>
          <p:spPr>
            <a:xfrm>
              <a:off x="5860024" y="3505200"/>
              <a:ext cx="2387745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Nobody is waiting</a:t>
              </a:r>
            </a:p>
          </p:txBody>
        </p:sp>
        <p:sp>
          <p:nvSpPr>
            <p:cNvPr id="25" name="Rounded Rectangular Callout 24"/>
            <p:cNvSpPr/>
            <p:nvPr/>
          </p:nvSpPr>
          <p:spPr>
            <a:xfrm>
              <a:off x="5782597" y="3505200"/>
              <a:ext cx="2400300" cy="609600"/>
            </a:xfrm>
            <a:prstGeom prst="wedgeRoundRectCallout">
              <a:avLst>
                <a:gd name="adj1" fmla="val -72799"/>
                <a:gd name="adj2" fmla="val 26884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391401" y="5257800"/>
            <a:ext cx="2895599" cy="609600"/>
            <a:chOff x="5782597" y="3505200"/>
            <a:chExt cx="2465172" cy="609600"/>
          </a:xfrm>
        </p:grpSpPr>
        <p:sp>
          <p:nvSpPr>
            <p:cNvPr id="27" name="Rectangle 3"/>
            <p:cNvSpPr txBox="1">
              <a:spLocks noChangeArrowheads="1"/>
            </p:cNvSpPr>
            <p:nvPr/>
          </p:nvSpPr>
          <p:spPr>
            <a:xfrm>
              <a:off x="5860024" y="3505200"/>
              <a:ext cx="2387745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0000"/>
                  </a:solidFill>
                  <a:ea typeface="MS PGothic" charset="0"/>
                </a:rPr>
                <a:t>Let j enter. How?</a:t>
              </a:r>
            </a:p>
          </p:txBody>
        </p:sp>
        <p:sp>
          <p:nvSpPr>
            <p:cNvPr id="28" name="Rounded Rectangular Callout 27"/>
            <p:cNvSpPr/>
            <p:nvPr/>
          </p:nvSpPr>
          <p:spPr>
            <a:xfrm>
              <a:off x="5782597" y="3505200"/>
              <a:ext cx="2400300" cy="609600"/>
            </a:xfrm>
            <a:prstGeom prst="wedgeRoundRectCallout">
              <a:avLst>
                <a:gd name="adj1" fmla="val -73135"/>
                <a:gd name="adj2" fmla="val 17556"/>
                <a:gd name="adj3" fmla="val 16667"/>
              </a:avLst>
            </a:prstGeom>
            <a:noFill/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86" name="Freeform 24585"/>
          <p:cNvSpPr/>
          <p:nvPr/>
        </p:nvSpPr>
        <p:spPr>
          <a:xfrm>
            <a:off x="2142402" y="2066048"/>
            <a:ext cx="2139727" cy="3572936"/>
          </a:xfrm>
          <a:custGeom>
            <a:avLst/>
            <a:gdLst>
              <a:gd name="connsiteX0" fmla="*/ 1580519 w 2139727"/>
              <a:gd name="connsiteY0" fmla="*/ 3572936 h 3572936"/>
              <a:gd name="connsiteX1" fmla="*/ 7154 w 2139727"/>
              <a:gd name="connsiteY1" fmla="*/ 1781730 h 3572936"/>
              <a:gd name="connsiteX2" fmla="*/ 2139727 w 2139727"/>
              <a:gd name="connsiteY2" fmla="*/ 0 h 35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9727" h="3572936">
                <a:moveTo>
                  <a:pt x="1580519" y="3572936"/>
                </a:moveTo>
                <a:cubicBezTo>
                  <a:pt x="747236" y="2975077"/>
                  <a:pt x="-86047" y="2377219"/>
                  <a:pt x="7154" y="1781730"/>
                </a:cubicBezTo>
                <a:cubicBezTo>
                  <a:pt x="100355" y="1186241"/>
                  <a:pt x="2139727" y="0"/>
                  <a:pt x="2139727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9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20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1253</Words>
  <Application>Microsoft Office PowerPoint</Application>
  <PresentationFormat>Widescreen</PresentationFormat>
  <Paragraphs>206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Helvetica</vt:lpstr>
      <vt:lpstr>Monotype Sorts</vt:lpstr>
      <vt:lpstr>Times New Roman</vt:lpstr>
      <vt:lpstr>Wingdings</vt:lpstr>
      <vt:lpstr>Custom Design</vt:lpstr>
      <vt:lpstr>COMP 3500  Introduction to Operating Systems  Race Condition--2</vt:lpstr>
      <vt:lpstr>PowerPoint Presentation</vt:lpstr>
      <vt:lpstr>PowerPoint Presentation</vt:lpstr>
      <vt:lpstr>Recap: Three Terms in Concurrent Computing</vt:lpstr>
      <vt:lpstr>Recap: General Structure of a Process Pi  </vt:lpstr>
      <vt:lpstr>Exercise Which variable is a shared one?</vt:lpstr>
      <vt:lpstr>A. Process i is not in the critical section. B. Process j is not in the critical section. C. It is Process i’s turn now. D. It is Process j’s turn now.</vt:lpstr>
      <vt:lpstr>A. The turn should be switched now.  B. It is another process’s turn now.  C. It is Process i’s turn now. D. It is Process j’s turn now.</vt:lpstr>
      <vt:lpstr>Exercise  What is NOT a problem with interrupt disabling? </vt:lpstr>
      <vt:lpstr>Solution to Critical-section Problem Using Locks</vt:lpstr>
      <vt:lpstr>The test_and_set  Instruction </vt:lpstr>
      <vt:lpstr>How to use test_and_set()?</vt:lpstr>
      <vt:lpstr>The compare_and_swap Instruction</vt:lpstr>
      <vt:lpstr>How to use compare_and_swap?</vt:lpstr>
      <vt:lpstr>Bounded-waiting Mutual Exclusion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2019-02-13T02:55:01Z</dcterms:created>
  <dcterms:modified xsi:type="dcterms:W3CDTF">2023-10-16T15:01:02Z</dcterms:modified>
  <cp:contentStatus/>
</cp:coreProperties>
</file>