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2B_63EA0AD2.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9"/>
  </p:notesMasterIdLst>
  <p:sldIdLst>
    <p:sldId id="257" r:id="rId5"/>
    <p:sldId id="293" r:id="rId6"/>
    <p:sldId id="295" r:id="rId7"/>
    <p:sldId id="296" r:id="rId8"/>
    <p:sldId id="297" r:id="rId9"/>
    <p:sldId id="298" r:id="rId10"/>
    <p:sldId id="299" r:id="rId11"/>
    <p:sldId id="300" r:id="rId12"/>
    <p:sldId id="301" r:id="rId13"/>
    <p:sldId id="304" r:id="rId14"/>
    <p:sldId id="305" r:id="rId15"/>
    <p:sldId id="307" r:id="rId16"/>
    <p:sldId id="309" r:id="rId17"/>
    <p:sldId id="333" r:id="rId18"/>
    <p:sldId id="338" r:id="rId19"/>
    <p:sldId id="310" r:id="rId20"/>
    <p:sldId id="334" r:id="rId21"/>
    <p:sldId id="321" r:id="rId22"/>
    <p:sldId id="322" r:id="rId23"/>
    <p:sldId id="323" r:id="rId24"/>
    <p:sldId id="319" r:id="rId25"/>
    <p:sldId id="324" r:id="rId26"/>
    <p:sldId id="332" r:id="rId27"/>
    <p:sldId id="339"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0BA3A1-1514-B44E-69DE-B44E8F766FBA}" name="Andres Luco" initials="AL" userId="S::acl0111@auburn.edu::0652bcec-890e-4824-8746-ceb693c0785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9542" autoAdjust="0"/>
  </p:normalViewPr>
  <p:slideViewPr>
    <p:cSldViewPr snapToGrid="0">
      <p:cViewPr varScale="1">
        <p:scale>
          <a:sx n="69" d="100"/>
          <a:sy n="69" d="100"/>
        </p:scale>
        <p:origin x="2850"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comments/modernComment_12B_63EA0AD2.xml><?xml version="1.0" encoding="utf-8"?>
<p188:cmLst xmlns:a="http://schemas.openxmlformats.org/drawingml/2006/main" xmlns:r="http://schemas.openxmlformats.org/officeDocument/2006/relationships" xmlns:p188="http://schemas.microsoft.com/office/powerpoint/2018/8/main">
  <p188:cm id="{35EF20CA-41A6-4AD1-BB6B-F2D1A1B6DA35}" authorId="{1B0BA3A1-1514-B44E-69DE-B44E8F766FBA}" created="2024-12-17T23:38:16.343">
    <ac:txMkLst xmlns:ac="http://schemas.microsoft.com/office/drawing/2013/main/command">
      <pc:docMk xmlns:pc="http://schemas.microsoft.com/office/powerpoint/2013/main/command"/>
      <pc:sldMk xmlns:pc="http://schemas.microsoft.com/office/powerpoint/2013/main/command" cId="1676282578" sldId="299"/>
      <ac:spMk id="3" creationId="{073EE682-274F-9F87-B67A-193E2D840533}"/>
      <ac:txMk cp="634" len="16">
        <ac:context len="684" hash="1065547547"/>
      </ac:txMk>
    </ac:txMkLst>
    <p188:pos x="5438432" y="4793132"/>
    <p188:txBody>
      <a:bodyPr/>
      <a:lstStyle/>
      <a:p>
        <a:r>
          <a:rPr lang="en-SG"/>
          <a:t>Add this next time I teach the course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970528-7715-48AC-8D89-11B694DCC05E}" type="datetimeFigureOut">
              <a:rPr lang="en-SG" smtClean="0"/>
              <a:t>31/10/2025</a:t>
            </a:fld>
            <a:endParaRPr lang="en-SG"/>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E1A0DB-35D7-4E49-89B6-F31AEF2A93A0}" type="slidenum">
              <a:rPr lang="en-SG" smtClean="0"/>
              <a:t>‹#›</a:t>
            </a:fld>
            <a:endParaRPr lang="en-SG"/>
          </a:p>
        </p:txBody>
      </p:sp>
    </p:spTree>
    <p:extLst>
      <p:ext uri="{BB962C8B-B14F-4D97-AF65-F5344CB8AC3E}">
        <p14:creationId xmlns:p14="http://schemas.microsoft.com/office/powerpoint/2010/main" val="185898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youtube.com/watch?v=g2Lv_gdF_zo" TargetMode="External"/><Relationship Id="rId2" Type="http://schemas.openxmlformats.org/officeDocument/2006/relationships/slide" Target="../slides/slide19.xml"/><Relationship Id="rId1" Type="http://schemas.openxmlformats.org/officeDocument/2006/relationships/notesMaster" Target="../notesMasters/notesMaster1.xml"/><Relationship Id="rId5" Type="http://schemas.openxmlformats.org/officeDocument/2006/relationships/hyperlink" Target="https://www.propublica.org/article/josseli-barnica-death-miscarriage-texas-abortion-ban" TargetMode="External"/><Relationship Id="rId4" Type="http://schemas.openxmlformats.org/officeDocument/2006/relationships/hyperlink" Target="https://www.youtube.com/watch?v=eJOUm2kwHz4" TargetMode="Externa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aw.justia.com/codes/alabama/title-26/chapter-23b/section-26-23b-5/"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law.justia.com/codes/alabama/title-26/chapter-23b/section-26-23b-5/"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1" dirty="0"/>
              <a:t>Image source: </a:t>
            </a:r>
            <a:r>
              <a:rPr lang="en-SG" b="0" dirty="0"/>
              <a:t>https://www.vecteezy.com/free-vector/pregnant-silhouette</a:t>
            </a:r>
          </a:p>
          <a:p>
            <a:endParaRPr lang="en-SG" dirty="0"/>
          </a:p>
        </p:txBody>
      </p:sp>
      <p:sp>
        <p:nvSpPr>
          <p:cNvPr id="4" name="Slide Number Placeholder 3"/>
          <p:cNvSpPr>
            <a:spLocks noGrp="1"/>
          </p:cNvSpPr>
          <p:nvPr>
            <p:ph type="sldNum" sz="quarter" idx="5"/>
          </p:nvPr>
        </p:nvSpPr>
        <p:spPr/>
        <p:txBody>
          <a:bodyPr/>
          <a:lstStyle/>
          <a:p>
            <a:fld id="{53E1A0DB-35D7-4E49-89B6-F31AEF2A93A0}" type="slidenum">
              <a:rPr lang="en-SG" smtClean="0"/>
              <a:t>1</a:t>
            </a:fld>
            <a:endParaRPr lang="en-SG"/>
          </a:p>
        </p:txBody>
      </p:sp>
    </p:spTree>
    <p:extLst>
      <p:ext uri="{BB962C8B-B14F-4D97-AF65-F5344CB8AC3E}">
        <p14:creationId xmlns:p14="http://schemas.microsoft.com/office/powerpoint/2010/main" val="872541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b="1" dirty="0"/>
          </a:p>
        </p:txBody>
      </p:sp>
      <p:sp>
        <p:nvSpPr>
          <p:cNvPr id="4" name="Slide Number Placeholder 3"/>
          <p:cNvSpPr>
            <a:spLocks noGrp="1"/>
          </p:cNvSpPr>
          <p:nvPr>
            <p:ph type="sldNum" sz="quarter" idx="5"/>
          </p:nvPr>
        </p:nvSpPr>
        <p:spPr/>
        <p:txBody>
          <a:bodyPr/>
          <a:lstStyle/>
          <a:p>
            <a:fld id="{53E1A0DB-35D7-4E49-89B6-F31AEF2A93A0}" type="slidenum">
              <a:rPr lang="en-SG" smtClean="0"/>
              <a:t>2</a:t>
            </a:fld>
            <a:endParaRPr lang="en-SG"/>
          </a:p>
        </p:txBody>
      </p:sp>
    </p:spTree>
    <p:extLst>
      <p:ext uri="{BB962C8B-B14F-4D97-AF65-F5344CB8AC3E}">
        <p14:creationId xmlns:p14="http://schemas.microsoft.com/office/powerpoint/2010/main" val="2565463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0BA8E-F4FB-381C-DBBC-2109B0DFDA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36D84B-C26F-4B52-3F95-0D15F944C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25ABB-C41C-F6B0-EA01-4AD3DFBD4E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1" i="0" dirty="0"/>
              <a:t>References: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SG" b="0" i="0" dirty="0"/>
              <a:t>Russ Shafer-Landau, </a:t>
            </a:r>
            <a:r>
              <a:rPr lang="en-SG" b="0" i="1" dirty="0"/>
              <a:t>Living Ethics: An Introduction with Readings</a:t>
            </a:r>
            <a:r>
              <a:rPr lang="en-SG" b="0" i="0" dirty="0"/>
              <a:t>, Third Edition (Oxford University Press, 2024).</a:t>
            </a:r>
          </a:p>
          <a:p>
            <a:endParaRPr lang="en-SG" b="1" dirty="0"/>
          </a:p>
        </p:txBody>
      </p:sp>
      <p:sp>
        <p:nvSpPr>
          <p:cNvPr id="4" name="Slide Number Placeholder 3">
            <a:extLst>
              <a:ext uri="{FF2B5EF4-FFF2-40B4-BE49-F238E27FC236}">
                <a16:creationId xmlns:a16="http://schemas.microsoft.com/office/drawing/2014/main" id="{EDCD9C42-F96B-8141-B61F-3D8AF9A7A0F1}"/>
              </a:ext>
            </a:extLst>
          </p:cNvPr>
          <p:cNvSpPr>
            <a:spLocks noGrp="1"/>
          </p:cNvSpPr>
          <p:nvPr>
            <p:ph type="sldNum" sz="quarter" idx="5"/>
          </p:nvPr>
        </p:nvSpPr>
        <p:spPr/>
        <p:txBody>
          <a:bodyPr/>
          <a:lstStyle/>
          <a:p>
            <a:fld id="{53E1A0DB-35D7-4E49-89B6-F31AEF2A93A0}" type="slidenum">
              <a:rPr lang="en-SG" smtClean="0"/>
              <a:t>3</a:t>
            </a:fld>
            <a:endParaRPr lang="en-SG"/>
          </a:p>
        </p:txBody>
      </p:sp>
    </p:spTree>
    <p:extLst>
      <p:ext uri="{BB962C8B-B14F-4D97-AF65-F5344CB8AC3E}">
        <p14:creationId xmlns:p14="http://schemas.microsoft.com/office/powerpoint/2010/main" val="3281025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810A-7573-40C4-F2B9-76E447DBC0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D4127-756C-F9CD-F798-A62EB13D3E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0E7CE-CF01-BAC3-D5C8-26696C9E6BD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For instance, if you don’t </a:t>
            </a:r>
            <a:r>
              <a:rPr lang="en-US" sz="1200" i="1" dirty="0"/>
              <a:t>currently</a:t>
            </a:r>
            <a:r>
              <a:rPr lang="en-US" sz="1200" dirty="0"/>
              <a:t> value getting married, but at some later time you</a:t>
            </a:r>
            <a:r>
              <a:rPr lang="en-US" sz="1200" i="1" dirty="0"/>
              <a:t> will </a:t>
            </a:r>
            <a:r>
              <a:rPr lang="en-US" sz="1200" i="0" dirty="0"/>
              <a:t>unexpectedly </a:t>
            </a:r>
            <a:r>
              <a:rPr lang="en-US" sz="1200" dirty="0"/>
              <a:t>come to value it and you </a:t>
            </a:r>
            <a:r>
              <a:rPr lang="en-US" sz="1200" i="1" dirty="0"/>
              <a:t>will </a:t>
            </a:r>
            <a:r>
              <a:rPr lang="en-US" sz="1200" dirty="0"/>
              <a:t>get married, then your future of value includes getting married. It includes this, even though you currently don’t know that you</a:t>
            </a:r>
            <a:r>
              <a:rPr lang="en-US" sz="1200" baseline="0" dirty="0"/>
              <a:t> will change your attitude about getting married. </a:t>
            </a:r>
            <a:endParaRPr lang="en-SG" dirty="0"/>
          </a:p>
          <a:p>
            <a:endParaRPr lang="en-SG" b="1" dirty="0"/>
          </a:p>
        </p:txBody>
      </p:sp>
      <p:sp>
        <p:nvSpPr>
          <p:cNvPr id="4" name="Slide Number Placeholder 3">
            <a:extLst>
              <a:ext uri="{FF2B5EF4-FFF2-40B4-BE49-F238E27FC236}">
                <a16:creationId xmlns:a16="http://schemas.microsoft.com/office/drawing/2014/main" id="{2CBB6747-F7DA-F00A-1E60-2B94A2E738FA}"/>
              </a:ext>
            </a:extLst>
          </p:cNvPr>
          <p:cNvSpPr>
            <a:spLocks noGrp="1"/>
          </p:cNvSpPr>
          <p:nvPr>
            <p:ph type="sldNum" sz="quarter" idx="5"/>
          </p:nvPr>
        </p:nvSpPr>
        <p:spPr/>
        <p:txBody>
          <a:bodyPr/>
          <a:lstStyle/>
          <a:p>
            <a:fld id="{53E1A0DB-35D7-4E49-89B6-F31AEF2A93A0}" type="slidenum">
              <a:rPr lang="en-SG" smtClean="0"/>
              <a:t>4</a:t>
            </a:fld>
            <a:endParaRPr lang="en-SG"/>
          </a:p>
        </p:txBody>
      </p:sp>
    </p:spTree>
    <p:extLst>
      <p:ext uri="{BB962C8B-B14F-4D97-AF65-F5344CB8AC3E}">
        <p14:creationId xmlns:p14="http://schemas.microsoft.com/office/powerpoint/2010/main" val="22928098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7418B-B834-9706-909A-EBD60FF06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7C11DF-5FEB-0A86-9220-FE9FED0DA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F17F7-C1BD-321F-D743-0BA048533F77}"/>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4D017A60-5E3B-FE8A-EA78-0AAC487D32E6}"/>
              </a:ext>
            </a:extLst>
          </p:cNvPr>
          <p:cNvSpPr>
            <a:spLocks noGrp="1"/>
          </p:cNvSpPr>
          <p:nvPr>
            <p:ph type="sldNum" sz="quarter" idx="5"/>
          </p:nvPr>
        </p:nvSpPr>
        <p:spPr/>
        <p:txBody>
          <a:bodyPr/>
          <a:lstStyle/>
          <a:p>
            <a:fld id="{53E1A0DB-35D7-4E49-89B6-F31AEF2A93A0}" type="slidenum">
              <a:rPr lang="en-SG" smtClean="0"/>
              <a:t>5</a:t>
            </a:fld>
            <a:endParaRPr lang="en-SG"/>
          </a:p>
        </p:txBody>
      </p:sp>
    </p:spTree>
    <p:extLst>
      <p:ext uri="{BB962C8B-B14F-4D97-AF65-F5344CB8AC3E}">
        <p14:creationId xmlns:p14="http://schemas.microsoft.com/office/powerpoint/2010/main" val="1186486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458D9-FDF8-E7E8-40FE-E5CF027DF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3EC0E7-8864-B14D-0FAF-4FEEC16D17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F77BFB-6920-6AAA-D4CD-77AB390DEB76}"/>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E23A9C29-9DC9-966B-D88C-8A488BDB14F3}"/>
              </a:ext>
            </a:extLst>
          </p:cNvPr>
          <p:cNvSpPr>
            <a:spLocks noGrp="1"/>
          </p:cNvSpPr>
          <p:nvPr>
            <p:ph type="sldNum" sz="quarter" idx="5"/>
          </p:nvPr>
        </p:nvSpPr>
        <p:spPr/>
        <p:txBody>
          <a:bodyPr/>
          <a:lstStyle/>
          <a:p>
            <a:fld id="{53E1A0DB-35D7-4E49-89B6-F31AEF2A93A0}" type="slidenum">
              <a:rPr lang="en-SG" smtClean="0"/>
              <a:t>6</a:t>
            </a:fld>
            <a:endParaRPr lang="en-SG"/>
          </a:p>
        </p:txBody>
      </p:sp>
    </p:spTree>
    <p:extLst>
      <p:ext uri="{BB962C8B-B14F-4D97-AF65-F5344CB8AC3E}">
        <p14:creationId xmlns:p14="http://schemas.microsoft.com/office/powerpoint/2010/main" val="14455749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A6F69-9A7E-E6C0-695E-F20E64D85C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1B045A-910F-1F85-238C-50A9223AD6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85E5B-FC79-9CB7-F904-D8AA2B78050C}"/>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28CD4B95-A66F-86B0-5E2E-972E649AD2A8}"/>
              </a:ext>
            </a:extLst>
          </p:cNvPr>
          <p:cNvSpPr>
            <a:spLocks noGrp="1"/>
          </p:cNvSpPr>
          <p:nvPr>
            <p:ph type="sldNum" sz="quarter" idx="5"/>
          </p:nvPr>
        </p:nvSpPr>
        <p:spPr/>
        <p:txBody>
          <a:bodyPr/>
          <a:lstStyle/>
          <a:p>
            <a:fld id="{53E1A0DB-35D7-4E49-89B6-F31AEF2A93A0}" type="slidenum">
              <a:rPr lang="en-SG" smtClean="0"/>
              <a:t>7</a:t>
            </a:fld>
            <a:endParaRPr lang="en-SG"/>
          </a:p>
        </p:txBody>
      </p:sp>
    </p:spTree>
    <p:extLst>
      <p:ext uri="{BB962C8B-B14F-4D97-AF65-F5344CB8AC3E}">
        <p14:creationId xmlns:p14="http://schemas.microsoft.com/office/powerpoint/2010/main" val="38161046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F67A9-CC02-33F8-8BD5-BC3A32DD75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8890D6-D34B-399B-5A65-F4123E5BA3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BE6D9D-2473-593D-19DC-8A35184A8EF8}"/>
              </a:ext>
            </a:extLst>
          </p:cNvPr>
          <p:cNvSpPr>
            <a:spLocks noGrp="1"/>
          </p:cNvSpPr>
          <p:nvPr>
            <p:ph type="body" idx="1"/>
          </p:nvPr>
        </p:nvSpPr>
        <p:spPr/>
        <p:txBody>
          <a:bodyPr/>
          <a:lstStyle/>
          <a:p>
            <a:endParaRPr lang="en-SG" b="1" dirty="0"/>
          </a:p>
        </p:txBody>
      </p:sp>
      <p:sp>
        <p:nvSpPr>
          <p:cNvPr id="4" name="Slide Number Placeholder 3">
            <a:extLst>
              <a:ext uri="{FF2B5EF4-FFF2-40B4-BE49-F238E27FC236}">
                <a16:creationId xmlns:a16="http://schemas.microsoft.com/office/drawing/2014/main" id="{B0CA65DC-0D6A-45AA-5DF3-3ABE03986238}"/>
              </a:ext>
            </a:extLst>
          </p:cNvPr>
          <p:cNvSpPr>
            <a:spLocks noGrp="1"/>
          </p:cNvSpPr>
          <p:nvPr>
            <p:ph type="sldNum" sz="quarter" idx="5"/>
          </p:nvPr>
        </p:nvSpPr>
        <p:spPr/>
        <p:txBody>
          <a:bodyPr/>
          <a:lstStyle/>
          <a:p>
            <a:fld id="{53E1A0DB-35D7-4E49-89B6-F31AEF2A93A0}" type="slidenum">
              <a:rPr lang="en-SG" smtClean="0"/>
              <a:t>8</a:t>
            </a:fld>
            <a:endParaRPr lang="en-SG"/>
          </a:p>
        </p:txBody>
      </p:sp>
    </p:spTree>
    <p:extLst>
      <p:ext uri="{BB962C8B-B14F-4D97-AF65-F5344CB8AC3E}">
        <p14:creationId xmlns:p14="http://schemas.microsoft.com/office/powerpoint/2010/main" val="2630991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189B-4A49-0E44-A8B2-A14F17AC8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90591-4899-5B15-60E8-95F39B7669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AA199-F814-B94E-03B2-4EF06521EB00}"/>
              </a:ext>
            </a:extLst>
          </p:cNvPr>
          <p:cNvSpPr>
            <a:spLocks noGrp="1"/>
          </p:cNvSpPr>
          <p:nvPr>
            <p:ph type="body" idx="1"/>
          </p:nvPr>
        </p:nvSpPr>
        <p:spPr/>
        <p:txBody>
          <a:bodyPr/>
          <a:lstStyle/>
          <a:p>
            <a:endParaRPr lang="en-SG" dirty="0"/>
          </a:p>
          <a:p>
            <a:endParaRPr lang="en-SG" b="1" dirty="0"/>
          </a:p>
        </p:txBody>
      </p:sp>
      <p:sp>
        <p:nvSpPr>
          <p:cNvPr id="4" name="Slide Number Placeholder 3">
            <a:extLst>
              <a:ext uri="{FF2B5EF4-FFF2-40B4-BE49-F238E27FC236}">
                <a16:creationId xmlns:a16="http://schemas.microsoft.com/office/drawing/2014/main" id="{717AFA02-B436-AB1E-0AB4-69C0E0A443D0}"/>
              </a:ext>
            </a:extLst>
          </p:cNvPr>
          <p:cNvSpPr>
            <a:spLocks noGrp="1"/>
          </p:cNvSpPr>
          <p:nvPr>
            <p:ph type="sldNum" sz="quarter" idx="5"/>
          </p:nvPr>
        </p:nvSpPr>
        <p:spPr/>
        <p:txBody>
          <a:bodyPr/>
          <a:lstStyle/>
          <a:p>
            <a:fld id="{53E1A0DB-35D7-4E49-89B6-F31AEF2A93A0}" type="slidenum">
              <a:rPr lang="en-SG" smtClean="0"/>
              <a:t>9</a:t>
            </a:fld>
            <a:endParaRPr lang="en-SG"/>
          </a:p>
        </p:txBody>
      </p:sp>
    </p:spTree>
    <p:extLst>
      <p:ext uri="{BB962C8B-B14F-4D97-AF65-F5344CB8AC3E}">
        <p14:creationId xmlns:p14="http://schemas.microsoft.com/office/powerpoint/2010/main" val="3984242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7E8FF-9E69-4747-A413-F9B344307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FA5B3-EB6E-2E31-B925-2835CD953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5AA24-FCE1-1FD3-BFD9-E687775BE167}"/>
              </a:ext>
            </a:extLst>
          </p:cNvPr>
          <p:cNvSpPr>
            <a:spLocks noGrp="1"/>
          </p:cNvSpPr>
          <p:nvPr>
            <p:ph type="body" idx="1"/>
          </p:nvPr>
        </p:nvSpPr>
        <p:spPr/>
        <p:txBody>
          <a:bodyPr/>
          <a:lstStyle/>
          <a:p>
            <a:pPr lvl="2"/>
            <a:endParaRPr lang="en-US" sz="1800" dirty="0"/>
          </a:p>
          <a:p>
            <a:endParaRPr lang="en-SG" dirty="0"/>
          </a:p>
          <a:p>
            <a:endParaRPr lang="en-SG" b="1" dirty="0"/>
          </a:p>
        </p:txBody>
      </p:sp>
      <p:sp>
        <p:nvSpPr>
          <p:cNvPr id="4" name="Slide Number Placeholder 3">
            <a:extLst>
              <a:ext uri="{FF2B5EF4-FFF2-40B4-BE49-F238E27FC236}">
                <a16:creationId xmlns:a16="http://schemas.microsoft.com/office/drawing/2014/main" id="{1FC3EA2F-3E9F-DDDB-EB9E-3729DBB6A875}"/>
              </a:ext>
            </a:extLst>
          </p:cNvPr>
          <p:cNvSpPr>
            <a:spLocks noGrp="1"/>
          </p:cNvSpPr>
          <p:nvPr>
            <p:ph type="sldNum" sz="quarter" idx="5"/>
          </p:nvPr>
        </p:nvSpPr>
        <p:spPr/>
        <p:txBody>
          <a:bodyPr/>
          <a:lstStyle/>
          <a:p>
            <a:fld id="{53E1A0DB-35D7-4E49-89B6-F31AEF2A93A0}" type="slidenum">
              <a:rPr lang="en-SG" smtClean="0"/>
              <a:t>10</a:t>
            </a:fld>
            <a:endParaRPr lang="en-SG"/>
          </a:p>
        </p:txBody>
      </p:sp>
    </p:spTree>
    <p:extLst>
      <p:ext uri="{BB962C8B-B14F-4D97-AF65-F5344CB8AC3E}">
        <p14:creationId xmlns:p14="http://schemas.microsoft.com/office/powerpoint/2010/main" val="2672672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B644F-F490-8778-C914-EDC9638C96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85BE68-8BE4-B552-4326-A74B6D2505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51784-8461-D816-4212-B9F20A2089BE}"/>
              </a:ext>
            </a:extLst>
          </p:cNvPr>
          <p:cNvSpPr>
            <a:spLocks noGrp="1"/>
          </p:cNvSpPr>
          <p:nvPr>
            <p:ph type="body" idx="1"/>
          </p:nvPr>
        </p:nvSpPr>
        <p:spPr/>
        <p:txBody>
          <a:bodyPr/>
          <a:lstStyle/>
          <a:p>
            <a:pPr lvl="2"/>
            <a:endParaRPr lang="en-US" sz="1800" dirty="0"/>
          </a:p>
          <a:p>
            <a:endParaRPr lang="en-SG" dirty="0"/>
          </a:p>
          <a:p>
            <a:endParaRPr lang="en-SG" b="1" dirty="0"/>
          </a:p>
        </p:txBody>
      </p:sp>
      <p:sp>
        <p:nvSpPr>
          <p:cNvPr id="4" name="Slide Number Placeholder 3">
            <a:extLst>
              <a:ext uri="{FF2B5EF4-FFF2-40B4-BE49-F238E27FC236}">
                <a16:creationId xmlns:a16="http://schemas.microsoft.com/office/drawing/2014/main" id="{0784DD08-2462-6834-DA5F-4210DFFC766F}"/>
              </a:ext>
            </a:extLst>
          </p:cNvPr>
          <p:cNvSpPr>
            <a:spLocks noGrp="1"/>
          </p:cNvSpPr>
          <p:nvPr>
            <p:ph type="sldNum" sz="quarter" idx="5"/>
          </p:nvPr>
        </p:nvSpPr>
        <p:spPr/>
        <p:txBody>
          <a:bodyPr/>
          <a:lstStyle/>
          <a:p>
            <a:fld id="{53E1A0DB-35D7-4E49-89B6-F31AEF2A93A0}" type="slidenum">
              <a:rPr lang="en-SG" smtClean="0"/>
              <a:t>11</a:t>
            </a:fld>
            <a:endParaRPr lang="en-SG"/>
          </a:p>
        </p:txBody>
      </p:sp>
    </p:spTree>
    <p:extLst>
      <p:ext uri="{BB962C8B-B14F-4D97-AF65-F5344CB8AC3E}">
        <p14:creationId xmlns:p14="http://schemas.microsoft.com/office/powerpoint/2010/main" val="2371358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0F460-8060-09D5-783C-6139F648D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819FB-4733-F689-D9B8-B8F5D88F1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43A73-FDB0-DE91-8A9C-3E6B0C9F16C7}"/>
              </a:ext>
            </a:extLst>
          </p:cNvPr>
          <p:cNvSpPr>
            <a:spLocks noGrp="1"/>
          </p:cNvSpPr>
          <p:nvPr>
            <p:ph type="body" idx="1"/>
          </p:nvPr>
        </p:nvSpPr>
        <p:spPr/>
        <p:txBody>
          <a:bodyPr/>
          <a:lstStyle/>
          <a:p>
            <a:pPr lvl="2"/>
            <a:endParaRPr lang="en-US" sz="1800" dirty="0"/>
          </a:p>
          <a:p>
            <a:endParaRPr lang="en-SG" dirty="0"/>
          </a:p>
          <a:p>
            <a:endParaRPr lang="en-SG" b="1" dirty="0"/>
          </a:p>
        </p:txBody>
      </p:sp>
      <p:sp>
        <p:nvSpPr>
          <p:cNvPr id="4" name="Slide Number Placeholder 3">
            <a:extLst>
              <a:ext uri="{FF2B5EF4-FFF2-40B4-BE49-F238E27FC236}">
                <a16:creationId xmlns:a16="http://schemas.microsoft.com/office/drawing/2014/main" id="{E5AC0CB3-A09A-4711-634A-930B3BBC3374}"/>
              </a:ext>
            </a:extLst>
          </p:cNvPr>
          <p:cNvSpPr>
            <a:spLocks noGrp="1"/>
          </p:cNvSpPr>
          <p:nvPr>
            <p:ph type="sldNum" sz="quarter" idx="5"/>
          </p:nvPr>
        </p:nvSpPr>
        <p:spPr/>
        <p:txBody>
          <a:bodyPr/>
          <a:lstStyle/>
          <a:p>
            <a:fld id="{53E1A0DB-35D7-4E49-89B6-F31AEF2A93A0}" type="slidenum">
              <a:rPr lang="en-SG" smtClean="0"/>
              <a:t>12</a:t>
            </a:fld>
            <a:endParaRPr lang="en-SG"/>
          </a:p>
        </p:txBody>
      </p:sp>
    </p:spTree>
    <p:extLst>
      <p:ext uri="{BB962C8B-B14F-4D97-AF65-F5344CB8AC3E}">
        <p14:creationId xmlns:p14="http://schemas.microsoft.com/office/powerpoint/2010/main" val="2731986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9F14E-9640-704D-37AC-D375CECB48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43666-E5E0-DB52-3511-A1784B5417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426AD7-3835-73D6-584C-053FD21FA446}"/>
              </a:ext>
            </a:extLst>
          </p:cNvPr>
          <p:cNvSpPr>
            <a:spLocks noGrp="1"/>
          </p:cNvSpPr>
          <p:nvPr>
            <p:ph type="body" idx="1"/>
          </p:nvPr>
        </p:nvSpPr>
        <p:spPr/>
        <p:txBody>
          <a:bodyPr/>
          <a:lstStyle/>
          <a:p>
            <a:r>
              <a:rPr lang="en-US" sz="1800" b="0" i="0" dirty="0"/>
              <a:t>References:</a:t>
            </a:r>
          </a:p>
          <a:p>
            <a:pPr marL="171450" indent="-171450">
              <a:buFont typeface="Arial" panose="020B0604020202020204" pitchFamily="34" charset="0"/>
              <a:buChar char="•"/>
            </a:pPr>
            <a:r>
              <a:rPr lang="en-US" sz="1800" b="0" i="0" dirty="0"/>
              <a:t>Women’s Health Specialists, “Copper vs. Hormonal IUDs” (September 30, 2023). https://whsobgyn.com/copper-vs-hormonal-iuds</a:t>
            </a:r>
          </a:p>
          <a:p>
            <a:pPr marL="171450" indent="-171450">
              <a:buFont typeface="Arial" panose="020B0604020202020204" pitchFamily="34" charset="0"/>
              <a:buChar char="•"/>
            </a:pPr>
            <a:r>
              <a:rPr lang="en-US" sz="1800" b="0" i="0" dirty="0"/>
              <a:t>Cleveland Clinic, “Birth Control Pills.” https://my.clevelandclinic.org/health/treatments/3977-birth-control-the-pill</a:t>
            </a:r>
          </a:p>
          <a:p>
            <a:pPr marL="171450" indent="-171450">
              <a:buFont typeface="Arial" panose="020B0604020202020204" pitchFamily="34" charset="0"/>
              <a:buChar char="•"/>
            </a:pPr>
            <a:endParaRPr lang="en-US" sz="1800" b="0" i="0" dirty="0"/>
          </a:p>
          <a:p>
            <a:pPr lvl="0"/>
            <a:endParaRPr lang="en-US" sz="1800" dirty="0"/>
          </a:p>
          <a:p>
            <a:endParaRPr lang="en-SG" dirty="0"/>
          </a:p>
          <a:p>
            <a:endParaRPr lang="en-SG" b="1" dirty="0"/>
          </a:p>
        </p:txBody>
      </p:sp>
      <p:sp>
        <p:nvSpPr>
          <p:cNvPr id="4" name="Slide Number Placeholder 3">
            <a:extLst>
              <a:ext uri="{FF2B5EF4-FFF2-40B4-BE49-F238E27FC236}">
                <a16:creationId xmlns:a16="http://schemas.microsoft.com/office/drawing/2014/main" id="{9B28AEF4-D846-0A3C-9A81-0E18CAA9F0ED}"/>
              </a:ext>
            </a:extLst>
          </p:cNvPr>
          <p:cNvSpPr>
            <a:spLocks noGrp="1"/>
          </p:cNvSpPr>
          <p:nvPr>
            <p:ph type="sldNum" sz="quarter" idx="5"/>
          </p:nvPr>
        </p:nvSpPr>
        <p:spPr/>
        <p:txBody>
          <a:bodyPr/>
          <a:lstStyle/>
          <a:p>
            <a:fld id="{53E1A0DB-35D7-4E49-89B6-F31AEF2A93A0}" type="slidenum">
              <a:rPr lang="en-SG" smtClean="0"/>
              <a:t>13</a:t>
            </a:fld>
            <a:endParaRPr lang="en-SG"/>
          </a:p>
        </p:txBody>
      </p:sp>
    </p:spTree>
    <p:extLst>
      <p:ext uri="{BB962C8B-B14F-4D97-AF65-F5344CB8AC3E}">
        <p14:creationId xmlns:p14="http://schemas.microsoft.com/office/powerpoint/2010/main" val="2351075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D0684-7A75-1371-9A23-1B4009A669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EF6DA-1568-1BAC-06B4-64502B39D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5FD2C-E473-A5AA-4635-21AEAB7E552B}"/>
              </a:ext>
            </a:extLst>
          </p:cNvPr>
          <p:cNvSpPr>
            <a:spLocks noGrp="1"/>
          </p:cNvSpPr>
          <p:nvPr>
            <p:ph type="body" idx="1"/>
          </p:nvPr>
        </p:nvSpPr>
        <p:spPr/>
        <p:txBody>
          <a:bodyPr/>
          <a:lstStyle/>
          <a:p>
            <a:r>
              <a:rPr lang="en-US" b="0" i="0" dirty="0"/>
              <a:t>References:</a:t>
            </a:r>
          </a:p>
          <a:p>
            <a:pPr marL="171450" indent="-171450">
              <a:buFont typeface="Arial" panose="020B0604020202020204" pitchFamily="34" charset="0"/>
              <a:buChar char="•"/>
            </a:pPr>
            <a:r>
              <a:rPr lang="en-US" b="0" i="0" dirty="0"/>
              <a:t>Megan Brenan, “Americans Say Birth Control, Divorce Most 'Morally Acceptable’,” </a:t>
            </a:r>
            <a:r>
              <a:rPr lang="en-US" b="0" i="1" dirty="0"/>
              <a:t>Gallup</a:t>
            </a:r>
            <a:r>
              <a:rPr lang="en-US" b="0" i="0" dirty="0"/>
              <a:t> (June 9, 2022). https://news.gallup.com/poll/393515/americans-say-birth-control-divorce-morally-acceptable.aspx</a:t>
            </a:r>
          </a:p>
          <a:p>
            <a:pPr marL="171450" indent="-171450">
              <a:buFont typeface="Arial" panose="020B0604020202020204" pitchFamily="34" charset="0"/>
              <a:buChar char="•"/>
            </a:pPr>
            <a:endParaRPr lang="en-US" b="0" i="0" dirty="0"/>
          </a:p>
        </p:txBody>
      </p:sp>
      <p:sp>
        <p:nvSpPr>
          <p:cNvPr id="4" name="Slide Number Placeholder 3">
            <a:extLst>
              <a:ext uri="{FF2B5EF4-FFF2-40B4-BE49-F238E27FC236}">
                <a16:creationId xmlns:a16="http://schemas.microsoft.com/office/drawing/2014/main" id="{2002DBBD-0066-857B-7361-7BA1215340FF}"/>
              </a:ext>
            </a:extLst>
          </p:cNvPr>
          <p:cNvSpPr>
            <a:spLocks noGrp="1"/>
          </p:cNvSpPr>
          <p:nvPr>
            <p:ph type="sldNum" sz="quarter" idx="5"/>
          </p:nvPr>
        </p:nvSpPr>
        <p:spPr/>
        <p:txBody>
          <a:bodyPr/>
          <a:lstStyle/>
          <a:p>
            <a:fld id="{53E1A0DB-35D7-4E49-89B6-F31AEF2A93A0}" type="slidenum">
              <a:rPr lang="en-SG" smtClean="0"/>
              <a:t>14</a:t>
            </a:fld>
            <a:endParaRPr lang="en-SG"/>
          </a:p>
        </p:txBody>
      </p:sp>
    </p:spTree>
    <p:extLst>
      <p:ext uri="{BB962C8B-B14F-4D97-AF65-F5344CB8AC3E}">
        <p14:creationId xmlns:p14="http://schemas.microsoft.com/office/powerpoint/2010/main" val="7717067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D6CDC-1BD5-0797-06EB-413C47A162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FD1071-C93F-B907-4758-67F44D549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CE5CB-CA44-051A-02EF-AEA5BEB0D390}"/>
              </a:ext>
            </a:extLst>
          </p:cNvPr>
          <p:cNvSpPr>
            <a:spLocks noGrp="1"/>
          </p:cNvSpPr>
          <p:nvPr>
            <p:ph type="body" idx="1"/>
          </p:nvPr>
        </p:nvSpPr>
        <p:spPr/>
        <p:txBody>
          <a:bodyPr/>
          <a:lstStyle/>
          <a:p>
            <a:r>
              <a:rPr lang="en-US" b="0" i="0" dirty="0"/>
              <a:t>References:</a:t>
            </a:r>
          </a:p>
          <a:p>
            <a:pPr marL="171450" indent="-171450">
              <a:buFont typeface="Arial" panose="020B0604020202020204" pitchFamily="34" charset="0"/>
              <a:buChar char="•"/>
            </a:pPr>
            <a:r>
              <a:rPr lang="en-US" b="0" i="0" dirty="0"/>
              <a:t>Women’s Health Specialists, “Copper vs. Hormonal IUDs” (September 30, 2023). https://whsobgyn.com/copper-vs-hormonal-iuds</a:t>
            </a:r>
          </a:p>
          <a:p>
            <a:pPr marL="171450" indent="-171450">
              <a:buFont typeface="Arial" panose="020B0604020202020204" pitchFamily="34" charset="0"/>
              <a:buChar char="•"/>
            </a:pPr>
            <a:r>
              <a:rPr lang="en-US" b="0" i="0" dirty="0"/>
              <a:t>Cleveland Clinic, “Birth Control Pills.” https://my.clevelandclinic.org/health/treatments/3977-birth-control-the-pill</a:t>
            </a:r>
          </a:p>
          <a:p>
            <a:pPr marL="171450" indent="-171450">
              <a:buFont typeface="Arial" panose="020B0604020202020204" pitchFamily="34" charset="0"/>
              <a:buChar char="•"/>
            </a:pPr>
            <a:endParaRPr lang="en-US" b="0" i="0" dirty="0"/>
          </a:p>
        </p:txBody>
      </p:sp>
      <p:sp>
        <p:nvSpPr>
          <p:cNvPr id="4" name="Slide Number Placeholder 3">
            <a:extLst>
              <a:ext uri="{FF2B5EF4-FFF2-40B4-BE49-F238E27FC236}">
                <a16:creationId xmlns:a16="http://schemas.microsoft.com/office/drawing/2014/main" id="{300455C2-CA9C-5267-2A74-0788F36EBDCA}"/>
              </a:ext>
            </a:extLst>
          </p:cNvPr>
          <p:cNvSpPr>
            <a:spLocks noGrp="1"/>
          </p:cNvSpPr>
          <p:nvPr>
            <p:ph type="sldNum" sz="quarter" idx="5"/>
          </p:nvPr>
        </p:nvSpPr>
        <p:spPr/>
        <p:txBody>
          <a:bodyPr/>
          <a:lstStyle/>
          <a:p>
            <a:fld id="{53E1A0DB-35D7-4E49-89B6-F31AEF2A93A0}" type="slidenum">
              <a:rPr lang="en-SG" smtClean="0"/>
              <a:t>15</a:t>
            </a:fld>
            <a:endParaRPr lang="en-SG"/>
          </a:p>
        </p:txBody>
      </p:sp>
    </p:spTree>
    <p:extLst>
      <p:ext uri="{BB962C8B-B14F-4D97-AF65-F5344CB8AC3E}">
        <p14:creationId xmlns:p14="http://schemas.microsoft.com/office/powerpoint/2010/main" val="8563405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7FE7-5ED2-417B-B46F-D353088C6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44297F-AB9B-B241-9674-CD672C6F6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FD19F9-1C74-01A1-323B-CDE4BA2B1019}"/>
              </a:ext>
            </a:extLst>
          </p:cNvPr>
          <p:cNvSpPr>
            <a:spLocks noGrp="1"/>
          </p:cNvSpPr>
          <p:nvPr>
            <p:ph type="body" idx="1"/>
          </p:nvPr>
        </p:nvSpPr>
        <p:spPr/>
        <p:txBody>
          <a:bodyPr/>
          <a:lstStyle/>
          <a:p>
            <a:pPr lvl="2"/>
            <a:endParaRPr lang="en-US" sz="1800" dirty="0"/>
          </a:p>
          <a:p>
            <a:endParaRPr lang="en-SG" dirty="0"/>
          </a:p>
          <a:p>
            <a:endParaRPr lang="en-SG" b="1" dirty="0"/>
          </a:p>
        </p:txBody>
      </p:sp>
      <p:sp>
        <p:nvSpPr>
          <p:cNvPr id="4" name="Slide Number Placeholder 3">
            <a:extLst>
              <a:ext uri="{FF2B5EF4-FFF2-40B4-BE49-F238E27FC236}">
                <a16:creationId xmlns:a16="http://schemas.microsoft.com/office/drawing/2014/main" id="{D2308C1E-CC04-BE32-301B-8586A49ECA56}"/>
              </a:ext>
            </a:extLst>
          </p:cNvPr>
          <p:cNvSpPr>
            <a:spLocks noGrp="1"/>
          </p:cNvSpPr>
          <p:nvPr>
            <p:ph type="sldNum" sz="quarter" idx="5"/>
          </p:nvPr>
        </p:nvSpPr>
        <p:spPr/>
        <p:txBody>
          <a:bodyPr/>
          <a:lstStyle/>
          <a:p>
            <a:fld id="{53E1A0DB-35D7-4E49-89B6-F31AEF2A93A0}" type="slidenum">
              <a:rPr lang="en-SG" smtClean="0"/>
              <a:t>16</a:t>
            </a:fld>
            <a:endParaRPr lang="en-SG"/>
          </a:p>
        </p:txBody>
      </p:sp>
    </p:spTree>
    <p:extLst>
      <p:ext uri="{BB962C8B-B14F-4D97-AF65-F5344CB8AC3E}">
        <p14:creationId xmlns:p14="http://schemas.microsoft.com/office/powerpoint/2010/main" val="1036399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4466F-7001-A1E6-F3F4-FAE52D105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7BFA7-CC97-0A34-060B-3CCC6DB39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A0550D-9358-F164-DBA1-06235F399C3B}"/>
              </a:ext>
            </a:extLst>
          </p:cNvPr>
          <p:cNvSpPr>
            <a:spLocks noGrp="1"/>
          </p:cNvSpPr>
          <p:nvPr>
            <p:ph type="body" idx="1"/>
          </p:nvPr>
        </p:nvSpPr>
        <p:spPr/>
        <p:txBody>
          <a:bodyPr/>
          <a:lstStyle/>
          <a:p>
            <a:endParaRPr lang="en-US" b="0" i="0" dirty="0"/>
          </a:p>
        </p:txBody>
      </p:sp>
      <p:sp>
        <p:nvSpPr>
          <p:cNvPr id="4" name="Slide Number Placeholder 3">
            <a:extLst>
              <a:ext uri="{FF2B5EF4-FFF2-40B4-BE49-F238E27FC236}">
                <a16:creationId xmlns:a16="http://schemas.microsoft.com/office/drawing/2014/main" id="{73643916-7DCB-7C7B-6C58-3ED2C13CBA00}"/>
              </a:ext>
            </a:extLst>
          </p:cNvPr>
          <p:cNvSpPr>
            <a:spLocks noGrp="1"/>
          </p:cNvSpPr>
          <p:nvPr>
            <p:ph type="sldNum" sz="quarter" idx="5"/>
          </p:nvPr>
        </p:nvSpPr>
        <p:spPr/>
        <p:txBody>
          <a:bodyPr/>
          <a:lstStyle/>
          <a:p>
            <a:fld id="{53E1A0DB-35D7-4E49-89B6-F31AEF2A93A0}" type="slidenum">
              <a:rPr lang="en-SG" smtClean="0"/>
              <a:t>17</a:t>
            </a:fld>
            <a:endParaRPr lang="en-SG"/>
          </a:p>
        </p:txBody>
      </p:sp>
    </p:spTree>
    <p:extLst>
      <p:ext uri="{BB962C8B-B14F-4D97-AF65-F5344CB8AC3E}">
        <p14:creationId xmlns:p14="http://schemas.microsoft.com/office/powerpoint/2010/main" val="14824196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6B9DA-649A-4A47-4373-905DDFAF5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1C976-B3D2-7E5E-5A00-4A8069F8F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7B0D5-5A5C-6395-1B1D-0F45E76EDEB0}"/>
              </a:ext>
            </a:extLst>
          </p:cNvPr>
          <p:cNvSpPr>
            <a:spLocks noGrp="1"/>
          </p:cNvSpPr>
          <p:nvPr>
            <p:ph type="body" idx="1"/>
          </p:nvPr>
        </p:nvSpPr>
        <p:spPr/>
        <p:txBody>
          <a:bodyPr/>
          <a:lstStyle/>
          <a:p>
            <a:r>
              <a:rPr lang="en-US" b="1" i="0" dirty="0">
                <a:solidFill>
                  <a:srgbClr val="2D3B45"/>
                </a:solidFill>
                <a:effectLst/>
                <a:latin typeface="LatoWeb"/>
              </a:rPr>
              <a:t>References: </a:t>
            </a:r>
          </a:p>
          <a:p>
            <a:pPr marL="171450" indent="-171450">
              <a:buFont typeface="Arial" panose="020B0604020202020204" pitchFamily="34" charset="0"/>
              <a:buChar char="•"/>
            </a:pPr>
            <a:r>
              <a:rPr lang="en-US" b="0" i="0" dirty="0">
                <a:solidFill>
                  <a:srgbClr val="2D3B45"/>
                </a:solidFill>
                <a:effectLst/>
                <a:latin typeface="LatoWeb"/>
              </a:rPr>
              <a:t>Guttmacher Institute, “Interactive Map: US Abortion Policies and Access After Roe,” https://states.guttmacher.org/policies/alabama/abortion-policies</a:t>
            </a:r>
            <a:endParaRPr lang="en-US" b="0" i="1" dirty="0">
              <a:solidFill>
                <a:srgbClr val="2D3B45"/>
              </a:solidFill>
              <a:effectLst/>
              <a:latin typeface="LatoWeb"/>
            </a:endParaRPr>
          </a:p>
          <a:p>
            <a:pPr marL="171450" indent="-171450">
              <a:buFont typeface="Arial" panose="020B0604020202020204" pitchFamily="34" charset="0"/>
              <a:buChar char="•"/>
            </a:pPr>
            <a:r>
              <a:rPr lang="en-US" b="0" i="0" dirty="0">
                <a:solidFill>
                  <a:srgbClr val="2D3B45"/>
                </a:solidFill>
                <a:effectLst/>
                <a:latin typeface="LatoWeb"/>
              </a:rPr>
              <a:t>Felix, Sobel, and </a:t>
            </a:r>
            <a:r>
              <a:rPr lang="en-US" b="0" i="0" dirty="0" err="1">
                <a:solidFill>
                  <a:srgbClr val="2D3B45"/>
                </a:solidFill>
                <a:effectLst/>
                <a:latin typeface="LatoWeb"/>
              </a:rPr>
              <a:t>Salganicoff</a:t>
            </a:r>
            <a:r>
              <a:rPr lang="en-US" b="0" i="0" dirty="0">
                <a:solidFill>
                  <a:srgbClr val="2D3B45"/>
                </a:solidFill>
                <a:effectLst/>
                <a:latin typeface="LatoWeb"/>
              </a:rPr>
              <a:t>, “A Review of Exceptions in State Abortion Bans: Implications for the Provision of Abortion Services,” KFF (June 6, 2024). https://www.kff.org/womens-health-policy/issue-brief/a-review-of-exceptions-in-state-abortions-bans-implications-for-the-provision-of-abortion-services/</a:t>
            </a:r>
          </a:p>
          <a:p>
            <a:pPr marL="171450" indent="-171450">
              <a:buFont typeface="Arial" panose="020B0604020202020204" pitchFamily="34" charset="0"/>
              <a:buChar char="•"/>
            </a:pPr>
            <a:r>
              <a:rPr lang="en-US" b="0" i="0" dirty="0">
                <a:solidFill>
                  <a:srgbClr val="2D3B45"/>
                </a:solidFill>
                <a:effectLst/>
                <a:latin typeface="LatoWeb"/>
              </a:rPr>
              <a:t>Aria </a:t>
            </a:r>
            <a:r>
              <a:rPr lang="en-US" b="0" i="0" dirty="0" err="1">
                <a:solidFill>
                  <a:srgbClr val="2D3B45"/>
                </a:solidFill>
                <a:effectLst/>
                <a:latin typeface="LatoWeb"/>
              </a:rPr>
              <a:t>Bendiz</a:t>
            </a:r>
            <a:r>
              <a:rPr lang="en-US" b="0" i="0" dirty="0">
                <a:solidFill>
                  <a:srgbClr val="2D3B45"/>
                </a:solidFill>
                <a:effectLst/>
                <a:latin typeface="LatoWeb"/>
              </a:rPr>
              <a:t>, “How life-threatening must a pregnancy be to end it legally?” </a:t>
            </a:r>
            <a:r>
              <a:rPr lang="en-US" b="0" i="1" dirty="0">
                <a:solidFill>
                  <a:srgbClr val="2D3B45"/>
                </a:solidFill>
                <a:effectLst/>
                <a:latin typeface="LatoWeb"/>
              </a:rPr>
              <a:t>NBC News </a:t>
            </a:r>
            <a:r>
              <a:rPr lang="en-US" b="0" i="0" dirty="0">
                <a:solidFill>
                  <a:srgbClr val="2D3B45"/>
                </a:solidFill>
                <a:effectLst/>
                <a:latin typeface="LatoWeb"/>
              </a:rPr>
              <a:t>(June 30, 2022). https://www.nbcnews.com/health/health-news/abortion-ban-exceptions-life-threatening-pregnancy-rcna36026 </a:t>
            </a:r>
          </a:p>
          <a:p>
            <a:pPr marL="171450" indent="-171450">
              <a:buFont typeface="Arial" panose="020B0604020202020204" pitchFamily="34" charset="0"/>
              <a:buChar char="•"/>
            </a:pPr>
            <a:endParaRPr lang="en-SG" b="0" dirty="0"/>
          </a:p>
        </p:txBody>
      </p:sp>
      <p:sp>
        <p:nvSpPr>
          <p:cNvPr id="4" name="Slide Number Placeholder 3">
            <a:extLst>
              <a:ext uri="{FF2B5EF4-FFF2-40B4-BE49-F238E27FC236}">
                <a16:creationId xmlns:a16="http://schemas.microsoft.com/office/drawing/2014/main" id="{2BEF861F-8EA6-E768-8A6E-CA3608F1D397}"/>
              </a:ext>
            </a:extLst>
          </p:cNvPr>
          <p:cNvSpPr>
            <a:spLocks noGrp="1"/>
          </p:cNvSpPr>
          <p:nvPr>
            <p:ph type="sldNum" sz="quarter" idx="5"/>
          </p:nvPr>
        </p:nvSpPr>
        <p:spPr/>
        <p:txBody>
          <a:bodyPr/>
          <a:lstStyle/>
          <a:p>
            <a:fld id="{53E1A0DB-35D7-4E49-89B6-F31AEF2A93A0}" type="slidenum">
              <a:rPr lang="en-SG" smtClean="0"/>
              <a:t>18</a:t>
            </a:fld>
            <a:endParaRPr lang="en-SG"/>
          </a:p>
        </p:txBody>
      </p:sp>
    </p:spTree>
    <p:extLst>
      <p:ext uri="{BB962C8B-B14F-4D97-AF65-F5344CB8AC3E}">
        <p14:creationId xmlns:p14="http://schemas.microsoft.com/office/powerpoint/2010/main" val="15376736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6B9DA-649A-4A47-4373-905DDFAF5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1C976-B3D2-7E5E-5A00-4A8069F8F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7B0D5-5A5C-6395-1B1D-0F45E76EDE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dirty="0">
                <a:solidFill>
                  <a:schemeClr val="tx1"/>
                </a:solidFill>
              </a:rPr>
              <a:t>The GEPI report notes that after Texas introduced a statewide abortion ban in 2022, the maternal mortality rate increased by 56 percent. In 2023, maternal mortality was 36 percent higher after the ban. </a:t>
            </a:r>
          </a:p>
          <a:p>
            <a:endParaRPr lang="en-US" altLang="en-US" sz="1800" dirty="0">
              <a:solidFill>
                <a:schemeClr val="tx1"/>
              </a:solidFill>
            </a:endParaRPr>
          </a:p>
          <a:p>
            <a:r>
              <a:rPr lang="en-US" altLang="en-US" sz="1800" dirty="0">
                <a:solidFill>
                  <a:schemeClr val="tx1"/>
                </a:solidFill>
              </a:rPr>
              <a:t>Below are two video reports on the cases of the 4 women who died from pregnancy complications:</a:t>
            </a:r>
          </a:p>
          <a:p>
            <a:pPr lvl="1"/>
            <a:r>
              <a:rPr lang="en-US" altLang="en-US" sz="1800" dirty="0">
                <a:solidFill>
                  <a:schemeClr val="tx1"/>
                </a:solidFill>
              </a:rPr>
              <a:t>PBS NewsHour, “</a:t>
            </a:r>
            <a:r>
              <a:rPr lang="en-US" altLang="en-US" sz="1800" dirty="0">
                <a:solidFill>
                  <a:schemeClr val="tx1"/>
                </a:solidFill>
                <a:hlinkClick r:id="rId3"/>
              </a:rPr>
              <a:t>Investigation links Georgia's abortion ban to preventable deaths of 2 women</a:t>
            </a:r>
            <a:r>
              <a:rPr lang="en-US" altLang="en-US" sz="1800" dirty="0">
                <a:solidFill>
                  <a:schemeClr val="tx1"/>
                </a:solidFill>
              </a:rPr>
              <a:t>,” (September 18, 2024). https://www.youtube.com/watch?v=g2Lv_gdF_zo [run time 07:03]</a:t>
            </a:r>
          </a:p>
          <a:p>
            <a:pPr lvl="1"/>
            <a:r>
              <a:rPr lang="en-US" altLang="en-US" sz="1800" dirty="0">
                <a:solidFill>
                  <a:schemeClr val="tx1"/>
                </a:solidFill>
              </a:rPr>
              <a:t>KVUE, “</a:t>
            </a:r>
            <a:r>
              <a:rPr lang="en-US" altLang="en-US" sz="1800" dirty="0">
                <a:solidFill>
                  <a:schemeClr val="tx1"/>
                </a:solidFill>
                <a:hlinkClick r:id="rId4"/>
              </a:rPr>
              <a:t>Texas woman dies after being denied abortion</a:t>
            </a:r>
            <a:r>
              <a:rPr lang="en-US" altLang="en-US" sz="1800" dirty="0">
                <a:solidFill>
                  <a:schemeClr val="tx1"/>
                </a:solidFill>
              </a:rPr>
              <a:t>,” (October 30, 2024). https://www.youtube.com/watch?v=eJOUm2kwHz4 [run time 05:08]</a:t>
            </a:r>
          </a:p>
          <a:p>
            <a:endParaRPr lang="en-US" b="0" i="0" dirty="0">
              <a:solidFill>
                <a:srgbClr val="2D3B45"/>
              </a:solidFill>
              <a:effectLst/>
              <a:latin typeface="LatoWeb"/>
            </a:endParaRPr>
          </a:p>
          <a:p>
            <a:r>
              <a:rPr lang="en-US" b="0" i="0" dirty="0">
                <a:solidFill>
                  <a:srgbClr val="2D3B45"/>
                </a:solidFill>
                <a:effectLst/>
                <a:latin typeface="LatoWeb"/>
              </a:rPr>
              <a:t>References: </a:t>
            </a:r>
          </a:p>
          <a:p>
            <a:pPr marL="171450" indent="-171450">
              <a:buFont typeface="Arial" panose="020B0604020202020204" pitchFamily="34" charset="0"/>
              <a:buChar char="•"/>
            </a:pPr>
            <a:r>
              <a:rPr lang="en-US" b="0" i="0" dirty="0">
                <a:solidFill>
                  <a:srgbClr val="2D3B45"/>
                </a:solidFill>
                <a:effectLst/>
                <a:latin typeface="LatoWeb"/>
              </a:rPr>
              <a:t>Cassandra Jaramillo &amp; Kavitha Surana, "A Woman Died After Being Told It Would Be a 'Crime' to Intervene in Her Miscarriage at a Texas Hospital," </a:t>
            </a:r>
            <a:r>
              <a:rPr lang="en-US" b="0" i="1" dirty="0">
                <a:solidFill>
                  <a:srgbClr val="2D3B45"/>
                </a:solidFill>
                <a:effectLst/>
                <a:latin typeface="LatoWeb"/>
              </a:rPr>
              <a:t>ProPublica</a:t>
            </a:r>
            <a:r>
              <a:rPr lang="en-US" b="0" i="0" dirty="0">
                <a:solidFill>
                  <a:srgbClr val="2D3B45"/>
                </a:solidFill>
                <a:effectLst/>
                <a:latin typeface="LatoWeb"/>
              </a:rPr>
              <a:t> (October 30, 2024). </a:t>
            </a:r>
            <a:r>
              <a:rPr lang="en-SG" b="0" dirty="0">
                <a:hlinkClick r:id="rId5"/>
              </a:rPr>
              <a:t>https://www.propublica.org/article/josseli-barnica-death-miscarriage-texas-abortion-ban</a:t>
            </a:r>
            <a:endParaRPr lang="en-SG" b="0" dirty="0"/>
          </a:p>
          <a:p>
            <a:pPr marL="171450" indent="-171450">
              <a:buFont typeface="Arial" panose="020B0604020202020204" pitchFamily="34" charset="0"/>
              <a:buChar char="•"/>
            </a:pPr>
            <a:r>
              <a:rPr lang="en-SG" sz="1200" b="0" dirty="0">
                <a:solidFill>
                  <a:schemeClr val="tx1"/>
                </a:solidFill>
              </a:rPr>
              <a:t>Gender Equity Policy Institute, “</a:t>
            </a:r>
            <a:r>
              <a:rPr lang="en-US" sz="1200" b="0" dirty="0">
                <a:solidFill>
                  <a:schemeClr val="tx1"/>
                </a:solidFill>
              </a:rPr>
              <a:t>Maternal Mortality in the United States After Abortion Bans,” (April 2025). https://thegepi.org/maternal-mortality-abortion-bans/#elementor-toc__heading-anchor-3</a:t>
            </a:r>
            <a:endParaRPr lang="en-SG" sz="1200" b="0" dirty="0">
              <a:solidFill>
                <a:schemeClr val="tx1"/>
              </a:solidFill>
            </a:endParaRPr>
          </a:p>
          <a:p>
            <a:pPr marL="171450" indent="-171450">
              <a:buFont typeface="Arial" panose="020B0604020202020204" pitchFamily="34" charset="0"/>
              <a:buChar char="•"/>
            </a:pPr>
            <a:r>
              <a:rPr lang="en-US" altLang="en-US" sz="1200" dirty="0">
                <a:solidFill>
                  <a:schemeClr val="tx1"/>
                </a:solidFill>
              </a:rPr>
              <a:t>PBS NewsHour, “</a:t>
            </a:r>
            <a:r>
              <a:rPr lang="en-US" altLang="en-US" sz="1200" dirty="0">
                <a:solidFill>
                  <a:schemeClr val="tx1"/>
                </a:solidFill>
                <a:hlinkClick r:id="rId3"/>
              </a:rPr>
              <a:t>Investigation links Georgia's abortion ban to preventable deaths of 2 women</a:t>
            </a:r>
            <a:r>
              <a:rPr lang="en-US" altLang="en-US" sz="1200" dirty="0">
                <a:solidFill>
                  <a:schemeClr val="tx1"/>
                </a:solidFill>
              </a:rPr>
              <a:t>,” (September 18, 2024). https://youtu.be/g2Lv_gdF_zo</a:t>
            </a:r>
          </a:p>
          <a:p>
            <a:pPr marL="171450" indent="-171450">
              <a:buFont typeface="Arial" panose="020B0604020202020204" pitchFamily="34" charset="0"/>
              <a:buChar char="•"/>
            </a:pPr>
            <a:r>
              <a:rPr lang="en-US" altLang="en-US" sz="1200" dirty="0">
                <a:solidFill>
                  <a:schemeClr val="tx1"/>
                </a:solidFill>
              </a:rPr>
              <a:t>KVUE, “</a:t>
            </a:r>
            <a:r>
              <a:rPr lang="en-US" altLang="en-US" sz="1200" dirty="0">
                <a:solidFill>
                  <a:schemeClr val="tx1"/>
                </a:solidFill>
                <a:hlinkClick r:id="rId4"/>
              </a:rPr>
              <a:t>Texas woman dies after being denied abortion</a:t>
            </a:r>
            <a:r>
              <a:rPr lang="en-US" altLang="en-US" sz="1200" dirty="0">
                <a:solidFill>
                  <a:schemeClr val="tx1"/>
                </a:solidFill>
              </a:rPr>
              <a:t>,” (October 30, 2024). https://youtu.be/eJOUm2kwHz4</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Zori G, Case S, </a:t>
            </a:r>
            <a:r>
              <a:rPr lang="en-US" sz="1200" b="0" i="0" kern="1200" dirty="0" err="1">
                <a:solidFill>
                  <a:schemeClr val="tx1"/>
                </a:solidFill>
                <a:effectLst/>
                <a:latin typeface="+mn-lt"/>
                <a:ea typeface="+mn-ea"/>
                <a:cs typeface="+mn-cs"/>
              </a:rPr>
              <a:t>Pyche</a:t>
            </a:r>
            <a:r>
              <a:rPr lang="en-US" sz="1200" b="0" i="0" kern="1200" dirty="0">
                <a:solidFill>
                  <a:schemeClr val="tx1"/>
                </a:solidFill>
                <a:effectLst/>
                <a:latin typeface="+mn-lt"/>
                <a:ea typeface="+mn-ea"/>
                <a:cs typeface="+mn-cs"/>
              </a:rPr>
              <a:t> C, Beckman L. The relationship between state-level abortion policy and maternal mortality in the United States: a scoping review. Health Aff Sch. 2025 Aug 14;3(8):qxaf146. </a:t>
            </a:r>
            <a:r>
              <a:rPr lang="en-US" sz="1200" b="0" i="0" kern="1200" dirty="0" err="1">
                <a:solidFill>
                  <a:schemeClr val="tx1"/>
                </a:solidFill>
                <a:effectLst/>
                <a:latin typeface="+mn-lt"/>
                <a:ea typeface="+mn-ea"/>
                <a:cs typeface="+mn-cs"/>
              </a:rPr>
              <a:t>doi</a:t>
            </a:r>
            <a:r>
              <a:rPr lang="en-US" sz="1200" b="0" i="0" kern="1200" dirty="0">
                <a:solidFill>
                  <a:schemeClr val="tx1"/>
                </a:solidFill>
                <a:effectLst/>
                <a:latin typeface="+mn-lt"/>
                <a:ea typeface="+mn-ea"/>
                <a:cs typeface="+mn-cs"/>
              </a:rPr>
              <a:t>: 10.1093/</a:t>
            </a:r>
            <a:r>
              <a:rPr lang="en-US" sz="1200" b="0" i="0" kern="1200" dirty="0" err="1">
                <a:solidFill>
                  <a:schemeClr val="tx1"/>
                </a:solidFill>
                <a:effectLst/>
                <a:latin typeface="+mn-lt"/>
                <a:ea typeface="+mn-ea"/>
                <a:cs typeface="+mn-cs"/>
              </a:rPr>
              <a:t>haschl</a:t>
            </a:r>
            <a:r>
              <a:rPr lang="en-US" sz="1200" b="0" i="0" kern="1200" dirty="0">
                <a:solidFill>
                  <a:schemeClr val="tx1"/>
                </a:solidFill>
                <a:effectLst/>
                <a:latin typeface="+mn-lt"/>
                <a:ea typeface="+mn-ea"/>
                <a:cs typeface="+mn-cs"/>
              </a:rPr>
              <a:t>/qxaf146. PMID: 40823007; PMCID: PMC12352390.</a:t>
            </a:r>
            <a:endParaRPr lang="en-US" altLang="en-US" sz="1200" dirty="0">
              <a:solidFill>
                <a:schemeClr val="tx1"/>
              </a:solidFill>
            </a:endParaRPr>
          </a:p>
          <a:p>
            <a:pPr marL="171450" indent="-171450">
              <a:buFont typeface="Arial" panose="020B0604020202020204" pitchFamily="34" charset="0"/>
              <a:buChar char="•"/>
            </a:pPr>
            <a:endParaRPr lang="en-SG" b="0" dirty="0"/>
          </a:p>
        </p:txBody>
      </p:sp>
      <p:sp>
        <p:nvSpPr>
          <p:cNvPr id="4" name="Slide Number Placeholder 3">
            <a:extLst>
              <a:ext uri="{FF2B5EF4-FFF2-40B4-BE49-F238E27FC236}">
                <a16:creationId xmlns:a16="http://schemas.microsoft.com/office/drawing/2014/main" id="{2BEF861F-8EA6-E768-8A6E-CA3608F1D397}"/>
              </a:ext>
            </a:extLst>
          </p:cNvPr>
          <p:cNvSpPr>
            <a:spLocks noGrp="1"/>
          </p:cNvSpPr>
          <p:nvPr>
            <p:ph type="sldNum" sz="quarter" idx="5"/>
          </p:nvPr>
        </p:nvSpPr>
        <p:spPr/>
        <p:txBody>
          <a:bodyPr/>
          <a:lstStyle/>
          <a:p>
            <a:fld id="{53E1A0DB-35D7-4E49-89B6-F31AEF2A93A0}" type="slidenum">
              <a:rPr lang="en-SG" smtClean="0"/>
              <a:t>19</a:t>
            </a:fld>
            <a:endParaRPr lang="en-SG"/>
          </a:p>
        </p:txBody>
      </p:sp>
    </p:spTree>
    <p:extLst>
      <p:ext uri="{BB962C8B-B14F-4D97-AF65-F5344CB8AC3E}">
        <p14:creationId xmlns:p14="http://schemas.microsoft.com/office/powerpoint/2010/main" val="19539027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6B9DA-649A-4A47-4373-905DDFAF54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51C976-B3D2-7E5E-5A00-4A8069F8F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7B0D5-5A5C-6395-1B1D-0F45E76EDEB0}"/>
              </a:ext>
            </a:extLst>
          </p:cNvPr>
          <p:cNvSpPr>
            <a:spLocks noGrp="1"/>
          </p:cNvSpPr>
          <p:nvPr>
            <p:ph type="body" idx="1"/>
          </p:nvPr>
        </p:nvSpPr>
        <p:spPr/>
        <p:txBody>
          <a:bodyPr/>
          <a:lstStyle/>
          <a:p>
            <a:r>
              <a:rPr lang="en-US" altLang="en-US" sz="1800" dirty="0">
                <a:solidFill>
                  <a:srgbClr val="FF0000"/>
                </a:solidFill>
              </a:rPr>
              <a:t>The text below is the medical exception to Alabama’s state abortion ban.</a:t>
            </a:r>
          </a:p>
          <a:p>
            <a:endParaRPr lang="en-US" altLang="en-US" sz="1800" dirty="0">
              <a:solidFill>
                <a:srgbClr val="FF0000"/>
              </a:solidFill>
            </a:endParaRPr>
          </a:p>
          <a:p>
            <a:pPr marL="445500" lvl="2" indent="0">
              <a:buNone/>
            </a:pPr>
            <a:r>
              <a:rPr lang="en-US" altLang="en-US" sz="1800" dirty="0">
                <a:solidFill>
                  <a:srgbClr val="FF0000"/>
                </a:solidFill>
              </a:rPr>
              <a:t>“(a) No person shall perform or induce or attempt to perform or induce an abortion…unless, in </a:t>
            </a:r>
            <a:r>
              <a:rPr lang="en-US" altLang="en-US" sz="1800" b="1" dirty="0">
                <a:solidFill>
                  <a:srgbClr val="FF0000"/>
                </a:solidFill>
              </a:rPr>
              <a:t>reasonable medical judgment</a:t>
            </a:r>
            <a:r>
              <a:rPr lang="en-US" altLang="en-US" sz="1800" dirty="0">
                <a:solidFill>
                  <a:srgbClr val="FF0000"/>
                </a:solidFill>
              </a:rPr>
              <a:t>, the woman has a condition which so complicates her medical condition as </a:t>
            </a:r>
            <a:r>
              <a:rPr lang="en-US" altLang="en-US" sz="1800" b="1" dirty="0">
                <a:solidFill>
                  <a:srgbClr val="FF0000"/>
                </a:solidFill>
              </a:rPr>
              <a:t>to necessitate the abortion of her pregnancy to avert her death or to avert serious risk of substantial and irreversible physical impairment of a major bodily function</a:t>
            </a:r>
            <a:r>
              <a:rPr lang="en-US" altLang="en-US" sz="1800" dirty="0">
                <a:solidFill>
                  <a:srgbClr val="FF0000"/>
                </a:solidFill>
              </a:rPr>
              <a:t>, not including psychological or emotional conditions.” (</a:t>
            </a:r>
            <a:r>
              <a:rPr lang="en-US" altLang="en-US" sz="1800" dirty="0">
                <a:solidFill>
                  <a:schemeClr val="tx1"/>
                </a:solidFill>
                <a:hlinkClick r:id="rId3"/>
              </a:rPr>
              <a:t>AL Code § 26-23B-5 (2023)</a:t>
            </a:r>
            <a:r>
              <a:rPr lang="en-US" altLang="en-US" sz="1800" dirty="0">
                <a:solidFill>
                  <a:srgbClr val="FF0000"/>
                </a:solidFill>
              </a:rPr>
              <a:t>)</a:t>
            </a:r>
          </a:p>
          <a:p>
            <a:endParaRPr lang="en-US" b="0" dirty="0"/>
          </a:p>
          <a:p>
            <a:r>
              <a:rPr lang="en-US" b="1" dirty="0"/>
              <a:t>References:</a:t>
            </a:r>
          </a:p>
          <a:p>
            <a:pPr marL="171450" indent="-171450">
              <a:buFont typeface="Arial" panose="020B0604020202020204" pitchFamily="34" charset="0"/>
              <a:buChar char="•"/>
            </a:pPr>
            <a:r>
              <a:rPr lang="en-US" b="0" dirty="0"/>
              <a:t>Lisa H. Harris, “Navigating Loss of Abortion Services — A Large Academic Medical Center Prepares for the Overturn of </a:t>
            </a:r>
            <a:r>
              <a:rPr lang="en-US" b="0" i="1" dirty="0"/>
              <a:t>Roe v. Wade</a:t>
            </a:r>
            <a:r>
              <a:rPr lang="en-US" b="0" dirty="0"/>
              <a:t>,” </a:t>
            </a:r>
            <a:r>
              <a:rPr lang="en-US" b="0" i="1" dirty="0"/>
              <a:t>The New England Journal of Medicine</a:t>
            </a:r>
            <a:r>
              <a:rPr lang="en-US" b="0" i="0" dirty="0"/>
              <a:t> (May 11, 2022). https://www.nejm.org/doi/full/10.1056/NEJMp2206246#.Yn2CbLw4QWE</a:t>
            </a:r>
            <a:endParaRPr lang="en-US" b="0" dirty="0"/>
          </a:p>
          <a:p>
            <a:pPr marL="171450" indent="-171450">
              <a:buFont typeface="Arial" panose="020B0604020202020204" pitchFamily="34" charset="0"/>
              <a:buChar char="•"/>
            </a:pPr>
            <a:r>
              <a:rPr lang="en-US" b="0" dirty="0"/>
              <a:t>2023 Code of Alabama, Title 26 - Infants and Incompetents, Chapter 23B - Alabama Pain-Capable Unborn Child Protection Act, Section 26-23B-5 - Abortion Prohibited Where Postfertilization Age of Unborn Child at Least 20 Weeks; Exception. https://law.justia.com/codes/alabama/title-26/chapter-23b/section-26-23b-5/</a:t>
            </a:r>
          </a:p>
        </p:txBody>
      </p:sp>
      <p:sp>
        <p:nvSpPr>
          <p:cNvPr id="4" name="Slide Number Placeholder 3">
            <a:extLst>
              <a:ext uri="{FF2B5EF4-FFF2-40B4-BE49-F238E27FC236}">
                <a16:creationId xmlns:a16="http://schemas.microsoft.com/office/drawing/2014/main" id="{2BEF861F-8EA6-E768-8A6E-CA3608F1D397}"/>
              </a:ext>
            </a:extLst>
          </p:cNvPr>
          <p:cNvSpPr>
            <a:spLocks noGrp="1"/>
          </p:cNvSpPr>
          <p:nvPr>
            <p:ph type="sldNum" sz="quarter" idx="5"/>
          </p:nvPr>
        </p:nvSpPr>
        <p:spPr/>
        <p:txBody>
          <a:bodyPr/>
          <a:lstStyle/>
          <a:p>
            <a:fld id="{53E1A0DB-35D7-4E49-89B6-F31AEF2A93A0}" type="slidenum">
              <a:rPr lang="en-SG" smtClean="0"/>
              <a:t>20</a:t>
            </a:fld>
            <a:endParaRPr lang="en-SG"/>
          </a:p>
        </p:txBody>
      </p:sp>
    </p:spTree>
    <p:extLst>
      <p:ext uri="{BB962C8B-B14F-4D97-AF65-F5344CB8AC3E}">
        <p14:creationId xmlns:p14="http://schemas.microsoft.com/office/powerpoint/2010/main" val="352789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FD5CF-D208-2009-30A2-58A9DDCDE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7B901-53CB-6159-9E44-FC4012099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967A4-2F84-EEE8-8466-10D26F68E8D4}"/>
              </a:ext>
            </a:extLst>
          </p:cNvPr>
          <p:cNvSpPr>
            <a:spLocks noGrp="1"/>
          </p:cNvSpPr>
          <p:nvPr>
            <p:ph type="body" idx="1"/>
          </p:nvPr>
        </p:nvSpPr>
        <p:spPr/>
        <p:txBody>
          <a:bodyPr/>
          <a:lstStyle/>
          <a:p>
            <a:r>
              <a:rPr lang="en-US" altLang="en-US" sz="1800" dirty="0">
                <a:solidFill>
                  <a:srgbClr val="FF0000"/>
                </a:solidFill>
              </a:rPr>
              <a:t>The text below is the medical exception to Alabama’s state abortion ban.</a:t>
            </a:r>
          </a:p>
          <a:p>
            <a:endParaRPr lang="en-US" altLang="en-US" sz="1800" dirty="0">
              <a:solidFill>
                <a:srgbClr val="FF0000"/>
              </a:solidFill>
            </a:endParaRPr>
          </a:p>
          <a:p>
            <a:pPr marL="445500" lvl="2" indent="0">
              <a:buNone/>
            </a:pPr>
            <a:r>
              <a:rPr lang="en-US" altLang="en-US" sz="1800" dirty="0">
                <a:solidFill>
                  <a:srgbClr val="FF0000"/>
                </a:solidFill>
              </a:rPr>
              <a:t>“(a) No person shall perform or induce or attempt to perform or induce an abortion…unless, in </a:t>
            </a:r>
            <a:r>
              <a:rPr lang="en-US" altLang="en-US" sz="1800" b="1" dirty="0">
                <a:solidFill>
                  <a:srgbClr val="FF0000"/>
                </a:solidFill>
              </a:rPr>
              <a:t>reasonable medical judgment</a:t>
            </a:r>
            <a:r>
              <a:rPr lang="en-US" altLang="en-US" sz="1800" dirty="0">
                <a:solidFill>
                  <a:srgbClr val="FF0000"/>
                </a:solidFill>
              </a:rPr>
              <a:t>, the woman has a condition which so complicates her medical condition as </a:t>
            </a:r>
            <a:r>
              <a:rPr lang="en-US" altLang="en-US" sz="1800" b="1" dirty="0">
                <a:solidFill>
                  <a:srgbClr val="FF0000"/>
                </a:solidFill>
              </a:rPr>
              <a:t>to necessitate the abortion of her pregnancy to avert her death or to avert serious risk of substantial and irreversible physical impairment of a major bodily function</a:t>
            </a:r>
            <a:r>
              <a:rPr lang="en-US" altLang="en-US" sz="1800" dirty="0">
                <a:solidFill>
                  <a:srgbClr val="FF0000"/>
                </a:solidFill>
              </a:rPr>
              <a:t>, not including psychological or emotional conditions.” (</a:t>
            </a:r>
            <a:r>
              <a:rPr lang="en-US" altLang="en-US" sz="1800" dirty="0">
                <a:solidFill>
                  <a:schemeClr val="tx1"/>
                </a:solidFill>
                <a:hlinkClick r:id="rId3"/>
              </a:rPr>
              <a:t>AL Code § 26-23B-5 (2023)</a:t>
            </a:r>
            <a:r>
              <a:rPr lang="en-US" altLang="en-US" sz="1800" dirty="0">
                <a:solidFill>
                  <a:srgbClr val="FF0000"/>
                </a:solidFill>
              </a:rPr>
              <a:t>)</a:t>
            </a:r>
          </a:p>
          <a:p>
            <a:endParaRPr lang="en-US" b="0" dirty="0"/>
          </a:p>
          <a:p>
            <a:r>
              <a:rPr lang="en-US" b="1" dirty="0"/>
              <a:t>Reference:</a:t>
            </a:r>
          </a:p>
          <a:p>
            <a:pPr marL="171450" indent="-171450">
              <a:buFont typeface="Arial" panose="020B0604020202020204" pitchFamily="34" charset="0"/>
              <a:buChar char="•"/>
            </a:pPr>
            <a:r>
              <a:rPr lang="en-US" b="0" dirty="0"/>
              <a:t>2023 Code of Alabama, Title 26 - Infants and Incompetents, Chapter 23B - Alabama Pain-Capable Unborn Child Protection Act, Section 26-23B-5 - Abortion Prohibited Where Postfertilization Age of Unborn Child at Least 20 Weeks; Exception. https://law.justia.com/codes/alabama/title-26/chapter-23b/section-26-23b-5/</a:t>
            </a:r>
          </a:p>
          <a:p>
            <a:pPr lvl="0"/>
            <a:endParaRPr lang="en-US" sz="1800" dirty="0"/>
          </a:p>
        </p:txBody>
      </p:sp>
      <p:sp>
        <p:nvSpPr>
          <p:cNvPr id="4" name="Slide Number Placeholder 3">
            <a:extLst>
              <a:ext uri="{FF2B5EF4-FFF2-40B4-BE49-F238E27FC236}">
                <a16:creationId xmlns:a16="http://schemas.microsoft.com/office/drawing/2014/main" id="{7FA191E0-E43A-0E6F-DB2B-D3E86E4528BE}"/>
              </a:ext>
            </a:extLst>
          </p:cNvPr>
          <p:cNvSpPr>
            <a:spLocks noGrp="1"/>
          </p:cNvSpPr>
          <p:nvPr>
            <p:ph type="sldNum" sz="quarter" idx="5"/>
          </p:nvPr>
        </p:nvSpPr>
        <p:spPr/>
        <p:txBody>
          <a:bodyPr/>
          <a:lstStyle/>
          <a:p>
            <a:fld id="{53E1A0DB-35D7-4E49-89B6-F31AEF2A93A0}" type="slidenum">
              <a:rPr lang="en-SG" smtClean="0"/>
              <a:t>21</a:t>
            </a:fld>
            <a:endParaRPr lang="en-SG"/>
          </a:p>
        </p:txBody>
      </p:sp>
    </p:spTree>
    <p:extLst>
      <p:ext uri="{BB962C8B-B14F-4D97-AF65-F5344CB8AC3E}">
        <p14:creationId xmlns:p14="http://schemas.microsoft.com/office/powerpoint/2010/main" val="7869718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7E7F9-D8E7-AA65-BC54-FE4719EBD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1A0B63-987C-6C71-38DA-B58CAE7E5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2609C8-8201-36FA-643A-7D0CCD5F0C3C}"/>
              </a:ext>
            </a:extLst>
          </p:cNvPr>
          <p:cNvSpPr>
            <a:spLocks noGrp="1"/>
          </p:cNvSpPr>
          <p:nvPr>
            <p:ph type="body" idx="1"/>
          </p:nvPr>
        </p:nvSpPr>
        <p:spPr/>
        <p:txBody>
          <a:bodyPr/>
          <a:lstStyle/>
          <a:p>
            <a:r>
              <a:rPr lang="en-SG" dirty="0"/>
              <a:t>References:</a:t>
            </a:r>
          </a:p>
          <a:p>
            <a:pPr marL="171450" indent="-171450">
              <a:buFont typeface="Arial" panose="020B0604020202020204" pitchFamily="34" charset="0"/>
              <a:buChar char="•"/>
            </a:pPr>
            <a:r>
              <a:rPr lang="en-SG" b="0" i="0" dirty="0">
                <a:solidFill>
                  <a:srgbClr val="333333"/>
                </a:solidFill>
                <a:effectLst/>
                <a:latin typeface="Guardian TextSans Web"/>
              </a:rPr>
              <a:t>Tanya Lewis, “</a:t>
            </a:r>
            <a:r>
              <a:rPr lang="en-US" b="0" i="0" dirty="0">
                <a:solidFill>
                  <a:srgbClr val="333333"/>
                </a:solidFill>
                <a:effectLst/>
                <a:latin typeface="Guardian TextSans Web"/>
              </a:rPr>
              <a:t>64,000 Pregnancies Caused by Rape Have Occurred in States with a Total Abortion Ban, New Study Estimates,” </a:t>
            </a:r>
            <a:r>
              <a:rPr lang="en-US" b="0" i="1" dirty="0">
                <a:solidFill>
                  <a:srgbClr val="333333"/>
                </a:solidFill>
                <a:effectLst/>
                <a:latin typeface="Guardian TextSans Web"/>
              </a:rPr>
              <a:t>Scientific American</a:t>
            </a:r>
            <a:r>
              <a:rPr lang="en-US" b="0" i="0" dirty="0">
                <a:solidFill>
                  <a:srgbClr val="333333"/>
                </a:solidFill>
                <a:effectLst/>
                <a:latin typeface="Guardian TextSans Web"/>
              </a:rPr>
              <a:t> (January 25, 2024). https://www.scientificamerican.com/article/64-000-pregnancies-caused-by-rape-have-occurred-in-states-with-a-total-abortion-ban-new-study-estimates/</a:t>
            </a:r>
            <a:endParaRPr lang="en-SG" b="0" i="0" dirty="0">
              <a:solidFill>
                <a:srgbClr val="333333"/>
              </a:solidFill>
              <a:effectLst/>
              <a:latin typeface="Guardian TextSans Web"/>
            </a:endParaRPr>
          </a:p>
          <a:p>
            <a:pPr marL="171450" indent="-171450">
              <a:buFont typeface="Arial" panose="020B0604020202020204" pitchFamily="34" charset="0"/>
              <a:buChar char="•"/>
            </a:pPr>
            <a:r>
              <a:rPr lang="en-SG" b="0" i="0" dirty="0">
                <a:solidFill>
                  <a:srgbClr val="333333"/>
                </a:solidFill>
                <a:effectLst/>
                <a:latin typeface="Guardian TextSans Web"/>
              </a:rPr>
              <a:t>Dickman SL, White K, Himmelstein DU, Lupez E, Schrier E, </a:t>
            </a:r>
            <a:r>
              <a:rPr lang="en-SG" b="0" i="0" dirty="0" err="1">
                <a:solidFill>
                  <a:srgbClr val="333333"/>
                </a:solidFill>
                <a:effectLst/>
                <a:latin typeface="Guardian TextSans Web"/>
              </a:rPr>
              <a:t>Woolhandler</a:t>
            </a:r>
            <a:r>
              <a:rPr lang="en-SG" b="0" i="0" dirty="0">
                <a:solidFill>
                  <a:srgbClr val="333333"/>
                </a:solidFill>
                <a:effectLst/>
                <a:latin typeface="Guardian TextSans Web"/>
              </a:rPr>
              <a:t> S. Rape-Related Pregnancies in the 14 US States With Total Abortion Bans. </a:t>
            </a:r>
            <a:r>
              <a:rPr lang="en-SG" b="0" i="1" dirty="0">
                <a:solidFill>
                  <a:srgbClr val="333333"/>
                </a:solidFill>
                <a:effectLst/>
                <a:latin typeface="Guardian TextSans Web"/>
              </a:rPr>
              <a:t>JAMA Intern Med.</a:t>
            </a:r>
            <a:r>
              <a:rPr lang="en-SG" b="0" i="0" dirty="0">
                <a:solidFill>
                  <a:srgbClr val="333333"/>
                </a:solidFill>
                <a:effectLst/>
                <a:latin typeface="Guardian TextSans Web"/>
              </a:rPr>
              <a:t> 2024;184(3):330–332. doi:10.1001/jamainternmed.2024.0014</a:t>
            </a:r>
          </a:p>
          <a:p>
            <a:pPr marL="171450" indent="-171450">
              <a:buFont typeface="Arial" panose="020B0604020202020204" pitchFamily="34" charset="0"/>
              <a:buChar char="•"/>
            </a:pPr>
            <a:r>
              <a:rPr lang="en-SG" b="0" i="0" dirty="0" err="1">
                <a:solidFill>
                  <a:srgbClr val="333333"/>
                </a:solidFill>
                <a:effectLst/>
                <a:latin typeface="Guardian TextSans Web"/>
              </a:rPr>
              <a:t>Solcyre</a:t>
            </a:r>
            <a:r>
              <a:rPr lang="en-SG" b="0" i="0" dirty="0">
                <a:solidFill>
                  <a:srgbClr val="333333"/>
                </a:solidFill>
                <a:effectLst/>
                <a:latin typeface="Guardian TextSans Web"/>
              </a:rPr>
              <a:t> Burga, “</a:t>
            </a:r>
            <a:r>
              <a:rPr lang="en-US" b="0" i="0" dirty="0">
                <a:solidFill>
                  <a:srgbClr val="333333"/>
                </a:solidFill>
                <a:effectLst/>
                <a:latin typeface="Guardian TextSans Web"/>
              </a:rPr>
              <a:t>How a 10-Year-Old Rape Victim Who Traveled for an Abortion Became Part of a Political Firestorm,” </a:t>
            </a:r>
            <a:r>
              <a:rPr lang="en-US" b="0" i="1" dirty="0">
                <a:solidFill>
                  <a:srgbClr val="333333"/>
                </a:solidFill>
                <a:effectLst/>
                <a:latin typeface="Guardian TextSans Web"/>
              </a:rPr>
              <a:t>Time Magazine</a:t>
            </a:r>
            <a:r>
              <a:rPr lang="en-US" b="0" i="0" dirty="0">
                <a:solidFill>
                  <a:srgbClr val="333333"/>
                </a:solidFill>
                <a:effectLst/>
                <a:latin typeface="Guardian TextSans Web"/>
              </a:rPr>
              <a:t> (July 15, 2022). https://time.com/6198062/rape-victim-10-abortion-indiana-ohio/</a:t>
            </a:r>
            <a:endParaRPr lang="en-SG" dirty="0"/>
          </a:p>
        </p:txBody>
      </p:sp>
      <p:sp>
        <p:nvSpPr>
          <p:cNvPr id="4" name="Slide Number Placeholder 3">
            <a:extLst>
              <a:ext uri="{FF2B5EF4-FFF2-40B4-BE49-F238E27FC236}">
                <a16:creationId xmlns:a16="http://schemas.microsoft.com/office/drawing/2014/main" id="{D443174D-740D-DD33-9DA1-569585A7C0CB}"/>
              </a:ext>
            </a:extLst>
          </p:cNvPr>
          <p:cNvSpPr>
            <a:spLocks noGrp="1"/>
          </p:cNvSpPr>
          <p:nvPr>
            <p:ph type="sldNum" sz="quarter" idx="5"/>
          </p:nvPr>
        </p:nvSpPr>
        <p:spPr/>
        <p:txBody>
          <a:bodyPr/>
          <a:lstStyle/>
          <a:p>
            <a:fld id="{53E1A0DB-35D7-4E49-89B6-F31AEF2A93A0}" type="slidenum">
              <a:rPr lang="en-SG" smtClean="0"/>
              <a:t>22</a:t>
            </a:fld>
            <a:endParaRPr lang="en-SG"/>
          </a:p>
        </p:txBody>
      </p:sp>
    </p:spTree>
    <p:extLst>
      <p:ext uri="{BB962C8B-B14F-4D97-AF65-F5344CB8AC3E}">
        <p14:creationId xmlns:p14="http://schemas.microsoft.com/office/powerpoint/2010/main" val="30146245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E6D67-9370-6952-DA20-EE308DD26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9CEF49-91FA-1D6D-E48F-2104F2DA4E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E0F541-0931-1717-79A1-98828895111C}"/>
              </a:ext>
            </a:extLst>
          </p:cNvPr>
          <p:cNvSpPr>
            <a:spLocks noGrp="1"/>
          </p:cNvSpPr>
          <p:nvPr>
            <p:ph type="body" idx="1"/>
          </p:nvPr>
        </p:nvSpPr>
        <p:spPr/>
        <p:txBody>
          <a:bodyPr/>
          <a:lstStyle/>
          <a:p>
            <a:r>
              <a:rPr lang="en-US" sz="1200" dirty="0"/>
              <a:t>In a later version of his essay not published in the Shafer-Landau textbook, Marquis lists rape as one of a few exceptional cases in which he thinks abortion would be morally permissible.</a:t>
            </a:r>
          </a:p>
          <a:p>
            <a:endParaRPr lang="en-US" sz="1200" dirty="0"/>
          </a:p>
          <a:p>
            <a:pPr lvl="0"/>
            <a:r>
              <a:rPr lang="en-US" sz="1200" b="0" dirty="0"/>
              <a:t>In that later version, Marquis writes:</a:t>
            </a:r>
          </a:p>
          <a:p>
            <a:pPr lvl="0"/>
            <a:endParaRPr lang="en-US" sz="1200" b="0" dirty="0"/>
          </a:p>
          <a:p>
            <a:pPr lvl="1"/>
            <a:r>
              <a:rPr lang="en-US" sz="1200" b="0" dirty="0"/>
              <a:t>“…abortion, </a:t>
            </a:r>
            <a:r>
              <a:rPr lang="en-US" sz="1200" b="1" dirty="0"/>
              <a:t>except perhaps in rare instances</a:t>
            </a:r>
            <a:r>
              <a:rPr lang="en-US" sz="1200" b="0" dirty="0"/>
              <a:t>, is seriously wrong…</a:t>
            </a:r>
            <a:r>
              <a:rPr lang="en-US" sz="1200" b="1" dirty="0"/>
              <a:t>Such cases include abortion after rape </a:t>
            </a:r>
            <a:r>
              <a:rPr lang="en-US" sz="1200" b="0" dirty="0"/>
              <a:t>and abortion during the first fourteen days after conception when there is an argument that the fetus is not definitely an individual…[And] when continuation of a pregnancy endangers a woman’s life and abortion when the fetus is anencephalic.” (Marquis, in LaFollette 2007: 137, emphasis added). </a:t>
            </a:r>
          </a:p>
          <a:p>
            <a:pPr lvl="1"/>
            <a:endParaRPr lang="en-US" sz="1200" b="0" dirty="0"/>
          </a:p>
          <a:p>
            <a:pPr lvl="0"/>
            <a:r>
              <a:rPr lang="en-US" sz="1200" b="0" dirty="0"/>
              <a:t>To avoid contradicting himself, Marquis would have to believe that the loss from </a:t>
            </a:r>
            <a:r>
              <a:rPr lang="en-US" sz="1200" b="0" i="1" dirty="0"/>
              <a:t>not</a:t>
            </a:r>
            <a:r>
              <a:rPr lang="en-US" sz="1200" b="0" i="0" dirty="0"/>
              <a:t> aborting a fetus conceived through rape can be at least as great as the loss of the fetus’s valuable future.</a:t>
            </a:r>
          </a:p>
          <a:p>
            <a:pPr lvl="0"/>
            <a:endParaRPr lang="en-SG" dirty="0"/>
          </a:p>
          <a:p>
            <a:pPr lvl="0"/>
            <a:r>
              <a:rPr lang="en-US" sz="1200" b="1" dirty="0"/>
              <a:t>Reference: </a:t>
            </a:r>
            <a:r>
              <a:rPr lang="en-US" sz="1200" dirty="0"/>
              <a:t>Don Marquis, “An Argument that Abortion is Wrong,” </a:t>
            </a:r>
            <a:r>
              <a:rPr lang="en-US" sz="1200" i="0" dirty="0"/>
              <a:t>in </a:t>
            </a:r>
            <a:r>
              <a:rPr lang="en-US" sz="1200" i="1" dirty="0"/>
              <a:t>Ethics in Practice</a:t>
            </a:r>
            <a:r>
              <a:rPr lang="en-US" sz="1200" i="0" dirty="0"/>
              <a:t>, Third Edition, edited by Hugh LaFollette (Blackwell, 2007).</a:t>
            </a:r>
          </a:p>
          <a:p>
            <a:endParaRPr lang="en-SG" dirty="0"/>
          </a:p>
        </p:txBody>
      </p:sp>
      <p:sp>
        <p:nvSpPr>
          <p:cNvPr id="4" name="Slide Number Placeholder 3">
            <a:extLst>
              <a:ext uri="{FF2B5EF4-FFF2-40B4-BE49-F238E27FC236}">
                <a16:creationId xmlns:a16="http://schemas.microsoft.com/office/drawing/2014/main" id="{1D4CF428-75C3-C6ED-6EBE-352093E2ECA4}"/>
              </a:ext>
            </a:extLst>
          </p:cNvPr>
          <p:cNvSpPr>
            <a:spLocks noGrp="1"/>
          </p:cNvSpPr>
          <p:nvPr>
            <p:ph type="sldNum" sz="quarter" idx="5"/>
          </p:nvPr>
        </p:nvSpPr>
        <p:spPr/>
        <p:txBody>
          <a:bodyPr/>
          <a:lstStyle/>
          <a:p>
            <a:fld id="{53E1A0DB-35D7-4E49-89B6-F31AEF2A93A0}" type="slidenum">
              <a:rPr lang="en-SG" smtClean="0"/>
              <a:t>23</a:t>
            </a:fld>
            <a:endParaRPr lang="en-SG"/>
          </a:p>
        </p:txBody>
      </p:sp>
    </p:spTree>
    <p:extLst>
      <p:ext uri="{BB962C8B-B14F-4D97-AF65-F5344CB8AC3E}">
        <p14:creationId xmlns:p14="http://schemas.microsoft.com/office/powerpoint/2010/main" val="8265346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611D6-9C80-BA97-9927-B0E3C5A4B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27361-DCC2-505D-39CB-67F1774F2B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9AC84-4772-3F71-8F06-4B3465B6AA2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SG" b="0" dirty="0"/>
              <a:t>Even if something is immoral, it doesn’t follow that it should be against the law. It is surely immoral to yell racial slurs at people in public, and it can at least sometimes be immoral to commit adultery. Yet yelling racial slurs is not illegal anywhere in the United States, and adultery is not illegal in most states, perhaps for good reason.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SG"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SG" b="1" dirty="0"/>
              <a:t>Reference: </a:t>
            </a:r>
            <a:r>
              <a:rPr lang="en-SG" b="0" dirty="0"/>
              <a:t>Pew Research Center, “Public Opinion on Abortion: Views on abortion, 1995-2024,” (June 12, 2025). https://www.pewresearch.org/religion/fact-sheet/public-opinion-on-abortion/</a:t>
            </a:r>
          </a:p>
          <a:p>
            <a:endParaRPr lang="en-SG" dirty="0"/>
          </a:p>
        </p:txBody>
      </p:sp>
      <p:sp>
        <p:nvSpPr>
          <p:cNvPr id="4" name="Slide Number Placeholder 3">
            <a:extLst>
              <a:ext uri="{FF2B5EF4-FFF2-40B4-BE49-F238E27FC236}">
                <a16:creationId xmlns:a16="http://schemas.microsoft.com/office/drawing/2014/main" id="{74585A01-13EE-B4DD-FF9D-AB0B79DBD8FE}"/>
              </a:ext>
            </a:extLst>
          </p:cNvPr>
          <p:cNvSpPr>
            <a:spLocks noGrp="1"/>
          </p:cNvSpPr>
          <p:nvPr>
            <p:ph type="sldNum" sz="quarter" idx="5"/>
          </p:nvPr>
        </p:nvSpPr>
        <p:spPr/>
        <p:txBody>
          <a:bodyPr/>
          <a:lstStyle/>
          <a:p>
            <a:fld id="{53E1A0DB-35D7-4E49-89B6-F31AEF2A93A0}" type="slidenum">
              <a:rPr lang="en-SG" smtClean="0"/>
              <a:t>24</a:t>
            </a:fld>
            <a:endParaRPr lang="en-SG"/>
          </a:p>
        </p:txBody>
      </p:sp>
    </p:spTree>
    <p:extLst>
      <p:ext uri="{BB962C8B-B14F-4D97-AF65-F5344CB8AC3E}">
        <p14:creationId xmlns:p14="http://schemas.microsoft.com/office/powerpoint/2010/main" val="3931061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1" y="3085765"/>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435894" y="1020431"/>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5" y="2495446"/>
            <a:ext cx="8245160" cy="590321"/>
          </a:xfrm>
        </p:spPr>
        <p:txBody>
          <a:bodyPr anchor="t">
            <a:normAutofit/>
          </a:bodyPr>
          <a:lstStyle>
            <a:lvl1pPr marL="0" indent="0" algn="l">
              <a:buNone/>
              <a:defRPr sz="1200" cap="all">
                <a:solidFill>
                  <a:schemeClr val="accent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BAC0139-315D-4030-AE6A-983EC4D519C8}" type="datetime1">
              <a:rPr lang="en-US" smtClean="0"/>
              <a:t>10/31/2025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4"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4"/>
            <a:ext cx="8272211"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08F549F-245F-4D43-9339-EF68CD65C9B6}" type="datetime1">
              <a:rPr lang="en-US" smtClean="0"/>
              <a:t>10/31/2025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5"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5"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7"/>
            <a:ext cx="8272211" cy="600556"/>
          </a:xfrm>
        </p:spPr>
        <p:txBody>
          <a:bodyPr anchor="t">
            <a:normAutofit/>
          </a:bodyPr>
          <a:lstStyle>
            <a:lvl1pPr marL="0" indent="0" algn="l">
              <a:buNone/>
              <a:defRPr sz="1350" cap="all">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EF8B28B2-FF8B-4BE1-AD77-AD89962038C7}" type="datetime1">
              <a:rPr lang="en-US" smtClean="0"/>
              <a:t>10/31/2025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r>
              <a:rPr lang="en-US"/>
              <a:t>Luco - PHIL 1020 - Fall 2025</a:t>
            </a:r>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8"/>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5" y="2228004"/>
            <a:ext cx="3896075"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D6A33C-6F22-4846-ACA6-DD0EC9D68C6D}" type="datetime1">
              <a:rPr lang="en-US" smtClean="0"/>
              <a:t>10/31/2025</a:t>
            </a:fld>
            <a:endParaRPr lang="en-US" dirty="0"/>
          </a:p>
        </p:txBody>
      </p:sp>
      <p:sp>
        <p:nvSpPr>
          <p:cNvPr id="6" name="Footer Placeholder 5"/>
          <p:cNvSpPr>
            <a:spLocks noGrp="1"/>
          </p:cNvSpPr>
          <p:nvPr>
            <p:ph type="ftr" sz="quarter" idx="11"/>
          </p:nvPr>
        </p:nvSpPr>
        <p:spPr/>
        <p:txBody>
          <a:bodyPr/>
          <a:lstStyle/>
          <a:p>
            <a:r>
              <a:rPr lang="en-US"/>
              <a:t>Luco - PHIL 1020 - Fall 2025</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8"/>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5" y="2926053"/>
            <a:ext cx="3896075"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3"/>
            <a:ext cx="3896078" cy="553373"/>
          </a:xfrm>
        </p:spPr>
        <p:txBody>
          <a:bodyPr anchor="ctr">
            <a:noAutofit/>
          </a:bodyPr>
          <a:lstStyle>
            <a:lvl1pPr marL="0" marR="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marR="0" lvl="0" indent="0" algn="l" defTabSz="342900"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8" y="2926053"/>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E26DC57-EB93-4CEE-B950-9B502EC39D2C}" type="datetime1">
              <a:rPr lang="en-US" smtClean="0"/>
              <a:t>10/31/2025</a:t>
            </a:fld>
            <a:endParaRPr lang="en-US" dirty="0"/>
          </a:p>
        </p:txBody>
      </p:sp>
      <p:sp>
        <p:nvSpPr>
          <p:cNvPr id="8" name="Footer Placeholder 7"/>
          <p:cNvSpPr>
            <a:spLocks noGrp="1"/>
          </p:cNvSpPr>
          <p:nvPr>
            <p:ph type="ftr" sz="quarter" idx="11"/>
          </p:nvPr>
        </p:nvSpPr>
        <p:spPr/>
        <p:txBody>
          <a:bodyPr/>
          <a:lstStyle/>
          <a:p>
            <a:r>
              <a:rPr lang="en-US"/>
              <a:t>Luco - PHIL 1020 - Fall 2025</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8"/>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15184C-CF27-4041-A523-8170EE287FA3}" type="datetime1">
              <a:rPr lang="en-US" smtClean="0"/>
              <a:t>10/31/2025</a:t>
            </a:fld>
            <a:endParaRPr lang="en-US" dirty="0"/>
          </a:p>
        </p:txBody>
      </p:sp>
      <p:sp>
        <p:nvSpPr>
          <p:cNvPr id="4" name="Footer Placeholder 3"/>
          <p:cNvSpPr>
            <a:spLocks noGrp="1"/>
          </p:cNvSpPr>
          <p:nvPr>
            <p:ph type="ftr" sz="quarter" idx="11"/>
          </p:nvPr>
        </p:nvSpPr>
        <p:spPr/>
        <p:txBody>
          <a:bodyPr/>
          <a:lstStyle/>
          <a:p>
            <a:r>
              <a:rPr lang="en-US"/>
              <a:t>Luco - PHIL 1020 - Fall 2025</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3738F9C-7F85-4EB4-9E78-CA20DBE41620}" type="datetime1">
              <a:rPr lang="en-US" smtClean="0"/>
              <a:t>10/31/2025</a:t>
            </a:fld>
            <a:endParaRPr lang="en-US" dirty="0"/>
          </a:p>
        </p:txBody>
      </p:sp>
      <p:sp>
        <p:nvSpPr>
          <p:cNvPr id="3" name="Footer Placeholder 2"/>
          <p:cNvSpPr>
            <a:spLocks noGrp="1"/>
          </p:cNvSpPr>
          <p:nvPr>
            <p:ph type="ftr" sz="quarter" idx="11"/>
          </p:nvPr>
        </p:nvSpPr>
        <p:spPr/>
        <p:txBody>
          <a:bodyPr/>
          <a:lstStyle/>
          <a:p>
            <a:r>
              <a:rPr lang="en-US"/>
              <a:t>Luco - PHIL 1020 - Fall 2025</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4"/>
            <a:ext cx="2273889" cy="3001392"/>
          </a:xfrm>
        </p:spPr>
        <p:txBody>
          <a:bodyPr anchor="t">
            <a:normAutofit/>
          </a:bodyPr>
          <a:lstStyle>
            <a:lvl1pPr marL="0" indent="0" algn="l">
              <a:buNone/>
              <a:defRPr sz="1200">
                <a:solidFill>
                  <a:srgbClr val="FFFFFF"/>
                </a:solidFill>
              </a:defRPr>
            </a:lvl1pPr>
            <a:lvl2pPr marL="342900" indent="0">
              <a:buNone/>
              <a:defRPr sz="825"/>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7"/>
            <a:ext cx="2133599" cy="365125"/>
          </a:xfrm>
        </p:spPr>
        <p:txBody>
          <a:bodyPr/>
          <a:lstStyle/>
          <a:p>
            <a:fld id="{D819915F-3310-4CA2-B9D5-FF44E7FA2812}" type="datetime1">
              <a:rPr lang="en-US" smtClean="0"/>
              <a:t>10/31/2025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r>
              <a:rPr lang="en-US"/>
              <a:t>Luco - PHIL 1020 - Fall 2025</a:t>
            </a:r>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5" y="6456917"/>
            <a:ext cx="789383"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8"/>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3" y="641351"/>
            <a:ext cx="8468144" cy="365124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4" y="5260127"/>
            <a:ext cx="8272213" cy="998148"/>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A27395C3-C525-4A7C-BA10-78E460C6EF98}" type="datetime1">
              <a:rPr lang="en-US" smtClean="0"/>
              <a:t>10/31/2025</a:t>
            </a:fld>
            <a:endParaRPr lang="en-US" dirty="0"/>
          </a:p>
        </p:txBody>
      </p:sp>
      <p:sp>
        <p:nvSpPr>
          <p:cNvPr id="6" name="Footer Placeholder 5"/>
          <p:cNvSpPr>
            <a:spLocks noGrp="1"/>
          </p:cNvSpPr>
          <p:nvPr>
            <p:ph type="ftr" sz="quarter" idx="11"/>
          </p:nvPr>
        </p:nvSpPr>
        <p:spPr/>
        <p:txBody>
          <a:bodyPr/>
          <a:lstStyle/>
          <a:p>
            <a:pPr algn="l"/>
            <a:r>
              <a:rPr lang="en-US"/>
              <a:t>Luco - PHIL 1020 - Fall 2025</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4"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B14C9D-3E47-4721-B0F1-0D412C11C4F5}" type="datetime1">
              <a:rPr lang="en-US" smtClean="0"/>
              <a:t>10/31/2025</a:t>
            </a:fld>
            <a:endParaRPr lang="en-US" dirty="0"/>
          </a:p>
        </p:txBody>
      </p:sp>
      <p:sp>
        <p:nvSpPr>
          <p:cNvPr id="5" name="Footer Placeholder 4"/>
          <p:cNvSpPr>
            <a:spLocks noGrp="1"/>
          </p:cNvSpPr>
          <p:nvPr>
            <p:ph type="ftr" sz="quarter" idx="11"/>
          </p:nvPr>
        </p:nvSpPr>
        <p:spPr/>
        <p:txBody>
          <a:bodyPr/>
          <a:lstStyle/>
          <a:p>
            <a:r>
              <a:rPr lang="en-US"/>
              <a:t>Luco - PHIL 1020 - Fall 2025</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5"/>
            <a:ext cx="2765487"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0" y="863600"/>
            <a:ext cx="234315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0"/>
            <a:ext cx="5371219"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0" y="453643"/>
            <a:ext cx="277749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35FA2436-E301-4828-B67A-33BEEE41D05F}" type="datetime1">
              <a:rPr lang="en-US" smtClean="0"/>
              <a:t>10/31/2025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r>
              <a:rPr lang="en-US"/>
              <a:t>Luco - PHIL 1020 - Fall 2025</a:t>
            </a:r>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4" y="705124"/>
            <a:ext cx="8272212"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4"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ADA853D0-A388-48A3-BB0E-42CAA7C24424}" type="datetime1">
              <a:rPr lang="en-US" smtClean="0"/>
              <a:t>10/31/2025</a:t>
            </a:fld>
            <a:endParaRPr lang="en-US" dirty="0"/>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5" cap="all">
                <a:solidFill>
                  <a:schemeClr val="tx1">
                    <a:lumMod val="75000"/>
                    <a:lumOff val="25000"/>
                  </a:schemeClr>
                </a:solidFill>
              </a:defRPr>
            </a:lvl1pPr>
          </a:lstStyle>
          <a:p>
            <a:r>
              <a:rPr lang="en-US"/>
              <a:t>Luco - PHIL 1020 - Fall 2025</a:t>
            </a:r>
            <a:endParaRPr lang="en-US" dirty="0"/>
          </a:p>
        </p:txBody>
      </p:sp>
      <p:sp>
        <p:nvSpPr>
          <p:cNvPr id="6" name="Slide Number Placeholder 5"/>
          <p:cNvSpPr>
            <a:spLocks noGrp="1"/>
          </p:cNvSpPr>
          <p:nvPr>
            <p:ph type="sldNum" sz="quarter" idx="4"/>
          </p:nvPr>
        </p:nvSpPr>
        <p:spPr>
          <a:xfrm>
            <a:off x="7918725" y="6423915"/>
            <a:ext cx="789383" cy="365125"/>
          </a:xfrm>
          <a:prstGeom prst="rect">
            <a:avLst/>
          </a:prstGeom>
        </p:spPr>
        <p:txBody>
          <a:bodyPr vert="horz" lIns="91440" tIns="45720" rIns="91440" bIns="45720" rtlCol="0" anchor="ctr"/>
          <a:lstStyle>
            <a:lvl1pPr algn="r">
              <a:defRPr sz="675">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hdr="0" dt="0"/>
  <p:txStyles>
    <p:titleStyle>
      <a:lvl1pPr algn="l" defTabSz="342900"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500" indent="-229500" algn="l" defTabSz="342900" rtl="0" eaLnBrk="1" latinLnBrk="0" hangingPunct="1">
        <a:lnSpc>
          <a:spcPct val="110000"/>
        </a:lnSpc>
        <a:spcBef>
          <a:spcPct val="20000"/>
        </a:spcBef>
        <a:spcAft>
          <a:spcPts val="450"/>
        </a:spcAft>
        <a:buClr>
          <a:schemeClr val="accent1"/>
        </a:buClr>
        <a:buSzPct val="92000"/>
        <a:buFont typeface="Wingdings 2" panose="05020102010507070707" pitchFamily="18" charset="2"/>
        <a:buChar char=""/>
        <a:defRPr sz="1275" kern="1200">
          <a:solidFill>
            <a:schemeClr val="tx1">
              <a:lumMod val="75000"/>
              <a:lumOff val="25000"/>
            </a:schemeClr>
          </a:solidFill>
          <a:latin typeface="+mn-lt"/>
          <a:ea typeface="+mn-ea"/>
          <a:cs typeface="+mn-cs"/>
        </a:defRPr>
      </a:lvl1pPr>
      <a:lvl2pPr marL="472500" indent="-229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2pPr>
      <a:lvl3pPr marL="675000" indent="-202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975" kern="1200">
          <a:solidFill>
            <a:schemeClr val="tx1">
              <a:lumMod val="75000"/>
              <a:lumOff val="25000"/>
            </a:schemeClr>
          </a:solidFill>
          <a:latin typeface="+mn-lt"/>
          <a:ea typeface="+mn-ea"/>
          <a:cs typeface="+mn-cs"/>
        </a:defRPr>
      </a:lvl3pPr>
      <a:lvl4pPr marL="93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4pPr>
      <a:lvl5pPr marL="1201500" indent="-175500" algn="l" defTabSz="342900" rtl="0" eaLnBrk="1" latinLnBrk="0" hangingPunct="1">
        <a:spcBef>
          <a:spcPct val="20000"/>
        </a:spcBef>
        <a:spcAft>
          <a:spcPts val="450"/>
        </a:spcAft>
        <a:buClr>
          <a:schemeClr val="accent1"/>
        </a:buClr>
        <a:buSzPct val="92000"/>
        <a:buFont typeface="Wingdings 2" panose="05020102010507070707" pitchFamily="18" charset="2"/>
        <a:buChar char=""/>
        <a:defRPr sz="825" kern="1200">
          <a:solidFill>
            <a:schemeClr val="tx1">
              <a:lumMod val="75000"/>
              <a:lumOff val="25000"/>
            </a:schemeClr>
          </a:solidFill>
          <a:latin typeface="+mn-lt"/>
          <a:ea typeface="+mn-ea"/>
          <a:cs typeface="+mn-cs"/>
        </a:defRPr>
      </a:lvl5pPr>
      <a:lvl6pPr marL="142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5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5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100000" indent="-171450" algn="l" defTabSz="342900"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2B_63EA0AD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hsobgyn.com/copper-vs-hormonal-iud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my.clevelandclinic.org/health/treatments/3977-birth-control-the-pill"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news.gallup.com/poll/393515/americans-say-birth-control-divorce-morally-acceptable.aspx"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hsobgyn.com/copper-vs-hormonal-iuds/"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my.clevelandclinic.org/health/treatments/3977-birth-control-the-pill"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states.guttmacher.org/policies/alabama/abortion-policies"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www.nbcnews.com/health/health-news/abortion-ban-exceptions-life-threatening-pregnancy-rcna36026" TargetMode="External"/><Relationship Id="rId4" Type="http://schemas.openxmlformats.org/officeDocument/2006/relationships/hyperlink" Target="https://www.kff.org/womens-health-policy/issue-brief/a-review-of-exceptions-in-state-abortions-bans-implications-for-the-provision-of-abortion-services/"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propublica.org/article/josseli-barnica-death-miscarriage-texas-abortion-ban" TargetMode="External"/><Relationship Id="rId7" Type="http://schemas.openxmlformats.org/officeDocument/2006/relationships/hyperlink" Target="https://thegepi.org/maternal-mortality-abortion-ban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pmc.ncbi.nlm.nih.gov/articles/PMC12352390/" TargetMode="External"/><Relationship Id="rId5" Type="http://schemas.openxmlformats.org/officeDocument/2006/relationships/hyperlink" Target="https://www.youtube.com/watch?v=eJOUm2kwHz4" TargetMode="External"/><Relationship Id="rId4" Type="http://schemas.openxmlformats.org/officeDocument/2006/relationships/hyperlink" Target="https://www.youtube.com/watch?v=g2Lv_gdF_zo"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www.nejm.org/doi/full/10.1056/NEJMp2206246#.Yn2CbLw4QWE"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law.justia.com/codes/alabama/title-26/chapter-23b/section-26-23b-5/"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scientificamerican.com/article/64-000-pregnancies-caused-by-rape-have-occurred-in-states-with-a-total-abortion-ban-new-study-estimates/"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hyperlink" Target="https://time.com/6198062/rape-victim-10-abortion-indiana-ohio/" TargetMode="External"/><Relationship Id="rId4" Type="http://schemas.openxmlformats.org/officeDocument/2006/relationships/hyperlink" Target="https://jamanetwork.com/journals/jamainternalmedicine/article-abstract/2814274?resultClick=1"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pewresearch.org/religion/fact-sheet/public-opinion-on-abortion/"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5725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435904" y="1294774"/>
            <a:ext cx="8245162" cy="1106260"/>
          </a:xfrm>
        </p:spPr>
        <p:txBody>
          <a:bodyPr>
            <a:normAutofit/>
          </a:bodyPr>
          <a:lstStyle/>
          <a:p>
            <a:pPr algn="ctr"/>
            <a:r>
              <a:rPr lang="en-US" sz="3200" dirty="0"/>
              <a:t>Week 10 (10/24): abortion</a:t>
            </a:r>
            <a:br>
              <a:rPr lang="en-US" dirty="0"/>
            </a:br>
            <a:endParaRPr lang="en-US" dirty="0"/>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1" y="1200150"/>
            <a:ext cx="2777490"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3" y="1200150"/>
            <a:ext cx="2777490"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1197482"/>
            <a:ext cx="2777490"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SG"/>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336550" y="3168650"/>
            <a:ext cx="8445500" cy="2482850"/>
          </a:xfrm>
          <a:prstGeom prst="rect">
            <a:avLst/>
          </a:prstGeom>
        </p:spPr>
      </p:pic>
      <p:sp>
        <p:nvSpPr>
          <p:cNvPr id="7" name="Footer Placeholder 6">
            <a:extLst>
              <a:ext uri="{FF2B5EF4-FFF2-40B4-BE49-F238E27FC236}">
                <a16:creationId xmlns:a16="http://schemas.microsoft.com/office/drawing/2014/main" id="{322F5B55-25C6-FAB1-DCA8-C75EE3E9C3AE}"/>
              </a:ext>
            </a:extLst>
          </p:cNvPr>
          <p:cNvSpPr>
            <a:spLocks noGrp="1"/>
          </p:cNvSpPr>
          <p:nvPr>
            <p:ph type="ftr" sz="quarter" idx="11"/>
          </p:nvPr>
        </p:nvSpPr>
        <p:spPr/>
        <p:txBody>
          <a:bodyPr/>
          <a:lstStyle/>
          <a:p>
            <a:r>
              <a:rPr lang="en-US" sz="1200"/>
              <a:t>Luco - PHIL 1020 - Fall 2025</a:t>
            </a:r>
            <a:endParaRPr lang="en-US" sz="1200" dirty="0"/>
          </a:p>
        </p:txBody>
      </p:sp>
      <p:sp>
        <p:nvSpPr>
          <p:cNvPr id="8" name="Slide Number Placeholder 7">
            <a:extLst>
              <a:ext uri="{FF2B5EF4-FFF2-40B4-BE49-F238E27FC236}">
                <a16:creationId xmlns:a16="http://schemas.microsoft.com/office/drawing/2014/main" id="{4907EF3F-05D7-5692-6A97-28B05EA4CB57}"/>
              </a:ext>
            </a:extLst>
          </p:cNvPr>
          <p:cNvSpPr>
            <a:spLocks noGrp="1"/>
          </p:cNvSpPr>
          <p:nvPr>
            <p:ph type="sldNum" sz="quarter" idx="12"/>
          </p:nvPr>
        </p:nvSpPr>
        <p:spPr/>
        <p:txBody>
          <a:bodyPr/>
          <a:lstStyle/>
          <a:p>
            <a:fld id="{3A98EE3D-8CD1-4C3F-BD1C-C98C9596463C}" type="slidenum">
              <a:rPr lang="en-US" sz="1200" smtClean="0"/>
              <a:t>1</a:t>
            </a:fld>
            <a:endParaRPr lang="en-US" sz="1200" dirty="0"/>
          </a:p>
        </p:txBody>
      </p:sp>
      <p:pic>
        <p:nvPicPr>
          <p:cNvPr id="1026" name="Picture 2" descr="Pregnant Silhouette Vector Art, Icons, and Graphics for Free Download">
            <a:extLst>
              <a:ext uri="{FF2B5EF4-FFF2-40B4-BE49-F238E27FC236}">
                <a16:creationId xmlns:a16="http://schemas.microsoft.com/office/drawing/2014/main" id="{D72E05B6-4330-DDA7-1713-15B011346E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9978" r="20489"/>
          <a:stretch/>
        </p:blipFill>
        <p:spPr bwMode="auto">
          <a:xfrm>
            <a:off x="560713" y="1273833"/>
            <a:ext cx="1368485" cy="183896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4">
            <a:extLst>
              <a:ext uri="{FF2B5EF4-FFF2-40B4-BE49-F238E27FC236}">
                <a16:creationId xmlns:a16="http://schemas.microsoft.com/office/drawing/2014/main" id="{AE7198F4-03FA-746C-BC6E-F7699885CC48}"/>
              </a:ext>
            </a:extLst>
          </p:cNvPr>
          <p:cNvSpPr>
            <a:spLocks noGrp="1"/>
          </p:cNvSpPr>
          <p:nvPr/>
        </p:nvSpPr>
        <p:spPr>
          <a:xfrm>
            <a:off x="348937" y="2048617"/>
            <a:ext cx="8245160" cy="590321"/>
          </a:xfrm>
          <a:prstGeom prst="rect">
            <a:avLst/>
          </a:prstGeom>
        </p:spPr>
        <p:txBody>
          <a:bodyPr vert="horz" lIns="91440" tIns="45720" rIns="91440" bIns="45720" rtlCol="0" anchor="t">
            <a:noAutofit/>
          </a:bodyPr>
          <a:lstStyle>
            <a:lvl1pPr marL="0" indent="0" algn="l" defTabSz="342900" rtl="0" eaLnBrk="1" latinLnBrk="0" hangingPunct="1">
              <a:lnSpc>
                <a:spcPct val="110000"/>
              </a:lnSpc>
              <a:spcBef>
                <a:spcPct val="20000"/>
              </a:spcBef>
              <a:spcAft>
                <a:spcPts val="450"/>
              </a:spcAft>
              <a:buClr>
                <a:schemeClr val="accent1"/>
              </a:buClr>
              <a:buSzPct val="92000"/>
              <a:buFont typeface="Wingdings 2" panose="05020102010507070707" pitchFamily="18" charset="2"/>
              <a:buNone/>
              <a:defRPr sz="1200" kern="1200" cap="all">
                <a:solidFill>
                  <a:schemeClr val="accent1"/>
                </a:solidFill>
                <a:latin typeface="+mn-lt"/>
                <a:ea typeface="+mn-ea"/>
                <a:cs typeface="+mn-cs"/>
              </a:defRPr>
            </a:lvl1pPr>
            <a:lvl2pPr marL="342900" indent="0" algn="ctr" defTabSz="342900" rtl="0" eaLnBrk="1" latinLnBrk="0" hangingPunct="1">
              <a:spcBef>
                <a:spcPct val="20000"/>
              </a:spcBef>
              <a:spcAft>
                <a:spcPts val="450"/>
              </a:spcAft>
              <a:buClr>
                <a:schemeClr val="accent1"/>
              </a:buClr>
              <a:buSzPct val="92000"/>
              <a:buFont typeface="Wingdings 2" panose="05020102010507070707" pitchFamily="18" charset="2"/>
              <a:buNone/>
              <a:defRPr sz="1050" kern="1200">
                <a:solidFill>
                  <a:schemeClr val="tx1">
                    <a:tint val="75000"/>
                  </a:schemeClr>
                </a:solidFill>
                <a:latin typeface="+mn-lt"/>
                <a:ea typeface="+mn-ea"/>
                <a:cs typeface="+mn-cs"/>
              </a:defRPr>
            </a:lvl2pPr>
            <a:lvl3pPr marL="685800" indent="0" algn="ctr" defTabSz="342900" rtl="0" eaLnBrk="1" latinLnBrk="0" hangingPunct="1">
              <a:spcBef>
                <a:spcPct val="20000"/>
              </a:spcBef>
              <a:spcAft>
                <a:spcPts val="450"/>
              </a:spcAft>
              <a:buClr>
                <a:schemeClr val="accent1"/>
              </a:buClr>
              <a:buSzPct val="92000"/>
              <a:buFont typeface="Wingdings 2" panose="05020102010507070707" pitchFamily="18" charset="2"/>
              <a:buNone/>
              <a:defRPr sz="975" kern="1200">
                <a:solidFill>
                  <a:schemeClr val="tx1">
                    <a:tint val="75000"/>
                  </a:schemeClr>
                </a:solidFill>
                <a:latin typeface="+mn-lt"/>
                <a:ea typeface="+mn-ea"/>
                <a:cs typeface="+mn-cs"/>
              </a:defRPr>
            </a:lvl3pPr>
            <a:lvl4pPr marL="1028700" indent="0" algn="ctr" defTabSz="342900" rtl="0" eaLnBrk="1" latinLnBrk="0" hangingPunct="1">
              <a:spcBef>
                <a:spcPct val="20000"/>
              </a:spcBef>
              <a:spcAft>
                <a:spcPts val="450"/>
              </a:spcAft>
              <a:buClr>
                <a:schemeClr val="accent1"/>
              </a:buClr>
              <a:buSzPct val="92000"/>
              <a:buFont typeface="Wingdings 2" panose="05020102010507070707" pitchFamily="18" charset="2"/>
              <a:buNone/>
              <a:defRPr sz="825" kern="1200">
                <a:solidFill>
                  <a:schemeClr val="tx1">
                    <a:tint val="75000"/>
                  </a:schemeClr>
                </a:solidFill>
                <a:latin typeface="+mn-lt"/>
                <a:ea typeface="+mn-ea"/>
                <a:cs typeface="+mn-cs"/>
              </a:defRPr>
            </a:lvl4pPr>
            <a:lvl5pPr marL="1371600" indent="0" algn="ctr" defTabSz="342900" rtl="0" eaLnBrk="1" latinLnBrk="0" hangingPunct="1">
              <a:spcBef>
                <a:spcPct val="20000"/>
              </a:spcBef>
              <a:spcAft>
                <a:spcPts val="450"/>
              </a:spcAft>
              <a:buClr>
                <a:schemeClr val="accent1"/>
              </a:buClr>
              <a:buSzPct val="92000"/>
              <a:buFont typeface="Wingdings 2" panose="05020102010507070707" pitchFamily="18" charset="2"/>
              <a:buNone/>
              <a:defRPr sz="825" kern="1200">
                <a:solidFill>
                  <a:schemeClr val="tx1">
                    <a:tint val="75000"/>
                  </a:schemeClr>
                </a:solidFill>
                <a:latin typeface="+mn-lt"/>
                <a:ea typeface="+mn-ea"/>
                <a:cs typeface="+mn-cs"/>
              </a:defRPr>
            </a:lvl5pPr>
            <a:lvl6pPr marL="1714500" indent="0" algn="ctr" defTabSz="342900" rtl="0" eaLnBrk="1" latinLnBrk="0" hangingPunct="1">
              <a:spcBef>
                <a:spcPct val="20000"/>
              </a:spcBef>
              <a:spcAft>
                <a:spcPts val="450"/>
              </a:spcAft>
              <a:buClr>
                <a:schemeClr val="accent2"/>
              </a:buClr>
              <a:buSzPct val="92000"/>
              <a:buFont typeface="Wingdings 2" panose="05020102010507070707" pitchFamily="18" charset="2"/>
              <a:buNone/>
              <a:defRPr sz="900" kern="1200">
                <a:solidFill>
                  <a:schemeClr val="tx1">
                    <a:tint val="75000"/>
                  </a:schemeClr>
                </a:solidFill>
                <a:latin typeface="+mn-lt"/>
                <a:ea typeface="+mn-ea"/>
                <a:cs typeface="+mn-cs"/>
              </a:defRPr>
            </a:lvl6pPr>
            <a:lvl7pPr marL="2057400" indent="0" algn="ctr" defTabSz="342900" rtl="0" eaLnBrk="1" latinLnBrk="0" hangingPunct="1">
              <a:spcBef>
                <a:spcPct val="20000"/>
              </a:spcBef>
              <a:spcAft>
                <a:spcPts val="450"/>
              </a:spcAft>
              <a:buClr>
                <a:schemeClr val="accent2"/>
              </a:buClr>
              <a:buSzPct val="92000"/>
              <a:buFont typeface="Wingdings 2" panose="05020102010507070707" pitchFamily="18" charset="2"/>
              <a:buNone/>
              <a:defRPr sz="900" kern="1200">
                <a:solidFill>
                  <a:schemeClr val="tx1">
                    <a:tint val="75000"/>
                  </a:schemeClr>
                </a:solidFill>
                <a:latin typeface="+mn-lt"/>
                <a:ea typeface="+mn-ea"/>
                <a:cs typeface="+mn-cs"/>
              </a:defRPr>
            </a:lvl7pPr>
            <a:lvl8pPr marL="2400300" indent="0" algn="ctr" defTabSz="342900" rtl="0" eaLnBrk="1" latinLnBrk="0" hangingPunct="1">
              <a:spcBef>
                <a:spcPct val="20000"/>
              </a:spcBef>
              <a:spcAft>
                <a:spcPts val="450"/>
              </a:spcAft>
              <a:buClr>
                <a:schemeClr val="accent2"/>
              </a:buClr>
              <a:buSzPct val="92000"/>
              <a:buFont typeface="Wingdings 2" panose="05020102010507070707" pitchFamily="18" charset="2"/>
              <a:buNone/>
              <a:defRPr sz="900" kern="1200">
                <a:solidFill>
                  <a:schemeClr val="tx1">
                    <a:tint val="75000"/>
                  </a:schemeClr>
                </a:solidFill>
                <a:latin typeface="+mn-lt"/>
                <a:ea typeface="+mn-ea"/>
                <a:cs typeface="+mn-cs"/>
              </a:defRPr>
            </a:lvl8pPr>
            <a:lvl9pPr marL="2743200" indent="0" algn="ctr" defTabSz="342900" rtl="0" eaLnBrk="1" latinLnBrk="0" hangingPunct="1">
              <a:spcBef>
                <a:spcPct val="20000"/>
              </a:spcBef>
              <a:spcAft>
                <a:spcPts val="450"/>
              </a:spcAft>
              <a:buClr>
                <a:schemeClr val="accent2"/>
              </a:buClr>
              <a:buSzPct val="92000"/>
              <a:buFont typeface="Wingdings 2" panose="05020102010507070707" pitchFamily="18" charset="2"/>
              <a:buNone/>
              <a:defRPr sz="900" kern="1200">
                <a:solidFill>
                  <a:schemeClr val="tx1">
                    <a:tint val="75000"/>
                  </a:schemeClr>
                </a:solidFill>
                <a:latin typeface="+mn-lt"/>
                <a:ea typeface="+mn-ea"/>
                <a:cs typeface="+mn-cs"/>
              </a:defRPr>
            </a:lvl9pPr>
          </a:lstStyle>
          <a:p>
            <a:pPr algn="ctr"/>
            <a:r>
              <a:rPr lang="en-US" sz="2000" dirty="0" err="1"/>
              <a:t>phil</a:t>
            </a:r>
            <a:r>
              <a:rPr lang="en-US" sz="2000" dirty="0"/>
              <a:t> 1020 | Introduction to ethics</a:t>
            </a:r>
            <a:br>
              <a:rPr lang="en-US" sz="2000" dirty="0"/>
            </a:br>
            <a:r>
              <a:rPr lang="en-US" sz="2000" dirty="0"/>
              <a:t>sections 001, 004, 005 &amp; 006</a:t>
            </a:r>
            <a:br>
              <a:rPr lang="en-US" sz="2000" dirty="0"/>
            </a:br>
            <a:r>
              <a:rPr lang="en-SG" sz="2000" dirty="0"/>
              <a:t>fall 2025</a:t>
            </a:r>
          </a:p>
        </p:txBody>
      </p:sp>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A08C8-E3B6-ED0C-440F-ED1AA55D5023}"/>
              </a:ext>
            </a:extLst>
          </p:cNvPr>
          <p:cNvSpPr>
            <a:spLocks noGrp="1"/>
          </p:cNvSpPr>
          <p:nvPr>
            <p:ph type="title"/>
          </p:nvPr>
        </p:nvSpPr>
        <p:spPr>
          <a:xfrm>
            <a:off x="453146" y="628782"/>
            <a:ext cx="8272212" cy="721203"/>
          </a:xfrm>
        </p:spPr>
        <p:txBody>
          <a:bodyPr anchor="ctr">
            <a:normAutofit/>
          </a:bodyPr>
          <a:lstStyle/>
          <a:p>
            <a:pPr algn="ctr"/>
            <a:r>
              <a:rPr lang="en-SG" sz="4000" dirty="0"/>
              <a:t>Objectives for today</a:t>
            </a:r>
          </a:p>
        </p:txBody>
      </p:sp>
      <p:sp>
        <p:nvSpPr>
          <p:cNvPr id="3" name="Content Placeholder 2">
            <a:extLst>
              <a:ext uri="{FF2B5EF4-FFF2-40B4-BE49-F238E27FC236}">
                <a16:creationId xmlns:a16="http://schemas.microsoft.com/office/drawing/2014/main" id="{3649AAD8-68EE-660C-05AE-B560074BC0D4}"/>
              </a:ext>
            </a:extLst>
          </p:cNvPr>
          <p:cNvSpPr>
            <a:spLocks noGrp="1"/>
          </p:cNvSpPr>
          <p:nvPr>
            <p:ph idx="1"/>
          </p:nvPr>
        </p:nvSpPr>
        <p:spPr>
          <a:xfrm>
            <a:off x="435895" y="1579959"/>
            <a:ext cx="8272211" cy="4761781"/>
          </a:xfrm>
        </p:spPr>
        <p:txBody>
          <a:bodyPr anchor="t">
            <a:noAutofit/>
          </a:bodyPr>
          <a:lstStyle/>
          <a:p>
            <a:pPr marL="457200" indent="-457200">
              <a:buFont typeface="+mj-lt"/>
              <a:buAutoNum type="arabicParenR"/>
            </a:pPr>
            <a:r>
              <a:rPr lang="en-SG" sz="2300" dirty="0">
                <a:solidFill>
                  <a:schemeClr val="tx1"/>
                </a:solidFill>
              </a:rPr>
              <a:t>Evaluate Don Marquis’s argument, in “Why Abortion is Immoral,” that abortion is presumptively immoral because it denies a “future of value” to an unborn </a:t>
            </a:r>
            <a:r>
              <a:rPr lang="en-SG" sz="2300" dirty="0" err="1">
                <a:solidFill>
                  <a:schemeClr val="tx1"/>
                </a:solidFill>
              </a:rPr>
              <a:t>fetus</a:t>
            </a:r>
            <a:r>
              <a:rPr lang="en-SG" sz="2300" dirty="0">
                <a:solidFill>
                  <a:schemeClr val="tx1"/>
                </a:solidFill>
              </a:rPr>
              <a:t>.</a:t>
            </a:r>
          </a:p>
          <a:p>
            <a:pPr marL="457200" indent="-457200">
              <a:buFont typeface="+mj-lt"/>
              <a:buAutoNum type="arabicParenR"/>
            </a:pPr>
            <a:endParaRPr lang="en-SG" sz="2300" dirty="0">
              <a:solidFill>
                <a:schemeClr val="tx1"/>
              </a:solidFill>
            </a:endParaRPr>
          </a:p>
          <a:p>
            <a:pPr marL="457200" indent="-457200">
              <a:buFont typeface="+mj-lt"/>
              <a:buAutoNum type="arabicParenR"/>
            </a:pPr>
            <a:r>
              <a:rPr lang="en-SG" sz="2300" dirty="0">
                <a:solidFill>
                  <a:schemeClr val="tx1"/>
                </a:solidFill>
              </a:rPr>
              <a:t>Discuss whether—and if so, when—it’s immoral to use contraception, to have medically necessary abortions, and to have abortions when a pregnancy results from rape.</a:t>
            </a:r>
          </a:p>
          <a:p>
            <a:pPr marL="457200" indent="-457200">
              <a:buFont typeface="+mj-lt"/>
              <a:buAutoNum type="arabicParenR"/>
            </a:pPr>
            <a:endParaRPr lang="en-SG" sz="2300" dirty="0">
              <a:solidFill>
                <a:schemeClr val="tx1"/>
              </a:solidFill>
            </a:endParaRPr>
          </a:p>
          <a:p>
            <a:pPr marL="457200" indent="-457200">
              <a:buFont typeface="+mj-lt"/>
              <a:buAutoNum type="arabicParenR"/>
            </a:pPr>
            <a:r>
              <a:rPr lang="en-SG" sz="2300" dirty="0">
                <a:solidFill>
                  <a:schemeClr val="tx1"/>
                </a:solidFill>
              </a:rPr>
              <a:t>Discuss whether abortion should be </a:t>
            </a:r>
            <a:r>
              <a:rPr lang="en-SG" sz="2300" i="1" dirty="0">
                <a:solidFill>
                  <a:schemeClr val="tx1"/>
                </a:solidFill>
              </a:rPr>
              <a:t>legal or illegal</a:t>
            </a:r>
            <a:r>
              <a:rPr lang="en-SG" sz="2300" dirty="0">
                <a:solidFill>
                  <a:schemeClr val="tx1"/>
                </a:solidFill>
              </a:rPr>
              <a:t>. This is a different question than whether abortion is </a:t>
            </a:r>
            <a:r>
              <a:rPr lang="en-SG" sz="2300" i="1" dirty="0">
                <a:solidFill>
                  <a:schemeClr val="tx1"/>
                </a:solidFill>
              </a:rPr>
              <a:t>moral or immoral</a:t>
            </a:r>
            <a:r>
              <a:rPr lang="en-SG" sz="2300" dirty="0">
                <a:solidFill>
                  <a:schemeClr val="tx1"/>
                </a:solidFill>
              </a:rPr>
              <a:t>.  </a:t>
            </a:r>
          </a:p>
        </p:txBody>
      </p:sp>
      <p:sp>
        <p:nvSpPr>
          <p:cNvPr id="4" name="Footer Placeholder 3">
            <a:extLst>
              <a:ext uri="{FF2B5EF4-FFF2-40B4-BE49-F238E27FC236}">
                <a16:creationId xmlns:a16="http://schemas.microsoft.com/office/drawing/2014/main" id="{32AB3670-DB4A-A41D-3ECE-A138AAFBF29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0AD061F-B2A1-65C5-7EAC-093FC438AFA1}"/>
              </a:ext>
            </a:extLst>
          </p:cNvPr>
          <p:cNvSpPr>
            <a:spLocks noGrp="1"/>
          </p:cNvSpPr>
          <p:nvPr>
            <p:ph type="sldNum" sz="quarter" idx="12"/>
          </p:nvPr>
        </p:nvSpPr>
        <p:spPr/>
        <p:txBody>
          <a:bodyPr/>
          <a:lstStyle/>
          <a:p>
            <a:fld id="{3A98EE3D-8CD1-4C3F-BD1C-C98C9596463C}" type="slidenum">
              <a:rPr lang="en-US" sz="1200" smtClean="0"/>
              <a:t>2</a:t>
            </a:fld>
            <a:endParaRPr lang="en-US" sz="1200" dirty="0"/>
          </a:p>
        </p:txBody>
      </p:sp>
    </p:spTree>
    <p:extLst>
      <p:ext uri="{BB962C8B-B14F-4D97-AF65-F5344CB8AC3E}">
        <p14:creationId xmlns:p14="http://schemas.microsoft.com/office/powerpoint/2010/main" val="1074038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9748F-B979-7815-7ACC-8F81F3F4C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405978-F725-BC3B-E900-0B1719D1C2C0}"/>
              </a:ext>
            </a:extLst>
          </p:cNvPr>
          <p:cNvSpPr>
            <a:spLocks noGrp="1"/>
          </p:cNvSpPr>
          <p:nvPr>
            <p:ph type="title"/>
          </p:nvPr>
        </p:nvSpPr>
        <p:spPr>
          <a:xfrm>
            <a:off x="453146" y="628782"/>
            <a:ext cx="8272212" cy="721203"/>
          </a:xfrm>
        </p:spPr>
        <p:txBody>
          <a:bodyPr anchor="ctr">
            <a:normAutofit/>
          </a:bodyPr>
          <a:lstStyle/>
          <a:p>
            <a:pPr algn="ctr"/>
            <a:r>
              <a:rPr lang="en-SG" sz="4000" dirty="0"/>
              <a:t>Marquis on abortion</a:t>
            </a:r>
          </a:p>
        </p:txBody>
      </p:sp>
      <p:sp>
        <p:nvSpPr>
          <p:cNvPr id="3" name="Content Placeholder 2">
            <a:extLst>
              <a:ext uri="{FF2B5EF4-FFF2-40B4-BE49-F238E27FC236}">
                <a16:creationId xmlns:a16="http://schemas.microsoft.com/office/drawing/2014/main" id="{27158073-90B2-5A17-2702-56CD00576DDA}"/>
              </a:ext>
            </a:extLst>
          </p:cNvPr>
          <p:cNvSpPr>
            <a:spLocks noGrp="1"/>
          </p:cNvSpPr>
          <p:nvPr>
            <p:ph idx="1"/>
          </p:nvPr>
        </p:nvSpPr>
        <p:spPr>
          <a:xfrm>
            <a:off x="435895" y="1579959"/>
            <a:ext cx="8272211" cy="4761781"/>
          </a:xfrm>
        </p:spPr>
        <p:txBody>
          <a:bodyPr anchor="t">
            <a:noAutofit/>
          </a:bodyPr>
          <a:lstStyle/>
          <a:p>
            <a:r>
              <a:rPr lang="en-US" sz="1800" dirty="0"/>
              <a:t>In “Why Abortion is Immoral,” the American philosopher Don Marquis (1935 – 2022) argues that </a:t>
            </a:r>
            <a:r>
              <a:rPr lang="en-SG" sz="1800" dirty="0"/>
              <a:t>most deliberate abortions are morally wrong (impermissible) for the same reason it is usually wrong to kill innocent people after they’re born. </a:t>
            </a:r>
          </a:p>
          <a:p>
            <a:endParaRPr lang="en-US" sz="1800" dirty="0"/>
          </a:p>
          <a:p>
            <a:r>
              <a:rPr lang="en-US" sz="1800" dirty="0"/>
              <a:t>According to Marquis, the reason it’s usually wrong to kill innocent people is that it denies a </a:t>
            </a:r>
            <a:r>
              <a:rPr lang="en-US" sz="1800" i="1" dirty="0"/>
              <a:t>future of value</a:t>
            </a:r>
            <a:r>
              <a:rPr lang="en-US" sz="1800" dirty="0"/>
              <a:t> to the victim. Such a future is a life filled with all the activities, projects, experiences, and enjoyments that would have constituted the victim’s personal future, had the victim lived (Marquis, in Shafer-Landau 2024: 197).</a:t>
            </a:r>
          </a:p>
          <a:p>
            <a:endParaRPr lang="en-US" sz="1800" dirty="0"/>
          </a:p>
          <a:p>
            <a:r>
              <a:rPr lang="en-US" sz="1800" dirty="0"/>
              <a:t>So, Marquis contends, just as it is usually wrong to kill innocent adults and children because it deprives them of a future of value, it is likewise usually wrong to abort fetuses, since abortions also deprive them of futures of value (see especially Marquis, in Shafer-Landau 2024: 196).  </a:t>
            </a:r>
          </a:p>
        </p:txBody>
      </p:sp>
      <p:sp>
        <p:nvSpPr>
          <p:cNvPr id="4" name="Footer Placeholder 3">
            <a:extLst>
              <a:ext uri="{FF2B5EF4-FFF2-40B4-BE49-F238E27FC236}">
                <a16:creationId xmlns:a16="http://schemas.microsoft.com/office/drawing/2014/main" id="{80190FDE-45E0-16FB-5730-5B6F5AEC92ED}"/>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BA34025A-C1A1-167B-10AF-D22D37DE2600}"/>
              </a:ext>
            </a:extLst>
          </p:cNvPr>
          <p:cNvSpPr>
            <a:spLocks noGrp="1"/>
          </p:cNvSpPr>
          <p:nvPr>
            <p:ph type="sldNum" sz="quarter" idx="12"/>
          </p:nvPr>
        </p:nvSpPr>
        <p:spPr/>
        <p:txBody>
          <a:bodyPr/>
          <a:lstStyle/>
          <a:p>
            <a:fld id="{3A98EE3D-8CD1-4C3F-BD1C-C98C9596463C}" type="slidenum">
              <a:rPr lang="en-US" sz="1200" smtClean="0"/>
              <a:t>3</a:t>
            </a:fld>
            <a:endParaRPr lang="en-US" sz="1200" dirty="0"/>
          </a:p>
        </p:txBody>
      </p:sp>
    </p:spTree>
    <p:extLst>
      <p:ext uri="{BB962C8B-B14F-4D97-AF65-F5344CB8AC3E}">
        <p14:creationId xmlns:p14="http://schemas.microsoft.com/office/powerpoint/2010/main" val="4098844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C392-5921-9360-A587-0A8A5EB845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EA9B1-7BBD-6438-5FFD-1AA8575A3850}"/>
              </a:ext>
            </a:extLst>
          </p:cNvPr>
          <p:cNvSpPr>
            <a:spLocks noGrp="1"/>
          </p:cNvSpPr>
          <p:nvPr>
            <p:ph type="title"/>
          </p:nvPr>
        </p:nvSpPr>
        <p:spPr>
          <a:xfrm>
            <a:off x="453146" y="628782"/>
            <a:ext cx="8272212" cy="721203"/>
          </a:xfrm>
        </p:spPr>
        <p:txBody>
          <a:bodyPr anchor="ctr">
            <a:normAutofit/>
          </a:bodyPr>
          <a:lstStyle/>
          <a:p>
            <a:pPr algn="ctr"/>
            <a:r>
              <a:rPr lang="en-SG" sz="4000" dirty="0"/>
              <a:t>futures of value</a:t>
            </a:r>
          </a:p>
        </p:txBody>
      </p:sp>
      <p:sp>
        <p:nvSpPr>
          <p:cNvPr id="3" name="Content Placeholder 2">
            <a:extLst>
              <a:ext uri="{FF2B5EF4-FFF2-40B4-BE49-F238E27FC236}">
                <a16:creationId xmlns:a16="http://schemas.microsoft.com/office/drawing/2014/main" id="{B7861D17-D37A-DF64-DF02-76460FF98C68}"/>
              </a:ext>
            </a:extLst>
          </p:cNvPr>
          <p:cNvSpPr>
            <a:spLocks noGrp="1"/>
          </p:cNvSpPr>
          <p:nvPr>
            <p:ph idx="1"/>
          </p:nvPr>
        </p:nvSpPr>
        <p:spPr>
          <a:xfrm>
            <a:off x="435895" y="1579959"/>
            <a:ext cx="8272211" cy="4761781"/>
          </a:xfrm>
        </p:spPr>
        <p:txBody>
          <a:bodyPr anchor="t">
            <a:noAutofit/>
          </a:bodyPr>
          <a:lstStyle/>
          <a:p>
            <a:r>
              <a:rPr lang="en-US" sz="1700" dirty="0"/>
              <a:t>Marquis uses the term “</a:t>
            </a:r>
            <a:r>
              <a:rPr lang="en-US" sz="1700" b="1" dirty="0"/>
              <a:t>future of value</a:t>
            </a:r>
            <a:r>
              <a:rPr lang="en-US" sz="1700" dirty="0"/>
              <a:t>” to refer to what the victim of a wrongful killing—a murder—is denied. He describes a future of value in this way:</a:t>
            </a:r>
          </a:p>
          <a:p>
            <a:endParaRPr lang="en-US" sz="1700" dirty="0"/>
          </a:p>
          <a:p>
            <a:pPr marL="457200" lvl="1" indent="0">
              <a:buNone/>
            </a:pPr>
            <a:r>
              <a:rPr lang="en-US" sz="1700" dirty="0"/>
              <a:t>“</a:t>
            </a:r>
            <a:r>
              <a:rPr lang="en-US" sz="1700" b="1" dirty="0"/>
              <a:t>The effect of the loss of my biological life is the loss to me of all those activities, projects, experiences, and enjoyments which would otherwise have constituted my future </a:t>
            </a:r>
            <a:r>
              <a:rPr lang="en-US" sz="1700" dirty="0"/>
              <a:t>personal life. These activities, projects, experiences, and enjoyments are either valuable for their own sakes or are means to something else that is valuable for its own sake. Some parts of my future are not valued by me now, but will come to be valued by me as I grow older and as my values and capacities change. </a:t>
            </a:r>
            <a:r>
              <a:rPr lang="en-SG" sz="1700" dirty="0"/>
              <a:t>When I am k</a:t>
            </a:r>
            <a:r>
              <a:rPr lang="en-US" sz="1700" dirty="0" err="1"/>
              <a:t>illed</a:t>
            </a:r>
            <a:r>
              <a:rPr lang="en-US" sz="1700" dirty="0"/>
              <a:t>, I am deprived both of what I now value which would have been part of my future personal life, but also what I would come to value…” (Marquis, in Shafer-Landau 2024: 197)</a:t>
            </a:r>
          </a:p>
          <a:p>
            <a:pPr marL="457200" lvl="1" indent="0">
              <a:buNone/>
            </a:pPr>
            <a:endParaRPr lang="en-US" sz="1700" dirty="0"/>
          </a:p>
          <a:p>
            <a:r>
              <a:rPr lang="en-US" sz="1700" dirty="0"/>
              <a:t>Notice here that one’s future of value consists not just of the things that one </a:t>
            </a:r>
            <a:r>
              <a:rPr lang="en-US" sz="1700" i="1" dirty="0"/>
              <a:t>currently</a:t>
            </a:r>
            <a:r>
              <a:rPr lang="en-US" sz="1700" dirty="0"/>
              <a:t> values, but also of the things that one </a:t>
            </a:r>
            <a:r>
              <a:rPr lang="en-US" sz="1700" i="1" dirty="0"/>
              <a:t>will</a:t>
            </a:r>
            <a:r>
              <a:rPr lang="en-US" sz="1700" dirty="0"/>
              <a:t> come to value at a later time. It even includes things one </a:t>
            </a:r>
            <a:r>
              <a:rPr lang="en-US" sz="1700" i="1" dirty="0"/>
              <a:t>does not know </a:t>
            </a:r>
            <a:r>
              <a:rPr lang="en-US" sz="1700" dirty="0"/>
              <a:t>one will value later on.</a:t>
            </a:r>
          </a:p>
        </p:txBody>
      </p:sp>
      <p:sp>
        <p:nvSpPr>
          <p:cNvPr id="4" name="Footer Placeholder 3">
            <a:extLst>
              <a:ext uri="{FF2B5EF4-FFF2-40B4-BE49-F238E27FC236}">
                <a16:creationId xmlns:a16="http://schemas.microsoft.com/office/drawing/2014/main" id="{6A040EAA-514C-BD9E-4063-3552EFC42323}"/>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2C0A6C6D-ABD2-BB5E-A99F-0E68DF675F13}"/>
              </a:ext>
            </a:extLst>
          </p:cNvPr>
          <p:cNvSpPr>
            <a:spLocks noGrp="1"/>
          </p:cNvSpPr>
          <p:nvPr>
            <p:ph type="sldNum" sz="quarter" idx="12"/>
          </p:nvPr>
        </p:nvSpPr>
        <p:spPr/>
        <p:txBody>
          <a:bodyPr/>
          <a:lstStyle/>
          <a:p>
            <a:fld id="{3A98EE3D-8CD1-4C3F-BD1C-C98C9596463C}" type="slidenum">
              <a:rPr lang="en-US" sz="1200" smtClean="0"/>
              <a:t>4</a:t>
            </a:fld>
            <a:endParaRPr lang="en-US" sz="1200" dirty="0"/>
          </a:p>
        </p:txBody>
      </p:sp>
    </p:spTree>
    <p:extLst>
      <p:ext uri="{BB962C8B-B14F-4D97-AF65-F5344CB8AC3E}">
        <p14:creationId xmlns:p14="http://schemas.microsoft.com/office/powerpoint/2010/main" val="3635496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19940-2C35-42ED-ABC7-8B3BD1B7F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EB8EC-0884-C3CB-56A2-23EACC42508A}"/>
              </a:ext>
            </a:extLst>
          </p:cNvPr>
          <p:cNvSpPr>
            <a:spLocks noGrp="1"/>
          </p:cNvSpPr>
          <p:nvPr>
            <p:ph type="title"/>
          </p:nvPr>
        </p:nvSpPr>
        <p:spPr>
          <a:xfrm>
            <a:off x="453146" y="628782"/>
            <a:ext cx="8272212" cy="721203"/>
          </a:xfrm>
        </p:spPr>
        <p:txBody>
          <a:bodyPr anchor="ctr">
            <a:normAutofit/>
          </a:bodyPr>
          <a:lstStyle/>
          <a:p>
            <a:pPr algn="ctr"/>
            <a:r>
              <a:rPr lang="en-SG" sz="4000" dirty="0"/>
              <a:t>Futures of value</a:t>
            </a:r>
          </a:p>
        </p:txBody>
      </p:sp>
      <p:sp>
        <p:nvSpPr>
          <p:cNvPr id="3" name="Content Placeholder 2">
            <a:extLst>
              <a:ext uri="{FF2B5EF4-FFF2-40B4-BE49-F238E27FC236}">
                <a16:creationId xmlns:a16="http://schemas.microsoft.com/office/drawing/2014/main" id="{97EE63B4-FB72-7B34-00E1-FEF8520FB4FF}"/>
              </a:ext>
            </a:extLst>
          </p:cNvPr>
          <p:cNvSpPr>
            <a:spLocks noGrp="1"/>
          </p:cNvSpPr>
          <p:nvPr>
            <p:ph idx="1"/>
          </p:nvPr>
        </p:nvSpPr>
        <p:spPr>
          <a:xfrm>
            <a:off x="435895" y="1579959"/>
            <a:ext cx="8272211" cy="4761781"/>
          </a:xfrm>
        </p:spPr>
        <p:txBody>
          <a:bodyPr anchor="t">
            <a:noAutofit/>
          </a:bodyPr>
          <a:lstStyle/>
          <a:p>
            <a:r>
              <a:rPr lang="en-US" sz="1700" dirty="0"/>
              <a:t>Marquis’s central premise is that </a:t>
            </a:r>
            <a:r>
              <a:rPr lang="en-US" sz="1700" i="1" dirty="0"/>
              <a:t>if killing someone denies a future of value to the victim, then it is (presumptively) morally wrong to kill them</a:t>
            </a:r>
            <a:r>
              <a:rPr lang="en-US" sz="1700" dirty="0"/>
              <a:t>. He expresses this claim in the following passages:</a:t>
            </a:r>
          </a:p>
          <a:p>
            <a:pPr marL="457200" lvl="1" indent="0">
              <a:buNone/>
            </a:pPr>
            <a:endParaRPr lang="en-US" sz="1700" dirty="0"/>
          </a:p>
          <a:p>
            <a:pPr marL="457200" lvl="1" indent="0">
              <a:buNone/>
            </a:pPr>
            <a:r>
              <a:rPr lang="en-US" sz="1700" dirty="0"/>
              <a:t>“</a:t>
            </a:r>
            <a:r>
              <a:rPr lang="en-US" sz="1700" b="1" dirty="0"/>
              <a:t>What primarily makes killing wrong is</a:t>
            </a:r>
            <a:r>
              <a:rPr lang="en-US" sz="1700" dirty="0"/>
              <a:t>…its effect on the victim. </a:t>
            </a:r>
            <a:r>
              <a:rPr lang="en-US" sz="1700" b="1" dirty="0"/>
              <a:t>The loss of one’s life </a:t>
            </a:r>
            <a:r>
              <a:rPr lang="en-US" sz="1700" dirty="0"/>
              <a:t>is one of the greatest losses one can suffer. </a:t>
            </a:r>
            <a:r>
              <a:rPr lang="en-US" sz="1700" b="1" dirty="0"/>
              <a:t>The loss of one’s life deprives one of all the experiences, activities, projects, and enjoyments that would otherwise have constituted one’s future.</a:t>
            </a:r>
            <a:r>
              <a:rPr lang="en-SG" sz="1700" dirty="0"/>
              <a:t>” </a:t>
            </a:r>
            <a:r>
              <a:rPr lang="en-US" sz="1700" dirty="0"/>
              <a:t>(Marquis, in Shafer-Landau 2024: 197)</a:t>
            </a:r>
          </a:p>
          <a:p>
            <a:pPr marL="457200" lvl="1" indent="0">
              <a:buNone/>
            </a:pPr>
            <a:endParaRPr lang="en-US" sz="1700" dirty="0"/>
          </a:p>
          <a:p>
            <a:pPr marL="457200" lvl="1" indent="0">
              <a:buNone/>
            </a:pPr>
            <a:r>
              <a:rPr lang="en-US" sz="1700" dirty="0"/>
              <a:t>“…</a:t>
            </a:r>
            <a:r>
              <a:rPr lang="en-US" sz="1700" b="1" dirty="0"/>
              <a:t>what makes killing </a:t>
            </a:r>
            <a:r>
              <a:rPr lang="en-US" sz="1700" b="1" i="1" dirty="0"/>
              <a:t>any </a:t>
            </a:r>
            <a:r>
              <a:rPr lang="en-US" sz="1700" b="1" dirty="0"/>
              <a:t>adult human being prima facie seriously wrong is the loss of his or her future</a:t>
            </a:r>
            <a:r>
              <a:rPr lang="en-US" sz="1700" dirty="0"/>
              <a:t>.” (Marquis, in Shafer-Landau 2024: 197)</a:t>
            </a:r>
          </a:p>
          <a:p>
            <a:pPr marL="457200" lvl="1" indent="0">
              <a:buNone/>
            </a:pPr>
            <a:endParaRPr lang="en-US" sz="1700" dirty="0"/>
          </a:p>
          <a:p>
            <a:pPr marL="457200" lvl="1" indent="0">
              <a:buNone/>
            </a:pPr>
            <a:r>
              <a:rPr lang="en-US" sz="1700" dirty="0"/>
              <a:t>“…</a:t>
            </a:r>
            <a:r>
              <a:rPr lang="en-US" sz="1700" b="1" dirty="0"/>
              <a:t>for any killing where the victim did have a valuable future like ours, having that future by itself is sufficient to create the strong presumption that the killing is seriously wrong</a:t>
            </a:r>
            <a:r>
              <a:rPr lang="en-US" sz="1700" dirty="0"/>
              <a:t>.” (Marquis, in Shafer-Landau 2024: 199)</a:t>
            </a:r>
          </a:p>
          <a:p>
            <a:pPr marL="457200" lvl="1" indent="0">
              <a:buNone/>
            </a:pPr>
            <a:endParaRPr lang="en-US" sz="1800" dirty="0"/>
          </a:p>
        </p:txBody>
      </p:sp>
      <p:sp>
        <p:nvSpPr>
          <p:cNvPr id="4" name="Footer Placeholder 3">
            <a:extLst>
              <a:ext uri="{FF2B5EF4-FFF2-40B4-BE49-F238E27FC236}">
                <a16:creationId xmlns:a16="http://schemas.microsoft.com/office/drawing/2014/main" id="{4075914C-5C7B-F708-91EF-6C8A500178A4}"/>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C545A492-75E9-27E2-6C8F-330405EFAF77}"/>
              </a:ext>
            </a:extLst>
          </p:cNvPr>
          <p:cNvSpPr>
            <a:spLocks noGrp="1"/>
          </p:cNvSpPr>
          <p:nvPr>
            <p:ph type="sldNum" sz="quarter" idx="12"/>
          </p:nvPr>
        </p:nvSpPr>
        <p:spPr/>
        <p:txBody>
          <a:bodyPr/>
          <a:lstStyle/>
          <a:p>
            <a:fld id="{3A98EE3D-8CD1-4C3F-BD1C-C98C9596463C}" type="slidenum">
              <a:rPr lang="en-US" sz="1200" smtClean="0"/>
              <a:t>5</a:t>
            </a:fld>
            <a:endParaRPr lang="en-US" sz="1200" dirty="0"/>
          </a:p>
        </p:txBody>
      </p:sp>
    </p:spTree>
    <p:extLst>
      <p:ext uri="{BB962C8B-B14F-4D97-AF65-F5344CB8AC3E}">
        <p14:creationId xmlns:p14="http://schemas.microsoft.com/office/powerpoint/2010/main" val="1159179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67EFD0-5655-93F2-6604-F93EC1A62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98B607-09BF-E1F5-5DAC-F51EEA9D5532}"/>
              </a:ext>
            </a:extLst>
          </p:cNvPr>
          <p:cNvSpPr>
            <a:spLocks noGrp="1"/>
          </p:cNvSpPr>
          <p:nvPr>
            <p:ph type="title"/>
          </p:nvPr>
        </p:nvSpPr>
        <p:spPr>
          <a:xfrm>
            <a:off x="453146" y="628782"/>
            <a:ext cx="8272212" cy="721203"/>
          </a:xfrm>
        </p:spPr>
        <p:txBody>
          <a:bodyPr anchor="ctr">
            <a:normAutofit/>
          </a:bodyPr>
          <a:lstStyle/>
          <a:p>
            <a:pPr algn="ctr"/>
            <a:r>
              <a:rPr lang="en-SG" sz="4000" dirty="0"/>
              <a:t>futures of value</a:t>
            </a:r>
          </a:p>
        </p:txBody>
      </p:sp>
      <p:sp>
        <p:nvSpPr>
          <p:cNvPr id="3" name="Content Placeholder 2">
            <a:extLst>
              <a:ext uri="{FF2B5EF4-FFF2-40B4-BE49-F238E27FC236}">
                <a16:creationId xmlns:a16="http://schemas.microsoft.com/office/drawing/2014/main" id="{73630C5C-3CFB-223E-59A8-7DE9977E0712}"/>
              </a:ext>
            </a:extLst>
          </p:cNvPr>
          <p:cNvSpPr>
            <a:spLocks noGrp="1"/>
          </p:cNvSpPr>
          <p:nvPr>
            <p:ph idx="1"/>
          </p:nvPr>
        </p:nvSpPr>
        <p:spPr>
          <a:xfrm>
            <a:off x="435895" y="1579959"/>
            <a:ext cx="8272211" cy="4761781"/>
          </a:xfrm>
        </p:spPr>
        <p:txBody>
          <a:bodyPr anchor="t">
            <a:noAutofit/>
          </a:bodyPr>
          <a:lstStyle/>
          <a:p>
            <a:r>
              <a:rPr lang="en-US" sz="1750" dirty="0"/>
              <a:t>Marquis goes on to claim that most unborn fetuses have futures of value. According to Marquis, “[t]he future of a standard fetus includes a set of experiences, projects, activities, and such which are identical with the futures of adult human beings and are identical with the futures of young children.” (Marquis, in Shafer-Landau 2024: 198)</a:t>
            </a:r>
          </a:p>
          <a:p>
            <a:pPr lvl="1"/>
            <a:r>
              <a:rPr lang="en-US" sz="1750" dirty="0"/>
              <a:t>It’s important to remember that Marquis understands someone’s future of value to include anything that the person </a:t>
            </a:r>
            <a:r>
              <a:rPr lang="en-US" sz="1750" i="1" dirty="0"/>
              <a:t>will</a:t>
            </a:r>
            <a:r>
              <a:rPr lang="en-US" sz="1750" dirty="0"/>
              <a:t> value in the future, not just the things that the person currently values (see Marquis, in Shafer-Landau 2024: 197). </a:t>
            </a:r>
          </a:p>
          <a:p>
            <a:pPr lvl="1"/>
            <a:r>
              <a:rPr lang="en-US" sz="1750" dirty="0"/>
              <a:t>If a person’s valuable future does include items that he or she </a:t>
            </a:r>
            <a:r>
              <a:rPr lang="en-US" sz="1750" i="1" dirty="0"/>
              <a:t>will</a:t>
            </a:r>
            <a:r>
              <a:rPr lang="en-US" sz="1750" dirty="0"/>
              <a:t> value in the future, then fetuses can have futures of value as long as they </a:t>
            </a:r>
            <a:r>
              <a:rPr lang="en-US" sz="1750" i="1" dirty="0"/>
              <a:t>will</a:t>
            </a:r>
            <a:r>
              <a:rPr lang="en-US" sz="1750" dirty="0"/>
              <a:t> value things in the future. Even if a fetus doesn’t currently value anything—perhaps because it isn’t conscious yet—it may nevertheless be true that it </a:t>
            </a:r>
            <a:r>
              <a:rPr lang="en-US" sz="1750" i="1" dirty="0"/>
              <a:t>will</a:t>
            </a:r>
            <a:r>
              <a:rPr lang="en-US" sz="1750" dirty="0"/>
              <a:t> come to value things eventually.</a:t>
            </a:r>
          </a:p>
          <a:p>
            <a:r>
              <a:rPr lang="en-US" sz="1750" dirty="0"/>
              <a:t>Furthermore, given that most</a:t>
            </a:r>
            <a:r>
              <a:rPr lang="en-US" sz="1750" i="1" dirty="0"/>
              <a:t> aborted </a:t>
            </a:r>
            <a:r>
              <a:rPr lang="en-US" sz="1750" dirty="0"/>
              <a:t>fetuses had futures of value, abortion denies those fetuses their futures of value.</a:t>
            </a:r>
          </a:p>
        </p:txBody>
      </p:sp>
      <p:sp>
        <p:nvSpPr>
          <p:cNvPr id="4" name="Footer Placeholder 3">
            <a:extLst>
              <a:ext uri="{FF2B5EF4-FFF2-40B4-BE49-F238E27FC236}">
                <a16:creationId xmlns:a16="http://schemas.microsoft.com/office/drawing/2014/main" id="{18AE234D-8754-92CF-744D-0614BB3BFF43}"/>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A007ACC9-218B-5722-F7ED-7ECA7C112A8B}"/>
              </a:ext>
            </a:extLst>
          </p:cNvPr>
          <p:cNvSpPr>
            <a:spLocks noGrp="1"/>
          </p:cNvSpPr>
          <p:nvPr>
            <p:ph type="sldNum" sz="quarter" idx="12"/>
          </p:nvPr>
        </p:nvSpPr>
        <p:spPr/>
        <p:txBody>
          <a:bodyPr/>
          <a:lstStyle/>
          <a:p>
            <a:fld id="{3A98EE3D-8CD1-4C3F-BD1C-C98C9596463C}" type="slidenum">
              <a:rPr lang="en-US" sz="1200" smtClean="0"/>
              <a:t>6</a:t>
            </a:fld>
            <a:endParaRPr lang="en-US" sz="1200" dirty="0"/>
          </a:p>
        </p:txBody>
      </p:sp>
    </p:spTree>
    <p:extLst>
      <p:ext uri="{BB962C8B-B14F-4D97-AF65-F5344CB8AC3E}">
        <p14:creationId xmlns:p14="http://schemas.microsoft.com/office/powerpoint/2010/main" val="16148386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90612-3A35-C0A7-A272-F1B23EB84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5DF3A4-FBD9-5D98-1A61-B4D61F4806FD}"/>
              </a:ext>
            </a:extLst>
          </p:cNvPr>
          <p:cNvSpPr>
            <a:spLocks noGrp="1"/>
          </p:cNvSpPr>
          <p:nvPr>
            <p:ph type="title"/>
          </p:nvPr>
        </p:nvSpPr>
        <p:spPr>
          <a:xfrm>
            <a:off x="453146" y="628782"/>
            <a:ext cx="8272212" cy="721203"/>
          </a:xfrm>
        </p:spPr>
        <p:txBody>
          <a:bodyPr anchor="ctr">
            <a:normAutofit/>
          </a:bodyPr>
          <a:lstStyle/>
          <a:p>
            <a:pPr algn="ctr"/>
            <a:r>
              <a:rPr lang="en-SG" sz="4000" dirty="0"/>
              <a:t>futures of value</a:t>
            </a:r>
          </a:p>
        </p:txBody>
      </p:sp>
      <p:sp>
        <p:nvSpPr>
          <p:cNvPr id="3" name="Content Placeholder 2">
            <a:extLst>
              <a:ext uri="{FF2B5EF4-FFF2-40B4-BE49-F238E27FC236}">
                <a16:creationId xmlns:a16="http://schemas.microsoft.com/office/drawing/2014/main" id="{073EE682-274F-9F87-B67A-193E2D840533}"/>
              </a:ext>
            </a:extLst>
          </p:cNvPr>
          <p:cNvSpPr>
            <a:spLocks noGrp="1"/>
          </p:cNvSpPr>
          <p:nvPr>
            <p:ph idx="1"/>
          </p:nvPr>
        </p:nvSpPr>
        <p:spPr>
          <a:xfrm>
            <a:off x="435895" y="1579959"/>
            <a:ext cx="8272211" cy="4761781"/>
          </a:xfrm>
        </p:spPr>
        <p:txBody>
          <a:bodyPr anchor="t">
            <a:noAutofit/>
          </a:bodyPr>
          <a:lstStyle/>
          <a:p>
            <a:r>
              <a:rPr lang="en-US" sz="1800" dirty="0"/>
              <a:t>From these premises, Marquis concludes that abortion is morally wrong: “[s]</a:t>
            </a:r>
            <a:r>
              <a:rPr lang="en-US" sz="1800" dirty="0" err="1"/>
              <a:t>ince</a:t>
            </a:r>
            <a:r>
              <a:rPr lang="en-US" sz="1800" dirty="0"/>
              <a:t> the reason that is sufficient to explain why it is wrong to kill human beings after the time of birth is a reason that also applies to fetuses, it follows that abortion is prima facie seriously morally wrong.” (Marquis, in Shafer-Landau 2024: 198)</a:t>
            </a:r>
          </a:p>
          <a:p>
            <a:endParaRPr lang="en-US" sz="1800" dirty="0"/>
          </a:p>
          <a:p>
            <a:r>
              <a:rPr lang="en-US" sz="1800" dirty="0"/>
              <a:t>Here is a bird’s eye summary of Marquis’s argument:</a:t>
            </a:r>
          </a:p>
          <a:p>
            <a:endParaRPr lang="en-US" sz="1800" dirty="0"/>
          </a:p>
          <a:p>
            <a:pPr marL="243000" lvl="1" indent="0">
              <a:buNone/>
            </a:pPr>
            <a:r>
              <a:rPr lang="en-US" sz="1800" i="1" u="sng" dirty="0"/>
              <a:t>Marquis’s Argument that Abortion is Morally Wrong</a:t>
            </a:r>
          </a:p>
          <a:p>
            <a:pPr marL="585900" lvl="1" indent="-342900">
              <a:buFont typeface="+mj-lt"/>
              <a:buAutoNum type="arabicPeriod"/>
            </a:pPr>
            <a:r>
              <a:rPr lang="en-US" sz="1800" dirty="0"/>
              <a:t>If killing someone denies a future of value to the victim, then it is (presumptively) morally wrong to kill them.</a:t>
            </a:r>
          </a:p>
          <a:p>
            <a:pPr marL="585900" lvl="1" indent="-342900">
              <a:buFont typeface="+mj-lt"/>
              <a:buAutoNum type="arabicPeriod"/>
            </a:pPr>
            <a:r>
              <a:rPr lang="en-US" sz="1800" dirty="0"/>
              <a:t>Most aborted fetuses are denied futures of value.</a:t>
            </a:r>
          </a:p>
          <a:p>
            <a:pPr marL="585900" lvl="1" indent="-342900">
              <a:buFont typeface="+mj-lt"/>
              <a:buAutoNum type="arabicPeriod"/>
            </a:pPr>
            <a:r>
              <a:rPr lang="en-US" sz="1800" b="1" dirty="0"/>
              <a:t>(Conclusion) </a:t>
            </a:r>
            <a:r>
              <a:rPr lang="en-US" sz="1800" dirty="0"/>
              <a:t>So, in most cases, it is (presumptively) morally wrong to abort a fetus. </a:t>
            </a:r>
          </a:p>
          <a:p>
            <a:pPr marL="342900" indent="-342900">
              <a:buFont typeface="+mj-lt"/>
              <a:buAutoNum type="arabicPeriod"/>
            </a:pPr>
            <a:endParaRPr lang="en-US" sz="1800" dirty="0"/>
          </a:p>
        </p:txBody>
      </p:sp>
      <p:sp>
        <p:nvSpPr>
          <p:cNvPr id="4" name="Footer Placeholder 3">
            <a:extLst>
              <a:ext uri="{FF2B5EF4-FFF2-40B4-BE49-F238E27FC236}">
                <a16:creationId xmlns:a16="http://schemas.microsoft.com/office/drawing/2014/main" id="{0A0635A0-6446-36AF-1B19-7D95D4EB0247}"/>
              </a:ext>
            </a:extLst>
          </p:cNvPr>
          <p:cNvSpPr>
            <a:spLocks noGrp="1"/>
          </p:cNvSpPr>
          <p:nvPr>
            <p:ph type="ftr" sz="quarter" idx="11"/>
          </p:nvPr>
        </p:nvSpPr>
        <p:spPr/>
        <p:txBody>
          <a:bodyPr/>
          <a:lstStyle/>
          <a:p>
            <a:r>
              <a:rPr lang="en-US" sz="1200" dirty="0"/>
              <a:t>Luco - PHIL 1020 - Fall 2025</a:t>
            </a:r>
          </a:p>
        </p:txBody>
      </p:sp>
      <p:sp>
        <p:nvSpPr>
          <p:cNvPr id="5" name="Slide Number Placeholder 4">
            <a:extLst>
              <a:ext uri="{FF2B5EF4-FFF2-40B4-BE49-F238E27FC236}">
                <a16:creationId xmlns:a16="http://schemas.microsoft.com/office/drawing/2014/main" id="{52E98315-C78E-BF08-1B4E-97656840768B}"/>
              </a:ext>
            </a:extLst>
          </p:cNvPr>
          <p:cNvSpPr>
            <a:spLocks noGrp="1"/>
          </p:cNvSpPr>
          <p:nvPr>
            <p:ph type="sldNum" sz="quarter" idx="12"/>
          </p:nvPr>
        </p:nvSpPr>
        <p:spPr/>
        <p:txBody>
          <a:bodyPr/>
          <a:lstStyle/>
          <a:p>
            <a:fld id="{3A98EE3D-8CD1-4C3F-BD1C-C98C9596463C}" type="slidenum">
              <a:rPr lang="en-US" sz="1200" smtClean="0"/>
              <a:t>7</a:t>
            </a:fld>
            <a:endParaRPr lang="en-US" sz="1200" dirty="0"/>
          </a:p>
        </p:txBody>
      </p:sp>
    </p:spTree>
    <p:extLst>
      <p:ext uri="{BB962C8B-B14F-4D97-AF65-F5344CB8AC3E}">
        <p14:creationId xmlns:p14="http://schemas.microsoft.com/office/powerpoint/2010/main" val="1676282578"/>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BB6B-9C38-061D-A872-CF6D8F5EA9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1D87D-8548-DF08-94F3-792DA68FE11B}"/>
              </a:ext>
            </a:extLst>
          </p:cNvPr>
          <p:cNvSpPr>
            <a:spLocks noGrp="1"/>
          </p:cNvSpPr>
          <p:nvPr>
            <p:ph type="title"/>
          </p:nvPr>
        </p:nvSpPr>
        <p:spPr>
          <a:xfrm>
            <a:off x="453146" y="628782"/>
            <a:ext cx="8272212" cy="721203"/>
          </a:xfrm>
        </p:spPr>
        <p:txBody>
          <a:bodyPr anchor="ctr">
            <a:normAutofit/>
          </a:bodyPr>
          <a:lstStyle/>
          <a:p>
            <a:pPr algn="ctr"/>
            <a:r>
              <a:rPr lang="en-SG" sz="4000" dirty="0"/>
              <a:t>futures of value</a:t>
            </a:r>
          </a:p>
        </p:txBody>
      </p:sp>
      <p:sp>
        <p:nvSpPr>
          <p:cNvPr id="3" name="Content Placeholder 2">
            <a:extLst>
              <a:ext uri="{FF2B5EF4-FFF2-40B4-BE49-F238E27FC236}">
                <a16:creationId xmlns:a16="http://schemas.microsoft.com/office/drawing/2014/main" id="{D7CFD35D-DC7C-3E1A-5A55-C3CE9137637C}"/>
              </a:ext>
            </a:extLst>
          </p:cNvPr>
          <p:cNvSpPr>
            <a:spLocks noGrp="1"/>
          </p:cNvSpPr>
          <p:nvPr>
            <p:ph idx="1"/>
          </p:nvPr>
        </p:nvSpPr>
        <p:spPr>
          <a:xfrm>
            <a:off x="435895" y="1579959"/>
            <a:ext cx="8272211" cy="4761781"/>
          </a:xfrm>
        </p:spPr>
        <p:txBody>
          <a:bodyPr anchor="t">
            <a:noAutofit/>
          </a:bodyPr>
          <a:lstStyle/>
          <a:p>
            <a:r>
              <a:rPr lang="en-US" sz="1800" dirty="0"/>
              <a:t>Strictly speaking, Marquis holds that “…for any killing where the victim did have a valuable future like ours, having that future by itself is sufficient to create the </a:t>
            </a:r>
            <a:r>
              <a:rPr lang="en-US" sz="1800" b="1" dirty="0"/>
              <a:t>strong presumption </a:t>
            </a:r>
            <a:r>
              <a:rPr lang="en-US" sz="1800" dirty="0"/>
              <a:t>that the killing is seriously wrong” (Marquis, in Shafer-Landau 2024: 199).</a:t>
            </a:r>
          </a:p>
          <a:p>
            <a:endParaRPr lang="en-US" sz="1800" dirty="0"/>
          </a:p>
          <a:p>
            <a:r>
              <a:rPr lang="en-US" sz="1800" dirty="0"/>
              <a:t> So, for Marquis, it is only </a:t>
            </a:r>
            <a:r>
              <a:rPr lang="en-US" sz="1800" i="1" dirty="0"/>
              <a:t>presumptively</a:t>
            </a:r>
            <a:r>
              <a:rPr lang="en-US" sz="1800" dirty="0"/>
              <a:t> wrong to kill someone, if killing them deprives them of a future of value. What does this mean, and why does Marquis say this? The reason is that Marquis is willing to accept that in some situations, it may be morally permissible to deny someone a future of value: </a:t>
            </a:r>
          </a:p>
          <a:p>
            <a:pPr marL="457200" lvl="1" indent="0">
              <a:buNone/>
            </a:pPr>
            <a:endParaRPr lang="en-US" sz="1800" dirty="0"/>
          </a:p>
          <a:p>
            <a:pPr marL="457200" lvl="1" indent="0">
              <a:buNone/>
            </a:pPr>
            <a:r>
              <a:rPr lang="en-US" sz="1800" dirty="0"/>
              <a:t>“Since the loss of the future to a standard fetus, if killed, is…at least as great a loss as the loss of the future to a standard adult human being who is killed, </a:t>
            </a:r>
            <a:r>
              <a:rPr lang="en-US" sz="1800" b="1" dirty="0"/>
              <a:t>abortion, like ordinary killing, could be justified only by the most compelling reasons</a:t>
            </a:r>
            <a:r>
              <a:rPr lang="en-US" sz="1800" dirty="0"/>
              <a:t>.” (Marquis, in Shafer-Landau 2024: 199)</a:t>
            </a:r>
          </a:p>
        </p:txBody>
      </p:sp>
      <p:sp>
        <p:nvSpPr>
          <p:cNvPr id="4" name="Footer Placeholder 3">
            <a:extLst>
              <a:ext uri="{FF2B5EF4-FFF2-40B4-BE49-F238E27FC236}">
                <a16:creationId xmlns:a16="http://schemas.microsoft.com/office/drawing/2014/main" id="{5843B82B-FB43-11D2-FA3E-EB6BA082BC49}"/>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7C58658C-622B-2D82-A118-B88E8CE5A682}"/>
              </a:ext>
            </a:extLst>
          </p:cNvPr>
          <p:cNvSpPr>
            <a:spLocks noGrp="1"/>
          </p:cNvSpPr>
          <p:nvPr>
            <p:ph type="sldNum" sz="quarter" idx="12"/>
          </p:nvPr>
        </p:nvSpPr>
        <p:spPr/>
        <p:txBody>
          <a:bodyPr/>
          <a:lstStyle/>
          <a:p>
            <a:fld id="{3A98EE3D-8CD1-4C3F-BD1C-C98C9596463C}" type="slidenum">
              <a:rPr lang="en-US" sz="1200" smtClean="0"/>
              <a:t>8</a:t>
            </a:fld>
            <a:endParaRPr lang="en-US" sz="1200" dirty="0"/>
          </a:p>
        </p:txBody>
      </p:sp>
    </p:spTree>
    <p:extLst>
      <p:ext uri="{BB962C8B-B14F-4D97-AF65-F5344CB8AC3E}">
        <p14:creationId xmlns:p14="http://schemas.microsoft.com/office/powerpoint/2010/main" val="1343242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0A6AE-B9DF-F09C-72CC-995E0F9D31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C7ED16-06EF-6A65-2857-E02945ECB823}"/>
              </a:ext>
            </a:extLst>
          </p:cNvPr>
          <p:cNvSpPr>
            <a:spLocks noGrp="1"/>
          </p:cNvSpPr>
          <p:nvPr>
            <p:ph type="title"/>
          </p:nvPr>
        </p:nvSpPr>
        <p:spPr>
          <a:xfrm>
            <a:off x="453146" y="628782"/>
            <a:ext cx="8272212" cy="721203"/>
          </a:xfrm>
        </p:spPr>
        <p:txBody>
          <a:bodyPr anchor="ctr">
            <a:normAutofit/>
          </a:bodyPr>
          <a:lstStyle/>
          <a:p>
            <a:pPr algn="ctr"/>
            <a:r>
              <a:rPr lang="en-SG" sz="4000" dirty="0"/>
              <a:t>futures of value</a:t>
            </a:r>
          </a:p>
        </p:txBody>
      </p:sp>
      <p:sp>
        <p:nvSpPr>
          <p:cNvPr id="3" name="Content Placeholder 2">
            <a:extLst>
              <a:ext uri="{FF2B5EF4-FFF2-40B4-BE49-F238E27FC236}">
                <a16:creationId xmlns:a16="http://schemas.microsoft.com/office/drawing/2014/main" id="{FA10B5E9-C4AF-E4D2-756F-B2150A95D25F}"/>
              </a:ext>
            </a:extLst>
          </p:cNvPr>
          <p:cNvSpPr>
            <a:spLocks noGrp="1"/>
          </p:cNvSpPr>
          <p:nvPr>
            <p:ph idx="1"/>
          </p:nvPr>
        </p:nvSpPr>
        <p:spPr>
          <a:xfrm>
            <a:off x="435895" y="1579959"/>
            <a:ext cx="8272211" cy="4761781"/>
          </a:xfrm>
        </p:spPr>
        <p:txBody>
          <a:bodyPr anchor="t">
            <a:noAutofit/>
          </a:bodyPr>
          <a:lstStyle/>
          <a:p>
            <a:r>
              <a:rPr lang="en-US" sz="1800" dirty="0"/>
              <a:t>Marquis continues this line of thought with respect to abortion:</a:t>
            </a:r>
          </a:p>
          <a:p>
            <a:pPr marL="457200" lvl="1" indent="0">
              <a:buNone/>
            </a:pPr>
            <a:endParaRPr lang="en-US" sz="1800" dirty="0"/>
          </a:p>
          <a:p>
            <a:pPr marL="457200" lvl="1" indent="0">
              <a:buNone/>
            </a:pPr>
            <a:r>
              <a:rPr lang="en-US" sz="1800" dirty="0"/>
              <a:t>“…</a:t>
            </a:r>
            <a:r>
              <a:rPr lang="en-US" sz="1800" b="1" dirty="0"/>
              <a:t>abortion could be justified in some circumstances, only if the loss consequent on failing to abort would be at least as great</a:t>
            </a:r>
            <a:r>
              <a:rPr lang="en-US" sz="1800" dirty="0"/>
              <a:t>. Accordingly, morally permissible abortions will be rare indeed unless, perhaps, they occur so early in pregnancy that a fetus is not yet definitely an individual. Hence, this argument should be taken as showing that abortion is presumptively very seriously wrong, where the presumption is very strong – as strong as the presumption that killing another adult human being is wrong.” (Marquis, in Shafer-Landau 2024: 199)</a:t>
            </a:r>
          </a:p>
          <a:p>
            <a:pPr marL="0" indent="0">
              <a:buNone/>
            </a:pPr>
            <a:endParaRPr lang="en-US" sz="1800" dirty="0"/>
          </a:p>
          <a:p>
            <a:r>
              <a:rPr lang="en-US" sz="1800" dirty="0"/>
              <a:t>As the passage suggests, Marquis accepts that it can sometimes be morally permissible to have an abortion. But these would have to be situations in which the loss from </a:t>
            </a:r>
            <a:r>
              <a:rPr lang="en-US" sz="1800" i="1" dirty="0"/>
              <a:t>not</a:t>
            </a:r>
            <a:r>
              <a:rPr lang="en-US" sz="1800" dirty="0"/>
              <a:t> aborting “would be at least as great” as the loss of the fetus’s valuable future in an abortion (Ibid.).</a:t>
            </a:r>
          </a:p>
          <a:p>
            <a:endParaRPr lang="en-US" sz="1800" dirty="0"/>
          </a:p>
          <a:p>
            <a:pPr marL="457200" lvl="1" indent="0">
              <a:buNone/>
            </a:pPr>
            <a:endParaRPr lang="en-US" sz="1800" dirty="0"/>
          </a:p>
        </p:txBody>
      </p:sp>
      <p:sp>
        <p:nvSpPr>
          <p:cNvPr id="4" name="Footer Placeholder 3">
            <a:extLst>
              <a:ext uri="{FF2B5EF4-FFF2-40B4-BE49-F238E27FC236}">
                <a16:creationId xmlns:a16="http://schemas.microsoft.com/office/drawing/2014/main" id="{F62627DD-E453-3FD7-F53C-29850E49B62E}"/>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36F3CBF6-8D66-69E4-26F9-6D84B9B909DC}"/>
              </a:ext>
            </a:extLst>
          </p:cNvPr>
          <p:cNvSpPr>
            <a:spLocks noGrp="1"/>
          </p:cNvSpPr>
          <p:nvPr>
            <p:ph type="sldNum" sz="quarter" idx="12"/>
          </p:nvPr>
        </p:nvSpPr>
        <p:spPr/>
        <p:txBody>
          <a:bodyPr/>
          <a:lstStyle/>
          <a:p>
            <a:fld id="{3A98EE3D-8CD1-4C3F-BD1C-C98C9596463C}" type="slidenum">
              <a:rPr lang="en-US" sz="1200" smtClean="0"/>
              <a:t>9</a:t>
            </a:fld>
            <a:endParaRPr lang="en-US" sz="1200" dirty="0"/>
          </a:p>
        </p:txBody>
      </p:sp>
    </p:spTree>
    <p:extLst>
      <p:ext uri="{BB962C8B-B14F-4D97-AF65-F5344CB8AC3E}">
        <p14:creationId xmlns:p14="http://schemas.microsoft.com/office/powerpoint/2010/main" val="1848696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12A41-2511-B8DC-9AF6-EEA4F5C2D3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EB2FC-B0D5-E16C-37FF-7EC8A7EFF09B}"/>
              </a:ext>
            </a:extLst>
          </p:cNvPr>
          <p:cNvSpPr>
            <a:spLocks noGrp="1"/>
          </p:cNvSpPr>
          <p:nvPr>
            <p:ph type="title"/>
          </p:nvPr>
        </p:nvSpPr>
        <p:spPr>
          <a:xfrm>
            <a:off x="453146" y="628782"/>
            <a:ext cx="8272212" cy="721203"/>
          </a:xfrm>
        </p:spPr>
        <p:txBody>
          <a:bodyPr anchor="ctr">
            <a:normAutofit/>
          </a:bodyPr>
          <a:lstStyle/>
          <a:p>
            <a:pPr algn="ctr"/>
            <a:r>
              <a:rPr lang="en-SG" sz="4000" dirty="0"/>
              <a:t>Objections to marquis</a:t>
            </a:r>
          </a:p>
        </p:txBody>
      </p:sp>
      <p:sp>
        <p:nvSpPr>
          <p:cNvPr id="3" name="Content Placeholder 2">
            <a:extLst>
              <a:ext uri="{FF2B5EF4-FFF2-40B4-BE49-F238E27FC236}">
                <a16:creationId xmlns:a16="http://schemas.microsoft.com/office/drawing/2014/main" id="{B760510F-D57C-2A45-BB39-702E9B867A6C}"/>
              </a:ext>
            </a:extLst>
          </p:cNvPr>
          <p:cNvSpPr>
            <a:spLocks noGrp="1"/>
          </p:cNvSpPr>
          <p:nvPr>
            <p:ph idx="1"/>
          </p:nvPr>
        </p:nvSpPr>
        <p:spPr>
          <a:xfrm>
            <a:off x="435895" y="1579959"/>
            <a:ext cx="8272211" cy="4761781"/>
          </a:xfrm>
        </p:spPr>
        <p:txBody>
          <a:bodyPr anchor="t">
            <a:noAutofit/>
          </a:bodyPr>
          <a:lstStyle/>
          <a:p>
            <a:r>
              <a:rPr lang="en-US" sz="1800" dirty="0"/>
              <a:t>Let’s return to the summary of Marquis’s anti-abortion argument. From here, we can consider some objections to the argument, as well as Marquis’s replies. </a:t>
            </a:r>
          </a:p>
          <a:p>
            <a:endParaRPr lang="en-US" sz="1800" dirty="0"/>
          </a:p>
          <a:p>
            <a:pPr marL="243000" lvl="1" indent="0">
              <a:buNone/>
            </a:pPr>
            <a:r>
              <a:rPr lang="en-US" sz="1800" i="1" u="sng" dirty="0"/>
              <a:t>Marquis’s Argument that Abortion is Morally Wrong</a:t>
            </a:r>
          </a:p>
          <a:p>
            <a:pPr marL="585900" lvl="1" indent="-342900">
              <a:buFont typeface="+mj-lt"/>
              <a:buAutoNum type="arabicPeriod"/>
            </a:pPr>
            <a:r>
              <a:rPr lang="en-US" sz="1800" dirty="0">
                <a:highlight>
                  <a:srgbClr val="FFFF00"/>
                </a:highlight>
              </a:rPr>
              <a:t>If killing someone denies a future of value to the victim, then it is (presumptively) morally wrong to kill them.</a:t>
            </a:r>
          </a:p>
          <a:p>
            <a:pPr marL="585900" lvl="1" indent="-342900">
              <a:buFont typeface="+mj-lt"/>
              <a:buAutoNum type="arabicPeriod"/>
            </a:pPr>
            <a:r>
              <a:rPr lang="en-US" sz="1800" dirty="0"/>
              <a:t>Most aborted fetuses are denied futures of value.</a:t>
            </a:r>
          </a:p>
          <a:p>
            <a:pPr marL="585900" lvl="1" indent="-342900">
              <a:buFont typeface="+mj-lt"/>
              <a:buAutoNum type="arabicPeriod"/>
            </a:pPr>
            <a:r>
              <a:rPr lang="en-US" sz="1800" b="1" dirty="0"/>
              <a:t>(Conclusion) </a:t>
            </a:r>
            <a:r>
              <a:rPr lang="en-US" sz="1800" dirty="0"/>
              <a:t>So, in most cases, it is (presumptively) morally wrong to abort a fetus. </a:t>
            </a:r>
          </a:p>
          <a:p>
            <a:pPr marL="457200" lvl="1" indent="0">
              <a:buNone/>
            </a:pPr>
            <a:endParaRPr lang="en-US" sz="1800" dirty="0"/>
          </a:p>
          <a:p>
            <a:r>
              <a:rPr lang="en-US" sz="1800" dirty="0"/>
              <a:t>One way to challenge this argument is to negate premise 1. This is done by suggesting that </a:t>
            </a:r>
            <a:r>
              <a:rPr lang="en-US" sz="1800" i="1" dirty="0"/>
              <a:t>even if </a:t>
            </a:r>
            <a:r>
              <a:rPr lang="en-US" sz="1800" dirty="0"/>
              <a:t>killing someone takes away their future of value, it may not be (presumptively) wrong to kill them. </a:t>
            </a:r>
          </a:p>
        </p:txBody>
      </p:sp>
      <p:sp>
        <p:nvSpPr>
          <p:cNvPr id="4" name="Footer Placeholder 3">
            <a:extLst>
              <a:ext uri="{FF2B5EF4-FFF2-40B4-BE49-F238E27FC236}">
                <a16:creationId xmlns:a16="http://schemas.microsoft.com/office/drawing/2014/main" id="{79BE11A7-D973-B8F1-CB80-A81A4B424DA5}"/>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FE8E860C-1F33-60AC-27EF-F4D2652F5F0B}"/>
              </a:ext>
            </a:extLst>
          </p:cNvPr>
          <p:cNvSpPr>
            <a:spLocks noGrp="1"/>
          </p:cNvSpPr>
          <p:nvPr>
            <p:ph type="sldNum" sz="quarter" idx="12"/>
          </p:nvPr>
        </p:nvSpPr>
        <p:spPr/>
        <p:txBody>
          <a:bodyPr/>
          <a:lstStyle/>
          <a:p>
            <a:fld id="{3A98EE3D-8CD1-4C3F-BD1C-C98C9596463C}" type="slidenum">
              <a:rPr lang="en-US" sz="1200" smtClean="0"/>
              <a:t>10</a:t>
            </a:fld>
            <a:endParaRPr lang="en-US" sz="1200" dirty="0"/>
          </a:p>
        </p:txBody>
      </p:sp>
    </p:spTree>
    <p:extLst>
      <p:ext uri="{BB962C8B-B14F-4D97-AF65-F5344CB8AC3E}">
        <p14:creationId xmlns:p14="http://schemas.microsoft.com/office/powerpoint/2010/main" val="2648608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791C-4C54-DDAF-506F-5E41F4BAAB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8A6DE-1EEF-5C74-7186-CD882E6F8ABB}"/>
              </a:ext>
            </a:extLst>
          </p:cNvPr>
          <p:cNvSpPr>
            <a:spLocks noGrp="1"/>
          </p:cNvSpPr>
          <p:nvPr>
            <p:ph type="title"/>
          </p:nvPr>
        </p:nvSpPr>
        <p:spPr>
          <a:xfrm>
            <a:off x="453146" y="628782"/>
            <a:ext cx="8272212" cy="721203"/>
          </a:xfrm>
        </p:spPr>
        <p:txBody>
          <a:bodyPr anchor="ctr">
            <a:normAutofit/>
          </a:bodyPr>
          <a:lstStyle/>
          <a:p>
            <a:pPr algn="ctr"/>
            <a:r>
              <a:rPr lang="en-SG" sz="4000" dirty="0"/>
              <a:t>Objection: consciousness</a:t>
            </a:r>
          </a:p>
        </p:txBody>
      </p:sp>
      <p:sp>
        <p:nvSpPr>
          <p:cNvPr id="3" name="Content Placeholder 2">
            <a:extLst>
              <a:ext uri="{FF2B5EF4-FFF2-40B4-BE49-F238E27FC236}">
                <a16:creationId xmlns:a16="http://schemas.microsoft.com/office/drawing/2014/main" id="{DDF4799A-E393-1B07-F6D9-44C09A09DE8F}"/>
              </a:ext>
            </a:extLst>
          </p:cNvPr>
          <p:cNvSpPr>
            <a:spLocks noGrp="1"/>
          </p:cNvSpPr>
          <p:nvPr>
            <p:ph idx="1"/>
          </p:nvPr>
        </p:nvSpPr>
        <p:spPr>
          <a:xfrm>
            <a:off x="435895" y="1579959"/>
            <a:ext cx="8272211" cy="4761781"/>
          </a:xfrm>
        </p:spPr>
        <p:txBody>
          <a:bodyPr anchor="t">
            <a:noAutofit/>
          </a:bodyPr>
          <a:lstStyle/>
          <a:p>
            <a:r>
              <a:rPr lang="en-US" sz="1800" dirty="0"/>
              <a:t>Why might it</a:t>
            </a:r>
            <a:r>
              <a:rPr lang="en-US" sz="1800" i="1" dirty="0"/>
              <a:t> not </a:t>
            </a:r>
            <a:r>
              <a:rPr lang="en-US" sz="1800" dirty="0"/>
              <a:t>be wrong to kill someone, even if doing so takes away their future of value? Marquis considers two possible explanations (Marquis, in Shafer-Landau 2024: 199):</a:t>
            </a:r>
          </a:p>
          <a:p>
            <a:endParaRPr lang="en-US" sz="1800" dirty="0"/>
          </a:p>
          <a:p>
            <a:pPr lvl="2"/>
            <a:r>
              <a:rPr lang="en-US" sz="1800" dirty="0"/>
              <a:t>First, it might be argued that early-term fetuses, at least, do not have a desire to live, because </a:t>
            </a:r>
            <a:r>
              <a:rPr lang="en-US" sz="1800" i="1" dirty="0"/>
              <a:t>they haven’t yet developed the brain structures needed to form desires at all</a:t>
            </a:r>
            <a:r>
              <a:rPr lang="en-US" sz="1800" dirty="0"/>
              <a:t>. It is not wrong to kill someone if they do not have a desire to live. Therefore, it would not be wrong to abort early-term fetuses.</a:t>
            </a:r>
          </a:p>
          <a:p>
            <a:pPr lvl="2"/>
            <a:endParaRPr lang="en-US" sz="1800" dirty="0"/>
          </a:p>
          <a:p>
            <a:pPr lvl="2"/>
            <a:r>
              <a:rPr lang="en-US" sz="1800" dirty="0"/>
              <a:t>Second, it might be argued that early-term fetuses </a:t>
            </a:r>
            <a:r>
              <a:rPr lang="en-US" sz="1800" i="1" dirty="0"/>
              <a:t>do not yet have </a:t>
            </a:r>
            <a:r>
              <a:rPr lang="en-US" sz="1800" dirty="0"/>
              <a:t>a</a:t>
            </a:r>
            <a:r>
              <a:rPr lang="en-US" sz="1800" i="1" dirty="0"/>
              <a:t>ny conscious experiences that they value</a:t>
            </a:r>
            <a:r>
              <a:rPr lang="en-US" sz="1800" dirty="0"/>
              <a:t>, because they haven’t yet developed the brain structures needed to have such experiences. It is not wrong to kill someone who does not have conscious experiences that they value. Therefore, it would not be wrong to abort early-term fetuses.</a:t>
            </a:r>
          </a:p>
        </p:txBody>
      </p:sp>
      <p:sp>
        <p:nvSpPr>
          <p:cNvPr id="4" name="Footer Placeholder 3">
            <a:extLst>
              <a:ext uri="{FF2B5EF4-FFF2-40B4-BE49-F238E27FC236}">
                <a16:creationId xmlns:a16="http://schemas.microsoft.com/office/drawing/2014/main" id="{76C88996-50AE-C9C9-D1AA-D9571EB10FBF}"/>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48AD4C5D-0769-FA76-E607-D6DDFD9D53F6}"/>
              </a:ext>
            </a:extLst>
          </p:cNvPr>
          <p:cNvSpPr>
            <a:spLocks noGrp="1"/>
          </p:cNvSpPr>
          <p:nvPr>
            <p:ph type="sldNum" sz="quarter" idx="12"/>
          </p:nvPr>
        </p:nvSpPr>
        <p:spPr/>
        <p:txBody>
          <a:bodyPr/>
          <a:lstStyle/>
          <a:p>
            <a:fld id="{3A98EE3D-8CD1-4C3F-BD1C-C98C9596463C}" type="slidenum">
              <a:rPr lang="en-US" sz="1200" smtClean="0"/>
              <a:t>11</a:t>
            </a:fld>
            <a:endParaRPr lang="en-US" sz="1200" dirty="0"/>
          </a:p>
        </p:txBody>
      </p:sp>
    </p:spTree>
    <p:extLst>
      <p:ext uri="{BB962C8B-B14F-4D97-AF65-F5344CB8AC3E}">
        <p14:creationId xmlns:p14="http://schemas.microsoft.com/office/powerpoint/2010/main" val="20404747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ED98D-62FB-0862-725C-182BB644A3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27003A-70D7-E280-C154-BF58FF60BCB9}"/>
              </a:ext>
            </a:extLst>
          </p:cNvPr>
          <p:cNvSpPr>
            <a:spLocks noGrp="1"/>
          </p:cNvSpPr>
          <p:nvPr>
            <p:ph type="title"/>
          </p:nvPr>
        </p:nvSpPr>
        <p:spPr>
          <a:xfrm>
            <a:off x="453146" y="628782"/>
            <a:ext cx="8272212" cy="721203"/>
          </a:xfrm>
        </p:spPr>
        <p:txBody>
          <a:bodyPr anchor="ctr">
            <a:normAutofit/>
          </a:bodyPr>
          <a:lstStyle/>
          <a:p>
            <a:pPr algn="ctr"/>
            <a:r>
              <a:rPr lang="en-SG" sz="4000" dirty="0"/>
              <a:t>Objection: consciousness</a:t>
            </a:r>
          </a:p>
        </p:txBody>
      </p:sp>
      <p:sp>
        <p:nvSpPr>
          <p:cNvPr id="3" name="Content Placeholder 2">
            <a:extLst>
              <a:ext uri="{FF2B5EF4-FFF2-40B4-BE49-F238E27FC236}">
                <a16:creationId xmlns:a16="http://schemas.microsoft.com/office/drawing/2014/main" id="{2736B151-EF70-CCD8-04BE-FFCA25DC7BB5}"/>
              </a:ext>
            </a:extLst>
          </p:cNvPr>
          <p:cNvSpPr>
            <a:spLocks noGrp="1"/>
          </p:cNvSpPr>
          <p:nvPr>
            <p:ph idx="1"/>
          </p:nvPr>
        </p:nvSpPr>
        <p:spPr>
          <a:xfrm>
            <a:off x="435895" y="1579959"/>
            <a:ext cx="8272211" cy="4761781"/>
          </a:xfrm>
        </p:spPr>
        <p:txBody>
          <a:bodyPr anchor="t">
            <a:noAutofit/>
          </a:bodyPr>
          <a:lstStyle/>
          <a:p>
            <a:r>
              <a:rPr lang="en-US" sz="1900" dirty="0"/>
              <a:t>Marquis replies to these objections as follows (Marquis, in Shafer-Landau 2024: 199):</a:t>
            </a:r>
          </a:p>
          <a:p>
            <a:endParaRPr lang="en-US" sz="1900" dirty="0"/>
          </a:p>
          <a:p>
            <a:pPr lvl="1"/>
            <a:r>
              <a:rPr lang="en-US" sz="1900" dirty="0"/>
              <a:t>First, Marquis argues that it is seriously wrong to kill someone even if they </a:t>
            </a:r>
            <a:r>
              <a:rPr lang="en-US" sz="1900" i="1" dirty="0"/>
              <a:t>currently</a:t>
            </a:r>
            <a:r>
              <a:rPr lang="en-US" sz="1900" dirty="0"/>
              <a:t> have no desire to live. It would be wrong, for instance, to kill someone who became temporarily unconscious, even though she currently does not have any desires in her unconscious state. The reason is that, in the future, such a person likely </a:t>
            </a:r>
            <a:r>
              <a:rPr lang="en-US" sz="1900" i="1" dirty="0"/>
              <a:t>will</a:t>
            </a:r>
            <a:r>
              <a:rPr lang="en-US" sz="1900" dirty="0"/>
              <a:t> regain her desire to live after becoming conscious again.</a:t>
            </a:r>
          </a:p>
          <a:p>
            <a:pPr lvl="1"/>
            <a:endParaRPr lang="en-US" sz="1900" dirty="0"/>
          </a:p>
          <a:p>
            <a:pPr lvl="1"/>
            <a:r>
              <a:rPr lang="en-US" sz="1900" dirty="0"/>
              <a:t>Second, Marquis maintains that it can be wrong to kill someone even if they don’t currently have any conscious experiences that they value. For instance, it would be wrong to kill such a person, if in the future they likely </a:t>
            </a:r>
            <a:r>
              <a:rPr lang="en-US" sz="1900" i="1" dirty="0"/>
              <a:t>will</a:t>
            </a:r>
            <a:r>
              <a:rPr lang="en-US" sz="1900" dirty="0"/>
              <a:t> have conscious experiences that they value. </a:t>
            </a:r>
          </a:p>
          <a:p>
            <a:pPr lvl="1"/>
            <a:endParaRPr lang="en-US" sz="1800" dirty="0">
              <a:solidFill>
                <a:srgbClr val="FF0000"/>
              </a:solidFill>
            </a:endParaRPr>
          </a:p>
          <a:p>
            <a:pPr lvl="1"/>
            <a:endParaRPr lang="en-US" sz="1800" dirty="0"/>
          </a:p>
        </p:txBody>
      </p:sp>
      <p:sp>
        <p:nvSpPr>
          <p:cNvPr id="4" name="Footer Placeholder 3">
            <a:extLst>
              <a:ext uri="{FF2B5EF4-FFF2-40B4-BE49-F238E27FC236}">
                <a16:creationId xmlns:a16="http://schemas.microsoft.com/office/drawing/2014/main" id="{056573B0-AEBB-1261-D9BD-6AD7F52AE301}"/>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48831AD2-AE72-7C1E-91DB-53994D390AAC}"/>
              </a:ext>
            </a:extLst>
          </p:cNvPr>
          <p:cNvSpPr>
            <a:spLocks noGrp="1"/>
          </p:cNvSpPr>
          <p:nvPr>
            <p:ph type="sldNum" sz="quarter" idx="12"/>
          </p:nvPr>
        </p:nvSpPr>
        <p:spPr/>
        <p:txBody>
          <a:bodyPr/>
          <a:lstStyle/>
          <a:p>
            <a:fld id="{3A98EE3D-8CD1-4C3F-BD1C-C98C9596463C}" type="slidenum">
              <a:rPr lang="en-US" sz="1200" smtClean="0"/>
              <a:t>12</a:t>
            </a:fld>
            <a:endParaRPr lang="en-US" sz="1200" dirty="0"/>
          </a:p>
        </p:txBody>
      </p:sp>
    </p:spTree>
    <p:extLst>
      <p:ext uri="{BB962C8B-B14F-4D97-AF65-F5344CB8AC3E}">
        <p14:creationId xmlns:p14="http://schemas.microsoft.com/office/powerpoint/2010/main" val="11889189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6BAE0-3BA1-5EB2-AE18-E25882744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674F7-0A52-3E12-9212-F6F64078FC00}"/>
              </a:ext>
            </a:extLst>
          </p:cNvPr>
          <p:cNvSpPr>
            <a:spLocks noGrp="1"/>
          </p:cNvSpPr>
          <p:nvPr>
            <p:ph type="title"/>
          </p:nvPr>
        </p:nvSpPr>
        <p:spPr>
          <a:xfrm>
            <a:off x="453146" y="628782"/>
            <a:ext cx="8272212" cy="721203"/>
          </a:xfrm>
        </p:spPr>
        <p:txBody>
          <a:bodyPr anchor="ctr">
            <a:normAutofit/>
          </a:bodyPr>
          <a:lstStyle/>
          <a:p>
            <a:pPr algn="ctr"/>
            <a:r>
              <a:rPr lang="en-SG" sz="4000" dirty="0"/>
              <a:t>Objection: contraception</a:t>
            </a:r>
          </a:p>
        </p:txBody>
      </p:sp>
      <p:sp>
        <p:nvSpPr>
          <p:cNvPr id="3" name="Content Placeholder 2">
            <a:extLst>
              <a:ext uri="{FF2B5EF4-FFF2-40B4-BE49-F238E27FC236}">
                <a16:creationId xmlns:a16="http://schemas.microsoft.com/office/drawing/2014/main" id="{027FF11E-D3B4-2A2B-2375-0FFC16E4D1A8}"/>
              </a:ext>
            </a:extLst>
          </p:cNvPr>
          <p:cNvSpPr>
            <a:spLocks noGrp="1"/>
          </p:cNvSpPr>
          <p:nvPr>
            <p:ph idx="1"/>
          </p:nvPr>
        </p:nvSpPr>
        <p:spPr>
          <a:xfrm>
            <a:off x="435895" y="1579959"/>
            <a:ext cx="8272211" cy="4761781"/>
          </a:xfrm>
        </p:spPr>
        <p:txBody>
          <a:bodyPr anchor="t">
            <a:noAutofit/>
          </a:bodyPr>
          <a:lstStyle/>
          <a:p>
            <a:r>
              <a:rPr lang="en-US" sz="1800" dirty="0"/>
              <a:t>At the end of his essay, Marquis rebuts one last objection to his argument. We can call it the</a:t>
            </a:r>
            <a:r>
              <a:rPr lang="en-US" sz="1800" b="1" dirty="0"/>
              <a:t> Objection from Contraception </a:t>
            </a:r>
            <a:r>
              <a:rPr lang="en-US" sz="1800" dirty="0"/>
              <a:t>(see Marquis, in Shafer-Landau 2024: 212-213).</a:t>
            </a:r>
          </a:p>
          <a:p>
            <a:pPr lvl="1"/>
            <a:endParaRPr lang="en-US" sz="1800" dirty="0"/>
          </a:p>
          <a:p>
            <a:pPr lvl="1"/>
            <a:r>
              <a:rPr lang="en-US" sz="1800" dirty="0"/>
              <a:t>The objection alleges that if, as Marquis thinks, abortion is wrong because it denies futures of value to the unborn, then contraception would also have to be wrong because it, too, denies futures of value to the unborn. </a:t>
            </a:r>
          </a:p>
          <a:p>
            <a:pPr lvl="1"/>
            <a:endParaRPr lang="en-US" sz="1800" dirty="0"/>
          </a:p>
          <a:p>
            <a:pPr lvl="1"/>
            <a:r>
              <a:rPr lang="en-US" sz="1800" dirty="0"/>
              <a:t>Contraception arguably deprives the unborn of valuable futures, either by preventing sperm from fertilizing eggs, </a:t>
            </a:r>
            <a:r>
              <a:rPr lang="en-US" sz="1800" i="1" dirty="0"/>
              <a:t>or</a:t>
            </a:r>
            <a:r>
              <a:rPr lang="en-US" sz="1800" dirty="0"/>
              <a:t> by preventing the implantation of fertilized eggs (</a:t>
            </a:r>
            <a:r>
              <a:rPr lang="en-SG" sz="1800" dirty="0">
                <a:solidFill>
                  <a:schemeClr val="tx1"/>
                </a:solidFill>
                <a:hlinkClick r:id="rId3"/>
              </a:rPr>
              <a:t>Women’s Health Specialists</a:t>
            </a:r>
            <a:r>
              <a:rPr lang="en-SG" sz="1800" dirty="0">
                <a:solidFill>
                  <a:schemeClr val="tx1"/>
                </a:solidFill>
              </a:rPr>
              <a:t>; </a:t>
            </a:r>
            <a:r>
              <a:rPr lang="en-SG" sz="1800" dirty="0">
                <a:solidFill>
                  <a:schemeClr val="tx1"/>
                </a:solidFill>
                <a:hlinkClick r:id="rId4"/>
              </a:rPr>
              <a:t>Cleveland Clinic</a:t>
            </a:r>
            <a:r>
              <a:rPr lang="en-SG" sz="1800" dirty="0">
                <a:solidFill>
                  <a:schemeClr val="tx1"/>
                </a:solidFill>
              </a:rPr>
              <a:t>)</a:t>
            </a:r>
            <a:r>
              <a:rPr lang="en-US" sz="1800" dirty="0"/>
              <a:t>. </a:t>
            </a:r>
          </a:p>
          <a:p>
            <a:pPr marL="243000" lvl="1" indent="0">
              <a:buNone/>
            </a:pPr>
            <a:endParaRPr lang="en-US" sz="1800" dirty="0"/>
          </a:p>
          <a:p>
            <a:pPr lvl="1"/>
            <a:r>
              <a:rPr lang="en-US" sz="1800" dirty="0"/>
              <a:t>But surely, the objection points out, contraception is not wrong. And so, neither is it wrong to eliminate a fetus’s valuable future through abortion. </a:t>
            </a:r>
          </a:p>
          <a:p>
            <a:pPr lvl="1"/>
            <a:endParaRPr lang="en-US" sz="1900" dirty="0"/>
          </a:p>
        </p:txBody>
      </p:sp>
      <p:sp>
        <p:nvSpPr>
          <p:cNvPr id="4" name="Footer Placeholder 3">
            <a:extLst>
              <a:ext uri="{FF2B5EF4-FFF2-40B4-BE49-F238E27FC236}">
                <a16:creationId xmlns:a16="http://schemas.microsoft.com/office/drawing/2014/main" id="{6B1C5E0F-2BFF-43FA-7D47-0F1132768D0B}"/>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967196B7-270C-CD4B-2829-AAB490DC87E7}"/>
              </a:ext>
            </a:extLst>
          </p:cNvPr>
          <p:cNvSpPr>
            <a:spLocks noGrp="1"/>
          </p:cNvSpPr>
          <p:nvPr>
            <p:ph type="sldNum" sz="quarter" idx="12"/>
          </p:nvPr>
        </p:nvSpPr>
        <p:spPr/>
        <p:txBody>
          <a:bodyPr/>
          <a:lstStyle/>
          <a:p>
            <a:fld id="{3A98EE3D-8CD1-4C3F-BD1C-C98C9596463C}" type="slidenum">
              <a:rPr lang="en-US" sz="1200" smtClean="0"/>
              <a:t>13</a:t>
            </a:fld>
            <a:endParaRPr lang="en-US" sz="1200" dirty="0"/>
          </a:p>
        </p:txBody>
      </p:sp>
    </p:spTree>
    <p:extLst>
      <p:ext uri="{BB962C8B-B14F-4D97-AF65-F5344CB8AC3E}">
        <p14:creationId xmlns:p14="http://schemas.microsoft.com/office/powerpoint/2010/main" val="3424185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319E2-05BF-B513-9D57-EF1D0EFC91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2D9E9-AC6B-7057-FD39-C387A840945F}"/>
              </a:ext>
            </a:extLst>
          </p:cNvPr>
          <p:cNvSpPr>
            <a:spLocks noGrp="1"/>
          </p:cNvSpPr>
          <p:nvPr>
            <p:ph type="title"/>
          </p:nvPr>
        </p:nvSpPr>
        <p:spPr>
          <a:xfrm>
            <a:off x="453146" y="628782"/>
            <a:ext cx="8272212" cy="721203"/>
          </a:xfrm>
        </p:spPr>
        <p:txBody>
          <a:bodyPr anchor="ctr">
            <a:normAutofit/>
          </a:bodyPr>
          <a:lstStyle/>
          <a:p>
            <a:pPr algn="ctr"/>
            <a:r>
              <a:rPr lang="en-SG" sz="4000" dirty="0"/>
              <a:t>Objection: contraception</a:t>
            </a:r>
          </a:p>
        </p:txBody>
      </p:sp>
      <p:sp>
        <p:nvSpPr>
          <p:cNvPr id="3" name="Content Placeholder 2">
            <a:extLst>
              <a:ext uri="{FF2B5EF4-FFF2-40B4-BE49-F238E27FC236}">
                <a16:creationId xmlns:a16="http://schemas.microsoft.com/office/drawing/2014/main" id="{39039BC8-C2DA-56E4-5565-BA5EDEC8C79F}"/>
              </a:ext>
            </a:extLst>
          </p:cNvPr>
          <p:cNvSpPr>
            <a:spLocks noGrp="1"/>
          </p:cNvSpPr>
          <p:nvPr>
            <p:ph idx="1"/>
          </p:nvPr>
        </p:nvSpPr>
        <p:spPr>
          <a:xfrm>
            <a:off x="435895" y="1579959"/>
            <a:ext cx="8272211" cy="4761781"/>
          </a:xfrm>
        </p:spPr>
        <p:txBody>
          <a:bodyPr anchor="t">
            <a:noAutofit/>
          </a:bodyPr>
          <a:lstStyle/>
          <a:p>
            <a:r>
              <a:rPr lang="en-SG" sz="2000" dirty="0">
                <a:solidFill>
                  <a:schemeClr val="tx1"/>
                </a:solidFill>
              </a:rPr>
              <a:t>The Contraception Objection is potentially troubling for Marquis’s view, as it is widely believed that the use of contraception is morally permissible. </a:t>
            </a:r>
          </a:p>
          <a:p>
            <a:pPr lvl="1"/>
            <a:r>
              <a:rPr lang="en-SG" sz="2000" dirty="0">
                <a:solidFill>
                  <a:schemeClr val="tx1"/>
                </a:solidFill>
              </a:rPr>
              <a:t>According to a 2022 Gallup poll, 92% of Americans believe it’s morally acceptable to use birth control (</a:t>
            </a:r>
            <a:r>
              <a:rPr lang="en-SG" sz="2000" dirty="0">
                <a:solidFill>
                  <a:schemeClr val="tx1"/>
                </a:solidFill>
                <a:hlinkClick r:id="rId3"/>
              </a:rPr>
              <a:t>Brenan 2022</a:t>
            </a:r>
            <a:r>
              <a:rPr lang="en-SG" sz="2000" dirty="0">
                <a:solidFill>
                  <a:schemeClr val="tx1"/>
                </a:solidFill>
              </a:rPr>
              <a:t>). </a:t>
            </a:r>
          </a:p>
          <a:p>
            <a:endParaRPr lang="en-SG" sz="2000" dirty="0">
              <a:solidFill>
                <a:schemeClr val="tx1"/>
              </a:solidFill>
            </a:endParaRPr>
          </a:p>
          <a:p>
            <a:r>
              <a:rPr lang="en-SG" sz="2000" dirty="0">
                <a:solidFill>
                  <a:schemeClr val="tx1"/>
                </a:solidFill>
              </a:rPr>
              <a:t>In most cases, contraceptive methods work by preventing conception—the fertilization of an egg by a sperm. All of the following methods work this way:</a:t>
            </a:r>
          </a:p>
          <a:p>
            <a:pPr lvl="1"/>
            <a:r>
              <a:rPr lang="en-SG" sz="2000" dirty="0">
                <a:solidFill>
                  <a:schemeClr val="tx1"/>
                </a:solidFill>
              </a:rPr>
              <a:t>Condoms, diaphragms</a:t>
            </a:r>
          </a:p>
          <a:p>
            <a:pPr lvl="1"/>
            <a:r>
              <a:rPr lang="en-SG" sz="2000" dirty="0">
                <a:solidFill>
                  <a:schemeClr val="tx1"/>
                </a:solidFill>
              </a:rPr>
              <a:t>Intra-uterine devices (IUDs)</a:t>
            </a:r>
          </a:p>
          <a:p>
            <a:pPr lvl="1"/>
            <a:r>
              <a:rPr lang="en-SG" sz="2000" dirty="0">
                <a:solidFill>
                  <a:schemeClr val="tx1"/>
                </a:solidFill>
              </a:rPr>
              <a:t>Birth control pills, emergency contraceptive pills (a.k.a. Plan B) </a:t>
            </a:r>
          </a:p>
          <a:p>
            <a:pPr lvl="1"/>
            <a:r>
              <a:rPr lang="en-SG" sz="2000" dirty="0">
                <a:solidFill>
                  <a:schemeClr val="tx1"/>
                </a:solidFill>
              </a:rPr>
              <a:t>The “rhythm method”</a:t>
            </a:r>
          </a:p>
          <a:p>
            <a:pPr lvl="1"/>
            <a:endParaRPr lang="en-SG" sz="2000" dirty="0">
              <a:solidFill>
                <a:schemeClr val="tx1"/>
              </a:solidFill>
            </a:endParaRPr>
          </a:p>
        </p:txBody>
      </p:sp>
      <p:sp>
        <p:nvSpPr>
          <p:cNvPr id="4" name="Footer Placeholder 3">
            <a:extLst>
              <a:ext uri="{FF2B5EF4-FFF2-40B4-BE49-F238E27FC236}">
                <a16:creationId xmlns:a16="http://schemas.microsoft.com/office/drawing/2014/main" id="{033B5F50-DDFA-D6B3-9E1E-61CCB475F608}"/>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65024363-FB1C-8085-E40A-9FBAD126A5C6}"/>
              </a:ext>
            </a:extLst>
          </p:cNvPr>
          <p:cNvSpPr>
            <a:spLocks noGrp="1"/>
          </p:cNvSpPr>
          <p:nvPr>
            <p:ph type="sldNum" sz="quarter" idx="12"/>
          </p:nvPr>
        </p:nvSpPr>
        <p:spPr/>
        <p:txBody>
          <a:bodyPr/>
          <a:lstStyle/>
          <a:p>
            <a:fld id="{3A98EE3D-8CD1-4C3F-BD1C-C98C9596463C}" type="slidenum">
              <a:rPr lang="en-US" sz="1200" smtClean="0"/>
              <a:t>14</a:t>
            </a:fld>
            <a:endParaRPr lang="en-US" sz="1200" dirty="0"/>
          </a:p>
        </p:txBody>
      </p:sp>
    </p:spTree>
    <p:extLst>
      <p:ext uri="{BB962C8B-B14F-4D97-AF65-F5344CB8AC3E}">
        <p14:creationId xmlns:p14="http://schemas.microsoft.com/office/powerpoint/2010/main" val="15040349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BE9F9-A1A4-7302-A9F7-90FEBDBD0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FC64B0-1C21-175B-F25B-E01D2506D729}"/>
              </a:ext>
            </a:extLst>
          </p:cNvPr>
          <p:cNvSpPr>
            <a:spLocks noGrp="1"/>
          </p:cNvSpPr>
          <p:nvPr>
            <p:ph type="title"/>
          </p:nvPr>
        </p:nvSpPr>
        <p:spPr>
          <a:xfrm>
            <a:off x="453146" y="628782"/>
            <a:ext cx="8272212" cy="721203"/>
          </a:xfrm>
        </p:spPr>
        <p:txBody>
          <a:bodyPr anchor="ctr">
            <a:normAutofit/>
          </a:bodyPr>
          <a:lstStyle/>
          <a:p>
            <a:pPr algn="ctr"/>
            <a:r>
              <a:rPr lang="en-SG" sz="4000" dirty="0"/>
              <a:t>Objection: contraception</a:t>
            </a:r>
          </a:p>
        </p:txBody>
      </p:sp>
      <p:sp>
        <p:nvSpPr>
          <p:cNvPr id="3" name="Content Placeholder 2">
            <a:extLst>
              <a:ext uri="{FF2B5EF4-FFF2-40B4-BE49-F238E27FC236}">
                <a16:creationId xmlns:a16="http://schemas.microsoft.com/office/drawing/2014/main" id="{F2376CBB-60C8-103F-ABED-C8710F91E061}"/>
              </a:ext>
            </a:extLst>
          </p:cNvPr>
          <p:cNvSpPr>
            <a:spLocks noGrp="1"/>
          </p:cNvSpPr>
          <p:nvPr>
            <p:ph idx="1"/>
          </p:nvPr>
        </p:nvSpPr>
        <p:spPr>
          <a:xfrm>
            <a:off x="435895" y="1579959"/>
            <a:ext cx="8272211" cy="4761781"/>
          </a:xfrm>
        </p:spPr>
        <p:txBody>
          <a:bodyPr anchor="t">
            <a:noAutofit/>
          </a:bodyPr>
          <a:lstStyle/>
          <a:p>
            <a:r>
              <a:rPr lang="en-SG" sz="2100" dirty="0">
                <a:solidFill>
                  <a:schemeClr val="tx1"/>
                </a:solidFill>
              </a:rPr>
              <a:t>In addition, some contraceptive methods work by making a woman’s uterus inhospitable </a:t>
            </a:r>
            <a:r>
              <a:rPr lang="en-SG" sz="2100" i="1" dirty="0">
                <a:solidFill>
                  <a:schemeClr val="tx1"/>
                </a:solidFill>
              </a:rPr>
              <a:t>for a fertilized egg</a:t>
            </a:r>
            <a:r>
              <a:rPr lang="en-SG" sz="2100" dirty="0">
                <a:solidFill>
                  <a:schemeClr val="tx1"/>
                </a:solidFill>
              </a:rPr>
              <a:t>.  </a:t>
            </a:r>
          </a:p>
          <a:p>
            <a:endParaRPr lang="en-SG" sz="2100" dirty="0">
              <a:solidFill>
                <a:schemeClr val="tx1"/>
              </a:solidFill>
            </a:endParaRPr>
          </a:p>
          <a:p>
            <a:r>
              <a:rPr lang="en-SG" sz="2100" dirty="0">
                <a:solidFill>
                  <a:schemeClr val="tx1"/>
                </a:solidFill>
              </a:rPr>
              <a:t>Intrauterine devices (IUDs) and birth-control pills are popular contraceptives that prevent pregnancy in either of two ways (</a:t>
            </a:r>
            <a:r>
              <a:rPr lang="en-SG" sz="2100" dirty="0">
                <a:solidFill>
                  <a:schemeClr val="tx1"/>
                </a:solidFill>
                <a:hlinkClick r:id="rId3"/>
              </a:rPr>
              <a:t>Women’s Health Specialists</a:t>
            </a:r>
            <a:r>
              <a:rPr lang="en-SG" sz="2100" dirty="0">
                <a:solidFill>
                  <a:schemeClr val="tx1"/>
                </a:solidFill>
              </a:rPr>
              <a:t>; </a:t>
            </a:r>
            <a:r>
              <a:rPr lang="en-SG" sz="2100" dirty="0">
                <a:solidFill>
                  <a:schemeClr val="tx1"/>
                </a:solidFill>
                <a:hlinkClick r:id="rId4"/>
              </a:rPr>
              <a:t>Cleveland Clinic</a:t>
            </a:r>
            <a:r>
              <a:rPr lang="en-SG" sz="2100" dirty="0">
                <a:solidFill>
                  <a:schemeClr val="tx1"/>
                </a:solidFill>
              </a:rPr>
              <a:t>):</a:t>
            </a:r>
          </a:p>
          <a:p>
            <a:pPr marL="700200" lvl="1" indent="-457200">
              <a:buFont typeface="+mj-lt"/>
              <a:buAutoNum type="arabicParenR"/>
            </a:pPr>
            <a:r>
              <a:rPr lang="en-SG" sz="2100" dirty="0">
                <a:solidFill>
                  <a:schemeClr val="tx1"/>
                </a:solidFill>
              </a:rPr>
              <a:t>Keeping an egg from being fertilized by a sperm cell in the first place.</a:t>
            </a:r>
          </a:p>
          <a:p>
            <a:pPr marL="700200" lvl="1" indent="-457200">
              <a:buFont typeface="+mj-lt"/>
              <a:buAutoNum type="arabicParenR"/>
            </a:pPr>
            <a:r>
              <a:rPr lang="en-SG" sz="2100" dirty="0">
                <a:solidFill>
                  <a:schemeClr val="tx1"/>
                </a:solidFill>
              </a:rPr>
              <a:t>Thinning a woman’s uterine lining, so that an </a:t>
            </a:r>
            <a:r>
              <a:rPr lang="en-SG" sz="2100" i="1" dirty="0">
                <a:solidFill>
                  <a:schemeClr val="tx1"/>
                </a:solidFill>
              </a:rPr>
              <a:t>already-fertilized egg</a:t>
            </a:r>
            <a:r>
              <a:rPr lang="en-SG" sz="2100" dirty="0">
                <a:solidFill>
                  <a:schemeClr val="tx1"/>
                </a:solidFill>
              </a:rPr>
              <a:t> does not implant in the woman’s uterus. </a:t>
            </a:r>
          </a:p>
          <a:p>
            <a:pPr lvl="3"/>
            <a:r>
              <a:rPr lang="en-SG" sz="2100" dirty="0">
                <a:solidFill>
                  <a:schemeClr val="tx1"/>
                </a:solidFill>
              </a:rPr>
              <a:t>When a fertilized egg (the zygote) does not implant, it dies. </a:t>
            </a:r>
          </a:p>
        </p:txBody>
      </p:sp>
      <p:sp>
        <p:nvSpPr>
          <p:cNvPr id="4" name="Footer Placeholder 3">
            <a:extLst>
              <a:ext uri="{FF2B5EF4-FFF2-40B4-BE49-F238E27FC236}">
                <a16:creationId xmlns:a16="http://schemas.microsoft.com/office/drawing/2014/main" id="{09DE16C9-5DC0-E368-93FD-D719B475E68D}"/>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8F5626AC-6FA0-B068-1CE8-71CE1A266F48}"/>
              </a:ext>
            </a:extLst>
          </p:cNvPr>
          <p:cNvSpPr>
            <a:spLocks noGrp="1"/>
          </p:cNvSpPr>
          <p:nvPr>
            <p:ph type="sldNum" sz="quarter" idx="12"/>
          </p:nvPr>
        </p:nvSpPr>
        <p:spPr/>
        <p:txBody>
          <a:bodyPr/>
          <a:lstStyle/>
          <a:p>
            <a:fld id="{3A98EE3D-8CD1-4C3F-BD1C-C98C9596463C}" type="slidenum">
              <a:rPr lang="en-US" sz="1200" smtClean="0"/>
              <a:t>15</a:t>
            </a:fld>
            <a:endParaRPr lang="en-US" sz="1200" dirty="0"/>
          </a:p>
        </p:txBody>
      </p:sp>
    </p:spTree>
    <p:extLst>
      <p:ext uri="{BB962C8B-B14F-4D97-AF65-F5344CB8AC3E}">
        <p14:creationId xmlns:p14="http://schemas.microsoft.com/office/powerpoint/2010/main" val="3418421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86CC6-76AA-D82C-D281-E237CA7DD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12F10-52B1-EEB9-4AE9-D4406C5EBE55}"/>
              </a:ext>
            </a:extLst>
          </p:cNvPr>
          <p:cNvSpPr>
            <a:spLocks noGrp="1"/>
          </p:cNvSpPr>
          <p:nvPr>
            <p:ph type="title"/>
          </p:nvPr>
        </p:nvSpPr>
        <p:spPr>
          <a:xfrm>
            <a:off x="453146" y="628782"/>
            <a:ext cx="8272212" cy="721203"/>
          </a:xfrm>
        </p:spPr>
        <p:txBody>
          <a:bodyPr anchor="ctr">
            <a:normAutofit/>
          </a:bodyPr>
          <a:lstStyle/>
          <a:p>
            <a:pPr algn="ctr"/>
            <a:r>
              <a:rPr lang="en-SG" sz="4000" dirty="0"/>
              <a:t>Objection: contraception</a:t>
            </a:r>
          </a:p>
        </p:txBody>
      </p:sp>
      <p:sp>
        <p:nvSpPr>
          <p:cNvPr id="3" name="Content Placeholder 2">
            <a:extLst>
              <a:ext uri="{FF2B5EF4-FFF2-40B4-BE49-F238E27FC236}">
                <a16:creationId xmlns:a16="http://schemas.microsoft.com/office/drawing/2014/main" id="{E10C6808-6391-0011-3029-4FF2677D4E88}"/>
              </a:ext>
            </a:extLst>
          </p:cNvPr>
          <p:cNvSpPr>
            <a:spLocks noGrp="1"/>
          </p:cNvSpPr>
          <p:nvPr>
            <p:ph idx="1"/>
          </p:nvPr>
        </p:nvSpPr>
        <p:spPr>
          <a:xfrm>
            <a:off x="435895" y="1579959"/>
            <a:ext cx="8272211" cy="4761781"/>
          </a:xfrm>
        </p:spPr>
        <p:txBody>
          <a:bodyPr anchor="t">
            <a:noAutofit/>
          </a:bodyPr>
          <a:lstStyle/>
          <a:p>
            <a:r>
              <a:rPr lang="en-US" sz="2000" dirty="0"/>
              <a:t>Marquis replies to this objection by denying that contraception takes away futures of value (Marquis, in Shafer-Landau 2024: 200). </a:t>
            </a:r>
          </a:p>
          <a:p>
            <a:pPr marL="243000" lvl="1" indent="0">
              <a:buNone/>
            </a:pPr>
            <a:endParaRPr lang="en-US" sz="2000" dirty="0"/>
          </a:p>
          <a:p>
            <a:pPr lvl="1"/>
            <a:r>
              <a:rPr lang="en-US" sz="2000" dirty="0"/>
              <a:t>Marquis notes that his essay “would entail that contraception is wrong only if something were denied a human future of value by contraception. Nothing at all is denied such a future by contraception, however…, there is no </a:t>
            </a:r>
            <a:r>
              <a:rPr lang="en-US" sz="2000" dirty="0" err="1"/>
              <a:t>nonarbitrarily</a:t>
            </a:r>
            <a:r>
              <a:rPr lang="en-US" sz="2000" dirty="0"/>
              <a:t> identifiable subject of the loss [of a future of value] in the case of contraception” (Marquis, in Shafer-Landau 2024: 200). </a:t>
            </a:r>
          </a:p>
          <a:p>
            <a:pPr lvl="1"/>
            <a:endParaRPr lang="en-US" sz="2000" dirty="0"/>
          </a:p>
          <a:p>
            <a:pPr lvl="1"/>
            <a:r>
              <a:rPr lang="en-US" sz="2000" dirty="0"/>
              <a:t>The point is that in order for something to be </a:t>
            </a:r>
            <a:r>
              <a:rPr lang="en-US" sz="2000" i="1" dirty="0"/>
              <a:t>denied </a:t>
            </a:r>
            <a:r>
              <a:rPr lang="en-US" sz="2000" dirty="0"/>
              <a:t>a future of value, that “something” has to exist. But in the use of contraception, nothing exists that </a:t>
            </a:r>
            <a:r>
              <a:rPr lang="en-US" sz="2000" i="1" dirty="0"/>
              <a:t>loses </a:t>
            </a:r>
            <a:r>
              <a:rPr lang="en-US" sz="2000" dirty="0"/>
              <a:t>or </a:t>
            </a:r>
            <a:r>
              <a:rPr lang="en-US" sz="2000" i="1" dirty="0"/>
              <a:t>is</a:t>
            </a:r>
            <a:r>
              <a:rPr lang="en-US" sz="2000" dirty="0"/>
              <a:t> </a:t>
            </a:r>
            <a:r>
              <a:rPr lang="en-US" sz="2000" i="1" dirty="0"/>
              <a:t>denied </a:t>
            </a:r>
            <a:r>
              <a:rPr lang="en-US" sz="2000" dirty="0"/>
              <a:t>a future of value. </a:t>
            </a:r>
          </a:p>
          <a:p>
            <a:endParaRPr lang="en-US" sz="1950" dirty="0"/>
          </a:p>
        </p:txBody>
      </p:sp>
      <p:sp>
        <p:nvSpPr>
          <p:cNvPr id="4" name="Footer Placeholder 3">
            <a:extLst>
              <a:ext uri="{FF2B5EF4-FFF2-40B4-BE49-F238E27FC236}">
                <a16:creationId xmlns:a16="http://schemas.microsoft.com/office/drawing/2014/main" id="{6A5E527B-5822-21B8-21D1-A9D613C6E9E5}"/>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498FF270-05E7-DF19-2508-A1DC085249E4}"/>
              </a:ext>
            </a:extLst>
          </p:cNvPr>
          <p:cNvSpPr>
            <a:spLocks noGrp="1"/>
          </p:cNvSpPr>
          <p:nvPr>
            <p:ph type="sldNum" sz="quarter" idx="12"/>
          </p:nvPr>
        </p:nvSpPr>
        <p:spPr/>
        <p:txBody>
          <a:bodyPr/>
          <a:lstStyle/>
          <a:p>
            <a:fld id="{3A98EE3D-8CD1-4C3F-BD1C-C98C9596463C}" type="slidenum">
              <a:rPr lang="en-US" sz="1200" smtClean="0"/>
              <a:t>16</a:t>
            </a:fld>
            <a:endParaRPr lang="en-US" sz="1200" dirty="0"/>
          </a:p>
        </p:txBody>
      </p:sp>
    </p:spTree>
    <p:extLst>
      <p:ext uri="{BB962C8B-B14F-4D97-AF65-F5344CB8AC3E}">
        <p14:creationId xmlns:p14="http://schemas.microsoft.com/office/powerpoint/2010/main" val="2770672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9368E-CEA1-32C3-EF39-5D33C0555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89BAF-3CB9-E248-92CD-1EE51D6913A2}"/>
              </a:ext>
            </a:extLst>
          </p:cNvPr>
          <p:cNvSpPr>
            <a:spLocks noGrp="1"/>
          </p:cNvSpPr>
          <p:nvPr>
            <p:ph type="title"/>
          </p:nvPr>
        </p:nvSpPr>
        <p:spPr>
          <a:xfrm>
            <a:off x="453146" y="628782"/>
            <a:ext cx="8272212" cy="721203"/>
          </a:xfrm>
        </p:spPr>
        <p:txBody>
          <a:bodyPr anchor="ctr">
            <a:normAutofit/>
          </a:bodyPr>
          <a:lstStyle/>
          <a:p>
            <a:pPr algn="ctr"/>
            <a:r>
              <a:rPr lang="en-SG" sz="4000" dirty="0"/>
              <a:t>Objection: contraception</a:t>
            </a:r>
          </a:p>
        </p:txBody>
      </p:sp>
      <p:sp>
        <p:nvSpPr>
          <p:cNvPr id="3" name="Content Placeholder 2">
            <a:extLst>
              <a:ext uri="{FF2B5EF4-FFF2-40B4-BE49-F238E27FC236}">
                <a16:creationId xmlns:a16="http://schemas.microsoft.com/office/drawing/2014/main" id="{F81F5081-42E3-F13D-6877-9A525CCE36D4}"/>
              </a:ext>
            </a:extLst>
          </p:cNvPr>
          <p:cNvSpPr>
            <a:spLocks noGrp="1"/>
          </p:cNvSpPr>
          <p:nvPr>
            <p:ph idx="1"/>
          </p:nvPr>
        </p:nvSpPr>
        <p:spPr>
          <a:xfrm>
            <a:off x="435895" y="1579959"/>
            <a:ext cx="8272211" cy="4761781"/>
          </a:xfrm>
        </p:spPr>
        <p:txBody>
          <a:bodyPr anchor="t">
            <a:noAutofit/>
          </a:bodyPr>
          <a:lstStyle/>
          <a:p>
            <a:r>
              <a:rPr lang="en-SG" sz="2100" b="1" dirty="0">
                <a:solidFill>
                  <a:srgbClr val="FF0000"/>
                </a:solidFill>
              </a:rPr>
              <a:t>Small-group discussion: </a:t>
            </a:r>
            <a:r>
              <a:rPr lang="en-SG" sz="2100" dirty="0">
                <a:solidFill>
                  <a:srgbClr val="FF0000"/>
                </a:solidFill>
              </a:rPr>
              <a:t>Discuss the following questions with 1-2 partners.</a:t>
            </a:r>
          </a:p>
          <a:p>
            <a:endParaRPr lang="en-SG" sz="2100" dirty="0">
              <a:solidFill>
                <a:srgbClr val="FF0000"/>
              </a:solidFill>
            </a:endParaRPr>
          </a:p>
          <a:p>
            <a:pPr marL="700200" lvl="1" indent="-457200">
              <a:buFont typeface="+mj-lt"/>
              <a:buAutoNum type="arabicParenR"/>
            </a:pPr>
            <a:r>
              <a:rPr lang="en-SG" sz="2100" dirty="0">
                <a:solidFill>
                  <a:srgbClr val="FF0000"/>
                </a:solidFill>
              </a:rPr>
              <a:t>Marquis claims that when people use contraception, they don’t deny a future of value to anything. But is this true? Might there be “something” that loses a future of value when contraception prevents sperm from fertilizing eggs, or (as can happen with birth-control pills and IUDs) when it prevents a fertilized egg from implanting in a woman’s uterus? Explain.</a:t>
            </a:r>
          </a:p>
          <a:p>
            <a:pPr marL="700200" lvl="1" indent="-457200">
              <a:buFont typeface="+mj-lt"/>
              <a:buAutoNum type="arabicParenR"/>
            </a:pPr>
            <a:endParaRPr lang="en-SG" sz="2100" dirty="0">
              <a:solidFill>
                <a:srgbClr val="FF0000"/>
              </a:solidFill>
            </a:endParaRPr>
          </a:p>
          <a:p>
            <a:pPr marL="700200" lvl="1" indent="-457200">
              <a:buFont typeface="+mj-lt"/>
              <a:buAutoNum type="arabicParenR"/>
            </a:pPr>
            <a:r>
              <a:rPr lang="en-SG" sz="2100" dirty="0">
                <a:solidFill>
                  <a:srgbClr val="FF0000"/>
                </a:solidFill>
              </a:rPr>
              <a:t>Consider this statement: </a:t>
            </a:r>
            <a:r>
              <a:rPr lang="en-SG" sz="2100" b="1" i="1" dirty="0">
                <a:solidFill>
                  <a:srgbClr val="FF0000"/>
                </a:solidFill>
              </a:rPr>
              <a:t>If contraception is not morally wrong, then abortion is not wrong either. </a:t>
            </a:r>
            <a:r>
              <a:rPr lang="en-SG" sz="2100" dirty="0">
                <a:solidFill>
                  <a:srgbClr val="FF0000"/>
                </a:solidFill>
              </a:rPr>
              <a:t>Do you think this statement is true? Why/why not?</a:t>
            </a:r>
          </a:p>
        </p:txBody>
      </p:sp>
      <p:sp>
        <p:nvSpPr>
          <p:cNvPr id="4" name="Footer Placeholder 3">
            <a:extLst>
              <a:ext uri="{FF2B5EF4-FFF2-40B4-BE49-F238E27FC236}">
                <a16:creationId xmlns:a16="http://schemas.microsoft.com/office/drawing/2014/main" id="{1FE99160-09BE-94AB-F2A4-4E9534C5668B}"/>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A16A08CE-FA68-8F2D-AE10-39E92253241D}"/>
              </a:ext>
            </a:extLst>
          </p:cNvPr>
          <p:cNvSpPr>
            <a:spLocks noGrp="1"/>
          </p:cNvSpPr>
          <p:nvPr>
            <p:ph type="sldNum" sz="quarter" idx="12"/>
          </p:nvPr>
        </p:nvSpPr>
        <p:spPr/>
        <p:txBody>
          <a:bodyPr/>
          <a:lstStyle/>
          <a:p>
            <a:fld id="{3A98EE3D-8CD1-4C3F-BD1C-C98C9596463C}" type="slidenum">
              <a:rPr lang="en-US" sz="1200" smtClean="0"/>
              <a:t>17</a:t>
            </a:fld>
            <a:endParaRPr lang="en-US" sz="1200" dirty="0"/>
          </a:p>
        </p:txBody>
      </p:sp>
    </p:spTree>
    <p:extLst>
      <p:ext uri="{BB962C8B-B14F-4D97-AF65-F5344CB8AC3E}">
        <p14:creationId xmlns:p14="http://schemas.microsoft.com/office/powerpoint/2010/main" val="3658930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0E54-36F0-B00C-33BE-A29E8313C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BB57C-3CDB-42B7-0FD0-1CBCED4950C2}"/>
              </a:ext>
            </a:extLst>
          </p:cNvPr>
          <p:cNvSpPr>
            <a:spLocks noGrp="1"/>
          </p:cNvSpPr>
          <p:nvPr>
            <p:ph type="title"/>
          </p:nvPr>
        </p:nvSpPr>
        <p:spPr>
          <a:xfrm>
            <a:off x="453146" y="628782"/>
            <a:ext cx="8272212" cy="721203"/>
          </a:xfrm>
        </p:spPr>
        <p:txBody>
          <a:bodyPr anchor="ctr">
            <a:normAutofit/>
          </a:bodyPr>
          <a:lstStyle/>
          <a:p>
            <a:pPr algn="ctr"/>
            <a:r>
              <a:rPr lang="en-US" sz="4000" dirty="0"/>
              <a:t>Medically necessary abortion</a:t>
            </a:r>
            <a:endParaRPr lang="en-SG" sz="4000" dirty="0"/>
          </a:p>
        </p:txBody>
      </p:sp>
      <p:sp>
        <p:nvSpPr>
          <p:cNvPr id="3" name="Content Placeholder 2">
            <a:extLst>
              <a:ext uri="{FF2B5EF4-FFF2-40B4-BE49-F238E27FC236}">
                <a16:creationId xmlns:a16="http://schemas.microsoft.com/office/drawing/2014/main" id="{9B539CA4-E93F-7C26-D274-415326D34F4A}"/>
              </a:ext>
            </a:extLst>
          </p:cNvPr>
          <p:cNvSpPr>
            <a:spLocks noGrp="1"/>
          </p:cNvSpPr>
          <p:nvPr>
            <p:ph idx="1"/>
          </p:nvPr>
        </p:nvSpPr>
        <p:spPr>
          <a:xfrm>
            <a:off x="435895" y="1579959"/>
            <a:ext cx="8034865" cy="4761781"/>
          </a:xfrm>
        </p:spPr>
        <p:txBody>
          <a:bodyPr anchor="t">
            <a:noAutofit/>
          </a:bodyPr>
          <a:lstStyle/>
          <a:p>
            <a:r>
              <a:rPr lang="en-US" altLang="en-US" sz="1700" dirty="0">
                <a:solidFill>
                  <a:schemeClr val="tx1"/>
                </a:solidFill>
              </a:rPr>
              <a:t>Since the Supreme Court's </a:t>
            </a:r>
            <a:r>
              <a:rPr lang="en-US" altLang="en-US" sz="1700" i="1" dirty="0">
                <a:solidFill>
                  <a:schemeClr val="tx1"/>
                </a:solidFill>
              </a:rPr>
              <a:t>Dobbs </a:t>
            </a:r>
            <a:r>
              <a:rPr lang="en-US" altLang="en-US" sz="1700" dirty="0">
                <a:solidFill>
                  <a:schemeClr val="tx1"/>
                </a:solidFill>
              </a:rPr>
              <a:t>decision in 2022, a growing number of states in the U.S., including Alabama, have introduced legal bans on abortion (</a:t>
            </a:r>
            <a:r>
              <a:rPr lang="en-US" altLang="en-US" sz="1700" dirty="0">
                <a:solidFill>
                  <a:schemeClr val="tx1"/>
                </a:solidFill>
                <a:hlinkClick r:id="rId3"/>
              </a:rPr>
              <a:t>Guttmacher Institute</a:t>
            </a:r>
            <a:r>
              <a:rPr lang="en-US" altLang="en-US" sz="1700" dirty="0">
                <a:solidFill>
                  <a:schemeClr val="tx1"/>
                </a:solidFill>
              </a:rPr>
              <a:t>). All these bans include exceptions allowing for an abortion when it's necessary to preserve the life of the pregnant woman (</a:t>
            </a:r>
            <a:r>
              <a:rPr lang="en-US" sz="1700" b="0" i="0" dirty="0">
                <a:solidFill>
                  <a:srgbClr val="2D3B45"/>
                </a:solidFill>
                <a:effectLst/>
                <a:latin typeface="LatoWeb"/>
                <a:hlinkClick r:id="rId4"/>
              </a:rPr>
              <a:t>Felix, Sobel, and </a:t>
            </a:r>
            <a:r>
              <a:rPr lang="en-US" sz="1700" b="0" i="0" dirty="0" err="1">
                <a:solidFill>
                  <a:srgbClr val="2D3B45"/>
                </a:solidFill>
                <a:effectLst/>
                <a:latin typeface="LatoWeb"/>
                <a:hlinkClick r:id="rId4"/>
              </a:rPr>
              <a:t>Salganicoff</a:t>
            </a:r>
            <a:r>
              <a:rPr lang="en-US" sz="1700" b="0" i="0" dirty="0">
                <a:solidFill>
                  <a:srgbClr val="2D3B45"/>
                </a:solidFill>
                <a:effectLst/>
                <a:latin typeface="LatoWeb"/>
                <a:hlinkClick r:id="rId4"/>
              </a:rPr>
              <a:t> 2024</a:t>
            </a:r>
            <a:r>
              <a:rPr lang="en-US" sz="1700" b="0" i="0" dirty="0">
                <a:solidFill>
                  <a:srgbClr val="2D3B45"/>
                </a:solidFill>
                <a:effectLst/>
                <a:latin typeface="LatoWeb"/>
              </a:rPr>
              <a:t>)</a:t>
            </a:r>
            <a:r>
              <a:rPr lang="en-US" altLang="en-US" sz="1700" dirty="0">
                <a:solidFill>
                  <a:schemeClr val="tx1"/>
                </a:solidFill>
              </a:rPr>
              <a:t>.</a:t>
            </a:r>
          </a:p>
          <a:p>
            <a:endParaRPr lang="en-US" altLang="en-US" sz="1700" dirty="0">
              <a:solidFill>
                <a:schemeClr val="tx1"/>
              </a:solidFill>
            </a:endParaRPr>
          </a:p>
          <a:p>
            <a:r>
              <a:rPr lang="en-US" altLang="en-US" sz="1700" dirty="0">
                <a:solidFill>
                  <a:schemeClr val="tx1"/>
                </a:solidFill>
              </a:rPr>
              <a:t>However, to comply with these abortion bans in practice, doctors may have to wait for a pregnant woman’s medical condition to deteriorate to the point they can confidently judge that her life is truly endangered by the pregnancy. Otherwise, if the woman is in medical distress, but it’s still not clear that the pregnancy will cause her death, some states require doctors to wait for the fetus's heartbeat to stop before they can intervene to help the mother. </a:t>
            </a:r>
          </a:p>
          <a:p>
            <a:endParaRPr lang="en-US" altLang="en-US" sz="1700" dirty="0">
              <a:solidFill>
                <a:schemeClr val="tx1"/>
              </a:solidFill>
            </a:endParaRPr>
          </a:p>
          <a:p>
            <a:r>
              <a:rPr lang="en-US" altLang="en-US" sz="1700" dirty="0">
                <a:solidFill>
                  <a:schemeClr val="tx1"/>
                </a:solidFill>
              </a:rPr>
              <a:t>The longer doctors have to wait before they can legally perform a life-saving abortion, the worse the woman’s chances of survival may become (</a:t>
            </a:r>
            <a:r>
              <a:rPr lang="en-US" altLang="en-US" sz="1700" dirty="0">
                <a:solidFill>
                  <a:schemeClr val="tx1"/>
                </a:solidFill>
                <a:hlinkClick r:id="rId5"/>
              </a:rPr>
              <a:t>Bendix 2022</a:t>
            </a:r>
            <a:r>
              <a:rPr lang="en-US" altLang="en-US" sz="1700" dirty="0">
                <a:solidFill>
                  <a:schemeClr val="tx1"/>
                </a:solidFill>
              </a:rPr>
              <a:t>). </a:t>
            </a:r>
          </a:p>
        </p:txBody>
      </p:sp>
      <p:sp>
        <p:nvSpPr>
          <p:cNvPr id="4" name="Footer Placeholder 3">
            <a:extLst>
              <a:ext uri="{FF2B5EF4-FFF2-40B4-BE49-F238E27FC236}">
                <a16:creationId xmlns:a16="http://schemas.microsoft.com/office/drawing/2014/main" id="{47843E91-31C9-75AD-C750-E270E27EF63B}"/>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5EB323F7-D0C9-1C18-C168-3351CD21E7BA}"/>
              </a:ext>
            </a:extLst>
          </p:cNvPr>
          <p:cNvSpPr>
            <a:spLocks noGrp="1"/>
          </p:cNvSpPr>
          <p:nvPr>
            <p:ph type="sldNum" sz="quarter" idx="12"/>
          </p:nvPr>
        </p:nvSpPr>
        <p:spPr/>
        <p:txBody>
          <a:bodyPr/>
          <a:lstStyle/>
          <a:p>
            <a:fld id="{3A98EE3D-8CD1-4C3F-BD1C-C98C9596463C}" type="slidenum">
              <a:rPr lang="en-US" sz="1200" smtClean="0"/>
              <a:t>18</a:t>
            </a:fld>
            <a:endParaRPr lang="en-US" sz="1200" dirty="0"/>
          </a:p>
        </p:txBody>
      </p:sp>
    </p:spTree>
    <p:extLst>
      <p:ext uri="{BB962C8B-B14F-4D97-AF65-F5344CB8AC3E}">
        <p14:creationId xmlns:p14="http://schemas.microsoft.com/office/powerpoint/2010/main" val="876798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0E54-36F0-B00C-33BE-A29E8313C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BB57C-3CDB-42B7-0FD0-1CBCED4950C2}"/>
              </a:ext>
            </a:extLst>
          </p:cNvPr>
          <p:cNvSpPr>
            <a:spLocks noGrp="1"/>
          </p:cNvSpPr>
          <p:nvPr>
            <p:ph type="title"/>
          </p:nvPr>
        </p:nvSpPr>
        <p:spPr>
          <a:xfrm>
            <a:off x="453146" y="628782"/>
            <a:ext cx="8272212" cy="721203"/>
          </a:xfrm>
        </p:spPr>
        <p:txBody>
          <a:bodyPr anchor="ctr">
            <a:normAutofit/>
          </a:bodyPr>
          <a:lstStyle/>
          <a:p>
            <a:pPr algn="ctr"/>
            <a:r>
              <a:rPr lang="en-US" sz="4000" dirty="0"/>
              <a:t>Medically necessary abortion</a:t>
            </a:r>
            <a:endParaRPr lang="en-SG" sz="4000" dirty="0"/>
          </a:p>
        </p:txBody>
      </p:sp>
      <p:sp>
        <p:nvSpPr>
          <p:cNvPr id="3" name="Content Placeholder 2">
            <a:extLst>
              <a:ext uri="{FF2B5EF4-FFF2-40B4-BE49-F238E27FC236}">
                <a16:creationId xmlns:a16="http://schemas.microsoft.com/office/drawing/2014/main" id="{9B539CA4-E93F-7C26-D274-415326D34F4A}"/>
              </a:ext>
            </a:extLst>
          </p:cNvPr>
          <p:cNvSpPr>
            <a:spLocks noGrp="1"/>
          </p:cNvSpPr>
          <p:nvPr>
            <p:ph idx="1"/>
          </p:nvPr>
        </p:nvSpPr>
        <p:spPr>
          <a:xfrm>
            <a:off x="435895" y="1579959"/>
            <a:ext cx="8034865" cy="4761781"/>
          </a:xfrm>
        </p:spPr>
        <p:txBody>
          <a:bodyPr anchor="t">
            <a:noAutofit/>
          </a:bodyPr>
          <a:lstStyle/>
          <a:p>
            <a:r>
              <a:rPr lang="en-US" altLang="en-US" sz="1800" dirty="0">
                <a:solidFill>
                  <a:schemeClr val="tx1"/>
                </a:solidFill>
              </a:rPr>
              <a:t>The news organization ProPublica has reported that at least 4 women in Texas and Georgia have died from pregnancy complications when they probably would have lived, if their states' laws had allowed doctors to swiftly perform an abortion (</a:t>
            </a:r>
            <a:r>
              <a:rPr lang="en-US" altLang="en-US" sz="1800" dirty="0">
                <a:solidFill>
                  <a:schemeClr val="tx1"/>
                </a:solidFill>
                <a:hlinkClick r:id="rId3"/>
              </a:rPr>
              <a:t>ProPublica 2024</a:t>
            </a:r>
            <a:r>
              <a:rPr lang="en-US" altLang="en-US" sz="1800" dirty="0">
                <a:solidFill>
                  <a:schemeClr val="tx1"/>
                </a:solidFill>
              </a:rPr>
              <a:t>; see also </a:t>
            </a:r>
            <a:r>
              <a:rPr lang="en-US" altLang="en-US" sz="1800" dirty="0">
                <a:solidFill>
                  <a:schemeClr val="tx1"/>
                </a:solidFill>
                <a:hlinkClick r:id="rId4"/>
              </a:rPr>
              <a:t>PBS Newshour 2024</a:t>
            </a:r>
            <a:r>
              <a:rPr lang="en-US" altLang="en-US" sz="1800" dirty="0">
                <a:solidFill>
                  <a:schemeClr val="tx1"/>
                </a:solidFill>
              </a:rPr>
              <a:t>, </a:t>
            </a:r>
            <a:r>
              <a:rPr lang="en-US" altLang="en-US" sz="1800" dirty="0">
                <a:solidFill>
                  <a:schemeClr val="tx1"/>
                </a:solidFill>
                <a:hlinkClick r:id="rId5"/>
              </a:rPr>
              <a:t>KVUE 2024</a:t>
            </a:r>
            <a:r>
              <a:rPr lang="en-US" altLang="en-US" sz="1800" dirty="0">
                <a:solidFill>
                  <a:schemeClr val="tx1"/>
                </a:solidFill>
              </a:rPr>
              <a:t>).</a:t>
            </a:r>
          </a:p>
          <a:p>
            <a:pPr marL="243000" lvl="1" indent="0">
              <a:buNone/>
            </a:pPr>
            <a:endParaRPr lang="en-US" altLang="en-US" sz="1800" dirty="0">
              <a:solidFill>
                <a:schemeClr val="tx1"/>
              </a:solidFill>
            </a:endParaRPr>
          </a:p>
          <a:p>
            <a:r>
              <a:rPr lang="en-US" altLang="en-US" sz="1800" dirty="0">
                <a:solidFill>
                  <a:schemeClr val="tx1"/>
                </a:solidFill>
              </a:rPr>
              <a:t>Furthermore, statistical data have fueled concerns that abortion bans result in higher </a:t>
            </a:r>
            <a:r>
              <a:rPr lang="en-US" altLang="en-US" sz="1800" i="1" dirty="0">
                <a:solidFill>
                  <a:schemeClr val="tx1"/>
                </a:solidFill>
              </a:rPr>
              <a:t>maternal</a:t>
            </a:r>
            <a:r>
              <a:rPr lang="en-US" altLang="en-US" sz="1800" dirty="0">
                <a:solidFill>
                  <a:schemeClr val="tx1"/>
                </a:solidFill>
              </a:rPr>
              <a:t> mortality by making it more difficult for pregnant women to terminate high-risk pregnancies (see </a:t>
            </a:r>
            <a:r>
              <a:rPr lang="en-US" altLang="en-US" sz="1800" dirty="0">
                <a:solidFill>
                  <a:schemeClr val="tx1"/>
                </a:solidFill>
                <a:hlinkClick r:id="rId6"/>
              </a:rPr>
              <a:t>Zori et al. 2025</a:t>
            </a:r>
            <a:r>
              <a:rPr lang="en-US" altLang="en-US" sz="1800" dirty="0">
                <a:solidFill>
                  <a:schemeClr val="tx1"/>
                </a:solidFill>
              </a:rPr>
              <a:t>). </a:t>
            </a:r>
          </a:p>
          <a:p>
            <a:endParaRPr lang="en-US" altLang="en-US" sz="1800" dirty="0">
              <a:solidFill>
                <a:schemeClr val="tx1"/>
              </a:solidFill>
            </a:endParaRPr>
          </a:p>
          <a:p>
            <a:pPr lvl="1"/>
            <a:r>
              <a:rPr lang="en-US" altLang="en-US" sz="1800" dirty="0">
                <a:solidFill>
                  <a:schemeClr val="tx1"/>
                </a:solidFill>
              </a:rPr>
              <a:t>For instance, an analysis published by the Gender Equity Policy Institute (GEPI) found, based on U.S. data from 2019-2023, that “</a:t>
            </a:r>
            <a:r>
              <a:rPr lang="en-US" altLang="en-US" sz="1800" b="1" dirty="0">
                <a:solidFill>
                  <a:schemeClr val="tx1"/>
                </a:solidFill>
              </a:rPr>
              <a:t>[m]others living in states that banned abortion [were] nearly 2x as likely to die during pregnancy, childbirth, or soon after giving birth, compared to mothers living in supportive states where abortion was legal and accessible</a:t>
            </a:r>
            <a:r>
              <a:rPr lang="en-US" altLang="en-US" sz="1800" dirty="0">
                <a:solidFill>
                  <a:schemeClr val="tx1"/>
                </a:solidFill>
              </a:rPr>
              <a:t>” (</a:t>
            </a:r>
            <a:r>
              <a:rPr lang="en-US" altLang="en-US" sz="1800" dirty="0">
                <a:solidFill>
                  <a:schemeClr val="tx1"/>
                </a:solidFill>
                <a:hlinkClick r:id="rId7"/>
              </a:rPr>
              <a:t>GEPI 2025</a:t>
            </a:r>
            <a:r>
              <a:rPr lang="en-US" altLang="en-US" sz="1800" dirty="0">
                <a:solidFill>
                  <a:schemeClr val="tx1"/>
                </a:solidFill>
              </a:rPr>
              <a:t>).</a:t>
            </a:r>
          </a:p>
        </p:txBody>
      </p:sp>
      <p:sp>
        <p:nvSpPr>
          <p:cNvPr id="4" name="Footer Placeholder 3">
            <a:extLst>
              <a:ext uri="{FF2B5EF4-FFF2-40B4-BE49-F238E27FC236}">
                <a16:creationId xmlns:a16="http://schemas.microsoft.com/office/drawing/2014/main" id="{47843E91-31C9-75AD-C750-E270E27EF63B}"/>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5EB323F7-D0C9-1C18-C168-3351CD21E7BA}"/>
              </a:ext>
            </a:extLst>
          </p:cNvPr>
          <p:cNvSpPr>
            <a:spLocks noGrp="1"/>
          </p:cNvSpPr>
          <p:nvPr>
            <p:ph type="sldNum" sz="quarter" idx="12"/>
          </p:nvPr>
        </p:nvSpPr>
        <p:spPr/>
        <p:txBody>
          <a:bodyPr/>
          <a:lstStyle/>
          <a:p>
            <a:fld id="{3A98EE3D-8CD1-4C3F-BD1C-C98C9596463C}" type="slidenum">
              <a:rPr lang="en-US" sz="1200" smtClean="0"/>
              <a:t>19</a:t>
            </a:fld>
            <a:endParaRPr lang="en-US" sz="1200" dirty="0"/>
          </a:p>
        </p:txBody>
      </p:sp>
    </p:spTree>
    <p:extLst>
      <p:ext uri="{BB962C8B-B14F-4D97-AF65-F5344CB8AC3E}">
        <p14:creationId xmlns:p14="http://schemas.microsoft.com/office/powerpoint/2010/main" val="1882184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0E54-36F0-B00C-33BE-A29E8313C6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8BB57C-3CDB-42B7-0FD0-1CBCED4950C2}"/>
              </a:ext>
            </a:extLst>
          </p:cNvPr>
          <p:cNvSpPr>
            <a:spLocks noGrp="1"/>
          </p:cNvSpPr>
          <p:nvPr>
            <p:ph type="title"/>
          </p:nvPr>
        </p:nvSpPr>
        <p:spPr>
          <a:xfrm>
            <a:off x="453146" y="628782"/>
            <a:ext cx="8272212" cy="721203"/>
          </a:xfrm>
        </p:spPr>
        <p:txBody>
          <a:bodyPr anchor="ctr">
            <a:normAutofit/>
          </a:bodyPr>
          <a:lstStyle/>
          <a:p>
            <a:pPr algn="ctr"/>
            <a:r>
              <a:rPr lang="en-US" sz="4000" dirty="0"/>
              <a:t>Medically necessary abortion</a:t>
            </a:r>
            <a:endParaRPr lang="en-SG" sz="4000" dirty="0"/>
          </a:p>
        </p:txBody>
      </p:sp>
      <p:sp>
        <p:nvSpPr>
          <p:cNvPr id="3" name="Content Placeholder 2">
            <a:extLst>
              <a:ext uri="{FF2B5EF4-FFF2-40B4-BE49-F238E27FC236}">
                <a16:creationId xmlns:a16="http://schemas.microsoft.com/office/drawing/2014/main" id="{9B539CA4-E93F-7C26-D274-415326D34F4A}"/>
              </a:ext>
            </a:extLst>
          </p:cNvPr>
          <p:cNvSpPr>
            <a:spLocks noGrp="1"/>
          </p:cNvSpPr>
          <p:nvPr>
            <p:ph idx="1"/>
          </p:nvPr>
        </p:nvSpPr>
        <p:spPr>
          <a:xfrm>
            <a:off x="435895" y="1579959"/>
            <a:ext cx="8034865" cy="4761781"/>
          </a:xfrm>
        </p:spPr>
        <p:txBody>
          <a:bodyPr anchor="t">
            <a:noAutofit/>
          </a:bodyPr>
          <a:lstStyle/>
          <a:p>
            <a:r>
              <a:rPr lang="en-US" altLang="en-US" sz="2000" b="1" dirty="0">
                <a:solidFill>
                  <a:srgbClr val="FF0000"/>
                </a:solidFill>
              </a:rPr>
              <a:t>Small-group discussion: </a:t>
            </a:r>
            <a:r>
              <a:rPr lang="en-US" altLang="en-US" sz="2000" dirty="0">
                <a:solidFill>
                  <a:srgbClr val="FF0000"/>
                </a:solidFill>
              </a:rPr>
              <a:t>Discuss the following questions with 1-2 partners.</a:t>
            </a:r>
          </a:p>
          <a:p>
            <a:r>
              <a:rPr lang="en-US" altLang="en-US" sz="2000" b="1" dirty="0">
                <a:solidFill>
                  <a:srgbClr val="FF0000"/>
                </a:solidFill>
              </a:rPr>
              <a:t>(1) </a:t>
            </a:r>
            <a:r>
              <a:rPr lang="en-US" altLang="en-US" sz="2000" dirty="0">
                <a:solidFill>
                  <a:srgbClr val="FF0000"/>
                </a:solidFill>
              </a:rPr>
              <a:t>Must a pregnancy be life-threatening to the woman before it can be morally acceptable to abort the fetus? Why/why not?</a:t>
            </a:r>
          </a:p>
          <a:p>
            <a:pPr lvl="1"/>
            <a:r>
              <a:rPr lang="en-US" altLang="en-US" sz="2000" b="1" dirty="0">
                <a:solidFill>
                  <a:srgbClr val="FF0000"/>
                </a:solidFill>
              </a:rPr>
              <a:t>(2a) </a:t>
            </a:r>
            <a:r>
              <a:rPr lang="en-US" altLang="en-US" sz="2000" dirty="0">
                <a:solidFill>
                  <a:srgbClr val="FF0000"/>
                </a:solidFill>
              </a:rPr>
              <a:t>If you answered “yes” to question (1), </a:t>
            </a:r>
            <a:r>
              <a:rPr lang="en-US" altLang="en-US" sz="2000" i="1" dirty="0">
                <a:solidFill>
                  <a:srgbClr val="FF0000"/>
                </a:solidFill>
              </a:rPr>
              <a:t>how</a:t>
            </a:r>
            <a:r>
              <a:rPr lang="en-US" altLang="en-US" sz="2000" dirty="0">
                <a:solidFill>
                  <a:srgbClr val="FF0000"/>
                </a:solidFill>
              </a:rPr>
              <a:t> life-threatening must the pregnancy be? As the physician Lisa Harris has asked, </a:t>
            </a:r>
            <a:r>
              <a:rPr lang="en-US" altLang="en-US" sz="2000" b="1" dirty="0">
                <a:solidFill>
                  <a:srgbClr val="FF0000"/>
                </a:solidFill>
              </a:rPr>
              <a:t>“[m]</a:t>
            </a:r>
            <a:r>
              <a:rPr lang="en-US" altLang="en-US" sz="2000" b="1" dirty="0" err="1">
                <a:solidFill>
                  <a:srgbClr val="FF0000"/>
                </a:solidFill>
              </a:rPr>
              <a:t>ight</a:t>
            </a:r>
            <a:r>
              <a:rPr lang="en-US" altLang="en-US" sz="2000" b="1" dirty="0">
                <a:solidFill>
                  <a:srgbClr val="FF0000"/>
                </a:solidFill>
              </a:rPr>
              <a:t> abortion be permissible in a patient with pulmonary hypertension, for whom we cite a 30-to-50% chance of dying with ongoing pregnancy? Or must it be 100%?” </a:t>
            </a:r>
            <a:r>
              <a:rPr lang="en-US" altLang="en-US" sz="2000" dirty="0">
                <a:solidFill>
                  <a:srgbClr val="FF0000"/>
                </a:solidFill>
              </a:rPr>
              <a:t>(</a:t>
            </a:r>
            <a:r>
              <a:rPr lang="en-US" altLang="en-US" sz="2000" dirty="0">
                <a:solidFill>
                  <a:srgbClr val="00B050"/>
                </a:solidFill>
                <a:hlinkClick r:id="rId3">
                  <a:extLst>
                    <a:ext uri="{A12FA001-AC4F-418D-AE19-62706E023703}">
                      <ahyp:hlinkClr xmlns:ahyp="http://schemas.microsoft.com/office/drawing/2018/hyperlinkcolor" val="tx"/>
                    </a:ext>
                  </a:extLst>
                </a:hlinkClick>
              </a:rPr>
              <a:t>Harris 2022</a:t>
            </a:r>
            <a:r>
              <a:rPr lang="en-US" altLang="en-US" sz="2000" dirty="0">
                <a:solidFill>
                  <a:srgbClr val="FF0000"/>
                </a:solidFill>
              </a:rPr>
              <a:t>). Explain.</a:t>
            </a:r>
          </a:p>
          <a:p>
            <a:pPr lvl="1"/>
            <a:r>
              <a:rPr lang="en-US" altLang="en-US" sz="2000" b="1" dirty="0">
                <a:solidFill>
                  <a:srgbClr val="FF0000"/>
                </a:solidFill>
              </a:rPr>
              <a:t>(2b) </a:t>
            </a:r>
            <a:r>
              <a:rPr lang="en-US" altLang="en-US" sz="2000" dirty="0">
                <a:solidFill>
                  <a:srgbClr val="FF0000"/>
                </a:solidFill>
              </a:rPr>
              <a:t>If a pregnant woman does </a:t>
            </a:r>
            <a:r>
              <a:rPr lang="en-US" altLang="en-US" sz="2000" i="1" dirty="0">
                <a:solidFill>
                  <a:srgbClr val="FF0000"/>
                </a:solidFill>
              </a:rPr>
              <a:t>not</a:t>
            </a:r>
            <a:r>
              <a:rPr lang="en-US" altLang="en-US" sz="2000" dirty="0">
                <a:solidFill>
                  <a:srgbClr val="FF0000"/>
                </a:solidFill>
              </a:rPr>
              <a:t> need to have a 100% chance of dying to be justified in having an abortion, does this suggest anything about the relative importance of the woman’s life versus the fetus’s future?</a:t>
            </a:r>
          </a:p>
          <a:p>
            <a:endParaRPr lang="en-US" altLang="en-US" sz="2000" dirty="0">
              <a:solidFill>
                <a:srgbClr val="FF0000"/>
              </a:solidFill>
            </a:endParaRPr>
          </a:p>
          <a:p>
            <a:pPr marL="285750" indent="-285750">
              <a:buFont typeface="Wingdings" panose="05000000000000000000" pitchFamily="2" charset="2"/>
              <a:buChar char="§"/>
            </a:pPr>
            <a:endParaRPr lang="en-US" altLang="en-US" sz="2000" dirty="0">
              <a:solidFill>
                <a:srgbClr val="FF0000"/>
              </a:solidFill>
            </a:endParaRPr>
          </a:p>
        </p:txBody>
      </p:sp>
      <p:sp>
        <p:nvSpPr>
          <p:cNvPr id="4" name="Footer Placeholder 3">
            <a:extLst>
              <a:ext uri="{FF2B5EF4-FFF2-40B4-BE49-F238E27FC236}">
                <a16:creationId xmlns:a16="http://schemas.microsoft.com/office/drawing/2014/main" id="{47843E91-31C9-75AD-C750-E270E27EF63B}"/>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5EB323F7-D0C9-1C18-C168-3351CD21E7BA}"/>
              </a:ext>
            </a:extLst>
          </p:cNvPr>
          <p:cNvSpPr>
            <a:spLocks noGrp="1"/>
          </p:cNvSpPr>
          <p:nvPr>
            <p:ph type="sldNum" sz="quarter" idx="12"/>
          </p:nvPr>
        </p:nvSpPr>
        <p:spPr/>
        <p:txBody>
          <a:bodyPr/>
          <a:lstStyle/>
          <a:p>
            <a:fld id="{3A98EE3D-8CD1-4C3F-BD1C-C98C9596463C}" type="slidenum">
              <a:rPr lang="en-US" sz="1200" smtClean="0"/>
              <a:t>20</a:t>
            </a:fld>
            <a:endParaRPr lang="en-US" sz="1200" dirty="0"/>
          </a:p>
        </p:txBody>
      </p:sp>
    </p:spTree>
    <p:extLst>
      <p:ext uri="{BB962C8B-B14F-4D97-AF65-F5344CB8AC3E}">
        <p14:creationId xmlns:p14="http://schemas.microsoft.com/office/powerpoint/2010/main" val="40082171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72705-1DE1-921E-EAAC-1BA96EC7A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1915D-384C-7960-EC42-2CD858C6CC99}"/>
              </a:ext>
            </a:extLst>
          </p:cNvPr>
          <p:cNvSpPr>
            <a:spLocks noGrp="1"/>
          </p:cNvSpPr>
          <p:nvPr>
            <p:ph type="title"/>
          </p:nvPr>
        </p:nvSpPr>
        <p:spPr>
          <a:xfrm>
            <a:off x="453146" y="628782"/>
            <a:ext cx="8272212" cy="721203"/>
          </a:xfrm>
        </p:spPr>
        <p:txBody>
          <a:bodyPr anchor="ctr">
            <a:normAutofit/>
          </a:bodyPr>
          <a:lstStyle/>
          <a:p>
            <a:pPr algn="ctr"/>
            <a:r>
              <a:rPr lang="en-SG" sz="4000" dirty="0"/>
              <a:t>Medically necessary abortion</a:t>
            </a:r>
          </a:p>
        </p:txBody>
      </p:sp>
      <p:sp>
        <p:nvSpPr>
          <p:cNvPr id="3" name="Content Placeholder 2">
            <a:extLst>
              <a:ext uri="{FF2B5EF4-FFF2-40B4-BE49-F238E27FC236}">
                <a16:creationId xmlns:a16="http://schemas.microsoft.com/office/drawing/2014/main" id="{D24894A7-8864-2069-8569-9B011DE02E81}"/>
              </a:ext>
            </a:extLst>
          </p:cNvPr>
          <p:cNvSpPr>
            <a:spLocks noGrp="1"/>
          </p:cNvSpPr>
          <p:nvPr>
            <p:ph idx="1"/>
          </p:nvPr>
        </p:nvSpPr>
        <p:spPr>
          <a:xfrm>
            <a:off x="435895" y="1579959"/>
            <a:ext cx="8272211" cy="4761781"/>
          </a:xfrm>
        </p:spPr>
        <p:txBody>
          <a:bodyPr anchor="t">
            <a:noAutofit/>
          </a:bodyPr>
          <a:lstStyle/>
          <a:p>
            <a:r>
              <a:rPr lang="en-US" sz="1800" b="1" dirty="0">
                <a:solidFill>
                  <a:srgbClr val="FF0000"/>
                </a:solidFill>
              </a:rPr>
              <a:t>Whole-class discussion: </a:t>
            </a:r>
          </a:p>
          <a:p>
            <a:pPr lvl="1"/>
            <a:endParaRPr lang="en-US" sz="1800" dirty="0">
              <a:solidFill>
                <a:srgbClr val="FF0000"/>
              </a:solidFill>
            </a:endParaRPr>
          </a:p>
          <a:p>
            <a:pPr>
              <a:buFont typeface="Wingdings" panose="05000000000000000000" pitchFamily="2" charset="2"/>
              <a:buChar char="§"/>
            </a:pPr>
            <a:r>
              <a:rPr lang="en-US" sz="1800" dirty="0">
                <a:solidFill>
                  <a:srgbClr val="FF0000"/>
                </a:solidFill>
              </a:rPr>
              <a:t>Alabama has one of the most restrictive abortion laws in the country. However, the text of the law does permit “the abortion of [a pregnant woman’s] pregnancy…to avert serious risk of substantial and irreversible physical impairment of a major bodily function” (</a:t>
            </a:r>
            <a:r>
              <a:rPr lang="en-US" altLang="en-US" sz="1800" dirty="0">
                <a:solidFill>
                  <a:schemeClr val="tx1"/>
                </a:solidFill>
                <a:hlinkClick r:id="rId3"/>
              </a:rPr>
              <a:t>AL Code § 26-23B-5 (2023)</a:t>
            </a:r>
            <a:r>
              <a:rPr lang="en-US" altLang="en-US" sz="1800" dirty="0">
                <a:solidFill>
                  <a:srgbClr val="FF0000"/>
                </a:solidFill>
              </a:rPr>
              <a:t>)</a:t>
            </a:r>
          </a:p>
          <a:p>
            <a:pPr>
              <a:buFont typeface="Wingdings" panose="05000000000000000000" pitchFamily="2" charset="2"/>
              <a:buChar char="§"/>
            </a:pPr>
            <a:endParaRPr lang="en-US" altLang="en-US" sz="1800" dirty="0">
              <a:solidFill>
                <a:srgbClr val="FF0000"/>
              </a:solidFill>
            </a:endParaRPr>
          </a:p>
          <a:p>
            <a:pPr>
              <a:buFont typeface="Wingdings" panose="05000000000000000000" pitchFamily="2" charset="2"/>
              <a:buChar char="§"/>
            </a:pPr>
            <a:r>
              <a:rPr lang="en-US" sz="1800" dirty="0">
                <a:solidFill>
                  <a:srgbClr val="FF0000"/>
                </a:solidFill>
              </a:rPr>
              <a:t>With 1-2 partners, discuss these questions:</a:t>
            </a:r>
          </a:p>
          <a:p>
            <a:pPr marL="700200" lvl="1" indent="-457200">
              <a:buFont typeface="+mj-lt"/>
              <a:buAutoNum type="arabicParenR"/>
            </a:pPr>
            <a:r>
              <a:rPr lang="en-US" sz="1800" dirty="0">
                <a:solidFill>
                  <a:srgbClr val="FF0000"/>
                </a:solidFill>
              </a:rPr>
              <a:t>Do you think abortion is morally permissible when it’s necessary to prevent </a:t>
            </a:r>
            <a:r>
              <a:rPr lang="en-US" sz="1800" i="1" dirty="0">
                <a:solidFill>
                  <a:srgbClr val="FF0000"/>
                </a:solidFill>
              </a:rPr>
              <a:t>irreversible physical impairment</a:t>
            </a:r>
            <a:r>
              <a:rPr lang="en-US" sz="1800" dirty="0">
                <a:solidFill>
                  <a:srgbClr val="FF0000"/>
                </a:solidFill>
              </a:rPr>
              <a:t>, though </a:t>
            </a:r>
            <a:r>
              <a:rPr lang="en-US" sz="1800" i="1" dirty="0">
                <a:solidFill>
                  <a:srgbClr val="FF0000"/>
                </a:solidFill>
              </a:rPr>
              <a:t>not</a:t>
            </a:r>
            <a:r>
              <a:rPr lang="en-US" sz="1800" dirty="0">
                <a:solidFill>
                  <a:srgbClr val="FF0000"/>
                </a:solidFill>
              </a:rPr>
              <a:t> necessary to save the pregnant woman’s life? (Irreversible physical impairment may include the loss of a kidney or loss of the ability to reproduce, such as with the loss of a uterus.)</a:t>
            </a:r>
          </a:p>
          <a:p>
            <a:pPr marL="700200" lvl="1" indent="-457200">
              <a:buFont typeface="+mj-lt"/>
              <a:buAutoNum type="arabicParenR"/>
            </a:pPr>
            <a:r>
              <a:rPr lang="en-US" sz="1800" dirty="0">
                <a:solidFill>
                  <a:srgbClr val="FF0000"/>
                </a:solidFill>
              </a:rPr>
              <a:t>If your answer to question (1) was “yes,” does this suggest anything about the relative moral importance of the pregnant woman and the fetus’s future?</a:t>
            </a:r>
          </a:p>
          <a:p>
            <a:pPr marL="700200" lvl="1" indent="-457200">
              <a:buFont typeface="+mj-lt"/>
              <a:buAutoNum type="arabicParenR"/>
            </a:pPr>
            <a:endParaRPr lang="en-US" sz="1800" dirty="0">
              <a:solidFill>
                <a:srgbClr val="FF0000"/>
              </a:solidFill>
            </a:endParaRPr>
          </a:p>
        </p:txBody>
      </p:sp>
      <p:sp>
        <p:nvSpPr>
          <p:cNvPr id="4" name="Footer Placeholder 3">
            <a:extLst>
              <a:ext uri="{FF2B5EF4-FFF2-40B4-BE49-F238E27FC236}">
                <a16:creationId xmlns:a16="http://schemas.microsoft.com/office/drawing/2014/main" id="{8003F1F6-C56D-FFDA-0732-0FE7BFC1F576}"/>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C2E4FEFA-FA9F-1F09-BA83-CF342D0A9F9A}"/>
              </a:ext>
            </a:extLst>
          </p:cNvPr>
          <p:cNvSpPr>
            <a:spLocks noGrp="1"/>
          </p:cNvSpPr>
          <p:nvPr>
            <p:ph type="sldNum" sz="quarter" idx="12"/>
          </p:nvPr>
        </p:nvSpPr>
        <p:spPr/>
        <p:txBody>
          <a:bodyPr/>
          <a:lstStyle/>
          <a:p>
            <a:fld id="{3A98EE3D-8CD1-4C3F-BD1C-C98C9596463C}" type="slidenum">
              <a:rPr lang="en-US" sz="1200" smtClean="0"/>
              <a:t>21</a:t>
            </a:fld>
            <a:endParaRPr lang="en-US" sz="1200" dirty="0"/>
          </a:p>
        </p:txBody>
      </p:sp>
    </p:spTree>
    <p:extLst>
      <p:ext uri="{BB962C8B-B14F-4D97-AF65-F5344CB8AC3E}">
        <p14:creationId xmlns:p14="http://schemas.microsoft.com/office/powerpoint/2010/main" val="2685053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5A8D5-063C-1283-297F-0D762DFBD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EA16FF-85FD-CB3F-0332-46733CF29281}"/>
              </a:ext>
            </a:extLst>
          </p:cNvPr>
          <p:cNvSpPr>
            <a:spLocks noGrp="1"/>
          </p:cNvSpPr>
          <p:nvPr>
            <p:ph type="title"/>
          </p:nvPr>
        </p:nvSpPr>
        <p:spPr>
          <a:xfrm>
            <a:off x="453146" y="628782"/>
            <a:ext cx="8272212" cy="721203"/>
          </a:xfrm>
        </p:spPr>
        <p:txBody>
          <a:bodyPr anchor="ctr">
            <a:normAutofit/>
          </a:bodyPr>
          <a:lstStyle/>
          <a:p>
            <a:pPr algn="ctr"/>
            <a:r>
              <a:rPr lang="en-US" sz="4000" dirty="0"/>
              <a:t>Abortion bans and rape</a:t>
            </a:r>
            <a:endParaRPr lang="en-SG" sz="4000" dirty="0"/>
          </a:p>
        </p:txBody>
      </p:sp>
      <p:sp>
        <p:nvSpPr>
          <p:cNvPr id="3" name="Content Placeholder 2">
            <a:extLst>
              <a:ext uri="{FF2B5EF4-FFF2-40B4-BE49-F238E27FC236}">
                <a16:creationId xmlns:a16="http://schemas.microsoft.com/office/drawing/2014/main" id="{E0A346E7-2CBE-7AC8-21E6-9D69C0925F4F}"/>
              </a:ext>
            </a:extLst>
          </p:cNvPr>
          <p:cNvSpPr>
            <a:spLocks noGrp="1"/>
          </p:cNvSpPr>
          <p:nvPr>
            <p:ph idx="1"/>
          </p:nvPr>
        </p:nvSpPr>
        <p:spPr>
          <a:xfrm>
            <a:off x="435895" y="1579959"/>
            <a:ext cx="8272211" cy="4761781"/>
          </a:xfrm>
        </p:spPr>
        <p:txBody>
          <a:bodyPr anchor="t">
            <a:noAutofit/>
          </a:bodyPr>
          <a:lstStyle/>
          <a:p>
            <a:pPr>
              <a:buFont typeface="Wingdings" panose="05000000000000000000" pitchFamily="2" charset="2"/>
              <a:buChar char="§"/>
            </a:pPr>
            <a:r>
              <a:rPr lang="en-SG" sz="2000" dirty="0">
                <a:ea typeface="SimSun" panose="02010600030101010101" pitchFamily="2" charset="-122"/>
              </a:rPr>
              <a:t>A study published in </a:t>
            </a:r>
            <a:r>
              <a:rPr lang="en-SG" sz="2000" i="1" dirty="0">
                <a:ea typeface="SimSun" panose="02010600030101010101" pitchFamily="2" charset="-122"/>
              </a:rPr>
              <a:t>JAMA Internal Medicine</a:t>
            </a:r>
            <a:r>
              <a:rPr lang="en-SG" sz="2000" dirty="0">
                <a:ea typeface="SimSun" panose="02010600030101010101" pitchFamily="2" charset="-122"/>
              </a:rPr>
              <a:t> estimates that between 2022 and 2024, more than 64,000 pregnancies resulted from rape in states that introduced bans on abortions after the Supreme Court’s </a:t>
            </a:r>
            <a:r>
              <a:rPr lang="en-SG" sz="2000" i="1" dirty="0">
                <a:ea typeface="SimSun" panose="02010600030101010101" pitchFamily="2" charset="-122"/>
              </a:rPr>
              <a:t>Dobbs</a:t>
            </a:r>
            <a:r>
              <a:rPr lang="en-SG" sz="2000" dirty="0">
                <a:ea typeface="SimSun" panose="02010600030101010101" pitchFamily="2" charset="-122"/>
              </a:rPr>
              <a:t> decision (</a:t>
            </a:r>
            <a:r>
              <a:rPr lang="en-SG" sz="2000" dirty="0">
                <a:ea typeface="SimSun" panose="02010600030101010101" pitchFamily="2" charset="-122"/>
                <a:hlinkClick r:id="rId3"/>
              </a:rPr>
              <a:t>Lewis 2024</a:t>
            </a:r>
            <a:r>
              <a:rPr lang="en-SG" sz="2000" dirty="0">
                <a:ea typeface="SimSun" panose="02010600030101010101" pitchFamily="2" charset="-122"/>
              </a:rPr>
              <a:t>; </a:t>
            </a:r>
            <a:r>
              <a:rPr lang="en-SG" sz="2000" dirty="0">
                <a:ea typeface="SimSun" panose="02010600030101010101" pitchFamily="2" charset="-122"/>
                <a:hlinkClick r:id="rId4"/>
              </a:rPr>
              <a:t>Dickman et al. 2024</a:t>
            </a:r>
            <a:r>
              <a:rPr lang="en-SG" sz="2000" dirty="0">
                <a:ea typeface="SimSun" panose="02010600030101010101" pitchFamily="2" charset="-122"/>
              </a:rPr>
              <a:t>).</a:t>
            </a:r>
          </a:p>
          <a:p>
            <a:pPr>
              <a:buFont typeface="Wingdings" panose="05000000000000000000" pitchFamily="2" charset="2"/>
              <a:buChar char="§"/>
            </a:pPr>
            <a:endParaRPr lang="en-SG" sz="2000" dirty="0">
              <a:ea typeface="SimSun" panose="02010600030101010101" pitchFamily="2" charset="-122"/>
            </a:endParaRPr>
          </a:p>
          <a:p>
            <a:pPr>
              <a:buFont typeface="Wingdings" panose="05000000000000000000" pitchFamily="2" charset="2"/>
              <a:buChar char="§"/>
            </a:pPr>
            <a:r>
              <a:rPr lang="en-SG" sz="2000" dirty="0">
                <a:ea typeface="SimSun" panose="02010600030101010101" pitchFamily="2" charset="-122"/>
              </a:rPr>
              <a:t>Of these, 59,000 pregnancies are estimated to have occurred in states that prohibit abortion without any exception for rape (Alabama is one such state). </a:t>
            </a:r>
          </a:p>
          <a:p>
            <a:pPr>
              <a:buFont typeface="Wingdings" panose="05000000000000000000" pitchFamily="2" charset="2"/>
              <a:buChar char="§"/>
            </a:pPr>
            <a:endParaRPr lang="en-US" sz="2000" dirty="0"/>
          </a:p>
          <a:p>
            <a:pPr>
              <a:buFont typeface="Wingdings" panose="05000000000000000000" pitchFamily="2" charset="2"/>
              <a:buChar char="§"/>
            </a:pPr>
            <a:r>
              <a:rPr lang="en-US" sz="2000" dirty="0"/>
              <a:t>In 2022, after the</a:t>
            </a:r>
            <a:r>
              <a:rPr lang="en-US" sz="2000" i="1" dirty="0"/>
              <a:t> Dobbs </a:t>
            </a:r>
            <a:r>
              <a:rPr lang="en-US" sz="2000" dirty="0"/>
              <a:t>decision, a 10-year-old girl who became pregnant after being raped had to travel out of her home state of Ohio to Indiana to seek an abortion (</a:t>
            </a:r>
            <a:r>
              <a:rPr lang="en-US" sz="2000" dirty="0">
                <a:hlinkClick r:id="rId5"/>
              </a:rPr>
              <a:t>Burga 2022</a:t>
            </a:r>
            <a:r>
              <a:rPr lang="en-US" sz="2000" dirty="0"/>
              <a:t>).</a:t>
            </a:r>
          </a:p>
          <a:p>
            <a:pPr>
              <a:buFont typeface="Wingdings" panose="05000000000000000000" pitchFamily="2" charset="2"/>
              <a:buChar char="§"/>
            </a:pPr>
            <a:endParaRPr lang="en-SG" sz="1800" dirty="0">
              <a:latin typeface="+mj-lt"/>
            </a:endParaRPr>
          </a:p>
        </p:txBody>
      </p:sp>
      <p:sp>
        <p:nvSpPr>
          <p:cNvPr id="4" name="Footer Placeholder 3">
            <a:extLst>
              <a:ext uri="{FF2B5EF4-FFF2-40B4-BE49-F238E27FC236}">
                <a16:creationId xmlns:a16="http://schemas.microsoft.com/office/drawing/2014/main" id="{5A7C5539-C23D-43B5-24EB-93E6C7418F52}"/>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2F692B9F-2F56-3A2D-BF8E-474B21CE78CC}"/>
              </a:ext>
            </a:extLst>
          </p:cNvPr>
          <p:cNvSpPr>
            <a:spLocks noGrp="1"/>
          </p:cNvSpPr>
          <p:nvPr>
            <p:ph type="sldNum" sz="quarter" idx="12"/>
          </p:nvPr>
        </p:nvSpPr>
        <p:spPr/>
        <p:txBody>
          <a:bodyPr/>
          <a:lstStyle/>
          <a:p>
            <a:fld id="{3A98EE3D-8CD1-4C3F-BD1C-C98C9596463C}" type="slidenum">
              <a:rPr lang="en-US" sz="1200" smtClean="0"/>
              <a:t>22</a:t>
            </a:fld>
            <a:endParaRPr lang="en-US" sz="1200" dirty="0"/>
          </a:p>
        </p:txBody>
      </p:sp>
    </p:spTree>
    <p:extLst>
      <p:ext uri="{BB962C8B-B14F-4D97-AF65-F5344CB8AC3E}">
        <p14:creationId xmlns:p14="http://schemas.microsoft.com/office/powerpoint/2010/main" val="470450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92310-938C-05D7-95E1-CD3674F53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59443A-E72B-B8FA-043F-E855640BB61C}"/>
              </a:ext>
            </a:extLst>
          </p:cNvPr>
          <p:cNvSpPr>
            <a:spLocks noGrp="1"/>
          </p:cNvSpPr>
          <p:nvPr>
            <p:ph type="title"/>
          </p:nvPr>
        </p:nvSpPr>
        <p:spPr>
          <a:xfrm>
            <a:off x="453146" y="628782"/>
            <a:ext cx="8272212" cy="721203"/>
          </a:xfrm>
        </p:spPr>
        <p:txBody>
          <a:bodyPr anchor="ctr">
            <a:normAutofit/>
          </a:bodyPr>
          <a:lstStyle/>
          <a:p>
            <a:pPr algn="ctr"/>
            <a:r>
              <a:rPr lang="en-US" sz="4000" dirty="0"/>
              <a:t>Abortion bans and rape</a:t>
            </a:r>
            <a:endParaRPr lang="en-SG" sz="4000" dirty="0"/>
          </a:p>
        </p:txBody>
      </p:sp>
      <p:sp>
        <p:nvSpPr>
          <p:cNvPr id="3" name="Content Placeholder 2">
            <a:extLst>
              <a:ext uri="{FF2B5EF4-FFF2-40B4-BE49-F238E27FC236}">
                <a16:creationId xmlns:a16="http://schemas.microsoft.com/office/drawing/2014/main" id="{3291A754-CDB4-8830-FC95-86835940DEBC}"/>
              </a:ext>
            </a:extLst>
          </p:cNvPr>
          <p:cNvSpPr>
            <a:spLocks noGrp="1"/>
          </p:cNvSpPr>
          <p:nvPr>
            <p:ph idx="1"/>
          </p:nvPr>
        </p:nvSpPr>
        <p:spPr>
          <a:xfrm>
            <a:off x="435895" y="1579959"/>
            <a:ext cx="8272211" cy="4761781"/>
          </a:xfrm>
        </p:spPr>
        <p:txBody>
          <a:bodyPr anchor="t">
            <a:noAutofit/>
          </a:bodyPr>
          <a:lstStyle/>
          <a:p>
            <a:pPr>
              <a:buFont typeface="Wingdings" panose="05000000000000000000" pitchFamily="2" charset="2"/>
              <a:buChar char="§"/>
            </a:pPr>
            <a:r>
              <a:rPr lang="en-US" sz="2400" b="1" dirty="0">
                <a:solidFill>
                  <a:srgbClr val="FF0000"/>
                </a:solidFill>
                <a:ea typeface="SimSun" panose="02010600030101010101" pitchFamily="2" charset="-122"/>
              </a:rPr>
              <a:t>Small-group discussion: </a:t>
            </a:r>
            <a:r>
              <a:rPr lang="en-SG" sz="2400" dirty="0">
                <a:solidFill>
                  <a:srgbClr val="FF0000"/>
                </a:solidFill>
              </a:rPr>
              <a:t>Discuss the following questions with 1-2 partners. Give reasons for your answers.</a:t>
            </a:r>
            <a:endParaRPr lang="en-US" sz="2400" dirty="0">
              <a:solidFill>
                <a:srgbClr val="FF0000"/>
              </a:solidFill>
              <a:ea typeface="SimSun" panose="02010600030101010101" pitchFamily="2" charset="-122"/>
            </a:endParaRPr>
          </a:p>
          <a:p>
            <a:pPr marL="243000" lvl="1" indent="0">
              <a:buNone/>
            </a:pPr>
            <a:endParaRPr lang="en-US" sz="2400" dirty="0">
              <a:solidFill>
                <a:srgbClr val="FF0000"/>
              </a:solidFill>
              <a:ea typeface="SimSun" panose="02010600030101010101" pitchFamily="2" charset="-122"/>
            </a:endParaRPr>
          </a:p>
          <a:p>
            <a:pPr lvl="1"/>
            <a:r>
              <a:rPr lang="en-US" sz="2400" dirty="0">
                <a:solidFill>
                  <a:srgbClr val="FF0000"/>
                </a:solidFill>
                <a:ea typeface="SimSun" panose="02010600030101010101" pitchFamily="2" charset="-122"/>
              </a:rPr>
              <a:t>Recall Marquis’s view that it’s wrong to kill someone or something that has a valuable future. Does a fetus conceived through rape have a valuable future? If so, does this make it wrong to abort a fetus conceived through rape?</a:t>
            </a:r>
          </a:p>
        </p:txBody>
      </p:sp>
      <p:sp>
        <p:nvSpPr>
          <p:cNvPr id="4" name="Footer Placeholder 3">
            <a:extLst>
              <a:ext uri="{FF2B5EF4-FFF2-40B4-BE49-F238E27FC236}">
                <a16:creationId xmlns:a16="http://schemas.microsoft.com/office/drawing/2014/main" id="{7CFFEF73-9D37-708F-F7A4-EE4BB54B7987}"/>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98C4E571-3E9D-4AA8-58CF-F7B30EB19316}"/>
              </a:ext>
            </a:extLst>
          </p:cNvPr>
          <p:cNvSpPr>
            <a:spLocks noGrp="1"/>
          </p:cNvSpPr>
          <p:nvPr>
            <p:ph type="sldNum" sz="quarter" idx="12"/>
          </p:nvPr>
        </p:nvSpPr>
        <p:spPr/>
        <p:txBody>
          <a:bodyPr/>
          <a:lstStyle/>
          <a:p>
            <a:fld id="{3A98EE3D-8CD1-4C3F-BD1C-C98C9596463C}" type="slidenum">
              <a:rPr lang="en-US" sz="1200" smtClean="0"/>
              <a:t>23</a:t>
            </a:fld>
            <a:endParaRPr lang="en-US" sz="1200" dirty="0"/>
          </a:p>
        </p:txBody>
      </p:sp>
    </p:spTree>
    <p:extLst>
      <p:ext uri="{BB962C8B-B14F-4D97-AF65-F5344CB8AC3E}">
        <p14:creationId xmlns:p14="http://schemas.microsoft.com/office/powerpoint/2010/main" val="3898176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62541-A18E-4086-0CAF-19A289A324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5AE36-CDC6-F787-ABC5-EA209C9ED3E6}"/>
              </a:ext>
            </a:extLst>
          </p:cNvPr>
          <p:cNvSpPr>
            <a:spLocks noGrp="1"/>
          </p:cNvSpPr>
          <p:nvPr>
            <p:ph type="title"/>
          </p:nvPr>
        </p:nvSpPr>
        <p:spPr>
          <a:xfrm>
            <a:off x="453146" y="628782"/>
            <a:ext cx="8272212" cy="721203"/>
          </a:xfrm>
        </p:spPr>
        <p:txBody>
          <a:bodyPr anchor="ctr">
            <a:normAutofit/>
          </a:bodyPr>
          <a:lstStyle/>
          <a:p>
            <a:pPr algn="ctr"/>
            <a:r>
              <a:rPr lang="en-US" sz="4000" dirty="0"/>
              <a:t>Abortion and the law</a:t>
            </a:r>
            <a:endParaRPr lang="en-SG" sz="4000" dirty="0"/>
          </a:p>
        </p:txBody>
      </p:sp>
      <p:sp>
        <p:nvSpPr>
          <p:cNvPr id="3" name="Content Placeholder 2">
            <a:extLst>
              <a:ext uri="{FF2B5EF4-FFF2-40B4-BE49-F238E27FC236}">
                <a16:creationId xmlns:a16="http://schemas.microsoft.com/office/drawing/2014/main" id="{1B1232B8-B04C-7539-59D8-92929AFD63D3}"/>
              </a:ext>
            </a:extLst>
          </p:cNvPr>
          <p:cNvSpPr>
            <a:spLocks noGrp="1"/>
          </p:cNvSpPr>
          <p:nvPr>
            <p:ph idx="1"/>
          </p:nvPr>
        </p:nvSpPr>
        <p:spPr>
          <a:xfrm>
            <a:off x="435895" y="1579959"/>
            <a:ext cx="8272211" cy="4761781"/>
          </a:xfrm>
        </p:spPr>
        <p:txBody>
          <a:bodyPr anchor="t">
            <a:noAutofit/>
          </a:bodyPr>
          <a:lstStyle/>
          <a:p>
            <a:pPr>
              <a:buFont typeface="Wingdings" panose="05000000000000000000" pitchFamily="2" charset="2"/>
              <a:buChar char="§"/>
            </a:pPr>
            <a:r>
              <a:rPr lang="en-US" sz="1800" b="1" dirty="0">
                <a:solidFill>
                  <a:srgbClr val="FF0000"/>
                </a:solidFill>
                <a:ea typeface="SimSun" panose="02010600030101010101" pitchFamily="2" charset="-122"/>
              </a:rPr>
              <a:t>Whole-class discussion:</a:t>
            </a:r>
          </a:p>
          <a:p>
            <a:pPr>
              <a:buFont typeface="Wingdings" panose="05000000000000000000" pitchFamily="2" charset="2"/>
              <a:buChar char="§"/>
            </a:pPr>
            <a:endParaRPr lang="en-US" sz="1800" b="1" dirty="0">
              <a:solidFill>
                <a:srgbClr val="FF0000"/>
              </a:solidFill>
              <a:ea typeface="SimSun" panose="02010600030101010101" pitchFamily="2" charset="-122"/>
            </a:endParaRPr>
          </a:p>
          <a:p>
            <a:pPr>
              <a:buFont typeface="Wingdings" panose="05000000000000000000" pitchFamily="2" charset="2"/>
              <a:buChar char="§"/>
            </a:pPr>
            <a:r>
              <a:rPr lang="en-US" sz="1800" dirty="0">
                <a:solidFill>
                  <a:srgbClr val="FF0000"/>
                </a:solidFill>
                <a:ea typeface="SimSun" panose="02010600030101010101" pitchFamily="2" charset="-122"/>
              </a:rPr>
              <a:t>We’ve been discussing whether abortion is </a:t>
            </a:r>
            <a:r>
              <a:rPr lang="en-US" sz="1800" i="1" dirty="0">
                <a:solidFill>
                  <a:srgbClr val="FF0000"/>
                </a:solidFill>
                <a:ea typeface="SimSun" panose="02010600030101010101" pitchFamily="2" charset="-122"/>
              </a:rPr>
              <a:t>morally </a:t>
            </a:r>
            <a:r>
              <a:rPr lang="en-US" sz="1800" dirty="0">
                <a:solidFill>
                  <a:srgbClr val="FF0000"/>
                </a:solidFill>
                <a:ea typeface="SimSun" panose="02010600030101010101" pitchFamily="2" charset="-122"/>
              </a:rPr>
              <a:t>permissible. But this question is not the same as the question whether abortion </a:t>
            </a:r>
            <a:r>
              <a:rPr lang="en-US" sz="1800" i="1" dirty="0">
                <a:solidFill>
                  <a:srgbClr val="FF0000"/>
                </a:solidFill>
                <a:ea typeface="SimSun" panose="02010600030101010101" pitchFamily="2" charset="-122"/>
              </a:rPr>
              <a:t>should be against the law</a:t>
            </a:r>
            <a:r>
              <a:rPr lang="en-US" sz="1800" dirty="0">
                <a:solidFill>
                  <a:srgbClr val="FF0000"/>
                </a:solidFill>
                <a:ea typeface="SimSun" panose="02010600030101010101" pitchFamily="2" charset="-122"/>
              </a:rPr>
              <a:t>.</a:t>
            </a:r>
          </a:p>
          <a:p>
            <a:pPr>
              <a:buFont typeface="Wingdings" panose="05000000000000000000" pitchFamily="2" charset="2"/>
              <a:buChar char="§"/>
            </a:pPr>
            <a:endParaRPr lang="en-US" sz="1800" dirty="0">
              <a:solidFill>
                <a:srgbClr val="FF0000"/>
              </a:solidFill>
              <a:ea typeface="SimSun" panose="02010600030101010101" pitchFamily="2" charset="-122"/>
            </a:endParaRPr>
          </a:p>
          <a:p>
            <a:pPr>
              <a:buFont typeface="Wingdings" panose="05000000000000000000" pitchFamily="2" charset="2"/>
              <a:buChar char="§"/>
            </a:pPr>
            <a:r>
              <a:rPr lang="en-US" sz="1800" dirty="0">
                <a:solidFill>
                  <a:srgbClr val="FF0000"/>
                </a:solidFill>
                <a:ea typeface="SimSun" panose="02010600030101010101" pitchFamily="2" charset="-122"/>
              </a:rPr>
              <a:t>There is considerable disagreement in the U.S. over whether abortion should be legal. According to the Pew Research Center, as of 2024, 63% of Americans say that abortion should be legal in all or most cases, and 36% say it should be illegal in all or most cases (</a:t>
            </a:r>
            <a:r>
              <a:rPr lang="en-US" sz="1800" dirty="0">
                <a:solidFill>
                  <a:srgbClr val="FF0000"/>
                </a:solidFill>
                <a:ea typeface="SimSun" panose="02010600030101010101" pitchFamily="2" charset="-122"/>
                <a:hlinkClick r:id="rId3"/>
              </a:rPr>
              <a:t>Pew 2025</a:t>
            </a:r>
            <a:r>
              <a:rPr lang="en-US" sz="1800" dirty="0">
                <a:solidFill>
                  <a:srgbClr val="FF0000"/>
                </a:solidFill>
                <a:ea typeface="SimSun" panose="02010600030101010101" pitchFamily="2" charset="-122"/>
              </a:rPr>
              <a:t>).</a:t>
            </a:r>
          </a:p>
          <a:p>
            <a:pPr>
              <a:buFont typeface="Wingdings" panose="05000000000000000000" pitchFamily="2" charset="2"/>
              <a:buChar char="§"/>
            </a:pPr>
            <a:endParaRPr lang="en-US" sz="1800" dirty="0">
              <a:solidFill>
                <a:srgbClr val="FF0000"/>
              </a:solidFill>
              <a:ea typeface="SimSun" panose="02010600030101010101" pitchFamily="2" charset="-122"/>
            </a:endParaRPr>
          </a:p>
          <a:p>
            <a:pPr>
              <a:buFont typeface="Wingdings" panose="05000000000000000000" pitchFamily="2" charset="2"/>
              <a:buChar char="§"/>
            </a:pPr>
            <a:r>
              <a:rPr lang="en-US" sz="1800" dirty="0">
                <a:solidFill>
                  <a:srgbClr val="FF0000"/>
                </a:solidFill>
                <a:ea typeface="SimSun" panose="02010600030101010101" pitchFamily="2" charset="-122"/>
              </a:rPr>
              <a:t>Given the amount of disagreement about whether abortion should be legal, should any laws exist either to permit or prohibit abortion? How should such laws be decided? Explain.</a:t>
            </a:r>
            <a:endParaRPr lang="en-SG" sz="1800" dirty="0">
              <a:solidFill>
                <a:srgbClr val="FF0000"/>
              </a:solidFill>
            </a:endParaRPr>
          </a:p>
        </p:txBody>
      </p:sp>
      <p:sp>
        <p:nvSpPr>
          <p:cNvPr id="4" name="Footer Placeholder 3">
            <a:extLst>
              <a:ext uri="{FF2B5EF4-FFF2-40B4-BE49-F238E27FC236}">
                <a16:creationId xmlns:a16="http://schemas.microsoft.com/office/drawing/2014/main" id="{23D5B286-AA53-6C43-7016-EA6E905D359B}"/>
              </a:ext>
            </a:extLst>
          </p:cNvPr>
          <p:cNvSpPr>
            <a:spLocks noGrp="1"/>
          </p:cNvSpPr>
          <p:nvPr>
            <p:ph type="ftr" sz="quarter" idx="11"/>
          </p:nvPr>
        </p:nvSpPr>
        <p:spPr/>
        <p:txBody>
          <a:bodyPr/>
          <a:lstStyle/>
          <a:p>
            <a:r>
              <a:rPr lang="en-US" sz="1200"/>
              <a:t>Luco - PHIL 1020 - Fall 2025</a:t>
            </a:r>
            <a:endParaRPr lang="en-US" sz="1200" dirty="0"/>
          </a:p>
        </p:txBody>
      </p:sp>
      <p:sp>
        <p:nvSpPr>
          <p:cNvPr id="5" name="Slide Number Placeholder 4">
            <a:extLst>
              <a:ext uri="{FF2B5EF4-FFF2-40B4-BE49-F238E27FC236}">
                <a16:creationId xmlns:a16="http://schemas.microsoft.com/office/drawing/2014/main" id="{542FB60E-0EAC-6F8F-8891-985B2DB630B6}"/>
              </a:ext>
            </a:extLst>
          </p:cNvPr>
          <p:cNvSpPr>
            <a:spLocks noGrp="1"/>
          </p:cNvSpPr>
          <p:nvPr>
            <p:ph type="sldNum" sz="quarter" idx="12"/>
          </p:nvPr>
        </p:nvSpPr>
        <p:spPr/>
        <p:txBody>
          <a:bodyPr/>
          <a:lstStyle/>
          <a:p>
            <a:fld id="{3A98EE3D-8CD1-4C3F-BD1C-C98C9596463C}" type="slidenum">
              <a:rPr lang="en-US" sz="1200" smtClean="0"/>
              <a:t>24</a:t>
            </a:fld>
            <a:endParaRPr lang="en-US" sz="1200" dirty="0"/>
          </a:p>
        </p:txBody>
      </p:sp>
    </p:spTree>
    <p:extLst>
      <p:ext uri="{BB962C8B-B14F-4D97-AF65-F5344CB8AC3E}">
        <p14:creationId xmlns:p14="http://schemas.microsoft.com/office/powerpoint/2010/main" val="4000813505"/>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purl.org/dc/terms/"/>
    <ds:schemaRef ds:uri="71af3243-3dd4-4a8d-8c0d-dd76da1f02a5"/>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http://www.w3.org/XML/1998/namespace"/>
    <ds:schemaRef ds:uri="16c05727-aa75-4e4a-9b5f-8a80a1165891"/>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{8EBEEEC9-7332-4765-9766-770B57008EDA}tf33552983_win32</Template>
  <TotalTime>2200</TotalTime>
  <Words>5044</Words>
  <Application>Microsoft Office PowerPoint</Application>
  <PresentationFormat>On-screen Show (4:3)</PresentationFormat>
  <Paragraphs>289</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SimSun</vt:lpstr>
      <vt:lpstr>Arial</vt:lpstr>
      <vt:lpstr>Calibri</vt:lpstr>
      <vt:lpstr>Franklin Gothic Book</vt:lpstr>
      <vt:lpstr>Franklin Gothic Demi</vt:lpstr>
      <vt:lpstr>Guardian TextSans Web</vt:lpstr>
      <vt:lpstr>LatoWeb</vt:lpstr>
      <vt:lpstr>Wingdings</vt:lpstr>
      <vt:lpstr>Wingdings 2</vt:lpstr>
      <vt:lpstr>DividendVTI</vt:lpstr>
      <vt:lpstr>Week 10 (10/24): abortion </vt:lpstr>
      <vt:lpstr>Objectives for today</vt:lpstr>
      <vt:lpstr>Marquis on abortion</vt:lpstr>
      <vt:lpstr>futures of value</vt:lpstr>
      <vt:lpstr>Futures of value</vt:lpstr>
      <vt:lpstr>futures of value</vt:lpstr>
      <vt:lpstr>futures of value</vt:lpstr>
      <vt:lpstr>futures of value</vt:lpstr>
      <vt:lpstr>futures of value</vt:lpstr>
      <vt:lpstr>Objections to marquis</vt:lpstr>
      <vt:lpstr>Objection: consciousness</vt:lpstr>
      <vt:lpstr>Objection: consciousness</vt:lpstr>
      <vt:lpstr>Objection: contraception</vt:lpstr>
      <vt:lpstr>Objection: contraception</vt:lpstr>
      <vt:lpstr>Objection: contraception</vt:lpstr>
      <vt:lpstr>Objection: contraception</vt:lpstr>
      <vt:lpstr>Objection: contraception</vt:lpstr>
      <vt:lpstr>Medically necessary abortion</vt:lpstr>
      <vt:lpstr>Medically necessary abortion</vt:lpstr>
      <vt:lpstr>Medically necessary abortion</vt:lpstr>
      <vt:lpstr>Medically necessary abortion</vt:lpstr>
      <vt:lpstr>Abortion bans and rape</vt:lpstr>
      <vt:lpstr>Abortion bans and rape</vt:lpstr>
      <vt:lpstr>Abortion and the law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12 (10/30): abortion</dc:title>
  <dc:creator>Andres Luco</dc:creator>
  <cp:lastModifiedBy>Andres Luco</cp:lastModifiedBy>
  <cp:revision>140</cp:revision>
  <dcterms:created xsi:type="dcterms:W3CDTF">2023-11-09T21:27:12Z</dcterms:created>
  <dcterms:modified xsi:type="dcterms:W3CDTF">2025-10-31T17:17:11Z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