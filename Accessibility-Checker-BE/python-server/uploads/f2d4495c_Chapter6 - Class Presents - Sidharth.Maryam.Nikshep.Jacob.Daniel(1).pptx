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9144000"/>
  <p:embeddedFontLst>
    <p:embeddedFont>
      <p:font typeface="Helvetica Neue" panose="02000503000000020004" pitchFamily="2" charset="0"/>
      <p:regular r:id="rId68"/>
      <p:bold r:id="rId69"/>
      <p:italic r:id="rId70"/>
      <p:boldItalic r:id="rId71"/>
    </p:embeddedFont>
    <p:embeddedFont>
      <p:font typeface="Lato" panose="020F0502020204030203" pitchFamily="34" charset="77"/>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i2RYV1462dr+U/5Dr0cK8s7TJJ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54"/>
  </p:normalViewPr>
  <p:slideViewPr>
    <p:cSldViewPr snapToGrid="0" snapToObjects="1" showGuides="1">
      <p:cViewPr varScale="1">
        <p:scale>
          <a:sx n="168" d="100"/>
          <a:sy n="168" d="100"/>
        </p:scale>
        <p:origin x="224" y="4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7.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05" name="Google Shape;40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11" name="Google Shape;411;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17" name="Google Shape;41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23" name="Google Shape;42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29" name="Google Shape;429;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36" name="Google Shape;436;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42" name="Google Shape;44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48" name="Google Shape;448;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54" name="Google Shape;454;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61" name="Google Shape;461;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1" name="Google Shape;51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grpSp>
        <p:nvGrpSpPr>
          <p:cNvPr id="22" name="Google Shape;22;p68"/>
          <p:cNvGrpSpPr/>
          <p:nvPr/>
        </p:nvGrpSpPr>
        <p:grpSpPr>
          <a:xfrm>
            <a:off x="0" y="508002"/>
            <a:ext cx="1383800" cy="1355050"/>
            <a:chOff x="0" y="381001"/>
            <a:chExt cx="1037850" cy="1016288"/>
          </a:xfrm>
        </p:grpSpPr>
        <p:sp>
          <p:nvSpPr>
            <p:cNvPr id="23" name="Google Shape;23;p68"/>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24" name="Google Shape;24;p68"/>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grpSp>
      <p:sp>
        <p:nvSpPr>
          <p:cNvPr id="25" name="Google Shape;25;p68"/>
          <p:cNvSpPr txBox="1">
            <a:spLocks noGrp="1"/>
          </p:cNvSpPr>
          <p:nvPr>
            <p:ph type="title"/>
          </p:nvPr>
        </p:nvSpPr>
        <p:spPr>
          <a:xfrm>
            <a:off x="1730000" y="525000"/>
            <a:ext cx="9385200" cy="12188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dk1"/>
              </a:buClr>
              <a:buSzPts val="2400"/>
              <a:buFont typeface="Calibri"/>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6" name="Google Shape;26;p68"/>
          <p:cNvSpPr txBox="1">
            <a:spLocks noGrp="1"/>
          </p:cNvSpPr>
          <p:nvPr>
            <p:ph type="body" idx="1"/>
          </p:nvPr>
        </p:nvSpPr>
        <p:spPr>
          <a:xfrm>
            <a:off x="1730000" y="2090067"/>
            <a:ext cx="9385200" cy="3881600"/>
          </a:xfrm>
          <a:prstGeom prst="rect">
            <a:avLst/>
          </a:prstGeom>
          <a:noFill/>
          <a:ln>
            <a:noFill/>
          </a:ln>
        </p:spPr>
        <p:txBody>
          <a:bodyPr spcFirstLastPara="1" wrap="square" lIns="91425" tIns="91425" rIns="91425" bIns="91425" anchor="t" anchorCtr="0">
            <a:normAutofit/>
          </a:bodyPr>
          <a:lstStyle>
            <a:lvl1pPr marL="457200" lvl="0" indent="-311150" algn="l">
              <a:lnSpc>
                <a:spcPct val="90000"/>
              </a:lnSpc>
              <a:spcBef>
                <a:spcPts val="0"/>
              </a:spcBef>
              <a:spcAft>
                <a:spcPts val="0"/>
              </a:spcAft>
              <a:buClr>
                <a:schemeClr val="dk1"/>
              </a:buClr>
              <a:buSzPts val="1300"/>
              <a:buChar char="●"/>
              <a:defRPr/>
            </a:lvl1pPr>
            <a:lvl2pPr marL="914400" lvl="1" indent="-298450" algn="l">
              <a:lnSpc>
                <a:spcPct val="90000"/>
              </a:lnSpc>
              <a:spcBef>
                <a:spcPts val="0"/>
              </a:spcBef>
              <a:spcAft>
                <a:spcPts val="0"/>
              </a:spcAft>
              <a:buClr>
                <a:schemeClr val="dk1"/>
              </a:buClr>
              <a:buSzPts val="1100"/>
              <a:buChar char="○"/>
              <a:defRPr/>
            </a:lvl2pPr>
            <a:lvl3pPr marL="1371600" lvl="2" indent="-298450" algn="l">
              <a:lnSpc>
                <a:spcPct val="90000"/>
              </a:lnSpc>
              <a:spcBef>
                <a:spcPts val="0"/>
              </a:spcBef>
              <a:spcAft>
                <a:spcPts val="0"/>
              </a:spcAft>
              <a:buClr>
                <a:schemeClr val="dk1"/>
              </a:buClr>
              <a:buSzPts val="1100"/>
              <a:buChar char="■"/>
              <a:defRPr/>
            </a:lvl3pPr>
            <a:lvl4pPr marL="1828800" lvl="3" indent="-298450" algn="l">
              <a:lnSpc>
                <a:spcPct val="90000"/>
              </a:lnSpc>
              <a:spcBef>
                <a:spcPts val="0"/>
              </a:spcBef>
              <a:spcAft>
                <a:spcPts val="0"/>
              </a:spcAft>
              <a:buClr>
                <a:schemeClr val="dk1"/>
              </a:buClr>
              <a:buSzPts val="1100"/>
              <a:buChar char="●"/>
              <a:defRPr/>
            </a:lvl4pPr>
            <a:lvl5pPr marL="2286000" lvl="4" indent="-298450" algn="l">
              <a:lnSpc>
                <a:spcPct val="90000"/>
              </a:lnSpc>
              <a:spcBef>
                <a:spcPts val="0"/>
              </a:spcBef>
              <a:spcAft>
                <a:spcPts val="0"/>
              </a:spcAft>
              <a:buClr>
                <a:schemeClr val="dk1"/>
              </a:buClr>
              <a:buSzPts val="1100"/>
              <a:buChar char="○"/>
              <a:defRPr/>
            </a:lvl5pPr>
            <a:lvl6pPr marL="2743200" lvl="5" indent="-298450" algn="l">
              <a:lnSpc>
                <a:spcPct val="90000"/>
              </a:lnSpc>
              <a:spcBef>
                <a:spcPts val="0"/>
              </a:spcBef>
              <a:spcAft>
                <a:spcPts val="0"/>
              </a:spcAft>
              <a:buClr>
                <a:schemeClr val="dk1"/>
              </a:buClr>
              <a:buSzPts val="1100"/>
              <a:buChar char="■"/>
              <a:defRPr/>
            </a:lvl6pPr>
            <a:lvl7pPr marL="3200400" lvl="6" indent="-298450" algn="l">
              <a:lnSpc>
                <a:spcPct val="90000"/>
              </a:lnSpc>
              <a:spcBef>
                <a:spcPts val="0"/>
              </a:spcBef>
              <a:spcAft>
                <a:spcPts val="0"/>
              </a:spcAft>
              <a:buClr>
                <a:schemeClr val="dk1"/>
              </a:buClr>
              <a:buSzPts val="1100"/>
              <a:buChar char="●"/>
              <a:defRPr/>
            </a:lvl7pPr>
            <a:lvl8pPr marL="3657600" lvl="7" indent="-298450" algn="l">
              <a:lnSpc>
                <a:spcPct val="90000"/>
              </a:lnSpc>
              <a:spcBef>
                <a:spcPts val="0"/>
              </a:spcBef>
              <a:spcAft>
                <a:spcPts val="0"/>
              </a:spcAft>
              <a:buClr>
                <a:schemeClr val="dk1"/>
              </a:buClr>
              <a:buSzPts val="1100"/>
              <a:buChar char="○"/>
              <a:defRPr/>
            </a:lvl8pPr>
            <a:lvl9pPr marL="4114800" lvl="8" indent="-298450" algn="l">
              <a:lnSpc>
                <a:spcPct val="90000"/>
              </a:lnSpc>
              <a:spcBef>
                <a:spcPts val="0"/>
              </a:spcBef>
              <a:spcAft>
                <a:spcPts val="0"/>
              </a:spcAft>
              <a:buClr>
                <a:schemeClr val="dk1"/>
              </a:buClr>
              <a:buSzPts val="1100"/>
              <a:buChar char="■"/>
              <a:defRPr/>
            </a:lvl9pPr>
          </a:lstStyle>
          <a:p>
            <a:endParaRPr/>
          </a:p>
        </p:txBody>
      </p:sp>
      <p:sp>
        <p:nvSpPr>
          <p:cNvPr id="27" name="Google Shape;27;p6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lvl="1"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lvl="2"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lvl="3"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lvl="4"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lvl="5"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lvl="6"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lvl="7"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lvl="8" indent="0" algn="r">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4_Images &amp; Contents Layout">
  <p:cSld name="24_Images &amp; Contents Layout">
    <p:spTree>
      <p:nvGrpSpPr>
        <p:cNvPr id="1" name="Shape 28"/>
        <p:cNvGrpSpPr/>
        <p:nvPr/>
      </p:nvGrpSpPr>
      <p:grpSpPr>
        <a:xfrm>
          <a:off x="0" y="0"/>
          <a:ext cx="0" cy="0"/>
          <a:chOff x="0" y="0"/>
          <a:chExt cx="0" cy="0"/>
        </a:xfrm>
      </p:grpSpPr>
      <p:sp>
        <p:nvSpPr>
          <p:cNvPr id="29" name="Google Shape;29;p69"/>
          <p:cNvSpPr>
            <a:spLocks noGrp="1"/>
          </p:cNvSpPr>
          <p:nvPr>
            <p:ph type="pic" idx="2"/>
          </p:nvPr>
        </p:nvSpPr>
        <p:spPr>
          <a:xfrm>
            <a:off x="6143114" y="609600"/>
            <a:ext cx="2592156" cy="2520798"/>
          </a:xfrm>
          <a:prstGeom prst="rect">
            <a:avLst/>
          </a:prstGeom>
          <a:solidFill>
            <a:srgbClr val="F2F2F2"/>
          </a:solidFill>
          <a:ln>
            <a:noFill/>
          </a:ln>
        </p:spPr>
      </p:sp>
      <p:sp>
        <p:nvSpPr>
          <p:cNvPr id="30" name="Google Shape;30;p69"/>
          <p:cNvSpPr>
            <a:spLocks noGrp="1"/>
          </p:cNvSpPr>
          <p:nvPr>
            <p:ph type="pic" idx="3"/>
          </p:nvPr>
        </p:nvSpPr>
        <p:spPr>
          <a:xfrm>
            <a:off x="684887" y="3207932"/>
            <a:ext cx="5364000" cy="3145645"/>
          </a:xfrm>
          <a:prstGeom prst="rect">
            <a:avLst/>
          </a:prstGeom>
          <a:solidFill>
            <a:srgbClr val="F2F2F2"/>
          </a:solidFill>
          <a:ln>
            <a:noFill/>
          </a:ln>
        </p:spPr>
      </p:sp>
      <p:sp>
        <p:nvSpPr>
          <p:cNvPr id="31" name="Google Shape;31;p69"/>
          <p:cNvSpPr>
            <a:spLocks noGrp="1"/>
          </p:cNvSpPr>
          <p:nvPr>
            <p:ph type="pic" idx="4"/>
          </p:nvPr>
        </p:nvSpPr>
        <p:spPr>
          <a:xfrm>
            <a:off x="8870136" y="609600"/>
            <a:ext cx="2592156" cy="2520798"/>
          </a:xfrm>
          <a:prstGeom prst="rect">
            <a:avLst/>
          </a:prstGeom>
          <a:solidFill>
            <a:srgbClr val="F2F2F2"/>
          </a:solid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s slide layout">
  <p:cSld name="Contents slide layout">
    <p:spTree>
      <p:nvGrpSpPr>
        <p:cNvPr id="1" name="Shape 32"/>
        <p:cNvGrpSpPr/>
        <p:nvPr/>
      </p:nvGrpSpPr>
      <p:grpSpPr>
        <a:xfrm>
          <a:off x="0" y="0"/>
          <a:ext cx="0" cy="0"/>
          <a:chOff x="0" y="0"/>
          <a:chExt cx="0" cy="0"/>
        </a:xfrm>
      </p:grpSpPr>
      <p:sp>
        <p:nvSpPr>
          <p:cNvPr id="33" name="Google Shape;33;p70"/>
          <p:cNvSpPr txBox="1">
            <a:spLocks noGrp="1"/>
          </p:cNvSpPr>
          <p:nvPr>
            <p:ph type="body" idx="1"/>
          </p:nvPr>
        </p:nvSpPr>
        <p:spPr>
          <a:xfrm>
            <a:off x="323529" y="287255"/>
            <a:ext cx="11573197" cy="724247"/>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262626"/>
              </a:buClr>
              <a:buSzPts val="5400"/>
              <a:buNone/>
              <a:defRPr sz="5400" b="0">
                <a:solidFill>
                  <a:srgbClr val="262626"/>
                </a:solidFill>
                <a:latin typeface="Calibri"/>
                <a:ea typeface="Calibri"/>
                <a:cs typeface="Calibri"/>
                <a:sym typeface="Calibri"/>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7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Cover slide layout">
  <p:cSld name="1_Cover slide layout">
    <p:bg>
      <p:bgPr>
        <a:blipFill>
          <a:blip r:embed="rId2">
            <a:alphaModFix/>
          </a:blip>
          <a:stretch>
            <a:fillRect/>
          </a:stretch>
        </a:blip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7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7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4" name="Google Shape;44;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7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7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7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7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7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7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5" name="Google Shape;75;p7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7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79"/>
          <p:cNvSpPr>
            <a:spLocks noGrp="1"/>
          </p:cNvSpPr>
          <p:nvPr>
            <p:ph type="pic" idx="2"/>
          </p:nvPr>
        </p:nvSpPr>
        <p:spPr>
          <a:xfrm>
            <a:off x="5183188" y="987425"/>
            <a:ext cx="6172200" cy="4873625"/>
          </a:xfrm>
          <a:prstGeom prst="rect">
            <a:avLst/>
          </a:prstGeom>
          <a:noFill/>
          <a:ln>
            <a:noFill/>
          </a:ln>
        </p:spPr>
      </p:sp>
      <p:sp>
        <p:nvSpPr>
          <p:cNvPr id="82" name="Google Shape;82;p7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8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8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8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iwc.oxfordjournals.org/content/14/2/119.abstract"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22.jpg"/><Relationship Id="rId4" Type="http://schemas.openxmlformats.org/officeDocument/2006/relationships/image" Target="../media/image21.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6.jp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0.jpg"/></Relationships>
</file>

<file path=ppt/slides/_rels/slide3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32.jpg"/></Relationships>
</file>

<file path=ppt/slides/_rels/slide3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34.jpg"/></Relationships>
</file>

<file path=ppt/slides/_rels/slide3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6.jp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38.jp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hyperlink" Target="https://www.affectiva.com/" TargetMode="External"/><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hyperlink" Target="http://www.free-powerpoint-templates-design.com/" TargetMode="External"/><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950026" y="2214748"/>
            <a:ext cx="10367158" cy="2188876"/>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2D3B45"/>
              </a:buClr>
              <a:buSzPct val="100000"/>
              <a:buFont typeface="Lato"/>
              <a:buNone/>
            </a:pPr>
            <a:r>
              <a:rPr lang="en-US" sz="4000" b="1" i="0" u="sng">
                <a:solidFill>
                  <a:srgbClr val="2D3B45"/>
                </a:solidFill>
                <a:latin typeface="Lato"/>
                <a:ea typeface="Lato"/>
                <a:cs typeface="Lato"/>
                <a:sym typeface="Lato"/>
              </a:rPr>
              <a:t>Class Presentation </a:t>
            </a:r>
            <a:r>
              <a:rPr lang="en-US" sz="800" b="1" i="0" u="sng">
                <a:solidFill>
                  <a:srgbClr val="2D3B45"/>
                </a:solidFill>
                <a:latin typeface="Lato"/>
                <a:ea typeface="Lato"/>
                <a:cs typeface="Lato"/>
                <a:sym typeface="Lato"/>
              </a:rPr>
              <a:t>  </a:t>
            </a:r>
            <a:br>
              <a:rPr lang="en-US" sz="800" b="1" i="0" u="sng">
                <a:solidFill>
                  <a:srgbClr val="2D3B45"/>
                </a:solidFill>
                <a:latin typeface="Lato"/>
                <a:ea typeface="Lato"/>
                <a:cs typeface="Lato"/>
                <a:sym typeface="Lato"/>
              </a:rPr>
            </a:br>
            <a:br>
              <a:rPr lang="en-US" sz="4000" b="1" i="0" u="sng">
                <a:solidFill>
                  <a:srgbClr val="2D3B45"/>
                </a:solidFill>
                <a:latin typeface="Lato"/>
                <a:ea typeface="Lato"/>
                <a:cs typeface="Lato"/>
                <a:sym typeface="Lato"/>
              </a:rPr>
            </a:br>
            <a:br>
              <a:rPr lang="en-US" sz="4000" b="1" i="0" u="sng">
                <a:solidFill>
                  <a:srgbClr val="2D3B45"/>
                </a:solidFill>
                <a:latin typeface="Lato"/>
                <a:ea typeface="Lato"/>
                <a:cs typeface="Lato"/>
                <a:sym typeface="Lato"/>
              </a:rPr>
            </a:br>
            <a:r>
              <a:rPr lang="en-US" sz="4000" b="1" i="0" u="sng">
                <a:solidFill>
                  <a:srgbClr val="2D3B45"/>
                </a:solidFill>
                <a:latin typeface="Lato"/>
                <a:ea typeface="Lato"/>
                <a:cs typeface="Lato"/>
                <a:sym typeface="Lato"/>
              </a:rPr>
              <a:t>Chapter 6: Emotional Interaction</a:t>
            </a:r>
            <a:endParaRPr sz="4000" u="sng"/>
          </a:p>
        </p:txBody>
      </p:sp>
      <p:sp>
        <p:nvSpPr>
          <p:cNvPr id="103" name="Google Shape;103;p1"/>
          <p:cNvSpPr txBox="1">
            <a:spLocks noGrp="1"/>
          </p:cNvSpPr>
          <p:nvPr>
            <p:ph type="subTitle" idx="1"/>
          </p:nvPr>
        </p:nvSpPr>
        <p:spPr>
          <a:xfrm>
            <a:off x="950027" y="4643252"/>
            <a:ext cx="9999022" cy="2122714"/>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latin typeface="Lato"/>
                <a:ea typeface="Lato"/>
                <a:cs typeface="Lato"/>
                <a:sym typeface="Lato"/>
              </a:rPr>
              <a:t>Professor: Dr. Seals</a:t>
            </a:r>
            <a:endParaRPr/>
          </a:p>
          <a:p>
            <a:pPr marL="0" lvl="0" indent="0" algn="ctr" rtl="0">
              <a:lnSpc>
                <a:spcPct val="90000"/>
              </a:lnSpc>
              <a:spcBef>
                <a:spcPts val="1000"/>
              </a:spcBef>
              <a:spcAft>
                <a:spcPts val="0"/>
              </a:spcAft>
              <a:buClr>
                <a:schemeClr val="dk1"/>
              </a:buClr>
              <a:buSzPts val="2400"/>
              <a:buNone/>
            </a:pPr>
            <a:endParaRPr>
              <a:latin typeface="Lato"/>
              <a:ea typeface="Lato"/>
              <a:cs typeface="Lato"/>
              <a:sym typeface="Lato"/>
            </a:endParaRPr>
          </a:p>
          <a:p>
            <a:pPr marL="0" lvl="0" indent="0" algn="ctr" rtl="0">
              <a:lnSpc>
                <a:spcPct val="90000"/>
              </a:lnSpc>
              <a:spcBef>
                <a:spcPts val="1000"/>
              </a:spcBef>
              <a:spcAft>
                <a:spcPts val="0"/>
              </a:spcAft>
              <a:buClr>
                <a:schemeClr val="dk1"/>
              </a:buClr>
              <a:buSzPts val="2400"/>
              <a:buNone/>
            </a:pPr>
            <a:r>
              <a:rPr lang="en-US">
                <a:latin typeface="Lato"/>
                <a:ea typeface="Lato"/>
                <a:cs typeface="Lato"/>
                <a:sym typeface="Lato"/>
              </a:rPr>
              <a:t>Presentation By: </a:t>
            </a:r>
            <a:r>
              <a:rPr lang="en-US" b="0" i="0">
                <a:latin typeface="Lato"/>
                <a:ea typeface="Lato"/>
                <a:cs typeface="Lato"/>
                <a:sym typeface="Lato"/>
              </a:rPr>
              <a:t>Sidharth Suresh Gautam ,Daniel Benjamin, 				  Maryam Bigonah, Nikshep Bikkumalla, Jacob Blair</a:t>
            </a:r>
            <a:endParaRPr/>
          </a:p>
        </p:txBody>
      </p:sp>
      <p:sp>
        <p:nvSpPr>
          <p:cNvPr id="104" name="Google Shape;104;p1"/>
          <p:cNvSpPr txBox="1"/>
          <p:nvPr/>
        </p:nvSpPr>
        <p:spPr>
          <a:xfrm>
            <a:off x="1211282" y="0"/>
            <a:ext cx="10105901" cy="2454377"/>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chemeClr val="dk1"/>
              </a:buClr>
              <a:buSzPts val="4400"/>
              <a:buFont typeface="Lato"/>
              <a:buNone/>
            </a:pPr>
            <a:r>
              <a:rPr lang="en-US" sz="4400" b="1" i="0" u="none" strike="noStrike" cap="none">
                <a:solidFill>
                  <a:schemeClr val="dk1"/>
                </a:solidFill>
                <a:latin typeface="Lato"/>
                <a:ea typeface="Lato"/>
                <a:cs typeface="Lato"/>
                <a:sym typeface="Lato"/>
              </a:rPr>
              <a:t>AUBURN UNIVERSITY</a:t>
            </a:r>
            <a:endParaRPr/>
          </a:p>
          <a:p>
            <a:pPr marL="0" marR="0" lvl="0" indent="0" algn="ctr" rtl="0">
              <a:lnSpc>
                <a:spcPct val="90000"/>
              </a:lnSpc>
              <a:spcBef>
                <a:spcPts val="0"/>
              </a:spcBef>
              <a:spcAft>
                <a:spcPts val="0"/>
              </a:spcAft>
              <a:buClr>
                <a:schemeClr val="dk1"/>
              </a:buClr>
              <a:buSzPts val="4400"/>
              <a:buFont typeface="Calibri"/>
              <a:buNone/>
            </a:pPr>
            <a:endParaRPr sz="4400" b="1" i="0" u="sng" strike="noStrike" cap="none">
              <a:solidFill>
                <a:schemeClr val="dk1"/>
              </a:solidFill>
              <a:latin typeface="Lato"/>
              <a:ea typeface="Lato"/>
              <a:cs typeface="Lato"/>
              <a:sym typeface="Lato"/>
            </a:endParaRPr>
          </a:p>
          <a:p>
            <a:pPr marL="0" marR="0" lvl="0" indent="0" algn="ctr" rtl="0">
              <a:lnSpc>
                <a:spcPct val="90000"/>
              </a:lnSpc>
              <a:spcBef>
                <a:spcPts val="0"/>
              </a:spcBef>
              <a:spcAft>
                <a:spcPts val="0"/>
              </a:spcAft>
              <a:buClr>
                <a:schemeClr val="dk1"/>
              </a:buClr>
              <a:buSzPts val="3300"/>
              <a:buFont typeface="Lato"/>
              <a:buNone/>
            </a:pPr>
            <a:r>
              <a:rPr lang="en-US" sz="3300" b="1" i="0" u="none" strike="noStrike" cap="none">
                <a:solidFill>
                  <a:schemeClr val="dk1"/>
                </a:solidFill>
                <a:latin typeface="Lato"/>
                <a:ea typeface="Lato"/>
                <a:cs typeface="Lato"/>
                <a:sym typeface="Lato"/>
              </a:rPr>
              <a:t>User Interface Design and Evaluation</a:t>
            </a:r>
            <a:endParaRPr/>
          </a:p>
          <a:p>
            <a:pPr marL="0" marR="0" lvl="0" indent="0" algn="ctr" rtl="0">
              <a:lnSpc>
                <a:spcPct val="90000"/>
              </a:lnSpc>
              <a:spcBef>
                <a:spcPts val="0"/>
              </a:spcBef>
              <a:spcAft>
                <a:spcPts val="0"/>
              </a:spcAft>
              <a:buClr>
                <a:srgbClr val="2D3B45"/>
              </a:buClr>
              <a:buSzPts val="4400"/>
              <a:buFont typeface="Lato"/>
              <a:buNone/>
            </a:pPr>
            <a:r>
              <a:rPr lang="en-US" sz="4400" b="1" i="0" u="sng" strike="noStrike" cap="none">
                <a:solidFill>
                  <a:srgbClr val="2D3B45"/>
                </a:solidFill>
                <a:latin typeface="Lato"/>
                <a:ea typeface="Lato"/>
                <a:cs typeface="Lato"/>
                <a:sym typeface="Lato"/>
              </a:rPr>
              <a:t> </a:t>
            </a:r>
            <a:endParaRPr/>
          </a:p>
        </p:txBody>
      </p:sp>
      <p:pic>
        <p:nvPicPr>
          <p:cNvPr id="105" name="Google Shape;105;p1" descr="Logo&#10;&#10;Description automatically generated"/>
          <p:cNvPicPr preferRelativeResize="0"/>
          <p:nvPr/>
        </p:nvPicPr>
        <p:blipFill rotWithShape="1">
          <a:blip r:embed="rId3">
            <a:alphaModFix/>
          </a:blip>
          <a:srcRect/>
          <a:stretch/>
        </p:blipFill>
        <p:spPr>
          <a:xfrm>
            <a:off x="688767" y="0"/>
            <a:ext cx="1520044" cy="1975120"/>
          </a:xfrm>
          <a:prstGeom prst="rect">
            <a:avLst/>
          </a:prstGeom>
          <a:noFill/>
          <a:ln>
            <a:noFill/>
          </a:ln>
        </p:spPr>
      </p:pic>
      <p:pic>
        <p:nvPicPr>
          <p:cNvPr id="106" name="Google Shape;106;p1" descr="Logo&#10;&#10;Description automatically generated"/>
          <p:cNvPicPr preferRelativeResize="0"/>
          <p:nvPr/>
        </p:nvPicPr>
        <p:blipFill rotWithShape="1">
          <a:blip r:embed="rId3">
            <a:alphaModFix/>
          </a:blip>
          <a:srcRect/>
          <a:stretch/>
        </p:blipFill>
        <p:spPr>
          <a:xfrm>
            <a:off x="9983189" y="0"/>
            <a:ext cx="1520044" cy="19751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
          <p:cNvSpPr txBox="1">
            <a:spLocks noGrp="1"/>
          </p:cNvSpPr>
          <p:nvPr>
            <p:ph type="ctrTitle"/>
          </p:nvPr>
        </p:nvSpPr>
        <p:spPr>
          <a:xfrm>
            <a:off x="0" y="0"/>
            <a:ext cx="12338462" cy="605642"/>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n-US" sz="4000" b="1" u="sng"/>
              <a:t>Topic</a:t>
            </a:r>
            <a:endParaRPr b="1" u="sng"/>
          </a:p>
        </p:txBody>
      </p:sp>
      <p:sp>
        <p:nvSpPr>
          <p:cNvPr id="112" name="Google Shape;112;p2"/>
          <p:cNvSpPr txBox="1">
            <a:spLocks noGrp="1"/>
          </p:cNvSpPr>
          <p:nvPr>
            <p:ph type="subTitle" idx="1"/>
          </p:nvPr>
        </p:nvSpPr>
        <p:spPr>
          <a:xfrm>
            <a:off x="0" y="849890"/>
            <a:ext cx="5640779" cy="600811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200" b="0" i="0" u="sng">
                <a:latin typeface="Lato"/>
                <a:ea typeface="Lato"/>
                <a:cs typeface="Lato"/>
                <a:sym typeface="Lato"/>
              </a:rPr>
              <a:t>Jacob - Topic : 6.1: Introduction &amp; 6.2: Emotions and the User Experience</a:t>
            </a:r>
            <a:endParaRPr sz="2200" b="0" i="0">
              <a:latin typeface="Lato"/>
              <a:ea typeface="Lato"/>
              <a:cs typeface="Lato"/>
              <a:sym typeface="Lato"/>
            </a:endParaRPr>
          </a:p>
          <a:p>
            <a:pPr marL="0" lvl="0" indent="0" algn="l" rtl="0">
              <a:lnSpc>
                <a:spcPct val="90000"/>
              </a:lnSpc>
              <a:spcBef>
                <a:spcPts val="1000"/>
              </a:spcBef>
              <a:spcAft>
                <a:spcPts val="0"/>
              </a:spcAft>
              <a:buClr>
                <a:srgbClr val="2D3B45"/>
              </a:buClr>
              <a:buSzPct val="100000"/>
              <a:buNone/>
            </a:pPr>
            <a:r>
              <a:rPr lang="en-US" sz="1500" b="0" i="0">
                <a:solidFill>
                  <a:srgbClr val="2D3B45"/>
                </a:solidFill>
                <a:latin typeface="Lato"/>
                <a:ea typeface="Lato"/>
                <a:cs typeface="Lato"/>
                <a:sym typeface="Lato"/>
              </a:rPr>
              <a:t>Effect of technology on emotion</a:t>
            </a:r>
            <a:br>
              <a:rPr lang="en-US" sz="1500" b="0" i="0">
                <a:solidFill>
                  <a:srgbClr val="2D3B45"/>
                </a:solidFill>
                <a:latin typeface="Lato"/>
                <a:ea typeface="Lato"/>
                <a:cs typeface="Lato"/>
                <a:sym typeface="Lato"/>
              </a:rPr>
            </a:br>
            <a:r>
              <a:rPr lang="en-US" sz="1500" b="0" i="0">
                <a:solidFill>
                  <a:srgbClr val="2D3B45"/>
                </a:solidFill>
                <a:latin typeface="Lato"/>
                <a:ea typeface="Lato"/>
                <a:cs typeface="Lato"/>
                <a:sym typeface="Lato"/>
              </a:rPr>
              <a:t>Examples of emotionally designed products</a:t>
            </a:r>
            <a:br>
              <a:rPr lang="en-US" sz="1500" b="0" i="0">
                <a:solidFill>
                  <a:srgbClr val="2D3B45"/>
                </a:solidFill>
                <a:latin typeface="Lato"/>
                <a:ea typeface="Lato"/>
                <a:cs typeface="Lato"/>
                <a:sym typeface="Lato"/>
              </a:rPr>
            </a:br>
            <a:r>
              <a:rPr lang="en-US" sz="1500" b="0" i="0">
                <a:solidFill>
                  <a:srgbClr val="2D3B45"/>
                </a:solidFill>
                <a:latin typeface="Lato"/>
                <a:ea typeface="Lato"/>
                <a:cs typeface="Lato"/>
                <a:sym typeface="Lato"/>
              </a:rPr>
              <a:t>Happyornot terminals (Activity)</a:t>
            </a:r>
            <a:br>
              <a:rPr lang="en-US" sz="1500" b="0" i="0">
                <a:solidFill>
                  <a:srgbClr val="2D3B45"/>
                </a:solidFill>
                <a:latin typeface="Lato"/>
                <a:ea typeface="Lato"/>
                <a:cs typeface="Lato"/>
                <a:sym typeface="Lato"/>
              </a:rPr>
            </a:br>
            <a:r>
              <a:rPr lang="en-US" sz="1500" b="0" i="0">
                <a:solidFill>
                  <a:srgbClr val="2D3B45"/>
                </a:solidFill>
                <a:latin typeface="Lato"/>
                <a:ea typeface="Lato"/>
                <a:cs typeface="Lato"/>
                <a:sym typeface="Lato"/>
              </a:rPr>
              <a:t>How do emotions affect behavior?</a:t>
            </a:r>
            <a:br>
              <a:rPr lang="en-US" sz="1500" b="0" i="0">
                <a:solidFill>
                  <a:srgbClr val="2D3B45"/>
                </a:solidFill>
                <a:latin typeface="Lato"/>
                <a:ea typeface="Lato"/>
                <a:cs typeface="Lato"/>
                <a:sym typeface="Lato"/>
              </a:rPr>
            </a:br>
            <a:r>
              <a:rPr lang="en-US" sz="1500" b="0" i="0">
                <a:solidFill>
                  <a:srgbClr val="2D3B45"/>
                </a:solidFill>
                <a:latin typeface="Lato"/>
                <a:ea typeface="Lato"/>
                <a:cs typeface="Lato"/>
                <a:sym typeface="Lato"/>
              </a:rPr>
              <a:t>The levels of the brain</a:t>
            </a:r>
            <a:endParaRPr/>
          </a:p>
          <a:p>
            <a:pPr marL="0" lvl="0" indent="0" algn="l" rtl="0">
              <a:lnSpc>
                <a:spcPct val="90000"/>
              </a:lnSpc>
              <a:spcBef>
                <a:spcPts val="1000"/>
              </a:spcBef>
              <a:spcAft>
                <a:spcPts val="0"/>
              </a:spcAft>
              <a:buClr>
                <a:schemeClr val="dk1"/>
              </a:buClr>
              <a:buSzPct val="100000"/>
              <a:buNone/>
            </a:pPr>
            <a:r>
              <a:rPr lang="en-US" sz="2200" b="0" i="0" u="sng">
                <a:latin typeface="Lato"/>
                <a:ea typeface="Lato"/>
                <a:cs typeface="Lato"/>
                <a:sym typeface="Lato"/>
              </a:rPr>
              <a:t>Sidharth Topic: 6.3: Expressive Interfaces and Emotional Design</a:t>
            </a:r>
            <a:endParaRPr sz="2200" b="0" i="0">
              <a:latin typeface="Lato"/>
              <a:ea typeface="Lato"/>
              <a:cs typeface="Lato"/>
              <a:sym typeface="Lato"/>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What is Expressive Interfaces?</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What is Emotional Design?</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History of Expressive Interfaces and Emotional Design</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Techniques of Expressive Interfaces and Emotional Design</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Ways of Expressive Interface?</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Aesthetically Interfaces</a:t>
            </a:r>
            <a:endParaRPr/>
          </a:p>
          <a:p>
            <a:pPr marL="0" lvl="0" indent="0" algn="l" rtl="0">
              <a:lnSpc>
                <a:spcPct val="90000"/>
              </a:lnSpc>
              <a:spcBef>
                <a:spcPts val="1000"/>
              </a:spcBef>
              <a:spcAft>
                <a:spcPts val="0"/>
              </a:spcAft>
              <a:buClr>
                <a:srgbClr val="2D3B45"/>
              </a:buClr>
              <a:buSzPct val="100000"/>
              <a:buNone/>
            </a:pPr>
            <a:r>
              <a:rPr lang="en-US" sz="1600">
                <a:solidFill>
                  <a:srgbClr val="2D3B45"/>
                </a:solidFill>
                <a:latin typeface="Lato"/>
                <a:ea typeface="Lato"/>
                <a:cs typeface="Lato"/>
                <a:sym typeface="Lato"/>
              </a:rPr>
              <a:t>The Design of the Nest Thermostat Interface?</a:t>
            </a:r>
            <a:endParaRPr/>
          </a:p>
          <a:p>
            <a:pPr marL="0" lvl="0" indent="0" algn="l" rtl="0">
              <a:lnSpc>
                <a:spcPct val="90000"/>
              </a:lnSpc>
              <a:spcBef>
                <a:spcPts val="1000"/>
              </a:spcBef>
              <a:spcAft>
                <a:spcPts val="0"/>
              </a:spcAft>
              <a:buClr>
                <a:schemeClr val="dk1"/>
              </a:buClr>
              <a:buSzPct val="100000"/>
              <a:buNone/>
            </a:pPr>
            <a:r>
              <a:rPr lang="en-US" sz="2200" b="0" i="0" u="sng">
                <a:latin typeface="Lato"/>
                <a:ea typeface="Lato"/>
                <a:cs typeface="Lato"/>
                <a:sym typeface="Lato"/>
              </a:rPr>
              <a:t>Maryam Topic: 6.4 Annoying Interface</a:t>
            </a:r>
            <a:endParaRPr b="0" i="0">
              <a:latin typeface="Lato"/>
              <a:ea typeface="Lato"/>
              <a:cs typeface="Lato"/>
              <a:sym typeface="Lato"/>
            </a:endParaRPr>
          </a:p>
          <a:p>
            <a:pPr marL="0" lvl="0" indent="0" algn="l" rtl="0">
              <a:lnSpc>
                <a:spcPct val="90000"/>
              </a:lnSpc>
              <a:spcBef>
                <a:spcPts val="1000"/>
              </a:spcBef>
              <a:spcAft>
                <a:spcPts val="0"/>
              </a:spcAft>
              <a:buClr>
                <a:srgbClr val="2D3B45"/>
              </a:buClr>
              <a:buSzPct val="100000"/>
              <a:buNone/>
            </a:pPr>
            <a:r>
              <a:rPr lang="en-US" sz="1600" b="0" i="0">
                <a:solidFill>
                  <a:srgbClr val="2D3B45"/>
                </a:solidFill>
                <a:latin typeface="Lato"/>
                <a:ea typeface="Lato"/>
                <a:cs typeface="Lato"/>
                <a:sym typeface="Lato"/>
              </a:rPr>
              <a:t>When is the annoying interface?</a:t>
            </a:r>
            <a:br>
              <a:rPr lang="en-US" sz="1600" b="0" i="0">
                <a:solidFill>
                  <a:srgbClr val="2D3B45"/>
                </a:solidFill>
                <a:latin typeface="Lato"/>
                <a:ea typeface="Lato"/>
                <a:cs typeface="Lato"/>
                <a:sym typeface="Lato"/>
              </a:rPr>
            </a:br>
            <a:r>
              <a:rPr lang="en-US" sz="1600" b="0" i="0">
                <a:solidFill>
                  <a:srgbClr val="2D3B45"/>
                </a:solidFill>
                <a:latin typeface="Lato"/>
                <a:ea typeface="Lato"/>
                <a:cs typeface="Lato"/>
                <a:sym typeface="Lato"/>
              </a:rPr>
              <a:t>What are the samples of annoying interfaces? </a:t>
            </a:r>
            <a:br>
              <a:rPr lang="en-US" sz="1600" b="0" i="0">
                <a:solidFill>
                  <a:srgbClr val="2D3B45"/>
                </a:solidFill>
                <a:latin typeface="Lato"/>
                <a:ea typeface="Lato"/>
                <a:cs typeface="Lato"/>
                <a:sym typeface="Lato"/>
              </a:rPr>
            </a:br>
            <a:r>
              <a:rPr lang="en-US" sz="1600" b="0" i="0">
                <a:solidFill>
                  <a:srgbClr val="2D3B45"/>
                </a:solidFill>
                <a:latin typeface="Lato"/>
                <a:ea typeface="Lato"/>
                <a:cs typeface="Lato"/>
                <a:sym typeface="Lato"/>
              </a:rPr>
              <a:t>How a template can distract, intrusive users?</a:t>
            </a:r>
            <a:br>
              <a:rPr lang="en-US" sz="1600" b="0" i="0">
                <a:solidFill>
                  <a:srgbClr val="2D3B45"/>
                </a:solidFill>
                <a:latin typeface="Lato"/>
                <a:ea typeface="Lato"/>
                <a:cs typeface="Lato"/>
                <a:sym typeface="Lato"/>
              </a:rPr>
            </a:br>
            <a:r>
              <a:rPr lang="en-US" sz="1600" b="0" i="0">
                <a:solidFill>
                  <a:srgbClr val="2D3B45"/>
                </a:solidFill>
                <a:latin typeface="Lato"/>
                <a:ea typeface="Lato"/>
                <a:cs typeface="Lato"/>
                <a:sym typeface="Lato"/>
              </a:rPr>
              <a:t>What are the effects of bad designs? </a:t>
            </a:r>
            <a:br>
              <a:rPr lang="en-US" sz="1600" b="0" i="0">
                <a:solidFill>
                  <a:srgbClr val="2D3B45"/>
                </a:solidFill>
                <a:latin typeface="Lato"/>
                <a:ea typeface="Lato"/>
                <a:cs typeface="Lato"/>
                <a:sym typeface="Lato"/>
              </a:rPr>
            </a:br>
            <a:r>
              <a:rPr lang="en-US" sz="1600" b="0" i="0">
                <a:solidFill>
                  <a:srgbClr val="2D3B45"/>
                </a:solidFill>
                <a:latin typeface="Lato"/>
                <a:ea typeface="Lato"/>
                <a:cs typeface="Lato"/>
                <a:sym typeface="Lato"/>
              </a:rPr>
              <a:t>What are the situations that cause negative emotional responses?</a:t>
            </a:r>
            <a:endParaRPr/>
          </a:p>
          <a:p>
            <a:pPr marL="0" lvl="0" indent="0" algn="ctr" rtl="0">
              <a:lnSpc>
                <a:spcPct val="90000"/>
              </a:lnSpc>
              <a:spcBef>
                <a:spcPts val="1000"/>
              </a:spcBef>
              <a:spcAft>
                <a:spcPts val="0"/>
              </a:spcAft>
              <a:buClr>
                <a:schemeClr val="dk1"/>
              </a:buClr>
              <a:buSzPct val="100000"/>
              <a:buNone/>
            </a:pPr>
            <a:endParaRPr/>
          </a:p>
        </p:txBody>
      </p:sp>
      <p:sp>
        <p:nvSpPr>
          <p:cNvPr id="113" name="Google Shape;113;p2"/>
          <p:cNvSpPr txBox="1"/>
          <p:nvPr/>
        </p:nvSpPr>
        <p:spPr>
          <a:xfrm>
            <a:off x="5640779" y="849890"/>
            <a:ext cx="5640779" cy="6160510"/>
          </a:xfrm>
          <a:prstGeom prst="rect">
            <a:avLst/>
          </a:prstGeom>
          <a:noFill/>
          <a:ln>
            <a:noFill/>
          </a:ln>
        </p:spPr>
        <p:txBody>
          <a:bodyPr spcFirstLastPara="1" wrap="square" lIns="91425" tIns="45700" rIns="91425" bIns="45700" anchor="t" anchorCtr="0">
            <a:normAutofit fontScale="62500" lnSpcReduction="20000"/>
          </a:bodyPr>
          <a:lstStyle/>
          <a:p>
            <a:pPr marL="0" marR="0" lvl="0" indent="0" algn="l" rtl="0">
              <a:lnSpc>
                <a:spcPct val="90000"/>
              </a:lnSpc>
              <a:spcBef>
                <a:spcPts val="0"/>
              </a:spcBef>
              <a:spcAft>
                <a:spcPts val="0"/>
              </a:spcAft>
              <a:buClr>
                <a:schemeClr val="dk1"/>
              </a:buClr>
              <a:buSzPct val="100000"/>
              <a:buFont typeface="Arial"/>
              <a:buNone/>
            </a:pPr>
            <a:r>
              <a:rPr lang="en-US" sz="3200" b="0" i="0" u="sng" strike="noStrike" cap="none">
                <a:solidFill>
                  <a:schemeClr val="dk1"/>
                </a:solidFill>
                <a:latin typeface="Lato"/>
                <a:ea typeface="Lato"/>
                <a:cs typeface="Lato"/>
                <a:sym typeface="Lato"/>
              </a:rPr>
              <a:t>Nikshep Topic: 6.5 Affective computing and emotional AI</a:t>
            </a:r>
            <a:endParaRPr sz="3200" b="0" i="0" u="none" strike="noStrike" cap="none">
              <a:solidFill>
                <a:schemeClr val="dk1"/>
              </a:solidFill>
              <a:latin typeface="Lato"/>
              <a:ea typeface="Lato"/>
              <a:cs typeface="Lato"/>
              <a:sym typeface="Lato"/>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What is Affective computing?</a:t>
            </a:r>
            <a:br>
              <a:rPr lang="en-US" sz="2400" b="0" i="0" u="none" strike="noStrike" cap="none">
                <a:solidFill>
                  <a:srgbClr val="2D3B45"/>
                </a:solidFill>
                <a:latin typeface="Lato"/>
                <a:ea typeface="Lato"/>
                <a:cs typeface="Lato"/>
                <a:sym typeface="Lato"/>
              </a:rPr>
            </a:br>
            <a:r>
              <a:rPr lang="en-US" sz="2400" b="0" i="0" u="none" strike="noStrike" cap="none">
                <a:solidFill>
                  <a:srgbClr val="2D3B45"/>
                </a:solidFill>
                <a:latin typeface="Lato"/>
                <a:ea typeface="Lato"/>
                <a:cs typeface="Lato"/>
                <a:sym typeface="Lato"/>
              </a:rPr>
              <a:t>Techniques and Technologies of AI</a:t>
            </a:r>
            <a:br>
              <a:rPr lang="en-US" sz="2400" b="0" i="0" u="none" strike="noStrike" cap="none">
                <a:solidFill>
                  <a:srgbClr val="2D3B45"/>
                </a:solidFill>
                <a:latin typeface="Lato"/>
                <a:ea typeface="Lato"/>
                <a:cs typeface="Lato"/>
                <a:sym typeface="Lato"/>
              </a:rPr>
            </a:br>
            <a:r>
              <a:rPr lang="en-US" sz="2400" b="0" i="0" u="none" strike="noStrike" cap="none">
                <a:solidFill>
                  <a:srgbClr val="2D3B45"/>
                </a:solidFill>
                <a:latin typeface="Lato"/>
                <a:ea typeface="Lato"/>
                <a:cs typeface="Lato"/>
                <a:sym typeface="Lato"/>
              </a:rPr>
              <a:t>Applications of Emotional AI </a:t>
            </a:r>
            <a:br>
              <a:rPr lang="en-US" sz="2400" b="0" i="0" u="none" strike="noStrike" cap="none">
                <a:solidFill>
                  <a:srgbClr val="2D3B45"/>
                </a:solidFill>
                <a:latin typeface="Lato"/>
                <a:ea typeface="Lato"/>
                <a:cs typeface="Lato"/>
                <a:sym typeface="Lato"/>
              </a:rPr>
            </a:br>
            <a:r>
              <a:rPr lang="en-US" sz="2400" b="0" i="0" u="none" strike="noStrike" cap="none">
                <a:solidFill>
                  <a:srgbClr val="2D3B45"/>
                </a:solidFill>
                <a:latin typeface="Lato"/>
                <a:ea typeface="Lato"/>
                <a:cs typeface="Lato"/>
                <a:sym typeface="Lato"/>
              </a:rPr>
              <a:t>Is It OK for Technology to Work Out How You Are Feeling?</a:t>
            </a:r>
            <a:endParaRPr/>
          </a:p>
          <a:p>
            <a:pPr marL="0" marR="0" lvl="0" indent="0" algn="l" rtl="0">
              <a:lnSpc>
                <a:spcPct val="90000"/>
              </a:lnSpc>
              <a:spcBef>
                <a:spcPts val="1000"/>
              </a:spcBef>
              <a:spcAft>
                <a:spcPts val="0"/>
              </a:spcAft>
              <a:buClr>
                <a:schemeClr val="dk1"/>
              </a:buClr>
              <a:buSzPct val="100000"/>
              <a:buFont typeface="Arial"/>
              <a:buNone/>
            </a:pPr>
            <a:r>
              <a:rPr lang="en-US" sz="3200" b="0" i="0" u="sng" strike="noStrike" cap="none">
                <a:solidFill>
                  <a:schemeClr val="dk1"/>
                </a:solidFill>
                <a:latin typeface="Lato"/>
                <a:ea typeface="Lato"/>
                <a:cs typeface="Lato"/>
                <a:sym typeface="Lato"/>
              </a:rPr>
              <a:t>Daniel Topic: 6.6 Persuasive Technologies and Behavioral Change &amp; 6.7 Anthropomorphism</a:t>
            </a:r>
            <a:endParaRPr sz="3200" b="0" i="0" u="none" strike="noStrike" cap="none">
              <a:solidFill>
                <a:schemeClr val="dk1"/>
              </a:solidFill>
              <a:latin typeface="Lato"/>
              <a:ea typeface="Lato"/>
              <a:cs typeface="Lato"/>
              <a:sym typeface="Lato"/>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How emotional technologies can be designed to persuade people to change their behaviors or attitudes?</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What is Persuasive Design?</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Examples of Persuasive Design</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Overview of Technology interventions</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Premise of Technology Inteventions</a:t>
            </a:r>
            <a:endParaRPr sz="2400" b="0" i="0" u="none" strike="noStrike" cap="none">
              <a:solidFill>
                <a:srgbClr val="2D3B45"/>
              </a:solidFill>
              <a:latin typeface="Lato"/>
              <a:ea typeface="Lato"/>
              <a:cs typeface="Lato"/>
              <a:sym typeface="Lato"/>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Examples of Technology Interventions</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How social norms influence user behavior?</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Definition of Antropomorphism</a:t>
            </a:r>
            <a:endParaRPr sz="2400" b="0" i="0" u="none" strike="noStrike" cap="none">
              <a:solidFill>
                <a:srgbClr val="2D3B45"/>
              </a:solidFill>
              <a:latin typeface="Lato"/>
              <a:ea typeface="Lato"/>
              <a:cs typeface="Lato"/>
              <a:sym typeface="Lato"/>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How Antropomorphism is used to elicit positive emotional responses to users and ways of avoiding negative ones</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 Examples of Anthropomorphism</a:t>
            </a:r>
            <a:endParaRPr/>
          </a:p>
          <a:p>
            <a:pPr marL="0" marR="0" lvl="0" indent="0" algn="l" rtl="0">
              <a:lnSpc>
                <a:spcPct val="90000"/>
              </a:lnSpc>
              <a:spcBef>
                <a:spcPts val="1000"/>
              </a:spcBef>
              <a:spcAft>
                <a:spcPts val="0"/>
              </a:spcAft>
              <a:buClr>
                <a:srgbClr val="2D3B45"/>
              </a:buClr>
              <a:buSzPct val="100000"/>
              <a:buFont typeface="Arial"/>
              <a:buNone/>
            </a:pPr>
            <a:r>
              <a:rPr lang="en-US" sz="2400" b="0" i="0" u="none" strike="noStrike" cap="none">
                <a:solidFill>
                  <a:srgbClr val="2D3B45"/>
                </a:solidFill>
                <a:latin typeface="Lato"/>
                <a:ea typeface="Lato"/>
                <a:cs typeface="Lato"/>
                <a:sym typeface="Lato"/>
              </a:rPr>
              <a:t>     *Activity : A YouTube video</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Jacob - Topic : 6.1: Introduction &amp; 6.2: Emotions and the User Experience</a:t>
            </a: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Effect of Technology on Emotion</a:t>
            </a:r>
            <a:endParaRPr/>
          </a:p>
        </p:txBody>
      </p:sp>
      <p:sp>
        <p:nvSpPr>
          <p:cNvPr id="124" name="Google Shape;124;p4"/>
          <p:cNvSpPr txBox="1">
            <a:spLocks noGrp="1"/>
          </p:cNvSpPr>
          <p:nvPr>
            <p:ph type="body" idx="1"/>
          </p:nvPr>
        </p:nvSpPr>
        <p:spPr>
          <a:xfrm>
            <a:off x="1730000" y="2090067"/>
            <a:ext cx="9385200" cy="3881600"/>
          </a:xfrm>
          <a:prstGeom prst="rect">
            <a:avLst/>
          </a:prstGeom>
          <a:noFill/>
          <a:ln>
            <a:noFill/>
          </a:ln>
        </p:spPr>
        <p:txBody>
          <a:bodyPr spcFirstLastPara="1" wrap="square" lIns="121900" tIns="121900" rIns="121900" bIns="121900" anchor="t" anchorCtr="0">
            <a:normAutofit fontScale="92500" lnSpcReduction="10000"/>
          </a:bodyPr>
          <a:lstStyle/>
          <a:p>
            <a:pPr marL="0" lvl="0" indent="0" algn="l" rtl="0">
              <a:lnSpc>
                <a:spcPct val="90000"/>
              </a:lnSpc>
              <a:spcBef>
                <a:spcPts val="0"/>
              </a:spcBef>
              <a:spcAft>
                <a:spcPts val="0"/>
              </a:spcAft>
              <a:buClr>
                <a:schemeClr val="dk1"/>
              </a:buClr>
              <a:buSzPct val="50193"/>
              <a:buNone/>
            </a:pPr>
            <a:r>
              <a:rPr lang="en-US"/>
              <a:t>Imagine</a:t>
            </a:r>
            <a:endParaRPr/>
          </a:p>
          <a:p>
            <a:pPr marL="609585" lvl="0" indent="-414855" algn="l" rtl="0">
              <a:lnSpc>
                <a:spcPct val="90000"/>
              </a:lnSpc>
              <a:spcBef>
                <a:spcPts val="1600"/>
              </a:spcBef>
              <a:spcAft>
                <a:spcPts val="0"/>
              </a:spcAft>
              <a:buClr>
                <a:schemeClr val="dk1"/>
              </a:buClr>
              <a:buSzPct val="50193"/>
              <a:buChar char="-"/>
            </a:pPr>
            <a:r>
              <a:rPr lang="en-US"/>
              <a:t>You’re having a terrible day/week/month/etc</a:t>
            </a:r>
            <a:endParaRPr/>
          </a:p>
          <a:p>
            <a:pPr marL="609585" lvl="0" indent="-414855" algn="l" rtl="0">
              <a:lnSpc>
                <a:spcPct val="90000"/>
              </a:lnSpc>
              <a:spcBef>
                <a:spcPts val="0"/>
              </a:spcBef>
              <a:spcAft>
                <a:spcPts val="0"/>
              </a:spcAft>
              <a:buClr>
                <a:schemeClr val="dk1"/>
              </a:buClr>
              <a:buSzPct val="50193"/>
              <a:buChar char="-"/>
            </a:pPr>
            <a:r>
              <a:rPr lang="en-US"/>
              <a:t>A wearable technology device could sense this and try to help</a:t>
            </a:r>
            <a:endParaRPr/>
          </a:p>
          <a:p>
            <a:pPr marL="0" lvl="0" indent="0" algn="l" rtl="0">
              <a:lnSpc>
                <a:spcPct val="90000"/>
              </a:lnSpc>
              <a:spcBef>
                <a:spcPts val="1600"/>
              </a:spcBef>
              <a:spcAft>
                <a:spcPts val="0"/>
              </a:spcAft>
              <a:buClr>
                <a:schemeClr val="dk1"/>
              </a:buClr>
              <a:buSzPct val="50193"/>
              <a:buNone/>
            </a:pPr>
            <a:r>
              <a:rPr lang="en-US"/>
              <a:t>How would this device make you feel?</a:t>
            </a:r>
            <a:endParaRPr/>
          </a:p>
          <a:p>
            <a:pPr marL="0" lvl="0" indent="0" algn="l" rtl="0">
              <a:lnSpc>
                <a:spcPct val="90000"/>
              </a:lnSpc>
              <a:spcBef>
                <a:spcPts val="1600"/>
              </a:spcBef>
              <a:spcAft>
                <a:spcPts val="0"/>
              </a:spcAft>
              <a:buClr>
                <a:schemeClr val="dk1"/>
              </a:buClr>
              <a:buSzPct val="50193"/>
              <a:buNone/>
            </a:pPr>
            <a:endParaRPr/>
          </a:p>
          <a:p>
            <a:pPr marL="0" lvl="0" indent="0" algn="l" rtl="0">
              <a:lnSpc>
                <a:spcPct val="90000"/>
              </a:lnSpc>
              <a:spcBef>
                <a:spcPts val="1600"/>
              </a:spcBef>
              <a:spcAft>
                <a:spcPts val="0"/>
              </a:spcAft>
              <a:buClr>
                <a:schemeClr val="dk1"/>
              </a:buClr>
              <a:buSzPct val="50193"/>
              <a:buNone/>
            </a:pPr>
            <a:r>
              <a:rPr lang="en-US"/>
              <a:t>Affective AI - Designing technology to detect and alter emotions</a:t>
            </a:r>
            <a:endParaRPr/>
          </a:p>
          <a:p>
            <a:pPr marL="0" lvl="0" indent="0" algn="l" rtl="0">
              <a:lnSpc>
                <a:spcPct val="90000"/>
              </a:lnSpc>
              <a:spcBef>
                <a:spcPts val="1600"/>
              </a:spcBef>
              <a:spcAft>
                <a:spcPts val="1600"/>
              </a:spcAft>
              <a:buClr>
                <a:schemeClr val="dk1"/>
              </a:buClr>
              <a:buSzPct val="50193"/>
              <a:buNone/>
            </a:pPr>
            <a:r>
              <a:rPr lang="en-US"/>
              <a:t>Emotional Design - Cause desired emotional states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Effect of Technology on Emotion</a:t>
            </a:r>
            <a:endParaRPr/>
          </a:p>
        </p:txBody>
      </p:sp>
      <p:sp>
        <p:nvSpPr>
          <p:cNvPr id="130" name="Google Shape;130;p5"/>
          <p:cNvSpPr txBox="1">
            <a:spLocks noGrp="1"/>
          </p:cNvSpPr>
          <p:nvPr>
            <p:ph type="body" idx="1"/>
          </p:nvPr>
        </p:nvSpPr>
        <p:spPr>
          <a:xfrm>
            <a:off x="1730000" y="2090067"/>
            <a:ext cx="9385200" cy="38816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rgbClr val="FF9900"/>
              </a:buClr>
              <a:buSzPts val="1300"/>
              <a:buNone/>
            </a:pPr>
            <a:r>
              <a:rPr lang="en-US" sz="3200">
                <a:solidFill>
                  <a:srgbClr val="FF9900"/>
                </a:solidFill>
              </a:rPr>
              <a:t>Affective AI</a:t>
            </a:r>
            <a:r>
              <a:rPr lang="en-US" sz="3200"/>
              <a:t> + </a:t>
            </a:r>
            <a:r>
              <a:rPr lang="en-US" sz="3200">
                <a:solidFill>
                  <a:srgbClr val="93C47D"/>
                </a:solidFill>
              </a:rPr>
              <a:t>Emotional Design</a:t>
            </a:r>
            <a:endParaRPr sz="3200">
              <a:solidFill>
                <a:srgbClr val="93C47D"/>
              </a:solidFill>
            </a:endParaRPr>
          </a:p>
          <a:p>
            <a:pPr marL="0" lvl="0" indent="0" algn="ctr" rtl="0">
              <a:lnSpc>
                <a:spcPct val="90000"/>
              </a:lnSpc>
              <a:spcBef>
                <a:spcPts val="1600"/>
              </a:spcBef>
              <a:spcAft>
                <a:spcPts val="0"/>
              </a:spcAft>
              <a:buClr>
                <a:schemeClr val="dk1"/>
              </a:buClr>
              <a:buSzPts val="1300"/>
              <a:buNone/>
            </a:pPr>
            <a:endParaRPr sz="3200">
              <a:solidFill>
                <a:schemeClr val="dk1"/>
              </a:solidFill>
              <a:highlight>
                <a:schemeClr val="lt1"/>
              </a:highlight>
            </a:endParaRPr>
          </a:p>
          <a:p>
            <a:pPr marL="0" lvl="0" indent="0" algn="ctr" rtl="0">
              <a:lnSpc>
                <a:spcPct val="90000"/>
              </a:lnSpc>
              <a:spcBef>
                <a:spcPts val="1600"/>
              </a:spcBef>
              <a:spcAft>
                <a:spcPts val="0"/>
              </a:spcAft>
              <a:buClr>
                <a:srgbClr val="965F2F"/>
              </a:buClr>
              <a:buSzPts val="1300"/>
              <a:buNone/>
            </a:pPr>
            <a:r>
              <a:rPr lang="en-US" sz="4133" b="1">
                <a:solidFill>
                  <a:srgbClr val="965F2F"/>
                </a:solidFill>
              </a:rPr>
              <a:t>Emotional Interaction</a:t>
            </a:r>
            <a:endParaRPr sz="4133" b="1">
              <a:solidFill>
                <a:srgbClr val="965F2F"/>
              </a:solidFill>
            </a:endParaRPr>
          </a:p>
          <a:p>
            <a:pPr marL="0" lvl="0" indent="0" algn="ctr" rtl="0">
              <a:lnSpc>
                <a:spcPct val="90000"/>
              </a:lnSpc>
              <a:spcBef>
                <a:spcPts val="1600"/>
              </a:spcBef>
              <a:spcAft>
                <a:spcPts val="1600"/>
              </a:spcAft>
              <a:buClr>
                <a:schemeClr val="dk1"/>
              </a:buClr>
              <a:buSzPts val="1300"/>
              <a:buNone/>
            </a:pPr>
            <a:endParaRPr sz="3200">
              <a:solidFill>
                <a:schemeClr val="dk1"/>
              </a:solidFill>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Examples of Emotional Interaction in Products</a:t>
            </a:r>
            <a:endParaRPr/>
          </a:p>
        </p:txBody>
      </p:sp>
      <p:sp>
        <p:nvSpPr>
          <p:cNvPr id="136" name="Google Shape;136;p6"/>
          <p:cNvSpPr txBox="1">
            <a:spLocks noGrp="1"/>
          </p:cNvSpPr>
          <p:nvPr>
            <p:ph type="body" idx="1"/>
          </p:nvPr>
        </p:nvSpPr>
        <p:spPr>
          <a:xfrm>
            <a:off x="1730000" y="2090067"/>
            <a:ext cx="9385200" cy="38816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1300"/>
              <a:buNone/>
            </a:pPr>
            <a:endParaRPr sz="4133" b="1">
              <a:solidFill>
                <a:srgbClr val="965F2F"/>
              </a:solidFill>
            </a:endParaRPr>
          </a:p>
          <a:p>
            <a:pPr marL="0" lvl="0" indent="0" algn="ctr" rtl="0">
              <a:lnSpc>
                <a:spcPct val="90000"/>
              </a:lnSpc>
              <a:spcBef>
                <a:spcPts val="1600"/>
              </a:spcBef>
              <a:spcAft>
                <a:spcPts val="1600"/>
              </a:spcAft>
              <a:buClr>
                <a:schemeClr val="dk1"/>
              </a:buClr>
              <a:buSzPts val="1300"/>
              <a:buNone/>
            </a:pPr>
            <a:endParaRPr sz="3200">
              <a:solidFill>
                <a:schemeClr val="dk1"/>
              </a:solidFill>
              <a:highlight>
                <a:schemeClr val="lt1"/>
              </a:highlight>
            </a:endParaRPr>
          </a:p>
        </p:txBody>
      </p:sp>
      <p:pic>
        <p:nvPicPr>
          <p:cNvPr id="137" name="Google Shape;137;p6"/>
          <p:cNvPicPr preferRelativeResize="0"/>
          <p:nvPr/>
        </p:nvPicPr>
        <p:blipFill rotWithShape="1">
          <a:blip r:embed="rId3">
            <a:alphaModFix/>
          </a:blip>
          <a:srcRect/>
          <a:stretch/>
        </p:blipFill>
        <p:spPr>
          <a:xfrm>
            <a:off x="532501" y="1689134"/>
            <a:ext cx="5563503" cy="4683500"/>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6096003" y="2169567"/>
            <a:ext cx="6055797" cy="3722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1000"/>
                                        <p:tgtEl>
                                          <p:spTgt spid="1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gtEl>
                                        <p:attrNameLst>
                                          <p:attrName>style.visibility</p:attrName>
                                        </p:attrNameLst>
                                      </p:cBhvr>
                                      <p:to>
                                        <p:strVal val="visible"/>
                                      </p:to>
                                    </p:set>
                                    <p:animEffect transition="in" filter="fade">
                                      <p:cBhvr>
                                        <p:cTn id="12" dur="1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Examples of Emotional Interaction in Products</a:t>
            </a:r>
            <a:endParaRPr/>
          </a:p>
        </p:txBody>
      </p:sp>
      <p:sp>
        <p:nvSpPr>
          <p:cNvPr id="144" name="Google Shape;144;p7"/>
          <p:cNvSpPr txBox="1">
            <a:spLocks noGrp="1"/>
          </p:cNvSpPr>
          <p:nvPr>
            <p:ph type="body" idx="1"/>
          </p:nvPr>
        </p:nvSpPr>
        <p:spPr>
          <a:xfrm>
            <a:off x="1730000" y="2090067"/>
            <a:ext cx="9385200" cy="38816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1300"/>
              <a:buNone/>
            </a:pPr>
            <a:endParaRPr sz="4133" b="1">
              <a:solidFill>
                <a:srgbClr val="965F2F"/>
              </a:solidFill>
            </a:endParaRPr>
          </a:p>
          <a:p>
            <a:pPr marL="0" lvl="0" indent="0" algn="ctr" rtl="0">
              <a:lnSpc>
                <a:spcPct val="90000"/>
              </a:lnSpc>
              <a:spcBef>
                <a:spcPts val="1600"/>
              </a:spcBef>
              <a:spcAft>
                <a:spcPts val="1600"/>
              </a:spcAft>
              <a:buClr>
                <a:schemeClr val="dk1"/>
              </a:buClr>
              <a:buSzPts val="1300"/>
              <a:buNone/>
            </a:pPr>
            <a:endParaRPr sz="3200">
              <a:solidFill>
                <a:schemeClr val="dk1"/>
              </a:solidFill>
              <a:highlight>
                <a:schemeClr val="lt1"/>
              </a:highlight>
            </a:endParaRPr>
          </a:p>
        </p:txBody>
      </p:sp>
      <p:pic>
        <p:nvPicPr>
          <p:cNvPr id="145" name="Google Shape;145;p7"/>
          <p:cNvPicPr preferRelativeResize="0"/>
          <p:nvPr/>
        </p:nvPicPr>
        <p:blipFill rotWithShape="1">
          <a:blip r:embed="rId3">
            <a:alphaModFix/>
          </a:blip>
          <a:srcRect/>
          <a:stretch/>
        </p:blipFill>
        <p:spPr>
          <a:xfrm>
            <a:off x="542667" y="1743800"/>
            <a:ext cx="5407197" cy="2170267"/>
          </a:xfrm>
          <a:prstGeom prst="rect">
            <a:avLst/>
          </a:prstGeom>
          <a:noFill/>
          <a:ln>
            <a:noFill/>
          </a:ln>
        </p:spPr>
      </p:pic>
      <p:pic>
        <p:nvPicPr>
          <p:cNvPr id="146" name="Google Shape;146;p7"/>
          <p:cNvPicPr preferRelativeResize="0"/>
          <p:nvPr/>
        </p:nvPicPr>
        <p:blipFill rotWithShape="1">
          <a:blip r:embed="rId4">
            <a:alphaModFix/>
          </a:blip>
          <a:srcRect/>
          <a:stretch/>
        </p:blipFill>
        <p:spPr>
          <a:xfrm>
            <a:off x="6283169" y="2157767"/>
            <a:ext cx="5596801" cy="43657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fade">
                                      <p:cBhvr>
                                        <p:cTn id="7" dur="1000"/>
                                        <p:tgtEl>
                                          <p:spTgt spid="1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gtEl>
                                        <p:attrNameLst>
                                          <p:attrName>style.visibility</p:attrName>
                                        </p:attrNameLst>
                                      </p:cBhvr>
                                      <p:to>
                                        <p:strVal val="visible"/>
                                      </p:to>
                                    </p:set>
                                    <p:animEffect transition="in" filter="fade">
                                      <p:cBhvr>
                                        <p:cTn id="12" dur="1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Examples of Emotional Interaction in Products</a:t>
            </a:r>
            <a:endParaRPr/>
          </a:p>
          <a:p>
            <a:pPr marL="0" lvl="0" indent="0" algn="ctr" rtl="0">
              <a:lnSpc>
                <a:spcPct val="90000"/>
              </a:lnSpc>
              <a:spcBef>
                <a:spcPts val="0"/>
              </a:spcBef>
              <a:spcAft>
                <a:spcPts val="0"/>
              </a:spcAft>
              <a:buClr>
                <a:schemeClr val="dk1"/>
              </a:buClr>
              <a:buSzPts val="2400"/>
              <a:buFont typeface="Calibri"/>
              <a:buNone/>
            </a:pPr>
            <a:r>
              <a:rPr lang="en-US"/>
              <a:t>HappyOrNot</a:t>
            </a:r>
            <a:endParaRPr/>
          </a:p>
        </p:txBody>
      </p:sp>
      <p:sp>
        <p:nvSpPr>
          <p:cNvPr id="152" name="Google Shape;152;p8"/>
          <p:cNvSpPr txBox="1">
            <a:spLocks noGrp="1"/>
          </p:cNvSpPr>
          <p:nvPr>
            <p:ph type="body" idx="1"/>
          </p:nvPr>
        </p:nvSpPr>
        <p:spPr>
          <a:xfrm>
            <a:off x="6372933" y="2200333"/>
            <a:ext cx="5177200" cy="3881600"/>
          </a:xfrm>
          <a:prstGeom prst="rect">
            <a:avLst/>
          </a:prstGeom>
          <a:noFill/>
          <a:ln>
            <a:noFill/>
          </a:ln>
        </p:spPr>
        <p:txBody>
          <a:bodyPr spcFirstLastPara="1" wrap="square" lIns="121900" tIns="121900" rIns="121900" bIns="121900" anchor="t" anchorCtr="0">
            <a:normAutofit/>
          </a:bodyPr>
          <a:lstStyle/>
          <a:p>
            <a:pPr marL="0" lvl="0" indent="0" algn="l" rtl="0">
              <a:lnSpc>
                <a:spcPct val="90000"/>
              </a:lnSpc>
              <a:spcBef>
                <a:spcPts val="0"/>
              </a:spcBef>
              <a:spcAft>
                <a:spcPts val="0"/>
              </a:spcAft>
              <a:buClr>
                <a:schemeClr val="dk1"/>
              </a:buClr>
              <a:buSzPts val="1300"/>
              <a:buNone/>
            </a:pPr>
            <a:r>
              <a:rPr lang="en-US" sz="3200"/>
              <a:t>		</a:t>
            </a:r>
            <a:endParaRPr sz="3200"/>
          </a:p>
          <a:p>
            <a:pPr marL="0" lvl="0" indent="0" algn="l" rtl="0">
              <a:lnSpc>
                <a:spcPct val="90000"/>
              </a:lnSpc>
              <a:spcBef>
                <a:spcPts val="1600"/>
              </a:spcBef>
              <a:spcAft>
                <a:spcPts val="1600"/>
              </a:spcAft>
              <a:buClr>
                <a:schemeClr val="dk1"/>
              </a:buClr>
              <a:buSzPts val="1300"/>
              <a:buNone/>
            </a:pPr>
            <a:endParaRPr sz="3200"/>
          </a:p>
        </p:txBody>
      </p:sp>
      <p:pic>
        <p:nvPicPr>
          <p:cNvPr id="153" name="Google Shape;153;p8"/>
          <p:cNvPicPr preferRelativeResize="0"/>
          <p:nvPr/>
        </p:nvPicPr>
        <p:blipFill rotWithShape="1">
          <a:blip r:embed="rId3">
            <a:alphaModFix/>
          </a:blip>
          <a:srcRect/>
          <a:stretch/>
        </p:blipFill>
        <p:spPr>
          <a:xfrm>
            <a:off x="635000" y="2090051"/>
            <a:ext cx="5461000" cy="4102100"/>
          </a:xfrm>
          <a:prstGeom prst="rect">
            <a:avLst/>
          </a:prstGeom>
          <a:noFill/>
          <a:ln>
            <a:noFill/>
          </a:ln>
        </p:spPr>
      </p:pic>
      <p:pic>
        <p:nvPicPr>
          <p:cNvPr id="154" name="Google Shape;154;p8"/>
          <p:cNvPicPr preferRelativeResize="0"/>
          <p:nvPr/>
        </p:nvPicPr>
        <p:blipFill rotWithShape="1">
          <a:blip r:embed="rId4">
            <a:alphaModFix/>
          </a:blip>
          <a:srcRect/>
          <a:stretch/>
        </p:blipFill>
        <p:spPr>
          <a:xfrm>
            <a:off x="6495918" y="1684829"/>
            <a:ext cx="4931233" cy="4912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fade">
                                      <p:cBhvr>
                                        <p:cTn id="7" dur="10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How Do Emotions Affect Behavior?</a:t>
            </a:r>
            <a:endParaRPr/>
          </a:p>
        </p:txBody>
      </p:sp>
      <p:sp>
        <p:nvSpPr>
          <p:cNvPr id="160" name="Google Shape;160;p9"/>
          <p:cNvSpPr txBox="1">
            <a:spLocks noGrp="1"/>
          </p:cNvSpPr>
          <p:nvPr>
            <p:ph type="body" idx="1"/>
          </p:nvPr>
        </p:nvSpPr>
        <p:spPr>
          <a:xfrm>
            <a:off x="1730000" y="2810100"/>
            <a:ext cx="9385200" cy="3161600"/>
          </a:xfrm>
          <a:prstGeom prst="rect">
            <a:avLst/>
          </a:prstGeom>
          <a:noFill/>
          <a:ln>
            <a:noFill/>
          </a:ln>
        </p:spPr>
        <p:txBody>
          <a:bodyPr spcFirstLastPara="1" wrap="square" lIns="121900" tIns="121900" rIns="121900" bIns="121900" anchor="t" anchorCtr="0">
            <a:normAutofit fontScale="92500" lnSpcReduction="10000"/>
          </a:bodyPr>
          <a:lstStyle/>
          <a:p>
            <a:pPr marL="0" lvl="0" indent="0" algn="l" rtl="0">
              <a:lnSpc>
                <a:spcPct val="90000"/>
              </a:lnSpc>
              <a:spcBef>
                <a:spcPts val="0"/>
              </a:spcBef>
              <a:spcAft>
                <a:spcPts val="0"/>
              </a:spcAft>
              <a:buClr>
                <a:schemeClr val="dk1"/>
              </a:buClr>
              <a:buSzPct val="50193"/>
              <a:buNone/>
            </a:pPr>
            <a:r>
              <a:rPr lang="en-US"/>
              <a:t>Expression</a:t>
            </a:r>
            <a:endParaRPr/>
          </a:p>
          <a:p>
            <a:pPr marL="609585" lvl="0" indent="-414855" algn="l" rtl="0">
              <a:lnSpc>
                <a:spcPct val="90000"/>
              </a:lnSpc>
              <a:spcBef>
                <a:spcPts val="1600"/>
              </a:spcBef>
              <a:spcAft>
                <a:spcPts val="0"/>
              </a:spcAft>
              <a:buClr>
                <a:schemeClr val="dk1"/>
              </a:buClr>
              <a:buSzPct val="50193"/>
              <a:buChar char="-"/>
            </a:pPr>
            <a:r>
              <a:rPr lang="en-US"/>
              <a:t>Facial Expressions</a:t>
            </a:r>
            <a:endParaRPr/>
          </a:p>
          <a:p>
            <a:pPr marL="609585" lvl="0" indent="-414855" algn="l" rtl="0">
              <a:lnSpc>
                <a:spcPct val="90000"/>
              </a:lnSpc>
              <a:spcBef>
                <a:spcPts val="0"/>
              </a:spcBef>
              <a:spcAft>
                <a:spcPts val="0"/>
              </a:spcAft>
              <a:buClr>
                <a:schemeClr val="dk1"/>
              </a:buClr>
              <a:buSzPct val="50193"/>
              <a:buChar char="-"/>
            </a:pPr>
            <a:r>
              <a:rPr lang="en-US"/>
              <a:t>Body Language</a:t>
            </a:r>
            <a:endParaRPr/>
          </a:p>
          <a:p>
            <a:pPr marL="609585" lvl="0" indent="-414855" algn="l" rtl="0">
              <a:lnSpc>
                <a:spcPct val="90000"/>
              </a:lnSpc>
              <a:spcBef>
                <a:spcPts val="0"/>
              </a:spcBef>
              <a:spcAft>
                <a:spcPts val="0"/>
              </a:spcAft>
              <a:buClr>
                <a:schemeClr val="dk1"/>
              </a:buClr>
              <a:buSzPct val="50193"/>
              <a:buChar char="-"/>
            </a:pPr>
            <a:r>
              <a:rPr lang="en-US"/>
              <a:t>Gestures</a:t>
            </a:r>
            <a:endParaRPr/>
          </a:p>
          <a:p>
            <a:pPr marL="609585" lvl="0" indent="-414855" algn="l" rtl="0">
              <a:lnSpc>
                <a:spcPct val="90000"/>
              </a:lnSpc>
              <a:spcBef>
                <a:spcPts val="0"/>
              </a:spcBef>
              <a:spcAft>
                <a:spcPts val="0"/>
              </a:spcAft>
              <a:buClr>
                <a:schemeClr val="dk1"/>
              </a:buClr>
              <a:buSzPct val="50193"/>
              <a:buChar char="-"/>
            </a:pPr>
            <a:r>
              <a:rPr lang="en-US"/>
              <a:t>Tone of Voice</a:t>
            </a:r>
            <a:endParaRPr/>
          </a:p>
          <a:p>
            <a:pPr marL="0" lvl="0" indent="0" algn="l" rtl="0">
              <a:lnSpc>
                <a:spcPct val="90000"/>
              </a:lnSpc>
              <a:spcBef>
                <a:spcPts val="1600"/>
              </a:spcBef>
              <a:spcAft>
                <a:spcPts val="1600"/>
              </a:spcAft>
              <a:buClr>
                <a:schemeClr val="dk1"/>
              </a:buClr>
              <a:buSzPct val="50193"/>
              <a:buNone/>
            </a:pPr>
            <a:r>
              <a:rPr lang="en-US"/>
              <a:t>People react to other people’s expressions, changing their own behavior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How Do Emotions Affect Behavior?</a:t>
            </a:r>
            <a:endParaRPr/>
          </a:p>
        </p:txBody>
      </p:sp>
      <p:sp>
        <p:nvSpPr>
          <p:cNvPr id="166" name="Google Shape;166;p10"/>
          <p:cNvSpPr txBox="1">
            <a:spLocks noGrp="1"/>
          </p:cNvSpPr>
          <p:nvPr>
            <p:ph type="body" idx="1"/>
          </p:nvPr>
        </p:nvSpPr>
        <p:spPr>
          <a:xfrm>
            <a:off x="1730000" y="2810100"/>
            <a:ext cx="9385200" cy="3161600"/>
          </a:xfrm>
          <a:prstGeom prst="rect">
            <a:avLst/>
          </a:prstGeom>
          <a:noFill/>
          <a:ln>
            <a:noFill/>
          </a:ln>
        </p:spPr>
        <p:txBody>
          <a:bodyPr spcFirstLastPara="1" wrap="square" lIns="121900" tIns="121900" rIns="121900" bIns="121900" anchor="t" anchorCtr="0">
            <a:normAutofit fontScale="92500" lnSpcReduction="10000"/>
          </a:bodyPr>
          <a:lstStyle/>
          <a:p>
            <a:pPr marL="0" lvl="0" indent="0" algn="l" rtl="0">
              <a:lnSpc>
                <a:spcPct val="90000"/>
              </a:lnSpc>
              <a:spcBef>
                <a:spcPts val="0"/>
              </a:spcBef>
              <a:spcAft>
                <a:spcPts val="0"/>
              </a:spcAft>
              <a:buClr>
                <a:schemeClr val="dk1"/>
              </a:buClr>
              <a:buSzPct val="50193"/>
              <a:buNone/>
            </a:pPr>
            <a:r>
              <a:rPr lang="en-US"/>
              <a:t>Expression</a:t>
            </a:r>
            <a:endParaRPr/>
          </a:p>
          <a:p>
            <a:pPr marL="609585" lvl="0" indent="-414855" algn="l" rtl="0">
              <a:lnSpc>
                <a:spcPct val="90000"/>
              </a:lnSpc>
              <a:spcBef>
                <a:spcPts val="1600"/>
              </a:spcBef>
              <a:spcAft>
                <a:spcPts val="0"/>
              </a:spcAft>
              <a:buClr>
                <a:schemeClr val="dk1"/>
              </a:buClr>
              <a:buSzPct val="50193"/>
              <a:buChar char="-"/>
            </a:pPr>
            <a:r>
              <a:rPr lang="en-US"/>
              <a:t>Facial Expressions</a:t>
            </a:r>
            <a:endParaRPr/>
          </a:p>
          <a:p>
            <a:pPr marL="609585" lvl="0" indent="-414855" algn="l" rtl="0">
              <a:lnSpc>
                <a:spcPct val="90000"/>
              </a:lnSpc>
              <a:spcBef>
                <a:spcPts val="0"/>
              </a:spcBef>
              <a:spcAft>
                <a:spcPts val="0"/>
              </a:spcAft>
              <a:buClr>
                <a:schemeClr val="dk1"/>
              </a:buClr>
              <a:buSzPct val="50193"/>
              <a:buChar char="-"/>
            </a:pPr>
            <a:r>
              <a:rPr lang="en-US"/>
              <a:t>Body Language</a:t>
            </a:r>
            <a:endParaRPr/>
          </a:p>
          <a:p>
            <a:pPr marL="609585" lvl="0" indent="-414855" algn="l" rtl="0">
              <a:lnSpc>
                <a:spcPct val="90000"/>
              </a:lnSpc>
              <a:spcBef>
                <a:spcPts val="0"/>
              </a:spcBef>
              <a:spcAft>
                <a:spcPts val="0"/>
              </a:spcAft>
              <a:buClr>
                <a:schemeClr val="dk1"/>
              </a:buClr>
              <a:buSzPct val="50193"/>
              <a:buChar char="-"/>
            </a:pPr>
            <a:r>
              <a:rPr lang="en-US"/>
              <a:t>Gestures</a:t>
            </a:r>
            <a:endParaRPr/>
          </a:p>
          <a:p>
            <a:pPr marL="609585" lvl="0" indent="-414855" algn="l" rtl="0">
              <a:lnSpc>
                <a:spcPct val="90000"/>
              </a:lnSpc>
              <a:spcBef>
                <a:spcPts val="0"/>
              </a:spcBef>
              <a:spcAft>
                <a:spcPts val="0"/>
              </a:spcAft>
              <a:buClr>
                <a:schemeClr val="dk1"/>
              </a:buClr>
              <a:buSzPct val="50193"/>
              <a:buChar char="-"/>
            </a:pPr>
            <a:r>
              <a:rPr lang="en-US"/>
              <a:t>Tone of Voice</a:t>
            </a:r>
            <a:endParaRPr/>
          </a:p>
          <a:p>
            <a:pPr marL="0" lvl="0" indent="0" algn="l" rtl="0">
              <a:lnSpc>
                <a:spcPct val="90000"/>
              </a:lnSpc>
              <a:spcBef>
                <a:spcPts val="1600"/>
              </a:spcBef>
              <a:spcAft>
                <a:spcPts val="1600"/>
              </a:spcAft>
              <a:buClr>
                <a:schemeClr val="dk1"/>
              </a:buClr>
              <a:buSzPct val="50193"/>
              <a:buNone/>
            </a:pPr>
            <a:r>
              <a:rPr lang="en-US"/>
              <a:t>People react to other people’s expressions, changing their own behavior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1"/>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How Do Emotions Affect Behavior?</a:t>
            </a:r>
            <a:endParaRPr/>
          </a:p>
          <a:p>
            <a:pPr marL="0" lvl="0" indent="0" algn="ctr" rtl="0">
              <a:lnSpc>
                <a:spcPct val="90000"/>
              </a:lnSpc>
              <a:spcBef>
                <a:spcPts val="0"/>
              </a:spcBef>
              <a:spcAft>
                <a:spcPts val="0"/>
              </a:spcAft>
              <a:buClr>
                <a:schemeClr val="dk1"/>
              </a:buClr>
              <a:buSzPts val="2400"/>
              <a:buFont typeface="Calibri"/>
              <a:buNone/>
            </a:pPr>
            <a:r>
              <a:rPr lang="en-US"/>
              <a:t>(Driving)</a:t>
            </a:r>
            <a:endParaRPr/>
          </a:p>
        </p:txBody>
      </p:sp>
      <p:sp>
        <p:nvSpPr>
          <p:cNvPr id="172" name="Google Shape;172;p11"/>
          <p:cNvSpPr txBox="1">
            <a:spLocks noGrp="1"/>
          </p:cNvSpPr>
          <p:nvPr>
            <p:ph type="body" idx="1"/>
          </p:nvPr>
        </p:nvSpPr>
        <p:spPr>
          <a:xfrm>
            <a:off x="1730000" y="2810100"/>
            <a:ext cx="9385200" cy="3161600"/>
          </a:xfrm>
          <a:prstGeom prst="rect">
            <a:avLst/>
          </a:prstGeom>
          <a:noFill/>
          <a:ln>
            <a:noFill/>
          </a:ln>
        </p:spPr>
        <p:txBody>
          <a:bodyPr spcFirstLastPara="1" wrap="square" lIns="121900" tIns="121900" rIns="121900" bIns="121900" anchor="t" anchorCtr="0">
            <a:normAutofit fontScale="85000" lnSpcReduction="20000"/>
          </a:bodyPr>
          <a:lstStyle/>
          <a:p>
            <a:pPr marL="0" lvl="0" indent="0" algn="l" rtl="0">
              <a:lnSpc>
                <a:spcPct val="90000"/>
              </a:lnSpc>
              <a:spcBef>
                <a:spcPts val="0"/>
              </a:spcBef>
              <a:spcAft>
                <a:spcPts val="0"/>
              </a:spcAft>
              <a:buClr>
                <a:schemeClr val="dk1"/>
              </a:buClr>
              <a:buSzPct val="54621"/>
              <a:buNone/>
            </a:pPr>
            <a:r>
              <a:rPr lang="en-US"/>
              <a:t>Angry Driving (Pêcher et al., 2011; Zhang and Chan, 2016)</a:t>
            </a:r>
            <a:endParaRPr/>
          </a:p>
          <a:p>
            <a:pPr marL="609585" lvl="0" indent="-406600" algn="l" rtl="0">
              <a:lnSpc>
                <a:spcPct val="90000"/>
              </a:lnSpc>
              <a:spcBef>
                <a:spcPts val="1600"/>
              </a:spcBef>
              <a:spcAft>
                <a:spcPts val="0"/>
              </a:spcAft>
              <a:buClr>
                <a:schemeClr val="dk1"/>
              </a:buClr>
              <a:buSzPct val="100000"/>
              <a:buChar char="-"/>
            </a:pPr>
            <a:r>
              <a:rPr lang="en-US"/>
              <a:t>More Aggressive Driving</a:t>
            </a:r>
            <a:endParaRPr/>
          </a:p>
          <a:p>
            <a:pPr marL="609585" lvl="0" indent="-406600" algn="l" rtl="0">
              <a:lnSpc>
                <a:spcPct val="90000"/>
              </a:lnSpc>
              <a:spcBef>
                <a:spcPts val="0"/>
              </a:spcBef>
              <a:spcAft>
                <a:spcPts val="0"/>
              </a:spcAft>
              <a:buClr>
                <a:schemeClr val="dk1"/>
              </a:buClr>
              <a:buSzPct val="100000"/>
              <a:buChar char="-"/>
            </a:pPr>
            <a:r>
              <a:rPr lang="en-US"/>
              <a:t>Take More Risks</a:t>
            </a:r>
            <a:endParaRPr/>
          </a:p>
          <a:p>
            <a:pPr marL="609585" lvl="0" indent="-406600" algn="l" rtl="0">
              <a:lnSpc>
                <a:spcPct val="90000"/>
              </a:lnSpc>
              <a:spcBef>
                <a:spcPts val="0"/>
              </a:spcBef>
              <a:spcAft>
                <a:spcPts val="0"/>
              </a:spcAft>
              <a:buClr>
                <a:schemeClr val="dk1"/>
              </a:buClr>
              <a:buSzPct val="100000"/>
              <a:buChar char="-"/>
            </a:pPr>
            <a:r>
              <a:rPr lang="en-US"/>
              <a:t>More Error Prone</a:t>
            </a:r>
            <a:endParaRPr/>
          </a:p>
          <a:p>
            <a:pPr marL="0" lvl="0" indent="0" algn="l" rtl="0">
              <a:lnSpc>
                <a:spcPct val="90000"/>
              </a:lnSpc>
              <a:spcBef>
                <a:spcPts val="1600"/>
              </a:spcBef>
              <a:spcAft>
                <a:spcPts val="0"/>
              </a:spcAft>
              <a:buClr>
                <a:schemeClr val="dk1"/>
              </a:buClr>
              <a:buSzPct val="54621"/>
              <a:buNone/>
            </a:pPr>
            <a:r>
              <a:rPr lang="en-US"/>
              <a:t>Listening to Music while Driving (Christelle Pêcher et al. (2009))</a:t>
            </a:r>
            <a:endParaRPr/>
          </a:p>
          <a:p>
            <a:pPr marL="609585" lvl="0" indent="-406600" algn="l" rtl="0">
              <a:lnSpc>
                <a:spcPct val="90000"/>
              </a:lnSpc>
              <a:spcBef>
                <a:spcPts val="1600"/>
              </a:spcBef>
              <a:spcAft>
                <a:spcPts val="0"/>
              </a:spcAft>
              <a:buClr>
                <a:schemeClr val="dk1"/>
              </a:buClr>
              <a:buSzPct val="100000"/>
              <a:buChar char="-"/>
            </a:pPr>
            <a:r>
              <a:rPr lang="en-US"/>
              <a:t>Happy Music: Drivers slow down, ability to stay in lane worsened</a:t>
            </a:r>
            <a:endParaRPr/>
          </a:p>
          <a:p>
            <a:pPr marL="609585" lvl="0" indent="-406600" algn="l" rtl="0">
              <a:lnSpc>
                <a:spcPct val="90000"/>
              </a:lnSpc>
              <a:spcBef>
                <a:spcPts val="0"/>
              </a:spcBef>
              <a:spcAft>
                <a:spcPts val="0"/>
              </a:spcAft>
              <a:buClr>
                <a:schemeClr val="dk1"/>
              </a:buClr>
              <a:buSzPct val="100000"/>
              <a:buChar char="-"/>
            </a:pPr>
            <a:r>
              <a:rPr lang="en-US"/>
              <a:t>Sad Music: Drivers slow down</a:t>
            </a:r>
            <a:endParaRPr/>
          </a:p>
          <a:p>
            <a:pPr marL="609585" lvl="0" indent="-406600" algn="l" rtl="0">
              <a:lnSpc>
                <a:spcPct val="90000"/>
              </a:lnSpc>
              <a:spcBef>
                <a:spcPts val="0"/>
              </a:spcBef>
              <a:spcAft>
                <a:spcPts val="0"/>
              </a:spcAft>
              <a:buClr>
                <a:schemeClr val="dk1"/>
              </a:buClr>
              <a:buSzPct val="100000"/>
              <a:buChar char="-"/>
            </a:pPr>
            <a:r>
              <a:rPr lang="en-US"/>
              <a:t>Neutral music: No effect</a:t>
            </a:r>
            <a:endParaRPr/>
          </a:p>
          <a:p>
            <a:pPr marL="0" lvl="0" indent="0" algn="l" rtl="0">
              <a:lnSpc>
                <a:spcPct val="90000"/>
              </a:lnSpc>
              <a:spcBef>
                <a:spcPts val="1600"/>
              </a:spcBef>
              <a:spcAft>
                <a:spcPts val="1600"/>
              </a:spcAft>
              <a:buClr>
                <a:schemeClr val="dk1"/>
              </a:buClr>
              <a:buSzPct val="54621"/>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The Levels of the Brain</a:t>
            </a:r>
            <a:endParaRPr/>
          </a:p>
        </p:txBody>
      </p:sp>
      <p:sp>
        <p:nvSpPr>
          <p:cNvPr id="178" name="Google Shape;178;p12"/>
          <p:cNvSpPr txBox="1">
            <a:spLocks noGrp="1"/>
          </p:cNvSpPr>
          <p:nvPr>
            <p:ph type="body" idx="1"/>
          </p:nvPr>
        </p:nvSpPr>
        <p:spPr>
          <a:xfrm>
            <a:off x="209167" y="2061867"/>
            <a:ext cx="11549600" cy="4303200"/>
          </a:xfrm>
          <a:prstGeom prst="rect">
            <a:avLst/>
          </a:prstGeom>
          <a:noFill/>
          <a:ln>
            <a:noFill/>
          </a:ln>
        </p:spPr>
        <p:txBody>
          <a:bodyPr spcFirstLastPara="1" wrap="square" lIns="121900" tIns="121900" rIns="121900" bIns="121900" anchor="t" anchorCtr="0">
            <a:normAutofit lnSpcReduction="10000"/>
          </a:bodyPr>
          <a:lstStyle/>
          <a:p>
            <a:pPr marL="0" lvl="0" indent="0" algn="l" rtl="0">
              <a:lnSpc>
                <a:spcPct val="90000"/>
              </a:lnSpc>
              <a:spcBef>
                <a:spcPts val="0"/>
              </a:spcBef>
              <a:spcAft>
                <a:spcPts val="0"/>
              </a:spcAft>
              <a:buClr>
                <a:schemeClr val="dk1"/>
              </a:buClr>
              <a:buSzPts val="1300"/>
              <a:buNone/>
            </a:pPr>
            <a:r>
              <a:rPr lang="en-US"/>
              <a:t>Visceral Level</a:t>
            </a:r>
            <a:endParaRPr/>
          </a:p>
          <a:p>
            <a:pPr marL="609585" lvl="0" indent="-414855" algn="l" rtl="0">
              <a:lnSpc>
                <a:spcPct val="90000"/>
              </a:lnSpc>
              <a:spcBef>
                <a:spcPts val="1600"/>
              </a:spcBef>
              <a:spcAft>
                <a:spcPts val="0"/>
              </a:spcAft>
              <a:buClr>
                <a:schemeClr val="dk1"/>
              </a:buClr>
              <a:buSzPts val="1300"/>
              <a:buChar char="-"/>
            </a:pPr>
            <a:r>
              <a:rPr lang="en-US"/>
              <a:t>Responds Automatically to Events</a:t>
            </a:r>
            <a:endParaRPr/>
          </a:p>
          <a:p>
            <a:pPr marL="609585" lvl="0" indent="-414855" algn="l" rtl="0">
              <a:lnSpc>
                <a:spcPct val="90000"/>
              </a:lnSpc>
              <a:spcBef>
                <a:spcPts val="0"/>
              </a:spcBef>
              <a:spcAft>
                <a:spcPts val="0"/>
              </a:spcAft>
              <a:buClr>
                <a:schemeClr val="dk1"/>
              </a:buClr>
              <a:buSzPts val="1300"/>
              <a:buChar char="-"/>
            </a:pPr>
            <a:r>
              <a:rPr lang="en-US"/>
              <a:t>Controls emotional responses to stimuli</a:t>
            </a:r>
            <a:endParaRPr/>
          </a:p>
          <a:p>
            <a:pPr marL="0" lvl="0" indent="0" algn="l" rtl="0">
              <a:lnSpc>
                <a:spcPct val="90000"/>
              </a:lnSpc>
              <a:spcBef>
                <a:spcPts val="1600"/>
              </a:spcBef>
              <a:spcAft>
                <a:spcPts val="0"/>
              </a:spcAft>
              <a:buClr>
                <a:schemeClr val="dk1"/>
              </a:buClr>
              <a:buSzPts val="1300"/>
              <a:buNone/>
            </a:pPr>
            <a:r>
              <a:rPr lang="en-US"/>
              <a:t>Behavioral Level</a:t>
            </a:r>
            <a:endParaRPr/>
          </a:p>
          <a:p>
            <a:pPr marL="609585" lvl="0" indent="-414855" algn="l" rtl="0">
              <a:lnSpc>
                <a:spcPct val="90000"/>
              </a:lnSpc>
              <a:spcBef>
                <a:spcPts val="1600"/>
              </a:spcBef>
              <a:spcAft>
                <a:spcPts val="0"/>
              </a:spcAft>
              <a:buClr>
                <a:schemeClr val="dk1"/>
              </a:buClr>
              <a:buSzPts val="1300"/>
              <a:buChar char="-"/>
            </a:pPr>
            <a:r>
              <a:rPr lang="en-US"/>
              <a:t>Controls Everyday Behavior</a:t>
            </a:r>
            <a:endParaRPr/>
          </a:p>
          <a:p>
            <a:pPr marL="609585" lvl="0" indent="-414855" algn="l" rtl="0">
              <a:lnSpc>
                <a:spcPct val="90000"/>
              </a:lnSpc>
              <a:spcBef>
                <a:spcPts val="0"/>
              </a:spcBef>
              <a:spcAft>
                <a:spcPts val="0"/>
              </a:spcAft>
              <a:buClr>
                <a:schemeClr val="dk1"/>
              </a:buClr>
              <a:buSzPts val="1300"/>
              <a:buChar char="-"/>
            </a:pPr>
            <a:r>
              <a:rPr lang="en-US"/>
              <a:t>Most human activities occur here</a:t>
            </a:r>
            <a:endParaRPr/>
          </a:p>
          <a:p>
            <a:pPr marL="0" lvl="0" indent="0" algn="l" rtl="0">
              <a:lnSpc>
                <a:spcPct val="90000"/>
              </a:lnSpc>
              <a:spcBef>
                <a:spcPts val="1600"/>
              </a:spcBef>
              <a:spcAft>
                <a:spcPts val="0"/>
              </a:spcAft>
              <a:buClr>
                <a:schemeClr val="dk1"/>
              </a:buClr>
              <a:buSzPts val="1300"/>
              <a:buNone/>
            </a:pPr>
            <a:r>
              <a:rPr lang="en-US"/>
              <a:t>Reflective Level</a:t>
            </a:r>
            <a:endParaRPr/>
          </a:p>
          <a:p>
            <a:pPr marL="609585" lvl="0" indent="-414855" algn="l" rtl="0">
              <a:lnSpc>
                <a:spcPct val="90000"/>
              </a:lnSpc>
              <a:spcBef>
                <a:spcPts val="1600"/>
              </a:spcBef>
              <a:spcAft>
                <a:spcPts val="0"/>
              </a:spcAft>
              <a:buClr>
                <a:schemeClr val="dk1"/>
              </a:buClr>
              <a:buSzPts val="1300"/>
              <a:buChar char="-"/>
            </a:pPr>
            <a:r>
              <a:rPr lang="en-US"/>
              <a:t>Controls contemplation</a:t>
            </a:r>
            <a:endParaRPr/>
          </a:p>
          <a:p>
            <a:pPr marL="0" lvl="0" indent="0" algn="l" rtl="0">
              <a:lnSpc>
                <a:spcPct val="90000"/>
              </a:lnSpc>
              <a:spcBef>
                <a:spcPts val="1600"/>
              </a:spcBef>
              <a:spcAft>
                <a:spcPts val="1600"/>
              </a:spcAft>
              <a:buClr>
                <a:schemeClr val="dk1"/>
              </a:buClr>
              <a:buSzPts val="13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3"/>
          <p:cNvSpPr txBox="1">
            <a:spLocks noGrp="1"/>
          </p:cNvSpPr>
          <p:nvPr>
            <p:ph type="title"/>
          </p:nvPr>
        </p:nvSpPr>
        <p:spPr>
          <a:xfrm>
            <a:off x="1730000" y="525000"/>
            <a:ext cx="9385200" cy="12188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2400"/>
              <a:buFont typeface="Calibri"/>
              <a:buNone/>
            </a:pPr>
            <a:r>
              <a:rPr lang="en-US"/>
              <a:t>The Levels of the Brain</a:t>
            </a:r>
            <a:endParaRPr/>
          </a:p>
        </p:txBody>
      </p:sp>
      <p:sp>
        <p:nvSpPr>
          <p:cNvPr id="184" name="Google Shape;184;p13"/>
          <p:cNvSpPr txBox="1">
            <a:spLocks noGrp="1"/>
          </p:cNvSpPr>
          <p:nvPr>
            <p:ph type="body" idx="1"/>
          </p:nvPr>
        </p:nvSpPr>
        <p:spPr>
          <a:xfrm>
            <a:off x="254000" y="2764100"/>
            <a:ext cx="11684000" cy="3257200"/>
          </a:xfrm>
          <a:prstGeom prst="rect">
            <a:avLst/>
          </a:prstGeom>
          <a:noFill/>
          <a:ln>
            <a:noFill/>
          </a:ln>
        </p:spPr>
        <p:txBody>
          <a:bodyPr spcFirstLastPara="1" wrap="square" lIns="121900" tIns="121900" rIns="121900" bIns="121900" anchor="t" anchorCtr="0">
            <a:normAutofit fontScale="92500"/>
          </a:bodyPr>
          <a:lstStyle/>
          <a:p>
            <a:pPr marL="0" lvl="0" indent="0" algn="l" rtl="0">
              <a:lnSpc>
                <a:spcPct val="90000"/>
              </a:lnSpc>
              <a:spcBef>
                <a:spcPts val="0"/>
              </a:spcBef>
              <a:spcAft>
                <a:spcPts val="0"/>
              </a:spcAft>
              <a:buClr>
                <a:schemeClr val="dk1"/>
              </a:buClr>
              <a:buSzPct val="50193"/>
              <a:buNone/>
            </a:pPr>
            <a:r>
              <a:rPr lang="en-US"/>
              <a:t>Visceral Level Design</a:t>
            </a:r>
            <a:endParaRPr/>
          </a:p>
          <a:p>
            <a:pPr marL="609585" lvl="0" indent="-414855" algn="l" rtl="0">
              <a:lnSpc>
                <a:spcPct val="90000"/>
              </a:lnSpc>
              <a:spcBef>
                <a:spcPts val="1600"/>
              </a:spcBef>
              <a:spcAft>
                <a:spcPts val="0"/>
              </a:spcAft>
              <a:buClr>
                <a:schemeClr val="dk1"/>
              </a:buClr>
              <a:buSzPct val="50193"/>
              <a:buChar char="-"/>
            </a:pPr>
            <a:r>
              <a:rPr lang="en-US"/>
              <a:t>Making products look, feel, and sound good</a:t>
            </a:r>
            <a:endParaRPr/>
          </a:p>
          <a:p>
            <a:pPr marL="0" lvl="0" indent="0" algn="l" rtl="0">
              <a:lnSpc>
                <a:spcPct val="90000"/>
              </a:lnSpc>
              <a:spcBef>
                <a:spcPts val="1600"/>
              </a:spcBef>
              <a:spcAft>
                <a:spcPts val="0"/>
              </a:spcAft>
              <a:buClr>
                <a:schemeClr val="dk1"/>
              </a:buClr>
              <a:buSzPct val="50193"/>
              <a:buNone/>
            </a:pPr>
            <a:r>
              <a:rPr lang="en-US"/>
              <a:t>Behavioral Level Design</a:t>
            </a:r>
            <a:endParaRPr/>
          </a:p>
          <a:p>
            <a:pPr marL="609585" lvl="0" indent="-414855" algn="l" rtl="0">
              <a:lnSpc>
                <a:spcPct val="90000"/>
              </a:lnSpc>
              <a:spcBef>
                <a:spcPts val="1600"/>
              </a:spcBef>
              <a:spcAft>
                <a:spcPts val="0"/>
              </a:spcAft>
              <a:buClr>
                <a:schemeClr val="dk1"/>
              </a:buClr>
              <a:buSzPct val="50193"/>
              <a:buChar char="-"/>
            </a:pPr>
            <a:r>
              <a:rPr lang="en-US"/>
              <a:t>Making products usable</a:t>
            </a:r>
            <a:endParaRPr/>
          </a:p>
          <a:p>
            <a:pPr marL="0" lvl="0" indent="0" algn="l" rtl="0">
              <a:lnSpc>
                <a:spcPct val="90000"/>
              </a:lnSpc>
              <a:spcBef>
                <a:spcPts val="1600"/>
              </a:spcBef>
              <a:spcAft>
                <a:spcPts val="0"/>
              </a:spcAft>
              <a:buClr>
                <a:schemeClr val="dk1"/>
              </a:buClr>
              <a:buSzPct val="50193"/>
              <a:buNone/>
            </a:pPr>
            <a:r>
              <a:rPr lang="en-US"/>
              <a:t>Reflective Level Design</a:t>
            </a:r>
            <a:endParaRPr/>
          </a:p>
          <a:p>
            <a:pPr marL="609585" lvl="0" indent="-414855" algn="l" rtl="0">
              <a:lnSpc>
                <a:spcPct val="90000"/>
              </a:lnSpc>
              <a:spcBef>
                <a:spcPts val="1600"/>
              </a:spcBef>
              <a:spcAft>
                <a:spcPts val="0"/>
              </a:spcAft>
              <a:buClr>
                <a:schemeClr val="dk1"/>
              </a:buClr>
              <a:buSzPct val="50193"/>
              <a:buChar char="-"/>
            </a:pPr>
            <a:r>
              <a:rPr lang="en-US"/>
              <a:t>Making products important or meaningful to a certain culture or person</a:t>
            </a:r>
            <a:endParaRPr/>
          </a:p>
          <a:p>
            <a:pPr marL="0" lvl="0" indent="0" algn="l" rtl="0">
              <a:lnSpc>
                <a:spcPct val="90000"/>
              </a:lnSpc>
              <a:spcBef>
                <a:spcPts val="1600"/>
              </a:spcBef>
              <a:spcAft>
                <a:spcPts val="1600"/>
              </a:spcAft>
              <a:buClr>
                <a:schemeClr val="dk1"/>
              </a:buClr>
              <a:buSzPct val="50193"/>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4"/>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Sidharth Topic: 6.3: Expressive Interfaces and Emotional Design</a:t>
            </a:r>
            <a:endParaRPr b="1">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marR="0" lvl="0" indent="0" algn="ctr" rtl="0">
              <a:lnSpc>
                <a:spcPct val="90000"/>
              </a:lnSpc>
              <a:spcBef>
                <a:spcPts val="1000"/>
              </a:spcBef>
              <a:spcAft>
                <a:spcPts val="0"/>
              </a:spcAft>
              <a:buClr>
                <a:srgbClr val="2D3B45"/>
              </a:buClr>
              <a:buSzPts val="1800"/>
              <a:buNone/>
            </a:pPr>
            <a:r>
              <a:rPr lang="en-US" sz="1800">
                <a:solidFill>
                  <a:srgbClr val="2D3B45"/>
                </a:solidFill>
                <a:latin typeface="Helvetica Neue"/>
                <a:ea typeface="Helvetica Neue"/>
                <a:cs typeface="Helvetica Neue"/>
                <a:sym typeface="Helvetica Neue"/>
              </a:rPr>
              <a:t>“Everything has a personality: everything sends an emotional signal. Even where this was not the intention of the designer, the people who view the website infer personalities and experience emotions.”</a:t>
            </a:r>
            <a:endParaRPr sz="1800">
              <a:latin typeface="Times New Roman"/>
              <a:ea typeface="Times New Roman"/>
              <a:cs typeface="Times New Roman"/>
              <a:sym typeface="Times New Roman"/>
            </a:endParaRPr>
          </a:p>
          <a:p>
            <a:pPr marL="0" marR="0" lvl="0" indent="0" algn="r" rtl="0">
              <a:lnSpc>
                <a:spcPct val="90000"/>
              </a:lnSpc>
              <a:spcBef>
                <a:spcPts val="900"/>
              </a:spcBef>
              <a:spcAft>
                <a:spcPts val="0"/>
              </a:spcAft>
              <a:buClr>
                <a:srgbClr val="2D3B45"/>
              </a:buClr>
              <a:buSzPts val="1800"/>
              <a:buNone/>
            </a:pPr>
            <a:r>
              <a:rPr lang="en-US" sz="1800">
                <a:solidFill>
                  <a:srgbClr val="2D3B45"/>
                </a:solidFill>
                <a:latin typeface="Helvetica Neue"/>
                <a:ea typeface="Helvetica Neue"/>
                <a:cs typeface="Helvetica Neue"/>
                <a:sym typeface="Helvetica Neue"/>
              </a:rPr>
              <a:t>— Don Norman</a:t>
            </a:r>
            <a:endParaRPr sz="180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5"/>
          <p:cNvSpPr txBox="1">
            <a:spLocks noGrp="1"/>
          </p:cNvSpPr>
          <p:nvPr>
            <p:ph type="subTitle" idx="1"/>
          </p:nvPr>
        </p:nvSpPr>
        <p:spPr>
          <a:xfrm>
            <a:off x="0" y="0"/>
            <a:ext cx="8134597" cy="68580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0" lvl="0" indent="0" algn="l" rtl="0">
              <a:lnSpc>
                <a:spcPct val="90000"/>
              </a:lnSpc>
              <a:spcBef>
                <a:spcPts val="100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6.3.1 What is Expressive Interfaces?</a:t>
            </a:r>
            <a:endParaRPr/>
          </a:p>
          <a:p>
            <a:pPr marL="0" lvl="0" indent="0" algn="l" rtl="0">
              <a:lnSpc>
                <a:spcPct val="90000"/>
              </a:lnSpc>
              <a:spcBef>
                <a:spcPts val="100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285750" lvl="0" indent="-285750" algn="l" rtl="0">
              <a:lnSpc>
                <a:spcPct val="90000"/>
              </a:lnSpc>
              <a:spcBef>
                <a:spcPts val="1000"/>
              </a:spcBef>
              <a:spcAft>
                <a:spcPts val="0"/>
              </a:spcAft>
              <a:buClr>
                <a:srgbClr val="202124"/>
              </a:buClr>
              <a:buSzPts val="1600"/>
              <a:buFont typeface="Arial"/>
              <a:buChar char="•"/>
            </a:pPr>
            <a:r>
              <a:rPr lang="en-US" sz="1600">
                <a:solidFill>
                  <a:srgbClr val="202124"/>
                </a:solidFill>
                <a:latin typeface="Arial"/>
                <a:ea typeface="Arial"/>
                <a:cs typeface="Arial"/>
                <a:sym typeface="Arial"/>
              </a:rPr>
              <a:t>The expressive interface </a:t>
            </a:r>
            <a:r>
              <a:rPr lang="en-US" sz="1600" b="1">
                <a:solidFill>
                  <a:srgbClr val="202124"/>
                </a:solidFill>
                <a:latin typeface="Arial"/>
                <a:ea typeface="Arial"/>
                <a:cs typeface="Arial"/>
                <a:sym typeface="Arial"/>
              </a:rPr>
              <a:t>allows us to convey emotion, to provide satisfaction with empathy and to delight with contextually-aware illustrations and animations</a:t>
            </a:r>
            <a:r>
              <a:rPr lang="en-US" sz="1600">
                <a:solidFill>
                  <a:srgbClr val="202124"/>
                </a:solidFill>
                <a:latin typeface="Arial"/>
                <a:ea typeface="Arial"/>
                <a:cs typeface="Arial"/>
                <a:sym typeface="Arial"/>
              </a:rPr>
              <a:t>. </a:t>
            </a:r>
            <a:endParaRPr/>
          </a:p>
          <a:p>
            <a:pPr marL="0" lvl="0" indent="0" algn="l" rtl="0">
              <a:lnSpc>
                <a:spcPct val="90000"/>
              </a:lnSpc>
              <a:spcBef>
                <a:spcPts val="1000"/>
              </a:spcBef>
              <a:spcAft>
                <a:spcPts val="0"/>
              </a:spcAft>
              <a:buClr>
                <a:schemeClr val="dk1"/>
              </a:buClr>
              <a:buSzPts val="1600"/>
              <a:buNone/>
            </a:pPr>
            <a:endParaRPr sz="1600">
              <a:solidFill>
                <a:srgbClr val="202124"/>
              </a:solidFill>
              <a:latin typeface="Arial"/>
              <a:ea typeface="Arial"/>
              <a:cs typeface="Arial"/>
              <a:sym typeface="Arial"/>
            </a:endParaRPr>
          </a:p>
          <a:p>
            <a:pPr marL="285750" lvl="0" indent="-285750" algn="l" rtl="0">
              <a:lnSpc>
                <a:spcPct val="90000"/>
              </a:lnSpc>
              <a:spcBef>
                <a:spcPts val="1000"/>
              </a:spcBef>
              <a:spcAft>
                <a:spcPts val="0"/>
              </a:spcAft>
              <a:buClr>
                <a:srgbClr val="2D3B45"/>
              </a:buClr>
              <a:buSzPts val="1800"/>
              <a:buFont typeface="Arial"/>
              <a:buChar char="•"/>
            </a:pPr>
            <a:r>
              <a:rPr lang="en-US" sz="1800">
                <a:solidFill>
                  <a:srgbClr val="2D3B45"/>
                </a:solidFill>
                <a:latin typeface="Helvetica Neue"/>
                <a:ea typeface="Helvetica Neue"/>
                <a:cs typeface="Helvetica Neue"/>
                <a:sym typeface="Helvetica Neue"/>
              </a:rPr>
              <a:t>Expressive Interfaces are a critical component of modern designs, with such a wide variety of choices for consumers, companies that want their products to be successful must not only lower the barrier of knowledge needed to operate their systems, but also make their systems desirable to use. Today’s smartphones are one of the current pinnacles of expressive interface design.</a:t>
            </a:r>
            <a:endParaRPr sz="1800">
              <a:latin typeface="Times New Roman"/>
              <a:ea typeface="Times New Roman"/>
              <a:cs typeface="Times New Roman"/>
              <a:sym typeface="Times New Roman"/>
            </a:endParaRPr>
          </a:p>
          <a:p>
            <a:pPr marL="285750" lvl="0" indent="-184150" algn="l" rtl="0">
              <a:lnSpc>
                <a:spcPct val="90000"/>
              </a:lnSpc>
              <a:spcBef>
                <a:spcPts val="1000"/>
              </a:spcBef>
              <a:spcAft>
                <a:spcPts val="0"/>
              </a:spcAft>
              <a:buClr>
                <a:schemeClr val="dk1"/>
              </a:buClr>
              <a:buSzPts val="1600"/>
              <a:buFont typeface="Arial"/>
              <a:buNone/>
            </a:pPr>
            <a:endParaRPr sz="1600">
              <a:solidFill>
                <a:srgbClr val="202124"/>
              </a:solidFill>
              <a:latin typeface="Arial"/>
              <a:ea typeface="Arial"/>
              <a:cs typeface="Arial"/>
              <a:sym typeface="Arial"/>
            </a:endParaRPr>
          </a:p>
          <a:p>
            <a:pPr marL="285750" lvl="0" indent="-285750" algn="l" rtl="0">
              <a:lnSpc>
                <a:spcPct val="90000"/>
              </a:lnSpc>
              <a:spcBef>
                <a:spcPts val="1000"/>
              </a:spcBef>
              <a:spcAft>
                <a:spcPts val="0"/>
              </a:spcAft>
              <a:buClr>
                <a:srgbClr val="2D3B45"/>
              </a:buClr>
              <a:buSzPts val="1800"/>
              <a:buFont typeface="Arial"/>
              <a:buChar char="•"/>
            </a:pPr>
            <a:r>
              <a:rPr lang="en-US" sz="1800">
                <a:solidFill>
                  <a:srgbClr val="2D3B45"/>
                </a:solidFill>
                <a:latin typeface="Helvetica Neue"/>
                <a:ea typeface="Helvetica Neue"/>
                <a:cs typeface="Helvetica Neue"/>
                <a:sym typeface="Helvetica Neue"/>
              </a:rPr>
              <a:t>Expressive Interface design can be achieved in a number of ways, that modern designs typically use several of to create a cohesive and satisfying user experience. </a:t>
            </a:r>
            <a:endParaRPr/>
          </a:p>
          <a:p>
            <a:pPr marL="742950" lvl="1" indent="-285750" algn="l" rtl="0">
              <a:lnSpc>
                <a:spcPct val="90000"/>
              </a:lnSpc>
              <a:spcBef>
                <a:spcPts val="500"/>
              </a:spcBef>
              <a:spcAft>
                <a:spcPts val="0"/>
              </a:spcAft>
              <a:buClr>
                <a:srgbClr val="2D3B45"/>
              </a:buClr>
              <a:buSzPts val="1400"/>
              <a:buFont typeface="Arial"/>
              <a:buChar char="•"/>
            </a:pPr>
            <a:r>
              <a:rPr lang="en-US" sz="1400" b="1">
                <a:solidFill>
                  <a:srgbClr val="2D3B45"/>
                </a:solidFill>
                <a:latin typeface="Helvetica Neue"/>
                <a:ea typeface="Helvetica Neue"/>
                <a:cs typeface="Helvetica Neue"/>
                <a:sym typeface="Helvetica Neue"/>
              </a:rPr>
              <a:t>Dynamic icons</a:t>
            </a:r>
            <a:r>
              <a:rPr lang="en-US" sz="1400">
                <a:solidFill>
                  <a:srgbClr val="2D3B45"/>
                </a:solidFill>
                <a:latin typeface="Helvetica Neue"/>
                <a:ea typeface="Helvetica Neue"/>
                <a:cs typeface="Helvetica Neue"/>
                <a:sym typeface="Helvetica Neue"/>
              </a:rPr>
              <a:t> such as the recycling bin on a computer desktop changing based on the amount of deleted files within it, or icons with text bubbles indicating the number of unread messages on smartphones are both good examples of dynamic icons that convey useful information in an unobtrusive but efficient way. </a:t>
            </a:r>
            <a:endParaRPr/>
          </a:p>
          <a:p>
            <a:pPr marL="742950" lvl="1" indent="-285750" algn="l" rtl="0">
              <a:lnSpc>
                <a:spcPct val="90000"/>
              </a:lnSpc>
              <a:spcBef>
                <a:spcPts val="500"/>
              </a:spcBef>
              <a:spcAft>
                <a:spcPts val="0"/>
              </a:spcAft>
              <a:buClr>
                <a:srgbClr val="2D3B45"/>
              </a:buClr>
              <a:buSzPts val="1400"/>
              <a:buFont typeface="Arial"/>
              <a:buChar char="•"/>
            </a:pPr>
            <a:r>
              <a:rPr lang="en-US" sz="1400">
                <a:solidFill>
                  <a:srgbClr val="2D3B45"/>
                </a:solidFill>
                <a:latin typeface="Helvetica Neue"/>
                <a:ea typeface="Helvetica Neue"/>
                <a:cs typeface="Helvetica Neue"/>
                <a:sym typeface="Helvetica Neue"/>
              </a:rPr>
              <a:t>Another way in which smartphones make use of good expressive interface design is </a:t>
            </a:r>
            <a:r>
              <a:rPr lang="en-US" sz="1400" b="1">
                <a:solidFill>
                  <a:srgbClr val="2D3B45"/>
                </a:solidFill>
                <a:latin typeface="Helvetica Neue"/>
                <a:ea typeface="Helvetica Neue"/>
                <a:cs typeface="Helvetica Neue"/>
                <a:sym typeface="Helvetica Neue"/>
              </a:rPr>
              <a:t>Vibrotactility</a:t>
            </a:r>
            <a:r>
              <a:rPr lang="en-US" sz="1400">
                <a:solidFill>
                  <a:srgbClr val="2D3B45"/>
                </a:solidFill>
                <a:latin typeface="Helvetica Neue"/>
                <a:ea typeface="Helvetica Neue"/>
                <a:cs typeface="Helvetica Neue"/>
                <a:sym typeface="Helvetica Neue"/>
              </a:rPr>
              <a:t> in their feedback, having the phone vibrate when you press keys on the digital keyboard to simulate the feedback you get from typing on a physical keyboard and specific vibration patterns depending on the notifications being received are examples of this.</a:t>
            </a:r>
            <a:endParaRPr sz="1400">
              <a:latin typeface="Times New Roman"/>
              <a:ea typeface="Times New Roman"/>
              <a:cs typeface="Times New Roman"/>
              <a:sym typeface="Times New Roman"/>
            </a:endParaRPr>
          </a:p>
        </p:txBody>
      </p:sp>
      <p:pic>
        <p:nvPicPr>
          <p:cNvPr id="195" name="Google Shape;195;p15"/>
          <p:cNvPicPr preferRelativeResize="0"/>
          <p:nvPr/>
        </p:nvPicPr>
        <p:blipFill rotWithShape="1">
          <a:blip r:embed="rId3">
            <a:alphaModFix/>
          </a:blip>
          <a:srcRect/>
          <a:stretch/>
        </p:blipFill>
        <p:spPr>
          <a:xfrm>
            <a:off x="9009042" y="985837"/>
            <a:ext cx="2724150" cy="4886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6"/>
          <p:cNvSpPr txBox="1">
            <a:spLocks noGrp="1"/>
          </p:cNvSpPr>
          <p:nvPr>
            <p:ph type="subTitle" idx="1"/>
          </p:nvPr>
        </p:nvSpPr>
        <p:spPr>
          <a:xfrm>
            <a:off x="0" y="0"/>
            <a:ext cx="8134597"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0" lvl="0" indent="0" algn="l" rtl="0">
              <a:lnSpc>
                <a:spcPct val="90000"/>
              </a:lnSpc>
              <a:spcBef>
                <a:spcPts val="100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6.3.2 What is Emotional Design?</a:t>
            </a:r>
            <a:endParaRPr sz="1800" b="1">
              <a:solidFill>
                <a:srgbClr val="2D3B45"/>
              </a:solidFill>
              <a:latin typeface="Helvetica Neue"/>
              <a:ea typeface="Helvetica Neue"/>
              <a:cs typeface="Helvetica Neue"/>
              <a:sym typeface="Helvetica Neue"/>
            </a:endParaRPr>
          </a:p>
          <a:p>
            <a:pPr marL="0" lvl="0" indent="0" algn="l" rtl="0">
              <a:lnSpc>
                <a:spcPct val="90000"/>
              </a:lnSpc>
              <a:spcBef>
                <a:spcPts val="100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285750" lvl="0" indent="-285750" algn="l" rtl="0">
              <a:lnSpc>
                <a:spcPct val="90000"/>
              </a:lnSpc>
              <a:spcBef>
                <a:spcPts val="1000"/>
              </a:spcBef>
              <a:spcAft>
                <a:spcPts val="0"/>
              </a:spcAft>
              <a:buClr>
                <a:srgbClr val="2B2B2B"/>
              </a:buClr>
              <a:buSzPts val="1800"/>
              <a:buFont typeface="Arial"/>
              <a:buChar char="•"/>
            </a:pPr>
            <a:r>
              <a:rPr lang="en-US" sz="1800">
                <a:solidFill>
                  <a:srgbClr val="2B2B2B"/>
                </a:solidFill>
                <a:latin typeface="Georgia"/>
                <a:ea typeface="Georgia"/>
                <a:cs typeface="Georgia"/>
                <a:sym typeface="Georgia"/>
              </a:rPr>
              <a:t>Emotional design is the concept of how to create designs that evoke emotions which result in positive user experiences. </a:t>
            </a:r>
            <a:endParaRPr sz="1800">
              <a:latin typeface="Times New Roman"/>
              <a:ea typeface="Times New Roman"/>
              <a:cs typeface="Times New Roman"/>
              <a:sym typeface="Times New Roman"/>
            </a:endParaRPr>
          </a:p>
          <a:p>
            <a:pPr marL="285750" lvl="0" indent="-171450" algn="l" rtl="0">
              <a:lnSpc>
                <a:spcPct val="90000"/>
              </a:lnSpc>
              <a:spcBef>
                <a:spcPts val="1000"/>
              </a:spcBef>
              <a:spcAft>
                <a:spcPts val="0"/>
              </a:spcAft>
              <a:buClr>
                <a:schemeClr val="dk1"/>
              </a:buClr>
              <a:buSzPts val="1800"/>
              <a:buFont typeface="Arial"/>
              <a:buNone/>
            </a:pPr>
            <a:endParaRPr sz="1800">
              <a:solidFill>
                <a:srgbClr val="2B2B2B"/>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2B2B2B"/>
              </a:buClr>
              <a:buSzPts val="1800"/>
              <a:buFont typeface="Arial"/>
              <a:buChar char="•"/>
            </a:pPr>
            <a:r>
              <a:rPr lang="en-US" sz="1800">
                <a:solidFill>
                  <a:srgbClr val="2B2B2B"/>
                </a:solidFill>
                <a:latin typeface="Georgia"/>
                <a:ea typeface="Georgia"/>
                <a:cs typeface="Georgia"/>
                <a:sym typeface="Georgia"/>
              </a:rPr>
              <a:t>Designers aim to reach users on three cognitive levels—visceral, behavioral and reflective—so users develop only positive associations (sometimes including negative emotions) with products, brands, etc.</a:t>
            </a:r>
            <a:endParaRPr sz="1800">
              <a:latin typeface="Times New Roman"/>
              <a:ea typeface="Times New Roman"/>
              <a:cs typeface="Times New Roman"/>
              <a:sym typeface="Times New Roman"/>
            </a:endParaRPr>
          </a:p>
          <a:p>
            <a:pPr marL="285750" lvl="0" indent="-184150" algn="l" rtl="0">
              <a:lnSpc>
                <a:spcPct val="90000"/>
              </a:lnSpc>
              <a:spcBef>
                <a:spcPts val="1000"/>
              </a:spcBef>
              <a:spcAft>
                <a:spcPts val="0"/>
              </a:spcAft>
              <a:buClr>
                <a:schemeClr val="dk1"/>
              </a:buClr>
              <a:buSzPts val="1600"/>
              <a:buFont typeface="Arial"/>
              <a:buNone/>
            </a:pPr>
            <a:endParaRPr sz="1600">
              <a:solidFill>
                <a:srgbClr val="202124"/>
              </a:solidFill>
              <a:latin typeface="Arial"/>
              <a:ea typeface="Arial"/>
              <a:cs typeface="Arial"/>
              <a:sym typeface="Arial"/>
            </a:endParaRPr>
          </a:p>
          <a:p>
            <a:pPr marL="285750" lvl="0" indent="-285750" algn="l" rtl="0">
              <a:lnSpc>
                <a:spcPct val="90000"/>
              </a:lnSpc>
              <a:spcBef>
                <a:spcPts val="1000"/>
              </a:spcBef>
              <a:spcAft>
                <a:spcPts val="0"/>
              </a:spcAft>
              <a:buClr>
                <a:srgbClr val="2B2B2B"/>
              </a:buClr>
              <a:buSzPts val="1800"/>
              <a:buFont typeface="Arial"/>
              <a:buChar char="•"/>
            </a:pPr>
            <a:r>
              <a:rPr lang="en-US" sz="1800" b="1">
                <a:solidFill>
                  <a:srgbClr val="2B2B2B"/>
                </a:solidFill>
                <a:latin typeface="Georgia"/>
                <a:ea typeface="Georgia"/>
                <a:cs typeface="Georgia"/>
                <a:sym typeface="Georgia"/>
              </a:rPr>
              <a:t>The fact is that the emotional design of a product or service affects its success—and thus the bottom line.</a:t>
            </a:r>
            <a:endParaRPr/>
          </a:p>
          <a:p>
            <a:pPr marL="285750" lvl="0" indent="-171450" algn="l" rtl="0">
              <a:lnSpc>
                <a:spcPct val="90000"/>
              </a:lnSpc>
              <a:spcBef>
                <a:spcPts val="1000"/>
              </a:spcBef>
              <a:spcAft>
                <a:spcPts val="0"/>
              </a:spcAft>
              <a:buClr>
                <a:schemeClr val="dk1"/>
              </a:buClr>
              <a:buSzPts val="1800"/>
              <a:buFont typeface="Arial"/>
              <a:buNone/>
            </a:pPr>
            <a:endParaRPr sz="1800" b="1">
              <a:solidFill>
                <a:srgbClr val="2B2B2B"/>
              </a:solidFill>
              <a:latin typeface="Georgia"/>
              <a:ea typeface="Georgia"/>
              <a:cs typeface="Georgia"/>
              <a:sym typeface="Georgia"/>
            </a:endParaRPr>
          </a:p>
          <a:p>
            <a:pPr marL="285750" lvl="0" indent="-285750" algn="l" rtl="0">
              <a:lnSpc>
                <a:spcPct val="90000"/>
              </a:lnSpc>
              <a:spcBef>
                <a:spcPts val="1000"/>
              </a:spcBef>
              <a:spcAft>
                <a:spcPts val="0"/>
              </a:spcAft>
              <a:buClr>
                <a:srgbClr val="292929"/>
              </a:buClr>
              <a:buSzPts val="1800"/>
              <a:buFont typeface="Arial"/>
              <a:buChar char="•"/>
            </a:pPr>
            <a:r>
              <a:rPr lang="en-US" sz="1800">
                <a:solidFill>
                  <a:srgbClr val="292929"/>
                </a:solidFill>
                <a:latin typeface="Georgia"/>
                <a:ea typeface="Georgia"/>
                <a:cs typeface="Georgia"/>
                <a:sym typeface="Georgia"/>
              </a:rPr>
              <a:t>In the last five years alone, our user interfaces have gotten smarter. Not just from a technological and computational perspective, but also an emotional one.</a:t>
            </a:r>
            <a:endParaRPr sz="1800">
              <a:latin typeface="Times New Roman"/>
              <a:ea typeface="Times New Roman"/>
              <a:cs typeface="Times New Roman"/>
              <a:sym typeface="Times New Roman"/>
            </a:endParaRPr>
          </a:p>
        </p:txBody>
      </p:sp>
      <p:pic>
        <p:nvPicPr>
          <p:cNvPr id="201" name="Google Shape;201;p16" descr="Icon&#10;&#10;Description automatically generated"/>
          <p:cNvPicPr preferRelativeResize="0"/>
          <p:nvPr/>
        </p:nvPicPr>
        <p:blipFill rotWithShape="1">
          <a:blip r:embed="rId3">
            <a:alphaModFix/>
          </a:blip>
          <a:srcRect/>
          <a:stretch/>
        </p:blipFill>
        <p:spPr>
          <a:xfrm>
            <a:off x="9474710" y="1166581"/>
            <a:ext cx="1806097" cy="1394581"/>
          </a:xfrm>
          <a:prstGeom prst="rect">
            <a:avLst/>
          </a:prstGeom>
          <a:noFill/>
          <a:ln>
            <a:noFill/>
          </a:ln>
        </p:spPr>
      </p:pic>
      <p:pic>
        <p:nvPicPr>
          <p:cNvPr id="202" name="Google Shape;202;p16" descr="Icon&#10;&#10;Description automatically generated"/>
          <p:cNvPicPr preferRelativeResize="0"/>
          <p:nvPr/>
        </p:nvPicPr>
        <p:blipFill rotWithShape="1">
          <a:blip r:embed="rId4">
            <a:alphaModFix/>
          </a:blip>
          <a:srcRect/>
          <a:stretch/>
        </p:blipFill>
        <p:spPr>
          <a:xfrm>
            <a:off x="9474710" y="3479369"/>
            <a:ext cx="1981372" cy="134123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7"/>
          <p:cNvSpPr txBox="1">
            <a:spLocks noGrp="1"/>
          </p:cNvSpPr>
          <p:nvPr>
            <p:ph type="subTitle" idx="1"/>
          </p:nvPr>
        </p:nvSpPr>
        <p:spPr>
          <a:xfrm>
            <a:off x="0" y="118752"/>
            <a:ext cx="7695210" cy="6739247"/>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2D3B45"/>
              </a:buClr>
              <a:buSzPct val="100000"/>
              <a:buNone/>
            </a:pPr>
            <a:r>
              <a:rPr lang="en-US" sz="1800" b="1">
                <a:solidFill>
                  <a:srgbClr val="2D3B45"/>
                </a:solidFill>
                <a:latin typeface="Helvetica Neue"/>
                <a:ea typeface="Helvetica Neue"/>
                <a:cs typeface="Helvetica Neue"/>
                <a:sym typeface="Helvetica Neue"/>
              </a:rPr>
              <a:t>6.3.3 Little bit History of Expressive Interfaces and Emotional Design </a:t>
            </a:r>
            <a:endParaRPr/>
          </a:p>
          <a:p>
            <a:pPr marL="0" lvl="0" indent="0" algn="l" rtl="0">
              <a:lnSpc>
                <a:spcPct val="90000"/>
              </a:lnSpc>
              <a:spcBef>
                <a:spcPts val="1000"/>
              </a:spcBef>
              <a:spcAft>
                <a:spcPts val="0"/>
              </a:spcAft>
              <a:buClr>
                <a:schemeClr val="dk1"/>
              </a:buClr>
              <a:buSzPct val="100000"/>
              <a:buNone/>
            </a:pPr>
            <a:endParaRPr sz="1800" b="1">
              <a:solidFill>
                <a:srgbClr val="2D3B45"/>
              </a:solidFill>
              <a:latin typeface="Helvetica Neue"/>
              <a:ea typeface="Helvetica Neue"/>
              <a:cs typeface="Helvetica Neue"/>
              <a:sym typeface="Helvetica Neue"/>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Designers use a number of features to make an interface expressive. Emojis, sounds, colors, shapes, icons, and virtual agents are used to (1) create an emotional connection or feeling with the user (for instance, warmth or sadness) and/or (2) elicit certain kinds of emotional responses in users, such as feeling at ease, comfort, and happiness. </a:t>
            </a:r>
            <a:endParaRPr sz="1800">
              <a:latin typeface="Times New Roman"/>
              <a:ea typeface="Times New Roman"/>
              <a:cs typeface="Times New Roman"/>
              <a:sym typeface="Times New Roman"/>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In the early days, emotional icons were used to indicate the current state of a computer or a phone, notably when it was waking up or being rebooted. </a:t>
            </a:r>
            <a:endParaRPr sz="1800">
              <a:latin typeface="Times New Roman"/>
              <a:ea typeface="Times New Roman"/>
              <a:cs typeface="Times New Roman"/>
              <a:sym typeface="Times New Roman"/>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A classic from the 1980s was the happy Mac icon that appeared on the screen of the Apple computer whenever the machine was booted (see Figure 6.5a). The smiling icon conveyed a sense of friendliness, inviting the user to feel at ease and even smile back. The appearance of the icon on the screen was also meant to be reassuring, indicating that the computer was working.</a:t>
            </a:r>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After being in use for nearly 20 years, the happy and sad Mac icons were laid to rest. </a:t>
            </a:r>
            <a:endParaRPr sz="1800">
              <a:latin typeface="Times New Roman"/>
              <a:ea typeface="Times New Roman"/>
              <a:cs typeface="Times New Roman"/>
              <a:sym typeface="Times New Roman"/>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Apple now uses more impersonal but aesthetically pleasing forms of feedback to indicate a process for which the user needs to wait, such as “starting up,” “busy,” “not working,” or “downloading.” These include a spinning colorful beach ball (see Figure 6.5b) and a moving clock indicator.</a:t>
            </a:r>
            <a:endParaRPr sz="1800">
              <a:latin typeface="Times New Roman"/>
              <a:ea typeface="Times New Roman"/>
              <a:cs typeface="Times New Roman"/>
              <a:sym typeface="Times New Roman"/>
            </a:endParaRPr>
          </a:p>
          <a:p>
            <a:pPr marL="285750" lvl="0" indent="-180022" algn="l" rtl="0">
              <a:lnSpc>
                <a:spcPct val="90000"/>
              </a:lnSpc>
              <a:spcBef>
                <a:spcPts val="1000"/>
              </a:spcBef>
              <a:spcAft>
                <a:spcPts val="0"/>
              </a:spcAft>
              <a:buClr>
                <a:schemeClr val="dk1"/>
              </a:buClr>
              <a:buSzPct val="100000"/>
              <a:buFont typeface="Arial"/>
              <a:buNone/>
            </a:pPr>
            <a:endParaRPr sz="1800">
              <a:solidFill>
                <a:srgbClr val="000000"/>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rgbClr val="000000"/>
              </a:buClr>
              <a:buSzPct val="100000"/>
              <a:buFont typeface="Arial"/>
              <a:buChar char="•"/>
            </a:pPr>
            <a:r>
              <a:rPr lang="en-US" sz="1800">
                <a:solidFill>
                  <a:srgbClr val="000000"/>
                </a:solidFill>
                <a:latin typeface="Times New Roman"/>
                <a:ea typeface="Times New Roman"/>
                <a:cs typeface="Times New Roman"/>
                <a:sym typeface="Times New Roman"/>
              </a:rPr>
              <a:t>Similarly, Android uses a spinning circle to show when a process is loading.</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ct val="100000"/>
              <a:buNone/>
            </a:pPr>
            <a:endParaRPr/>
          </a:p>
        </p:txBody>
      </p:sp>
      <p:pic>
        <p:nvPicPr>
          <p:cNvPr id="208" name="Google Shape;208;p17"/>
          <p:cNvPicPr preferRelativeResize="0"/>
          <p:nvPr/>
        </p:nvPicPr>
        <p:blipFill rotWithShape="1">
          <a:blip r:embed="rId3">
            <a:alphaModFix/>
          </a:blip>
          <a:srcRect/>
          <a:stretch/>
        </p:blipFill>
        <p:spPr>
          <a:xfrm>
            <a:off x="8114654" y="1758573"/>
            <a:ext cx="4077346" cy="27359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8"/>
          <p:cNvSpPr txBox="1">
            <a:spLocks noGrp="1"/>
          </p:cNvSpPr>
          <p:nvPr>
            <p:ph type="subTitle" idx="1"/>
          </p:nvPr>
        </p:nvSpPr>
        <p:spPr>
          <a:xfrm>
            <a:off x="0" y="0"/>
            <a:ext cx="5498275"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02124"/>
              </a:buClr>
              <a:buSzPts val="1800"/>
              <a:buNone/>
            </a:pPr>
            <a:r>
              <a:rPr lang="en-US" sz="1800" b="1">
                <a:solidFill>
                  <a:srgbClr val="202124"/>
                </a:solidFill>
                <a:latin typeface="Arial"/>
                <a:ea typeface="Arial"/>
                <a:cs typeface="Arial"/>
                <a:sym typeface="Arial"/>
              </a:rPr>
              <a:t>6.3.4 Harnessing Expressive Interface &amp; Emotional design techniques wins trust and helps us to create a user-centric environment for our interactive processes</a:t>
            </a:r>
            <a:endParaRPr/>
          </a:p>
          <a:p>
            <a:pPr marL="0" lvl="0" indent="0" algn="ctr" rtl="0">
              <a:lnSpc>
                <a:spcPct val="90000"/>
              </a:lnSpc>
              <a:spcBef>
                <a:spcPts val="1000"/>
              </a:spcBef>
              <a:spcAft>
                <a:spcPts val="0"/>
              </a:spcAft>
              <a:buClr>
                <a:schemeClr val="dk1"/>
              </a:buClr>
              <a:buSzPts val="1800"/>
              <a:buNone/>
            </a:pPr>
            <a:endParaRPr sz="1800" b="1">
              <a:solidFill>
                <a:srgbClr val="202124"/>
              </a:solidFill>
              <a:latin typeface="Arial"/>
              <a:ea typeface="Arial"/>
              <a:cs typeface="Arial"/>
              <a:sym typeface="Arial"/>
            </a:endParaRPr>
          </a:p>
          <a:p>
            <a:pPr marL="342900" lvl="0" indent="-342900" algn="l" rtl="0">
              <a:lnSpc>
                <a:spcPct val="90000"/>
              </a:lnSpc>
              <a:spcBef>
                <a:spcPts val="1000"/>
              </a:spcBef>
              <a:spcAft>
                <a:spcPts val="0"/>
              </a:spcAft>
              <a:buClr>
                <a:srgbClr val="292929"/>
              </a:buClr>
              <a:buSzPts val="1800"/>
              <a:buAutoNum type="arabicPeriod"/>
            </a:pPr>
            <a:r>
              <a:rPr lang="en-US" sz="1800" b="1">
                <a:solidFill>
                  <a:srgbClr val="292929"/>
                </a:solidFill>
                <a:latin typeface="Helvetica Neue"/>
                <a:ea typeface="Helvetica Neue"/>
                <a:cs typeface="Helvetica Neue"/>
                <a:sym typeface="Helvetica Neue"/>
              </a:rPr>
              <a:t>Winning Trust</a:t>
            </a:r>
            <a:endParaRPr/>
          </a:p>
          <a:p>
            <a:pPr marL="342900" lvl="0" indent="-228600" algn="l" rtl="0">
              <a:lnSpc>
                <a:spcPct val="90000"/>
              </a:lnSpc>
              <a:spcBef>
                <a:spcPts val="1000"/>
              </a:spcBef>
              <a:spcAft>
                <a:spcPts val="0"/>
              </a:spcAft>
              <a:buClr>
                <a:schemeClr val="dk1"/>
              </a:buClr>
              <a:buSzPts val="1800"/>
              <a:buNone/>
            </a:pPr>
            <a:endParaRPr sz="1800" b="1">
              <a:solidFill>
                <a:srgbClr val="292929"/>
              </a:solidFill>
              <a:latin typeface="Helvetica Neue"/>
              <a:ea typeface="Helvetica Neue"/>
              <a:cs typeface="Helvetica Neue"/>
              <a:sym typeface="Helvetica Neue"/>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Back in November 2015, Slack suffered it’s first major outage and brought tech to a standstill. Most people made light of the intermittent downtime by taking to Twitter to post a joke or two.</a:t>
            </a:r>
            <a:endParaRPr sz="1800">
              <a:latin typeface="Calibri"/>
              <a:ea typeface="Calibri"/>
              <a:cs typeface="Calibri"/>
              <a:sym typeface="Calibri"/>
            </a:endParaRPr>
          </a:p>
          <a:p>
            <a:pPr marL="0" lvl="0" indent="0" algn="l" rtl="0">
              <a:lnSpc>
                <a:spcPct val="90000"/>
              </a:lnSpc>
              <a:spcBef>
                <a:spcPts val="1000"/>
              </a:spcBef>
              <a:spcAft>
                <a:spcPts val="0"/>
              </a:spcAft>
              <a:buClr>
                <a:schemeClr val="dk1"/>
              </a:buClr>
              <a:buSzPts val="1800"/>
              <a:buNone/>
            </a:pPr>
            <a:endParaRPr sz="1800">
              <a:solidFill>
                <a:srgbClr val="292929"/>
              </a:solidFill>
              <a:latin typeface="Calibri"/>
              <a:ea typeface="Calibri"/>
              <a:cs typeface="Calibri"/>
              <a:sym typeface="Calibri"/>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As designers, we know that users will be generally be more tolerant of intermittent malfunctions, providing our interface was designed from a user-centric perspective. We can say with some certainty that Slack’s users are more tolerant to downtime because of the investment Slack has made to capture human equity.</a:t>
            </a:r>
            <a:endParaRPr/>
          </a:p>
          <a:p>
            <a:pPr marL="0" lvl="0" indent="0" algn="l" rtl="0">
              <a:lnSpc>
                <a:spcPct val="90000"/>
              </a:lnSpc>
              <a:spcBef>
                <a:spcPts val="1000"/>
              </a:spcBef>
              <a:spcAft>
                <a:spcPts val="0"/>
              </a:spcAft>
              <a:buClr>
                <a:schemeClr val="dk1"/>
              </a:buClr>
              <a:buSzPts val="1800"/>
              <a:buNone/>
            </a:pPr>
            <a:endParaRPr sz="1800">
              <a:solidFill>
                <a:srgbClr val="292929"/>
              </a:solidFill>
              <a:latin typeface="Georgia"/>
              <a:ea typeface="Georgia"/>
              <a:cs typeface="Georgia"/>
              <a:sym typeface="Georgia"/>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Slack’s user experience design is practically a seminar in capturing user trust . </a:t>
            </a:r>
            <a:endParaRPr sz="1800">
              <a:latin typeface="Times New Roman"/>
              <a:ea typeface="Times New Roman"/>
              <a:cs typeface="Times New Roman"/>
              <a:sym typeface="Times New Roman"/>
            </a:endParaRPr>
          </a:p>
          <a:p>
            <a:pPr marL="342900" lvl="0" indent="-190500" algn="l" rtl="0">
              <a:lnSpc>
                <a:spcPct val="90000"/>
              </a:lnSpc>
              <a:spcBef>
                <a:spcPts val="1000"/>
              </a:spcBef>
              <a:spcAft>
                <a:spcPts val="0"/>
              </a:spcAft>
              <a:buClr>
                <a:schemeClr val="dk1"/>
              </a:buClr>
              <a:buSzPts val="2400"/>
              <a:buNone/>
            </a:pPr>
            <a:endParaRPr/>
          </a:p>
        </p:txBody>
      </p:sp>
      <p:pic>
        <p:nvPicPr>
          <p:cNvPr id="214" name="Google Shape;214;p18"/>
          <p:cNvPicPr preferRelativeResize="0"/>
          <p:nvPr/>
        </p:nvPicPr>
        <p:blipFill rotWithShape="1">
          <a:blip r:embed="rId3">
            <a:alphaModFix/>
          </a:blip>
          <a:srcRect/>
          <a:stretch/>
        </p:blipFill>
        <p:spPr>
          <a:xfrm>
            <a:off x="5498274" y="0"/>
            <a:ext cx="6693725"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9"/>
          <p:cNvSpPr txBox="1">
            <a:spLocks noGrp="1"/>
          </p:cNvSpPr>
          <p:nvPr>
            <p:ph type="subTitle" idx="1"/>
          </p:nvPr>
        </p:nvSpPr>
        <p:spPr>
          <a:xfrm>
            <a:off x="-1" y="0"/>
            <a:ext cx="5474525"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92929"/>
              </a:buClr>
              <a:buSzPts val="1800"/>
              <a:buNone/>
            </a:pPr>
            <a:r>
              <a:rPr lang="en-US" sz="1800" b="1">
                <a:solidFill>
                  <a:srgbClr val="292929"/>
                </a:solidFill>
                <a:latin typeface="Helvetica Neue"/>
                <a:ea typeface="Helvetica Neue"/>
                <a:cs typeface="Helvetica Neue"/>
                <a:sym typeface="Helvetica Neue"/>
              </a:rPr>
              <a:t>2. Add Context with Pragmatic Interactions</a:t>
            </a:r>
            <a:endParaRPr/>
          </a:p>
          <a:p>
            <a:pPr marL="0" lvl="0" indent="0" algn="l" rtl="0">
              <a:lnSpc>
                <a:spcPct val="90000"/>
              </a:lnSpc>
              <a:spcBef>
                <a:spcPts val="1000"/>
              </a:spcBef>
              <a:spcAft>
                <a:spcPts val="0"/>
              </a:spcAft>
              <a:buClr>
                <a:schemeClr val="dk1"/>
              </a:buClr>
              <a:buSzPts val="1800"/>
              <a:buNone/>
            </a:pPr>
            <a:endParaRPr sz="1800" b="1">
              <a:solidFill>
                <a:srgbClr val="292929"/>
              </a:solidFill>
              <a:latin typeface="Helvetica Neue"/>
              <a:ea typeface="Helvetica Neue"/>
              <a:cs typeface="Helvetica Neue"/>
              <a:sym typeface="Helvetica Neue"/>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Relieving user frustration through pragmatic interactions is one of the primary ways for Designers to build user tolerance as referenced above.</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a:solidFill>
                <a:srgbClr val="292929"/>
              </a:solidFill>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292929"/>
              </a:buClr>
              <a:buSzPts val="1800"/>
              <a:buNone/>
            </a:pPr>
            <a:r>
              <a:rPr lang="en-US" sz="1800">
                <a:solidFill>
                  <a:srgbClr val="292929"/>
                </a:solidFill>
                <a:latin typeface="Georgia"/>
                <a:ea typeface="Georgia"/>
                <a:cs typeface="Georgia"/>
                <a:sym typeface="Georgia"/>
              </a:rPr>
              <a:t>Thinking about design in this way would allow designers to alert users that a component failure has occurred. Such an alert could deliver empathic and contextual communication to minimize the perceived and actual effect of that downtime on a user.</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b="1">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292929"/>
              </a:buClr>
              <a:buSzPts val="1800"/>
              <a:buNone/>
            </a:pPr>
            <a:r>
              <a:rPr lang="en-US" sz="1800" i="1">
                <a:solidFill>
                  <a:srgbClr val="292929"/>
                </a:solidFill>
                <a:latin typeface="Georgia"/>
                <a:ea typeface="Georgia"/>
                <a:cs typeface="Georgia"/>
                <a:sym typeface="Georgia"/>
              </a:rPr>
              <a:t>The user would quickly be able to re-orient themselves and continue going about their critical tasks, ultimately buying Slack’s Product Team a little bit more fault tolerance.</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b="1">
              <a:latin typeface="Times New Roman"/>
              <a:ea typeface="Times New Roman"/>
              <a:cs typeface="Times New Roman"/>
              <a:sym typeface="Times New Roman"/>
            </a:endParaRPr>
          </a:p>
        </p:txBody>
      </p:sp>
      <p:pic>
        <p:nvPicPr>
          <p:cNvPr id="220" name="Google Shape;220;p19"/>
          <p:cNvPicPr preferRelativeResize="0"/>
          <p:nvPr/>
        </p:nvPicPr>
        <p:blipFill rotWithShape="1">
          <a:blip r:embed="rId3">
            <a:alphaModFix/>
          </a:blip>
          <a:srcRect/>
          <a:stretch/>
        </p:blipFill>
        <p:spPr>
          <a:xfrm>
            <a:off x="5694032" y="996228"/>
            <a:ext cx="5934075" cy="4200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0"/>
          <p:cNvSpPr txBox="1">
            <a:spLocks noGrp="1"/>
          </p:cNvSpPr>
          <p:nvPr>
            <p:ph type="subTitle" idx="1"/>
          </p:nvPr>
        </p:nvSpPr>
        <p:spPr>
          <a:xfrm>
            <a:off x="0" y="0"/>
            <a:ext cx="6923314" cy="68580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rgbClr val="292929"/>
              </a:buClr>
              <a:buSzPct val="100000"/>
              <a:buNone/>
            </a:pPr>
            <a:r>
              <a:rPr lang="en-US" sz="1800" b="0">
                <a:solidFill>
                  <a:srgbClr val="292929"/>
                </a:solidFill>
                <a:latin typeface="Helvetica Neue"/>
                <a:ea typeface="Helvetica Neue"/>
                <a:cs typeface="Helvetica Neue"/>
                <a:sym typeface="Helvetica Neue"/>
              </a:rPr>
              <a:t>3. </a:t>
            </a:r>
            <a:r>
              <a:rPr lang="en-US" sz="1800" b="1">
                <a:solidFill>
                  <a:srgbClr val="292929"/>
                </a:solidFill>
                <a:latin typeface="Helvetica Neue"/>
                <a:ea typeface="Helvetica Neue"/>
                <a:cs typeface="Helvetica Neue"/>
                <a:sym typeface="Helvetica Neue"/>
              </a:rPr>
              <a:t>Humanist Language as System Default</a:t>
            </a:r>
            <a:endParaRPr sz="1800" b="1">
              <a:solidFill>
                <a:srgbClr val="2F5496"/>
              </a:solidFill>
              <a:latin typeface="Calibri"/>
              <a:ea typeface="Calibri"/>
              <a:cs typeface="Calibri"/>
              <a:sym typeface="Calibri"/>
            </a:endParaRPr>
          </a:p>
          <a:p>
            <a:pPr marL="0" lvl="0" indent="0" algn="l" rtl="0">
              <a:lnSpc>
                <a:spcPct val="90000"/>
              </a:lnSpc>
              <a:spcBef>
                <a:spcPts val="1000"/>
              </a:spcBef>
              <a:spcAft>
                <a:spcPts val="0"/>
              </a:spcAft>
              <a:buClr>
                <a:schemeClr val="dk1"/>
              </a:buClr>
              <a:buSzPct val="100000"/>
              <a:buNone/>
            </a:pPr>
            <a:endParaRPr/>
          </a:p>
          <a:p>
            <a:pPr marL="0" marR="0" lvl="0" indent="0" algn="l" rtl="0">
              <a:lnSpc>
                <a:spcPct val="133333"/>
              </a:lnSpc>
              <a:spcBef>
                <a:spcPts val="1030"/>
              </a:spcBef>
              <a:spcAft>
                <a:spcPts val="0"/>
              </a:spcAft>
              <a:buClr>
                <a:srgbClr val="292929"/>
              </a:buClr>
              <a:buSzPct val="100000"/>
              <a:buNone/>
            </a:pPr>
            <a:r>
              <a:rPr lang="en-US" sz="1800">
                <a:solidFill>
                  <a:srgbClr val="292929"/>
                </a:solidFill>
                <a:latin typeface="Georgia"/>
                <a:ea typeface="Georgia"/>
                <a:cs typeface="Georgia"/>
                <a:sym typeface="Georgia"/>
              </a:rPr>
              <a:t>People trust computers when they speak more like humans.</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ct val="100000"/>
              <a:buNone/>
            </a:pPr>
            <a:r>
              <a:rPr lang="en-US" sz="1800">
                <a:solidFill>
                  <a:srgbClr val="292929"/>
                </a:solidFill>
                <a:latin typeface="Georgia"/>
                <a:ea typeface="Georgia"/>
                <a:cs typeface="Georgia"/>
                <a:sym typeface="Georgia"/>
              </a:rPr>
              <a:t>The scope to reduce friction and frustration through an expressive interface is massive. Such interfaces have been scientifically proven to have an effect on the willingness of users to persevere despite frustration.</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ct val="100000"/>
              <a:buNone/>
            </a:pPr>
            <a:r>
              <a:rPr lang="en-US" sz="1800">
                <a:solidFill>
                  <a:srgbClr val="292929"/>
                </a:solidFill>
                <a:latin typeface="Georgia"/>
                <a:ea typeface="Georgia"/>
                <a:cs typeface="Georgia"/>
                <a:sym typeface="Georgia"/>
              </a:rPr>
              <a:t>A group of researchers at Harvard </a:t>
            </a:r>
            <a:r>
              <a:rPr lang="en-US" sz="1800" u="sng">
                <a:solidFill>
                  <a:srgbClr val="292929"/>
                </a:solidFill>
                <a:latin typeface="Georgia"/>
                <a:ea typeface="Georgia"/>
                <a:cs typeface="Georgia"/>
                <a:sym typeface="Georgia"/>
                <a:hlinkClick r:id="rId3">
                  <a:extLst>
                    <a:ext uri="{A12FA001-AC4F-418D-AE19-62706E023703}">
                      <ahyp:hlinkClr xmlns:ahyp="http://schemas.microsoft.com/office/drawing/2018/hyperlinkcolor" val="tx"/>
                    </a:ext>
                  </a:extLst>
                </a:hlinkClick>
              </a:rPr>
              <a:t>(Klein, J., Moon Y., and Picard, R. W.)</a:t>
            </a:r>
            <a:r>
              <a:rPr lang="en-US" sz="1800">
                <a:solidFill>
                  <a:srgbClr val="292929"/>
                </a:solidFill>
                <a:latin typeface="Georgia"/>
                <a:ea typeface="Georgia"/>
                <a:cs typeface="Georgia"/>
                <a:sym typeface="Georgia"/>
              </a:rPr>
              <a:t> inserted a dialogue strategy known to be effective at relieving negative emotion directed towards a frustrating computer interaction flow. The researchers’ hypothesis was that when a computer system creates frustration on the part of the user, it can relieve that frustration quickly and effectively by means of active emotional support.</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ct val="100000"/>
              <a:buNone/>
            </a:pPr>
            <a:r>
              <a:rPr lang="en-US" sz="1800" i="1">
                <a:solidFill>
                  <a:srgbClr val="292929"/>
                </a:solidFill>
                <a:latin typeface="Georgia"/>
                <a:ea typeface="Georgia"/>
                <a:cs typeface="Georgia"/>
                <a:sym typeface="Georgia"/>
              </a:rPr>
              <a:t>‘This form is invalid’ — Avoid negative language. Users want reassurance not negativity</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rgbClr val="292929"/>
              </a:buClr>
              <a:buSzPct val="100000"/>
              <a:buNone/>
            </a:pPr>
            <a:r>
              <a:rPr lang="en-US" sz="1800" b="0">
                <a:solidFill>
                  <a:srgbClr val="292929"/>
                </a:solidFill>
                <a:latin typeface="Georgia"/>
                <a:ea typeface="Georgia"/>
                <a:cs typeface="Georgia"/>
                <a:sym typeface="Georgia"/>
              </a:rPr>
              <a:t>Designers should try to avoid negativity in Interaction Design. Users want reassurance, not negativity.</a:t>
            </a:r>
            <a:endParaRPr sz="1800">
              <a:latin typeface="Times New Roman"/>
              <a:ea typeface="Times New Roman"/>
              <a:cs typeface="Times New Roman"/>
              <a:sym typeface="Times New Roman"/>
            </a:endParaRPr>
          </a:p>
        </p:txBody>
      </p:sp>
      <p:pic>
        <p:nvPicPr>
          <p:cNvPr id="226" name="Google Shape;226;p20"/>
          <p:cNvPicPr preferRelativeResize="0"/>
          <p:nvPr/>
        </p:nvPicPr>
        <p:blipFill rotWithShape="1">
          <a:blip r:embed="rId4">
            <a:alphaModFix/>
          </a:blip>
          <a:srcRect/>
          <a:stretch/>
        </p:blipFill>
        <p:spPr>
          <a:xfrm>
            <a:off x="6816436" y="1331706"/>
            <a:ext cx="5375564" cy="3743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1"/>
          <p:cNvSpPr txBox="1">
            <a:spLocks noGrp="1"/>
          </p:cNvSpPr>
          <p:nvPr>
            <p:ph type="subTitle" idx="1"/>
          </p:nvPr>
        </p:nvSpPr>
        <p:spPr>
          <a:xfrm>
            <a:off x="0" y="0"/>
            <a:ext cx="7992094"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92929"/>
              </a:buClr>
              <a:buSzPts val="1800"/>
              <a:buNone/>
            </a:pPr>
            <a:r>
              <a:rPr lang="en-US" sz="1800" b="0">
                <a:solidFill>
                  <a:srgbClr val="292929"/>
                </a:solidFill>
                <a:latin typeface="Helvetica Neue"/>
                <a:ea typeface="Helvetica Neue"/>
                <a:cs typeface="Helvetica Neue"/>
                <a:sym typeface="Helvetica Neue"/>
              </a:rPr>
              <a:t>4. </a:t>
            </a:r>
            <a:r>
              <a:rPr lang="en-US" sz="1800" b="1">
                <a:solidFill>
                  <a:srgbClr val="292929"/>
                </a:solidFill>
                <a:latin typeface="Helvetica Neue"/>
                <a:ea typeface="Helvetica Neue"/>
                <a:cs typeface="Helvetica Neue"/>
                <a:sym typeface="Helvetica Neue"/>
              </a:rPr>
              <a:t>Emotions to Increase Reassurance and Retention</a:t>
            </a:r>
            <a:endParaRPr sz="1800" b="1">
              <a:solidFill>
                <a:srgbClr val="2F5496"/>
              </a:solidFill>
              <a:latin typeface="Calibri"/>
              <a:ea typeface="Calibri"/>
              <a:cs typeface="Calibri"/>
              <a:sym typeface="Calibri"/>
            </a:endParaRPr>
          </a:p>
          <a:p>
            <a:pPr marL="0" lvl="0" indent="0" algn="l" rtl="0">
              <a:lnSpc>
                <a:spcPct val="90000"/>
              </a:lnSpc>
              <a:spcBef>
                <a:spcPts val="1000"/>
              </a:spcBef>
              <a:spcAft>
                <a:spcPts val="0"/>
              </a:spcAft>
              <a:buClr>
                <a:schemeClr val="dk1"/>
              </a:buClr>
              <a:buSzPts val="2400"/>
              <a:buNone/>
            </a:pPr>
            <a:endParaRPr/>
          </a:p>
          <a:p>
            <a:pPr marL="0" marR="0" lvl="0" indent="0" algn="l" rtl="0">
              <a:lnSpc>
                <a:spcPct val="133333"/>
              </a:lnSpc>
              <a:spcBef>
                <a:spcPts val="1030"/>
              </a:spcBef>
              <a:spcAft>
                <a:spcPts val="0"/>
              </a:spcAft>
              <a:buClr>
                <a:srgbClr val="292929"/>
              </a:buClr>
              <a:buSzPts val="1800"/>
              <a:buNone/>
            </a:pPr>
            <a:r>
              <a:rPr lang="en-US" sz="1800">
                <a:solidFill>
                  <a:srgbClr val="292929"/>
                </a:solidFill>
                <a:latin typeface="Georgia"/>
                <a:ea typeface="Georgia"/>
                <a:cs typeface="Georgia"/>
                <a:sym typeface="Georgia"/>
              </a:rPr>
              <a:t>Surveying the technological landscape today, interactive systems are being used to provoke user responses in ways that were previously unachievable or unrealistic. Designers today should recognize the opportunity to shape user journeys and craft interfaces that provoke context-aware emotional responses.</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ts val="1800"/>
              <a:buNone/>
            </a:pPr>
            <a:r>
              <a:rPr lang="en-US" sz="1800">
                <a:solidFill>
                  <a:srgbClr val="292929"/>
                </a:solidFill>
                <a:latin typeface="Georgia"/>
                <a:ea typeface="Georgia"/>
                <a:cs typeface="Georgia"/>
                <a:sym typeface="Georgia"/>
              </a:rPr>
              <a:t>The role of emotional expression in interaction design is not to build artificial humans to talk to our users, but rather to harness anthropomorphism as a conduit through which social interaction can be utilized for user benefit.</a:t>
            </a:r>
            <a:endParaRPr/>
          </a:p>
          <a:p>
            <a:pPr marL="0" lvl="0" indent="0" algn="l" rtl="0">
              <a:lnSpc>
                <a:spcPct val="133333"/>
              </a:lnSpc>
              <a:spcBef>
                <a:spcPts val="2400"/>
              </a:spcBef>
              <a:spcAft>
                <a:spcPts val="0"/>
              </a:spcAft>
              <a:buClr>
                <a:srgbClr val="292929"/>
              </a:buClr>
              <a:buSzPts val="1800"/>
              <a:buNone/>
            </a:pPr>
            <a:r>
              <a:rPr lang="en-US" sz="1800">
                <a:solidFill>
                  <a:srgbClr val="292929"/>
                </a:solidFill>
                <a:latin typeface="Georgia"/>
                <a:ea typeface="Georgia"/>
                <a:cs typeface="Georgia"/>
                <a:sym typeface="Georgia"/>
              </a:rPr>
              <a:t>In the near future, it’d be easy to imagine scenarios in which Siri reacts to every sigh and Google shows understanding of repeated searches that don’t provide satisfactory results.</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rgbClr val="292929"/>
              </a:buClr>
              <a:buSzPts val="1800"/>
              <a:buNone/>
            </a:pPr>
            <a:r>
              <a:rPr lang="en-US" sz="1800">
                <a:solidFill>
                  <a:srgbClr val="292929"/>
                </a:solidFill>
                <a:latin typeface="Georgia"/>
                <a:ea typeface="Georgia"/>
                <a:cs typeface="Georgia"/>
                <a:sym typeface="Georgia"/>
              </a:rPr>
              <a:t>Remember, anthropomorphism means:</a:t>
            </a:r>
            <a:endParaRPr sz="1800">
              <a:latin typeface="Times New Roman"/>
              <a:ea typeface="Times New Roman"/>
              <a:cs typeface="Times New Roman"/>
              <a:sym typeface="Times New Roman"/>
            </a:endParaRPr>
          </a:p>
          <a:p>
            <a:pPr marL="285750" marR="0" lvl="0" indent="-285750" algn="l" rtl="0">
              <a:lnSpc>
                <a:spcPct val="133333"/>
              </a:lnSpc>
              <a:spcBef>
                <a:spcPts val="2400"/>
              </a:spcBef>
              <a:spcAft>
                <a:spcPts val="0"/>
              </a:spcAft>
              <a:buClr>
                <a:srgbClr val="292929"/>
              </a:buClr>
              <a:buSzPts val="1800"/>
              <a:buFont typeface="Arial"/>
              <a:buChar char="•"/>
            </a:pPr>
            <a:r>
              <a:rPr lang="en-US" sz="1800" b="1">
                <a:solidFill>
                  <a:srgbClr val="292929"/>
                </a:solidFill>
                <a:latin typeface="Georgia"/>
                <a:ea typeface="Georgia"/>
                <a:cs typeface="Georgia"/>
                <a:sym typeface="Georgia"/>
              </a:rPr>
              <a:t>Attributing familiar humanlike qualities to non-human entities, allowing us to perceive those 	entities as more familiar, explainable or predictable.</a:t>
            </a:r>
            <a:endParaRPr sz="1800">
              <a:latin typeface="Times New Roman"/>
              <a:ea typeface="Times New Roman"/>
              <a:cs typeface="Times New Roman"/>
              <a:sym typeface="Times New Roman"/>
            </a:endParaRPr>
          </a:p>
          <a:p>
            <a:pPr marL="0" marR="0" lvl="0" indent="0" algn="l" rtl="0">
              <a:lnSpc>
                <a:spcPct val="133333"/>
              </a:lnSpc>
              <a:spcBef>
                <a:spcPts val="2400"/>
              </a:spcBef>
              <a:spcAft>
                <a:spcPts val="0"/>
              </a:spcAft>
              <a:buClr>
                <a:schemeClr val="dk1"/>
              </a:buClr>
              <a:buSzPts val="1800"/>
              <a:buNone/>
            </a:pP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a:p>
        </p:txBody>
      </p:sp>
      <p:pic>
        <p:nvPicPr>
          <p:cNvPr id="232" name="Google Shape;232;p21"/>
          <p:cNvPicPr preferRelativeResize="0"/>
          <p:nvPr/>
        </p:nvPicPr>
        <p:blipFill rotWithShape="1">
          <a:blip r:embed="rId3">
            <a:alphaModFix/>
          </a:blip>
          <a:srcRect/>
          <a:stretch/>
        </p:blipFill>
        <p:spPr>
          <a:xfrm>
            <a:off x="7992094" y="303933"/>
            <a:ext cx="4065691" cy="64650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2"/>
          <p:cNvSpPr txBox="1">
            <a:spLocks noGrp="1"/>
          </p:cNvSpPr>
          <p:nvPr>
            <p:ph type="subTitle" idx="1"/>
          </p:nvPr>
        </p:nvSpPr>
        <p:spPr>
          <a:xfrm>
            <a:off x="0" y="0"/>
            <a:ext cx="7327075" cy="6858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6.3.5 Other ways of Expressive Interface?</a:t>
            </a:r>
            <a:endParaRPr sz="1800" b="1">
              <a:solidFill>
                <a:srgbClr val="2D3B45"/>
              </a:solidFill>
              <a:latin typeface="Helvetica Neue"/>
              <a:ea typeface="Helvetica Neue"/>
              <a:cs typeface="Helvetica Neue"/>
              <a:sym typeface="Helvetica Neue"/>
            </a:endParaRPr>
          </a:p>
          <a:p>
            <a:pPr marL="0" marR="0" lvl="0" indent="0" algn="l" rtl="0">
              <a:lnSpc>
                <a:spcPct val="90000"/>
              </a:lnSpc>
              <a:spcBef>
                <a:spcPts val="90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Animated icons (for example, a recycle bin expanding when a file is placed in it and paper disappearing in a puff of smoke when emptied)</a:t>
            </a:r>
            <a:endParaRPr sz="1800">
              <a:latin typeface="Times New Roman"/>
              <a:ea typeface="Times New Roman"/>
              <a:cs typeface="Times New Roman"/>
              <a:sym typeface="Times New Roman"/>
            </a:endParaRPr>
          </a:p>
          <a:p>
            <a:pPr marL="285750" marR="0" lvl="0" indent="-171450" algn="l" rtl="0">
              <a:lnSpc>
                <a:spcPct val="90000"/>
              </a:lnSpc>
              <a:spcBef>
                <a:spcPts val="900"/>
              </a:spcBef>
              <a:spcAft>
                <a:spcPts val="0"/>
              </a:spcAft>
              <a:buClr>
                <a:schemeClr val="dk1"/>
              </a:buClr>
              <a:buSzPts val="1800"/>
              <a:buFont typeface="Arial"/>
              <a:buNone/>
            </a:pPr>
            <a:endParaRPr sz="1800">
              <a:solidFill>
                <a:srgbClr val="000000"/>
              </a:solidFill>
              <a:latin typeface="Times New Roman"/>
              <a:ea typeface="Times New Roman"/>
              <a:cs typeface="Times New Roman"/>
              <a:sym typeface="Times New Roman"/>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Sonifications indicating actions and events (such as whoosh for a window closing, “schlook” for a file being dragged, or ding for a new email arriving)</a:t>
            </a:r>
            <a:endParaRPr sz="1800">
              <a:latin typeface="Times New Roman"/>
              <a:ea typeface="Times New Roman"/>
              <a:cs typeface="Times New Roman"/>
              <a:sym typeface="Times New Roman"/>
            </a:endParaRPr>
          </a:p>
          <a:p>
            <a:pPr marL="285750" marR="0" lvl="0" indent="-171450" algn="l" rtl="0">
              <a:lnSpc>
                <a:spcPct val="90000"/>
              </a:lnSpc>
              <a:spcBef>
                <a:spcPts val="900"/>
              </a:spcBef>
              <a:spcAft>
                <a:spcPts val="0"/>
              </a:spcAft>
              <a:buClr>
                <a:schemeClr val="dk1"/>
              </a:buClr>
              <a:buSzPts val="1800"/>
              <a:buFont typeface="Arial"/>
              <a:buNone/>
            </a:pPr>
            <a:endParaRPr sz="1800">
              <a:solidFill>
                <a:srgbClr val="000000"/>
              </a:solidFill>
              <a:latin typeface="Times New Roman"/>
              <a:ea typeface="Times New Roman"/>
              <a:cs typeface="Times New Roman"/>
              <a:sym typeface="Times New Roman"/>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Vibrotactile feedback, such as distinct smartphone buzzes that represent specific messages from friends or family</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a:p>
        </p:txBody>
      </p:sp>
      <p:pic>
        <p:nvPicPr>
          <p:cNvPr id="238" name="Google Shape;238;p22" descr="Icon&#10;&#10;Description automatically generated"/>
          <p:cNvPicPr preferRelativeResize="0"/>
          <p:nvPr/>
        </p:nvPicPr>
        <p:blipFill rotWithShape="1">
          <a:blip r:embed="rId3">
            <a:alphaModFix/>
          </a:blip>
          <a:srcRect/>
          <a:stretch/>
        </p:blipFill>
        <p:spPr>
          <a:xfrm>
            <a:off x="8722199" y="636028"/>
            <a:ext cx="2941575" cy="55859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3"/>
          <p:cNvSpPr txBox="1">
            <a:spLocks noGrp="1"/>
          </p:cNvSpPr>
          <p:nvPr>
            <p:ph type="subTitle" idx="1"/>
          </p:nvPr>
        </p:nvSpPr>
        <p:spPr>
          <a:xfrm>
            <a:off x="0" y="0"/>
            <a:ext cx="5652655" cy="6858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6.3.6 Aesthetically Interfaces</a:t>
            </a:r>
            <a:endParaRPr/>
          </a:p>
          <a:p>
            <a:pPr marL="0" marR="0" lvl="0" indent="0" algn="l" rtl="0">
              <a:lnSpc>
                <a:spcPct val="90000"/>
              </a:lnSpc>
              <a:spcBef>
                <a:spcPts val="900"/>
              </a:spcBef>
              <a:spcAft>
                <a:spcPts val="0"/>
              </a:spcAft>
              <a:buClr>
                <a:schemeClr val="dk1"/>
              </a:buClr>
              <a:buSzPts val="1800"/>
              <a:buNone/>
            </a:pPr>
            <a:endParaRPr sz="1800" b="1">
              <a:solidFill>
                <a:srgbClr val="2D3B45"/>
              </a:solidFill>
              <a:latin typeface="Helvetica Neue"/>
              <a:ea typeface="Helvetica Neue"/>
              <a:cs typeface="Helvetica Neue"/>
              <a:sym typeface="Helvetica Neue"/>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The style or brand conveyed by an interface, in terms of the shapes, fonts, colors, and graphical elements used, and the way they are combined, also influence its emotional impact. Use of imagery at the interface can result in more engaging and enjoyable experiences (Mullet and Sano, 1995). A designer can also use a number of aesthetic techniques such as clean lines, balance, simplicity, white space, and texture. </a:t>
            </a:r>
            <a:endParaRPr sz="1800">
              <a:latin typeface="Times New Roman"/>
              <a:ea typeface="Times New Roman"/>
              <a:cs typeface="Times New Roman"/>
              <a:sym typeface="Times New Roman"/>
            </a:endParaRPr>
          </a:p>
          <a:p>
            <a:pPr marL="285750" marR="0" lvl="0" indent="-171450" algn="l" rtl="0">
              <a:lnSpc>
                <a:spcPct val="90000"/>
              </a:lnSpc>
              <a:spcBef>
                <a:spcPts val="900"/>
              </a:spcBef>
              <a:spcAft>
                <a:spcPts val="0"/>
              </a:spcAft>
              <a:buClr>
                <a:schemeClr val="dk1"/>
              </a:buClr>
              <a:buSzPts val="1800"/>
              <a:buFont typeface="Arial"/>
              <a:buNone/>
            </a:pPr>
            <a:endParaRPr sz="1800">
              <a:solidFill>
                <a:srgbClr val="000000"/>
              </a:solidFill>
              <a:latin typeface="Times New Roman"/>
              <a:ea typeface="Times New Roman"/>
              <a:cs typeface="Times New Roman"/>
              <a:sym typeface="Times New Roman"/>
            </a:endParaRPr>
          </a:p>
          <a:p>
            <a:pPr marL="285750" marR="0" lvl="0" indent="-285750" algn="l" rtl="0">
              <a:lnSpc>
                <a:spcPct val="90000"/>
              </a:lnSpc>
              <a:spcBef>
                <a:spcPts val="900"/>
              </a:spcBef>
              <a:spcAft>
                <a:spcPts val="0"/>
              </a:spcAft>
              <a:buClr>
                <a:srgbClr val="000000"/>
              </a:buClr>
              <a:buSzPts val="1800"/>
              <a:buFont typeface="Arial"/>
              <a:buChar char="•"/>
            </a:pPr>
            <a:r>
              <a:rPr lang="en-US" sz="1800">
                <a:solidFill>
                  <a:srgbClr val="000000"/>
                </a:solidFill>
                <a:latin typeface="Times New Roman"/>
                <a:ea typeface="Times New Roman"/>
                <a:cs typeface="Times New Roman"/>
                <a:sym typeface="Times New Roman"/>
              </a:rPr>
              <a:t>The </a:t>
            </a:r>
            <a:r>
              <a:rPr lang="en-US" sz="1800" b="1">
                <a:solidFill>
                  <a:srgbClr val="000000"/>
                </a:solidFill>
                <a:latin typeface="Times New Roman"/>
                <a:ea typeface="Times New Roman"/>
                <a:cs typeface="Times New Roman"/>
                <a:sym typeface="Times New Roman"/>
              </a:rPr>
              <a:t>benefits</a:t>
            </a:r>
            <a:r>
              <a:rPr lang="en-US" sz="1800">
                <a:solidFill>
                  <a:srgbClr val="000000"/>
                </a:solidFill>
                <a:latin typeface="Times New Roman"/>
                <a:ea typeface="Times New Roman"/>
                <a:cs typeface="Times New Roman"/>
                <a:sym typeface="Times New Roman"/>
              </a:rPr>
              <a:t> of having aesthetically pleasing interfaces have become more acknowledged in interaction design. Noam Tractinsky (2013) has repeatedly shown how the aesthetics of an interface can have a positive effect on people’s perception of the system’s usability. When the look and feel of an interface is pleasing and pleasurable—for example through beautiful graphics or a nice feel or the way that the elements have been put together—people are likely to be more tolerant and prepared to wait a few more seconds for a website to download. Furthermore, good-looking interfaces are generally more satisfying and pleasurable to use.</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a:p>
        </p:txBody>
      </p:sp>
      <p:pic>
        <p:nvPicPr>
          <p:cNvPr id="244" name="Google Shape;244;p23" descr="Chart&#10;&#10;Description automatically generated"/>
          <p:cNvPicPr preferRelativeResize="0"/>
          <p:nvPr/>
        </p:nvPicPr>
        <p:blipFill rotWithShape="1">
          <a:blip r:embed="rId3">
            <a:alphaModFix/>
          </a:blip>
          <a:srcRect/>
          <a:stretch/>
        </p:blipFill>
        <p:spPr>
          <a:xfrm>
            <a:off x="6654414" y="1116281"/>
            <a:ext cx="5105842" cy="45601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4"/>
          <p:cNvSpPr txBox="1">
            <a:spLocks noGrp="1"/>
          </p:cNvSpPr>
          <p:nvPr>
            <p:ph type="subTitle" idx="1"/>
          </p:nvPr>
        </p:nvSpPr>
        <p:spPr>
          <a:xfrm>
            <a:off x="0" y="0"/>
            <a:ext cx="5818909"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D3B45"/>
              </a:buClr>
              <a:buSzPts val="1800"/>
              <a:buNone/>
            </a:pPr>
            <a:r>
              <a:rPr lang="en-US" sz="1800" b="1">
                <a:solidFill>
                  <a:srgbClr val="2D3B45"/>
                </a:solidFill>
                <a:latin typeface="Helvetica Neue"/>
                <a:ea typeface="Helvetica Neue"/>
                <a:cs typeface="Helvetica Neue"/>
                <a:sym typeface="Helvetica Neue"/>
              </a:rPr>
              <a:t>6.3.7 The Design of the Nest Thermostat Interface?</a:t>
            </a:r>
            <a:endParaRPr sz="1800" b="1">
              <a:solidFill>
                <a:srgbClr val="2D3B45"/>
              </a:solidFill>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1800"/>
              <a:buNone/>
            </a:pPr>
            <a:endParaRPr sz="1800" b="1">
              <a:solidFill>
                <a:srgbClr val="2D3B45"/>
              </a:solidFill>
              <a:latin typeface="Times New Roman"/>
              <a:ea typeface="Times New Roman"/>
              <a:cs typeface="Times New Roman"/>
              <a:sym typeface="Times New Roman"/>
            </a:endParaRPr>
          </a:p>
          <a:p>
            <a:pPr marL="285750" lvl="0" indent="-285750" algn="l" rtl="0">
              <a:lnSpc>
                <a:spcPct val="90000"/>
              </a:lnSpc>
              <a:spcBef>
                <a:spcPts val="1000"/>
              </a:spcBef>
              <a:spcAft>
                <a:spcPts val="0"/>
              </a:spcAft>
              <a:buClr>
                <a:schemeClr val="dk1"/>
              </a:buClr>
              <a:buSzPts val="1800"/>
              <a:buFont typeface="Arial"/>
              <a:buChar char="•"/>
            </a:pPr>
            <a:r>
              <a:rPr lang="en-US" sz="1800">
                <a:latin typeface="Calibri"/>
                <a:ea typeface="Calibri"/>
                <a:cs typeface="Calibri"/>
                <a:sym typeface="Calibri"/>
              </a:rPr>
              <a:t>The popular Nest thermostat provides an automatic way of controlling home heating that is personalized to the habits and needs of the occupants. Where possible, it also works out how to save money by reducing energy consumption when not needed. The wall-mounted device does this by learning what temperature the occupants prefer and when to turn the heating on and off in each room by learning their routines.</a:t>
            </a:r>
            <a:endParaRPr/>
          </a:p>
          <a:p>
            <a:pPr marL="0" lvl="0" indent="0" algn="l" rtl="0">
              <a:lnSpc>
                <a:spcPct val="90000"/>
              </a:lnSpc>
              <a:spcBef>
                <a:spcPts val="1000"/>
              </a:spcBef>
              <a:spcAft>
                <a:spcPts val="0"/>
              </a:spcAft>
              <a:buClr>
                <a:schemeClr val="dk1"/>
              </a:buClr>
              <a:buSzPts val="1800"/>
              <a:buNone/>
            </a:pPr>
            <a:endParaRPr sz="1800">
              <a:latin typeface="Calibri"/>
              <a:ea typeface="Calibri"/>
              <a:cs typeface="Calibri"/>
              <a:sym typeface="Calibri"/>
            </a:endParaRPr>
          </a:p>
          <a:p>
            <a:pPr marL="285750" lvl="0" indent="-285750" algn="l" rtl="0">
              <a:lnSpc>
                <a:spcPct val="90000"/>
              </a:lnSpc>
              <a:spcBef>
                <a:spcPts val="1000"/>
              </a:spcBef>
              <a:spcAft>
                <a:spcPts val="0"/>
              </a:spcAft>
              <a:buClr>
                <a:schemeClr val="dk1"/>
              </a:buClr>
              <a:buSzPts val="1800"/>
              <a:buFont typeface="Arial"/>
              <a:buChar char="•"/>
            </a:pPr>
            <a:r>
              <a:rPr lang="en-US" sz="1800">
                <a:latin typeface="Calibri"/>
                <a:ea typeface="Calibri"/>
                <a:cs typeface="Calibri"/>
                <a:sym typeface="Calibri"/>
              </a:rPr>
              <a:t>The Nest thermostat is more than just a smart meter, however. It was also designed to have a minimalist and aesthetically pleasing interface (see Figure 6.6a). It elegantly shows the temperature currently on its round face and to which temperature it has been set. This is very different from earlier generations of automatic thermostats, which were utilitarian box-shaped designs with lots of complicated buttons and a dull screen that provided feedback about the setting and temperature (see Figure 6.6b). It is little wonder that the Nest thermostat has been a success.</a:t>
            </a:r>
            <a:endParaRPr/>
          </a:p>
          <a:p>
            <a:pPr marL="0" lvl="0" indent="0" algn="l" rtl="0">
              <a:lnSpc>
                <a:spcPct val="90000"/>
              </a:lnSpc>
              <a:spcBef>
                <a:spcPts val="1000"/>
              </a:spcBef>
              <a:spcAft>
                <a:spcPts val="0"/>
              </a:spcAft>
              <a:buClr>
                <a:schemeClr val="dk1"/>
              </a:buClr>
              <a:buSzPts val="2400"/>
              <a:buNone/>
            </a:pPr>
            <a:endParaRPr/>
          </a:p>
          <a:p>
            <a:pPr marL="0" lvl="0" indent="0" algn="l" rtl="0">
              <a:lnSpc>
                <a:spcPct val="90000"/>
              </a:lnSpc>
              <a:spcBef>
                <a:spcPts val="1000"/>
              </a:spcBef>
              <a:spcAft>
                <a:spcPts val="0"/>
              </a:spcAft>
              <a:buClr>
                <a:schemeClr val="dk1"/>
              </a:buClr>
              <a:buSzPts val="2400"/>
              <a:buNone/>
            </a:pPr>
            <a:endParaRPr/>
          </a:p>
        </p:txBody>
      </p:sp>
      <p:pic>
        <p:nvPicPr>
          <p:cNvPr id="250" name="Google Shape;250;p24"/>
          <p:cNvPicPr preferRelativeResize="0"/>
          <p:nvPr/>
        </p:nvPicPr>
        <p:blipFill rotWithShape="1">
          <a:blip r:embed="rId3">
            <a:alphaModFix/>
          </a:blip>
          <a:srcRect/>
          <a:stretch/>
        </p:blipFill>
        <p:spPr>
          <a:xfrm>
            <a:off x="6221864" y="1177872"/>
            <a:ext cx="5818909" cy="412254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5"/>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Maryam Topic: 6.4 Annoying Interface</a:t>
            </a: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6"/>
          <p:cNvSpPr/>
          <p:nvPr/>
        </p:nvSpPr>
        <p:spPr>
          <a:xfrm>
            <a:off x="1792663" y="2502934"/>
            <a:ext cx="8606673" cy="1852132"/>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0" i="0" u="none" strike="noStrike" cap="none">
                <a:solidFill>
                  <a:schemeClr val="lt1"/>
                </a:solidFill>
                <a:latin typeface="Calibri"/>
                <a:ea typeface="Calibri"/>
                <a:cs typeface="Calibri"/>
                <a:sym typeface="Calibri"/>
              </a:rPr>
              <a:t>    When is a user interface annoying? </a:t>
            </a:r>
            <a:endParaRPr sz="3600" b="0" i="0" u="none" strike="noStrike" cap="none">
              <a:solidFill>
                <a:schemeClr val="lt1"/>
              </a:solidFill>
              <a:latin typeface="Calibri"/>
              <a:ea typeface="Calibri"/>
              <a:cs typeface="Calibri"/>
              <a:sym typeface="Calibri"/>
            </a:endParaRPr>
          </a:p>
        </p:txBody>
      </p:sp>
      <p:sp>
        <p:nvSpPr>
          <p:cNvPr id="261" name="Google Shape;261;p26"/>
          <p:cNvSpPr/>
          <p:nvPr/>
        </p:nvSpPr>
        <p:spPr>
          <a:xfrm>
            <a:off x="2025292" y="3149033"/>
            <a:ext cx="559934" cy="559934"/>
          </a:xfrm>
          <a:custGeom>
            <a:avLst/>
            <a:gdLst/>
            <a:ahLst/>
            <a:cxnLst/>
            <a:rect l="l" t="t" r="r" b="b"/>
            <a:pathLst>
              <a:path w="3240000" h="3240000" extrusionOk="0">
                <a:moveTo>
                  <a:pt x="1613470" y="2077417"/>
                </a:moveTo>
                <a:cubicBezTo>
                  <a:pt x="1358886" y="2080042"/>
                  <a:pt x="1130625" y="2234862"/>
                  <a:pt x="1034031" y="2470424"/>
                </a:cubicBezTo>
                <a:lnTo>
                  <a:pt x="1213303" y="2543936"/>
                </a:lnTo>
                <a:cubicBezTo>
                  <a:pt x="1280345" y="2380442"/>
                  <a:pt x="1438772" y="2272988"/>
                  <a:pt x="1615468" y="2271166"/>
                </a:cubicBezTo>
                <a:cubicBezTo>
                  <a:pt x="1792164" y="2269344"/>
                  <a:pt x="1952774" y="2373507"/>
                  <a:pt x="2023173" y="2535584"/>
                </a:cubicBezTo>
                <a:lnTo>
                  <a:pt x="2200891" y="2458391"/>
                </a:lnTo>
                <a:cubicBezTo>
                  <a:pt x="2099460" y="2224871"/>
                  <a:pt x="1868054" y="2074792"/>
                  <a:pt x="1613470" y="2077417"/>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9" y="72832"/>
                </a:lnTo>
                <a:lnTo>
                  <a:pt x="2250577" y="127308"/>
                </a:lnTo>
                <a:lnTo>
                  <a:pt x="2392188" y="195525"/>
                </a:lnTo>
                <a:lnTo>
                  <a:pt x="2525758" y="276671"/>
                </a:lnTo>
                <a:lnTo>
                  <a:pt x="2650471" y="369929"/>
                </a:lnTo>
                <a:lnTo>
                  <a:pt x="2765513" y="474487"/>
                </a:lnTo>
                <a:lnTo>
                  <a:pt x="2870071" y="589530"/>
                </a:lnTo>
                <a:lnTo>
                  <a:pt x="2963330"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30" y="2525758"/>
                </a:lnTo>
                <a:lnTo>
                  <a:pt x="2870071" y="2650471"/>
                </a:lnTo>
                <a:lnTo>
                  <a:pt x="2765513" y="2765513"/>
                </a:lnTo>
                <a:lnTo>
                  <a:pt x="2650471" y="2870071"/>
                </a:lnTo>
                <a:lnTo>
                  <a:pt x="2525758" y="2963330"/>
                </a:lnTo>
                <a:lnTo>
                  <a:pt x="2392188" y="3044475"/>
                </a:lnTo>
                <a:lnTo>
                  <a:pt x="2250577" y="3112693"/>
                </a:lnTo>
                <a:lnTo>
                  <a:pt x="2101739" y="3167168"/>
                </a:lnTo>
                <a:lnTo>
                  <a:pt x="1946487" y="3207088"/>
                </a:lnTo>
                <a:lnTo>
                  <a:pt x="1785636" y="3231636"/>
                </a:lnTo>
                <a:cubicBezTo>
                  <a:pt x="1731176" y="3237167"/>
                  <a:pt x="1675919" y="3240000"/>
                  <a:pt x="1620000" y="3240000"/>
                </a:cubicBezTo>
                <a:cubicBezTo>
                  <a:pt x="1508163"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4" y="3019536"/>
                  <a:pt x="757335" y="2992442"/>
                  <a:pt x="714243" y="2963330"/>
                </a:cubicBezTo>
                <a:cubicBezTo>
                  <a:pt x="671151" y="2934217"/>
                  <a:pt x="629534" y="2903086"/>
                  <a:pt x="589530" y="2870071"/>
                </a:cubicBezTo>
                <a:cubicBezTo>
                  <a:pt x="549525" y="2837056"/>
                  <a:pt x="511133" y="2802158"/>
                  <a:pt x="474487" y="2765513"/>
                </a:cubicBezTo>
                <a:cubicBezTo>
                  <a:pt x="437842" y="2728868"/>
                  <a:pt x="402944" y="2690475"/>
                  <a:pt x="369930" y="2650471"/>
                </a:cubicBezTo>
                <a:cubicBezTo>
                  <a:pt x="336915" y="2610466"/>
                  <a:pt x="305783" y="2568850"/>
                  <a:pt x="276671" y="2525758"/>
                </a:cubicBezTo>
                <a:cubicBezTo>
                  <a:pt x="247558" y="2482665"/>
                  <a:pt x="220465" y="2438097"/>
                  <a:pt x="195526" y="2392188"/>
                </a:cubicBezTo>
                <a:cubicBezTo>
                  <a:pt x="170586" y="2346280"/>
                  <a:pt x="147802" y="2299031"/>
                  <a:pt x="127308" y="2250577"/>
                </a:cubicBezTo>
                <a:cubicBezTo>
                  <a:pt x="106814" y="2202124"/>
                  <a:pt x="88610" y="2152466"/>
                  <a:pt x="72832" y="2101739"/>
                </a:cubicBezTo>
                <a:cubicBezTo>
                  <a:pt x="57055"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5" y="1188989"/>
                  <a:pt x="72832" y="1138262"/>
                </a:cubicBezTo>
                <a:cubicBezTo>
                  <a:pt x="88610" y="1087535"/>
                  <a:pt x="106814" y="1037877"/>
                  <a:pt x="127308" y="989423"/>
                </a:cubicBezTo>
                <a:cubicBezTo>
                  <a:pt x="147802" y="940970"/>
                  <a:pt x="170586" y="893721"/>
                  <a:pt x="195526" y="847812"/>
                </a:cubicBezTo>
                <a:cubicBezTo>
                  <a:pt x="220465" y="801904"/>
                  <a:pt x="247558" y="757335"/>
                  <a:pt x="276671" y="714243"/>
                </a:cubicBezTo>
                <a:cubicBezTo>
                  <a:pt x="305783" y="671151"/>
                  <a:pt x="336915" y="629534"/>
                  <a:pt x="369930" y="589530"/>
                </a:cubicBezTo>
                <a:cubicBezTo>
                  <a:pt x="402944" y="549525"/>
                  <a:pt x="437842" y="511133"/>
                  <a:pt x="474487" y="474487"/>
                </a:cubicBezTo>
                <a:cubicBezTo>
                  <a:pt x="511133" y="437842"/>
                  <a:pt x="549525" y="402944"/>
                  <a:pt x="589530" y="369929"/>
                </a:cubicBezTo>
                <a:cubicBezTo>
                  <a:pt x="629534" y="336915"/>
                  <a:pt x="671151" y="305783"/>
                  <a:pt x="714243" y="276671"/>
                </a:cubicBezTo>
                <a:cubicBezTo>
                  <a:pt x="757335" y="247558"/>
                  <a:pt x="801904"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262" name="Google Shape;262;p26"/>
          <p:cNvSpPr/>
          <p:nvPr/>
        </p:nvSpPr>
        <p:spPr>
          <a:xfrm>
            <a:off x="0" y="0"/>
            <a:ext cx="45987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chemeClr val="lt1"/>
              </a:solidFill>
              <a:latin typeface="Calibri"/>
              <a:ea typeface="Calibri"/>
              <a:cs typeface="Calibri"/>
              <a:sym typeface="Calibri"/>
            </a:endParaRPr>
          </a:p>
        </p:txBody>
      </p:sp>
      <p:sp>
        <p:nvSpPr>
          <p:cNvPr id="263" name="Google Shape;263;p26"/>
          <p:cNvSpPr/>
          <p:nvPr/>
        </p:nvSpPr>
        <p:spPr>
          <a:xfrm>
            <a:off x="-4786" y="6518503"/>
            <a:ext cx="12196786" cy="339497"/>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chemeClr val="lt1"/>
              </a:solidFill>
              <a:latin typeface="Calibri"/>
              <a:ea typeface="Calibri"/>
              <a:cs typeface="Calibri"/>
              <a:sym typeface="Calibri"/>
            </a:endParaRPr>
          </a:p>
        </p:txBody>
      </p:sp>
      <p:sp>
        <p:nvSpPr>
          <p:cNvPr id="264" name="Google Shape;264;p26"/>
          <p:cNvSpPr/>
          <p:nvPr/>
        </p:nvSpPr>
        <p:spPr>
          <a:xfrm>
            <a:off x="11732126" y="-1"/>
            <a:ext cx="459874" cy="2096169"/>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7"/>
          <p:cNvSpPr/>
          <p:nvPr/>
        </p:nvSpPr>
        <p:spPr>
          <a:xfrm>
            <a:off x="684887" y="582338"/>
            <a:ext cx="10834668" cy="530025"/>
          </a:xfrm>
          <a:prstGeom prst="rect">
            <a:avLst/>
          </a:prstGeom>
          <a:solidFill>
            <a:srgbClr val="0033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i="0" u="none" strike="noStrike" cap="none">
                <a:solidFill>
                  <a:schemeClr val="lt1"/>
                </a:solidFill>
                <a:latin typeface="Calibri"/>
                <a:ea typeface="Calibri"/>
                <a:cs typeface="Calibri"/>
                <a:sym typeface="Calibri"/>
              </a:rPr>
              <a:t>User interface of a device or application that should be simple, but it is complex</a:t>
            </a:r>
            <a:endParaRPr sz="2000" b="1">
              <a:solidFill>
                <a:schemeClr val="lt1"/>
              </a:solidFill>
              <a:latin typeface="Calibri"/>
              <a:ea typeface="Calibri"/>
              <a:cs typeface="Calibri"/>
              <a:sym typeface="Calibri"/>
            </a:endParaRPr>
          </a:p>
        </p:txBody>
      </p:sp>
      <p:pic>
        <p:nvPicPr>
          <p:cNvPr id="271" name="Google Shape;271;p27"/>
          <p:cNvPicPr preferRelativeResize="0">
            <a:picLocks noGrp="1"/>
          </p:cNvPicPr>
          <p:nvPr>
            <p:ph type="pic" idx="2"/>
          </p:nvPr>
        </p:nvPicPr>
        <p:blipFill rotWithShape="1">
          <a:blip r:embed="rId3">
            <a:alphaModFix/>
          </a:blip>
          <a:srcRect l="5898" r="5898"/>
          <a:stretch/>
        </p:blipFill>
        <p:spPr>
          <a:xfrm>
            <a:off x="9263852" y="3265511"/>
            <a:ext cx="2592156" cy="2520798"/>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pic>
        <p:nvPicPr>
          <p:cNvPr id="272" name="Google Shape;272;p27"/>
          <p:cNvPicPr preferRelativeResize="0">
            <a:picLocks noGrp="1"/>
          </p:cNvPicPr>
          <p:nvPr>
            <p:ph type="pic" idx="4"/>
          </p:nvPr>
        </p:nvPicPr>
        <p:blipFill rotWithShape="1">
          <a:blip r:embed="rId4">
            <a:alphaModFix/>
          </a:blip>
          <a:srcRect t="1378" b="1377"/>
          <a:stretch/>
        </p:blipFill>
        <p:spPr>
          <a:xfrm>
            <a:off x="6275430" y="3265511"/>
            <a:ext cx="2592156" cy="2520798"/>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pic>
        <p:nvPicPr>
          <p:cNvPr id="273" name="Google Shape;273;p27"/>
          <p:cNvPicPr preferRelativeResize="0">
            <a:picLocks noGrp="1"/>
          </p:cNvPicPr>
          <p:nvPr>
            <p:ph type="pic" idx="3"/>
          </p:nvPr>
        </p:nvPicPr>
        <p:blipFill rotWithShape="1">
          <a:blip r:embed="rId5">
            <a:alphaModFix/>
          </a:blip>
          <a:srcRect t="22858" b="22858"/>
          <a:stretch/>
        </p:blipFill>
        <p:spPr>
          <a:xfrm>
            <a:off x="515164" y="2920207"/>
            <a:ext cx="5364000" cy="3211406"/>
          </a:xfrm>
          <a:prstGeom prst="rect">
            <a:avLst/>
          </a:prstGeom>
          <a:solidFill>
            <a:srgbClr val="ECECEC"/>
          </a:solidFill>
          <a:ln w="190500" cap="rnd" cmpd="sng">
            <a:solidFill>
              <a:srgbClr val="FFFFFF"/>
            </a:solidFill>
            <a:prstDash val="solid"/>
            <a:round/>
            <a:headEnd type="none" w="sm" len="sm"/>
            <a:tailEnd type="none" w="sm" len="sm"/>
          </a:ln>
          <a:effectLst>
            <a:outerShdw blurRad="50000" algn="tl" rotWithShape="0">
              <a:srgbClr val="000000">
                <a:alpha val="40784"/>
              </a:srgbClr>
            </a:outerShdw>
          </a:effectLst>
        </p:spPr>
      </p:pic>
      <p:sp>
        <p:nvSpPr>
          <p:cNvPr id="274" name="Google Shape;274;p27"/>
          <p:cNvSpPr txBox="1"/>
          <p:nvPr/>
        </p:nvSpPr>
        <p:spPr>
          <a:xfrm>
            <a:off x="653742" y="1191035"/>
            <a:ext cx="10847110"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The most common examples are : remote controls, printers, digital alarm clocks, and digital TV systems. Getting a printer to work with a new digital camera, trying to switch from watching a DVD to a TV channel, and changing the time on a digital alarm clock in a hotel can be very trying. Also, complex actions such as attaching the ends of cables between smartphones and laptops, or inserting a SIM card into a smartphone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8"/>
          <p:cNvSpPr/>
          <p:nvPr/>
        </p:nvSpPr>
        <p:spPr>
          <a:xfrm>
            <a:off x="0" y="0"/>
            <a:ext cx="3299012"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280" name="Google Shape;280;p28"/>
          <p:cNvSpPr/>
          <p:nvPr/>
        </p:nvSpPr>
        <p:spPr>
          <a:xfrm>
            <a:off x="4138258" y="478970"/>
            <a:ext cx="7204194" cy="2869583"/>
          </a:xfrm>
          <a:prstGeom prst="rect">
            <a:avLst/>
          </a:prstGeom>
          <a:no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81" name="Google Shape;281;p28"/>
          <p:cNvSpPr txBox="1"/>
          <p:nvPr/>
        </p:nvSpPr>
        <p:spPr>
          <a:xfrm>
            <a:off x="371808" y="393498"/>
            <a:ext cx="3067418" cy="984885"/>
          </a:xfrm>
          <a:prstGeom prst="rect">
            <a:avLst/>
          </a:prstGeom>
          <a:noFill/>
          <a:ln>
            <a:noFill/>
          </a:ln>
        </p:spPr>
        <p:txBody>
          <a:bodyPr spcFirstLastPara="1" wrap="square" lIns="72000" tIns="0" rIns="36000" bIns="0" anchor="t" anchorCtr="0">
            <a:spAutoFit/>
          </a:bodyPr>
          <a:lstStyle/>
          <a:p>
            <a:pPr marL="0" marR="0" lvl="0" indent="0" algn="l" rtl="0">
              <a:spcBef>
                <a:spcPts val="0"/>
              </a:spcBef>
              <a:spcAft>
                <a:spcPts val="0"/>
              </a:spcAft>
              <a:buNone/>
            </a:pPr>
            <a:r>
              <a:rPr lang="en-US" sz="3200">
                <a:solidFill>
                  <a:schemeClr val="lt1"/>
                </a:solidFill>
                <a:latin typeface="Calibri"/>
                <a:ea typeface="Calibri"/>
                <a:cs typeface="Calibri"/>
                <a:sym typeface="Calibri"/>
              </a:rPr>
              <a:t>What Are Approaches?</a:t>
            </a:r>
            <a:endParaRPr sz="3200">
              <a:solidFill>
                <a:schemeClr val="lt1"/>
              </a:solidFill>
              <a:latin typeface="Calibri"/>
              <a:ea typeface="Calibri"/>
              <a:cs typeface="Calibri"/>
              <a:sym typeface="Calibri"/>
            </a:endParaRPr>
          </a:p>
        </p:txBody>
      </p:sp>
      <p:sp>
        <p:nvSpPr>
          <p:cNvPr id="282" name="Google Shape;282;p28"/>
          <p:cNvSpPr/>
          <p:nvPr/>
        </p:nvSpPr>
        <p:spPr>
          <a:xfrm>
            <a:off x="4138258" y="3536036"/>
            <a:ext cx="7204194" cy="3091010"/>
          </a:xfrm>
          <a:prstGeom prst="rect">
            <a:avLst/>
          </a:prstGeom>
          <a:noFill/>
          <a:ln w="254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grpSp>
        <p:nvGrpSpPr>
          <p:cNvPr id="283" name="Google Shape;283;p28"/>
          <p:cNvGrpSpPr/>
          <p:nvPr/>
        </p:nvGrpSpPr>
        <p:grpSpPr>
          <a:xfrm>
            <a:off x="5735186" y="645638"/>
            <a:ext cx="5266798" cy="1792459"/>
            <a:chOff x="5735185" y="674821"/>
            <a:chExt cx="5266798" cy="532102"/>
          </a:xfrm>
        </p:grpSpPr>
        <p:sp>
          <p:nvSpPr>
            <p:cNvPr id="284" name="Google Shape;284;p28"/>
            <p:cNvSpPr txBox="1"/>
            <p:nvPr/>
          </p:nvSpPr>
          <p:spPr>
            <a:xfrm>
              <a:off x="5735185" y="674821"/>
              <a:ext cx="5266798" cy="253153"/>
            </a:xfrm>
            <a:prstGeom prst="rect">
              <a:avLst/>
            </a:prstGeom>
            <a:noFill/>
            <a:ln>
              <a:noFill/>
            </a:ln>
          </p:spPr>
          <p:txBody>
            <a:bodyPr spcFirstLastPara="1" wrap="square" lIns="90000" tIns="45700" rIns="108000" bIns="45700" anchor="t" anchorCtr="0">
              <a:spAutoFit/>
            </a:bodyPr>
            <a:lstStyle/>
            <a:p>
              <a:pPr marL="0" marR="0" lvl="0" indent="0" algn="l" rtl="0">
                <a:spcBef>
                  <a:spcPts val="0"/>
                </a:spcBef>
                <a:spcAft>
                  <a:spcPts val="0"/>
                </a:spcAft>
                <a:buNone/>
              </a:pPr>
              <a:r>
                <a:rPr lang="en-US" sz="2000" b="1">
                  <a:solidFill>
                    <a:srgbClr val="3F3F3F"/>
                  </a:solidFill>
                  <a:latin typeface="Calibri"/>
                  <a:ea typeface="Calibri"/>
                  <a:cs typeface="Calibri"/>
                  <a:sym typeface="Calibri"/>
                </a:rPr>
                <a:t>Helping users to become familiarized with a technology</a:t>
              </a:r>
              <a:endParaRPr sz="2000" b="1">
                <a:solidFill>
                  <a:srgbClr val="3F3F3F"/>
                </a:solidFill>
                <a:latin typeface="Calibri"/>
                <a:ea typeface="Calibri"/>
                <a:cs typeface="Calibri"/>
                <a:sym typeface="Calibri"/>
              </a:endParaRPr>
            </a:p>
          </p:txBody>
        </p:sp>
        <p:sp>
          <p:nvSpPr>
            <p:cNvPr id="285" name="Google Shape;285;p28"/>
            <p:cNvSpPr txBox="1"/>
            <p:nvPr/>
          </p:nvSpPr>
          <p:spPr>
            <a:xfrm>
              <a:off x="5735185" y="1033329"/>
              <a:ext cx="5266793" cy="173594"/>
            </a:xfrm>
            <a:prstGeom prst="rect">
              <a:avLst/>
            </a:prstGeom>
            <a:noFill/>
            <a:ln>
              <a:noFill/>
            </a:ln>
          </p:spPr>
          <p:txBody>
            <a:bodyPr spcFirstLastPara="1" wrap="square" lIns="72000" tIns="45700" rIns="108000" bIns="45700" anchor="t" anchorCtr="0">
              <a:sp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These methods include pop-up help boxes and contextual videos.</a:t>
              </a:r>
              <a:endParaRPr sz="1600">
                <a:solidFill>
                  <a:srgbClr val="3F3F3F"/>
                </a:solidFill>
                <a:latin typeface="Calibri"/>
                <a:ea typeface="Calibri"/>
                <a:cs typeface="Calibri"/>
                <a:sym typeface="Calibri"/>
              </a:endParaRPr>
            </a:p>
          </p:txBody>
        </p:sp>
      </p:grpSp>
      <p:grpSp>
        <p:nvGrpSpPr>
          <p:cNvPr id="286" name="Google Shape;286;p28"/>
          <p:cNvGrpSpPr/>
          <p:nvPr/>
        </p:nvGrpSpPr>
        <p:grpSpPr>
          <a:xfrm>
            <a:off x="5828208" y="3625723"/>
            <a:ext cx="5266798" cy="2436963"/>
            <a:chOff x="5735185" y="2193979"/>
            <a:chExt cx="5266798" cy="784602"/>
          </a:xfrm>
        </p:grpSpPr>
        <p:sp>
          <p:nvSpPr>
            <p:cNvPr id="287" name="Google Shape;287;p28"/>
            <p:cNvSpPr txBox="1"/>
            <p:nvPr/>
          </p:nvSpPr>
          <p:spPr>
            <a:xfrm>
              <a:off x="5735185" y="2193979"/>
              <a:ext cx="5266798" cy="177235"/>
            </a:xfrm>
            <a:prstGeom prst="rect">
              <a:avLst/>
            </a:prstGeom>
            <a:noFill/>
            <a:ln>
              <a:noFill/>
            </a:ln>
          </p:spPr>
          <p:txBody>
            <a:bodyPr spcFirstLastPara="1" wrap="square" lIns="90000" tIns="45700" rIns="108000" bIns="45700" anchor="t" anchorCtr="0">
              <a:spAutoFit/>
            </a:bodyPr>
            <a:lstStyle/>
            <a:p>
              <a:pPr marL="0" marR="0" lvl="0" indent="0" algn="l" rtl="0">
                <a:spcBef>
                  <a:spcPts val="0"/>
                </a:spcBef>
                <a:spcAft>
                  <a:spcPts val="0"/>
                </a:spcAft>
                <a:buNone/>
              </a:pPr>
              <a:r>
                <a:rPr lang="en-US" sz="2000" b="1">
                  <a:solidFill>
                    <a:srgbClr val="3F3F3F"/>
                  </a:solidFill>
                  <a:latin typeface="Calibri"/>
                  <a:ea typeface="Calibri"/>
                  <a:cs typeface="Calibri"/>
                  <a:sym typeface="Calibri"/>
                </a:rPr>
                <a:t>Make an interface appear friendlier as a way of reassuring users</a:t>
              </a:r>
              <a:endParaRPr sz="2000" b="1">
                <a:solidFill>
                  <a:srgbClr val="3F3F3F"/>
                </a:solidFill>
                <a:latin typeface="Calibri"/>
                <a:ea typeface="Calibri"/>
                <a:cs typeface="Calibri"/>
                <a:sym typeface="Calibri"/>
              </a:endParaRPr>
            </a:p>
          </p:txBody>
        </p:sp>
        <p:sp>
          <p:nvSpPr>
            <p:cNvPr id="288" name="Google Shape;288;p28"/>
            <p:cNvSpPr txBox="1"/>
            <p:nvPr/>
          </p:nvSpPr>
          <p:spPr>
            <a:xfrm>
              <a:off x="5735185" y="2552488"/>
              <a:ext cx="5266793" cy="426093"/>
            </a:xfrm>
            <a:prstGeom prst="rect">
              <a:avLst/>
            </a:prstGeom>
            <a:noFill/>
            <a:ln>
              <a:noFill/>
            </a:ln>
          </p:spPr>
          <p:txBody>
            <a:bodyPr spcFirstLastPara="1" wrap="square" lIns="72000" tIns="45700" rIns="108000" bIns="45700" anchor="t" anchorCtr="0">
              <a:sp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 Especially users who were new to computers or online banking</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One technique that was first popularized in the 1990s was the use of cartoon-like companions.</a:t>
              </a:r>
              <a:endParaRPr sz="1600">
                <a:solidFill>
                  <a:srgbClr val="3F3F3F"/>
                </a:solidFill>
                <a:latin typeface="Calibri"/>
                <a:ea typeface="Calibri"/>
                <a:cs typeface="Calibri"/>
                <a:sym typeface="Calibri"/>
              </a:endParaRPr>
            </a:p>
          </p:txBody>
        </p:sp>
      </p:grpSp>
      <p:sp>
        <p:nvSpPr>
          <p:cNvPr id="289" name="Google Shape;289;p28"/>
          <p:cNvSpPr/>
          <p:nvPr/>
        </p:nvSpPr>
        <p:spPr>
          <a:xfrm>
            <a:off x="149455" y="5905728"/>
            <a:ext cx="807899" cy="807899"/>
          </a:xfrm>
          <a:prstGeom prst="corner">
            <a:avLst>
              <a:gd name="adj1" fmla="val 23355"/>
              <a:gd name="adj2" fmla="val 23357"/>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90" name="Google Shape;290;p28"/>
          <p:cNvSpPr/>
          <p:nvPr/>
        </p:nvSpPr>
        <p:spPr>
          <a:xfrm>
            <a:off x="4577666" y="666453"/>
            <a:ext cx="792088" cy="792088"/>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91" name="Google Shape;291;p28"/>
          <p:cNvSpPr/>
          <p:nvPr/>
        </p:nvSpPr>
        <p:spPr>
          <a:xfrm>
            <a:off x="4683081" y="761294"/>
            <a:ext cx="615416" cy="531098"/>
          </a:xfrm>
          <a:custGeom>
            <a:avLst/>
            <a:gdLst/>
            <a:ahLst/>
            <a:cxnLst/>
            <a:rect l="l" t="t" r="r" b="b"/>
            <a:pathLst>
              <a:path w="3240006" h="2796091" extrusionOk="0">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92" name="Google Shape;292;p28"/>
          <p:cNvSpPr/>
          <p:nvPr/>
        </p:nvSpPr>
        <p:spPr>
          <a:xfrm>
            <a:off x="4587189" y="3731978"/>
            <a:ext cx="792088" cy="792088"/>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293" name="Google Shape;293;p28"/>
          <p:cNvSpPr/>
          <p:nvPr/>
        </p:nvSpPr>
        <p:spPr>
          <a:xfrm rot="2700000">
            <a:off x="4820128" y="3767413"/>
            <a:ext cx="389390" cy="698103"/>
          </a:xfrm>
          <a:custGeom>
            <a:avLst/>
            <a:gdLst/>
            <a:ahLst/>
            <a:cxnLst/>
            <a:rect l="l" t="t" r="r" b="b"/>
            <a:pathLst>
              <a:path w="2232248" h="4001999" extrusionOk="0">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9"/>
          <p:cNvSpPr/>
          <p:nvPr/>
        </p:nvSpPr>
        <p:spPr>
          <a:xfrm>
            <a:off x="1792663" y="2502934"/>
            <a:ext cx="8606673" cy="1852132"/>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Calibri"/>
                <a:ea typeface="Calibri"/>
                <a:cs typeface="Calibri"/>
                <a:sym typeface="Calibri"/>
              </a:rPr>
              <a:t>samples of annoying interfaces </a:t>
            </a:r>
            <a:endParaRPr sz="3600">
              <a:solidFill>
                <a:schemeClr val="lt1"/>
              </a:solidFill>
              <a:latin typeface="Calibri"/>
              <a:ea typeface="Calibri"/>
              <a:cs typeface="Calibri"/>
              <a:sym typeface="Calibri"/>
            </a:endParaRPr>
          </a:p>
        </p:txBody>
      </p:sp>
      <p:sp>
        <p:nvSpPr>
          <p:cNvPr id="299" name="Google Shape;299;p29"/>
          <p:cNvSpPr/>
          <p:nvPr/>
        </p:nvSpPr>
        <p:spPr>
          <a:xfrm>
            <a:off x="0" y="0"/>
            <a:ext cx="459874"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00" name="Google Shape;300;p29"/>
          <p:cNvSpPr/>
          <p:nvPr/>
        </p:nvSpPr>
        <p:spPr>
          <a:xfrm>
            <a:off x="-4786" y="6518503"/>
            <a:ext cx="12196786" cy="33949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01" name="Google Shape;301;p29"/>
          <p:cNvSpPr/>
          <p:nvPr/>
        </p:nvSpPr>
        <p:spPr>
          <a:xfrm>
            <a:off x="11732126" y="-1"/>
            <a:ext cx="459874" cy="2096169"/>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02" name="Google Shape;302;p29"/>
          <p:cNvSpPr/>
          <p:nvPr/>
        </p:nvSpPr>
        <p:spPr>
          <a:xfrm>
            <a:off x="2340504" y="3069737"/>
            <a:ext cx="478148" cy="569324"/>
          </a:xfrm>
          <a:custGeom>
            <a:avLst/>
            <a:gdLst/>
            <a:ahLst/>
            <a:cxnLst/>
            <a:rect l="l" t="t" r="r" b="b"/>
            <a:pathLst>
              <a:path w="2721114" h="3240000" extrusionOk="0">
                <a:moveTo>
                  <a:pt x="1999321" y="2603448"/>
                </a:moveTo>
                <a:lnTo>
                  <a:pt x="1999321" y="2772810"/>
                </a:lnTo>
                <a:lnTo>
                  <a:pt x="2528507" y="2772810"/>
                </a:lnTo>
                <a:lnTo>
                  <a:pt x="2528507" y="2603448"/>
                </a:lnTo>
                <a:close/>
                <a:moveTo>
                  <a:pt x="2263914" y="2230929"/>
                </a:moveTo>
                <a:cubicBezTo>
                  <a:pt x="2516419" y="2230929"/>
                  <a:pt x="2721114" y="2435624"/>
                  <a:pt x="2721114" y="2688129"/>
                </a:cubicBezTo>
                <a:cubicBezTo>
                  <a:pt x="2721114" y="2940634"/>
                  <a:pt x="2516419" y="3145329"/>
                  <a:pt x="2263914" y="3145329"/>
                </a:cubicBezTo>
                <a:cubicBezTo>
                  <a:pt x="2011409" y="3145329"/>
                  <a:pt x="1806714" y="2940634"/>
                  <a:pt x="1806714" y="2688129"/>
                </a:cubicBezTo>
                <a:cubicBezTo>
                  <a:pt x="1806714" y="2435624"/>
                  <a:pt x="2011409" y="2230929"/>
                  <a:pt x="2263914" y="2230929"/>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303" name="Google Shape;303;p29"/>
          <p:cNvSpPr/>
          <p:nvPr/>
        </p:nvSpPr>
        <p:spPr>
          <a:xfrm>
            <a:off x="0" y="-1"/>
            <a:ext cx="45987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04" name="Google Shape;304;p29"/>
          <p:cNvSpPr/>
          <p:nvPr/>
        </p:nvSpPr>
        <p:spPr>
          <a:xfrm>
            <a:off x="-4786" y="6518502"/>
            <a:ext cx="12196786" cy="339497"/>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0"/>
          <p:cNvSpPr txBox="1">
            <a:spLocks noGrp="1"/>
          </p:cNvSpPr>
          <p:nvPr>
            <p:ph type="body" idx="1"/>
          </p:nvPr>
        </p:nvSpPr>
        <p:spPr>
          <a:xfrm>
            <a:off x="309401" y="750561"/>
            <a:ext cx="11573197" cy="724247"/>
          </a:xfrm>
          <a:prstGeom prst="rect">
            <a:avLst/>
          </a:prstGeom>
          <a:noFill/>
          <a:ln>
            <a:noFill/>
          </a:ln>
        </p:spPr>
        <p:txBody>
          <a:bodyPr spcFirstLastPara="1" wrap="square" lIns="91425" tIns="45700" rIns="91425" bIns="45700" anchor="ctr" anchorCtr="0">
            <a:normAutofit fontScale="92500" lnSpcReduction="10000"/>
          </a:bodyPr>
          <a:lstStyle/>
          <a:p>
            <a:pPr marL="0" lvl="0" indent="0" algn="ctr" rtl="0">
              <a:lnSpc>
                <a:spcPct val="90000"/>
              </a:lnSpc>
              <a:spcBef>
                <a:spcPts val="0"/>
              </a:spcBef>
              <a:spcAft>
                <a:spcPts val="0"/>
              </a:spcAft>
              <a:buClr>
                <a:srgbClr val="262626"/>
              </a:buClr>
              <a:buSzPct val="100000"/>
              <a:buNone/>
            </a:pPr>
            <a:r>
              <a:rPr lang="en-US"/>
              <a:t>Microsoft Bob Agent</a:t>
            </a:r>
            <a:endParaRPr/>
          </a:p>
        </p:txBody>
      </p:sp>
      <p:sp>
        <p:nvSpPr>
          <p:cNvPr id="310" name="Google Shape;310;p30"/>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
        <p:nvSpPr>
          <p:cNvPr id="311" name="Google Shape;311;p30"/>
          <p:cNvSpPr txBox="1"/>
          <p:nvPr/>
        </p:nvSpPr>
        <p:spPr>
          <a:xfrm>
            <a:off x="929898" y="1524164"/>
            <a:ext cx="3692949" cy="424731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Bob, aimed at new computer users. It was presented as friendly character, including a pet dog and a cute bunny. An interface metaphor of a warm, cozy living room, intended to convey a comfortable feeling.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b="1">
                <a:solidFill>
                  <a:srgbClr val="C00000"/>
                </a:solidFill>
                <a:latin typeface="Calibri"/>
                <a:ea typeface="Calibri"/>
                <a:cs typeface="Calibri"/>
                <a:sym typeface="Calibri"/>
              </a:rPr>
              <a:t>Why Bob never became a commercial product?</a:t>
            </a:r>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Many people did not like the idea of Bob, finding the interface too cute and childish</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pic>
        <p:nvPicPr>
          <p:cNvPr id="312" name="Google Shape;312;p30" title="Microsoft BOB Demo"/>
          <p:cNvPicPr preferRelativeResize="0"/>
          <p:nvPr/>
        </p:nvPicPr>
        <p:blipFill rotWithShape="1">
          <a:blip r:embed="rId3">
            <a:alphaModFix/>
          </a:blip>
          <a:srcRect/>
          <a:stretch/>
        </p:blipFill>
        <p:spPr>
          <a:xfrm>
            <a:off x="4892511" y="1524164"/>
            <a:ext cx="7072013" cy="4398091"/>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2"/>
                                        </p:tgtEl>
                                        <p:attrNameLst>
                                          <p:attrName>style.visibility</p:attrName>
                                        </p:attrNameLst>
                                      </p:cBhvr>
                                      <p:to>
                                        <p:strVal val="visible"/>
                                      </p:to>
                                    </p:set>
                                    <p:animEffect transition="in" filter="fade">
                                      <p:cBhvr>
                                        <p:cTn id="7" dur="1"/>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1"/>
          <p:cNvSpPr txBox="1">
            <a:spLocks noGrp="1"/>
          </p:cNvSpPr>
          <p:nvPr>
            <p:ph type="body" idx="1"/>
          </p:nvPr>
        </p:nvSpPr>
        <p:spPr>
          <a:xfrm>
            <a:off x="309401" y="750561"/>
            <a:ext cx="11573197" cy="724247"/>
          </a:xfrm>
          <a:prstGeom prst="rect">
            <a:avLst/>
          </a:prstGeom>
          <a:noFill/>
          <a:ln>
            <a:noFill/>
          </a:ln>
        </p:spPr>
        <p:txBody>
          <a:bodyPr spcFirstLastPara="1" wrap="square" lIns="91425" tIns="45700" rIns="91425" bIns="45700" anchor="ctr" anchorCtr="0">
            <a:normAutofit fontScale="92500" lnSpcReduction="10000"/>
          </a:bodyPr>
          <a:lstStyle/>
          <a:p>
            <a:pPr marL="0" lvl="0" indent="0" algn="ctr" rtl="0">
              <a:lnSpc>
                <a:spcPct val="90000"/>
              </a:lnSpc>
              <a:spcBef>
                <a:spcPts val="0"/>
              </a:spcBef>
              <a:spcAft>
                <a:spcPts val="0"/>
              </a:spcAft>
              <a:buClr>
                <a:srgbClr val="262626"/>
              </a:buClr>
              <a:buSzPct val="100000"/>
              <a:buNone/>
            </a:pPr>
            <a:r>
              <a:rPr lang="en-US"/>
              <a:t>Microsoft Clippy Agent</a:t>
            </a:r>
            <a:endParaRPr/>
          </a:p>
        </p:txBody>
      </p:sp>
      <p:sp>
        <p:nvSpPr>
          <p:cNvPr id="318" name="Google Shape;318;p31"/>
          <p:cNvSpPr txBox="1"/>
          <p:nvPr/>
        </p:nvSpPr>
        <p:spPr>
          <a:xfrm>
            <a:off x="1250409" y="1801163"/>
            <a:ext cx="5644299"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Microsoft did not give up on the idea of making its interfaces friendlier and developed other kinds of agents, including the infamous Clippy (a paper clip that had human-like qualities).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Clippy typically appeared at the bottom of a user’s screen whenever the system thought the user needed help carrying out a particular task. It was depicted as a cartoon character. Clippy was released as a commercial product.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rgbClr val="C00000"/>
                </a:solidFill>
                <a:latin typeface="Calibri"/>
                <a:ea typeface="Calibri"/>
                <a:cs typeface="Calibri"/>
                <a:sym typeface="Calibri"/>
              </a:rPr>
              <a:t>It was not a success since many Microsoft users found it too intrusive, distracting them from their work.</a:t>
            </a:r>
            <a:endParaRPr/>
          </a:p>
        </p:txBody>
      </p:sp>
      <p:pic>
        <p:nvPicPr>
          <p:cNvPr id="319" name="Google Shape;319;p31"/>
          <p:cNvPicPr preferRelativeResize="0"/>
          <p:nvPr/>
        </p:nvPicPr>
        <p:blipFill rotWithShape="1">
          <a:blip r:embed="rId3">
            <a:alphaModFix/>
          </a:blip>
          <a:srcRect t="30267" r="59314"/>
          <a:stretch/>
        </p:blipFill>
        <p:spPr>
          <a:xfrm>
            <a:off x="8417682" y="1801164"/>
            <a:ext cx="1509982" cy="3693319"/>
          </a:xfrm>
          <a:prstGeom prst="rect">
            <a:avLst/>
          </a:prstGeom>
          <a:noFill/>
          <a:ln>
            <a:noFill/>
          </a:ln>
        </p:spPr>
      </p:pic>
      <p:sp>
        <p:nvSpPr>
          <p:cNvPr id="320" name="Google Shape;320;p31"/>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2"/>
          <p:cNvSpPr/>
          <p:nvPr/>
        </p:nvSpPr>
        <p:spPr>
          <a:xfrm>
            <a:off x="1792663" y="2502934"/>
            <a:ext cx="8606673" cy="1852132"/>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Calibri"/>
                <a:ea typeface="Calibri"/>
                <a:cs typeface="Calibri"/>
                <a:sym typeface="Calibri"/>
              </a:rPr>
              <a:t>     What are the effects of bad designs? </a:t>
            </a:r>
            <a:endParaRPr sz="3600">
              <a:solidFill>
                <a:schemeClr val="lt1"/>
              </a:solidFill>
              <a:latin typeface="Calibri"/>
              <a:ea typeface="Calibri"/>
              <a:cs typeface="Calibri"/>
              <a:sym typeface="Calibri"/>
            </a:endParaRPr>
          </a:p>
        </p:txBody>
      </p:sp>
      <p:sp>
        <p:nvSpPr>
          <p:cNvPr id="326" name="Google Shape;326;p32"/>
          <p:cNvSpPr/>
          <p:nvPr/>
        </p:nvSpPr>
        <p:spPr>
          <a:xfrm>
            <a:off x="0" y="0"/>
            <a:ext cx="45987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27" name="Google Shape;327;p32"/>
          <p:cNvSpPr/>
          <p:nvPr/>
        </p:nvSpPr>
        <p:spPr>
          <a:xfrm>
            <a:off x="-4786" y="6518503"/>
            <a:ext cx="12196786" cy="339497"/>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28" name="Google Shape;328;p32"/>
          <p:cNvSpPr/>
          <p:nvPr/>
        </p:nvSpPr>
        <p:spPr>
          <a:xfrm>
            <a:off x="11732126" y="-1"/>
            <a:ext cx="459874" cy="2096169"/>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29" name="Google Shape;329;p32"/>
          <p:cNvSpPr/>
          <p:nvPr/>
        </p:nvSpPr>
        <p:spPr>
          <a:xfrm>
            <a:off x="2042249" y="3197432"/>
            <a:ext cx="464493" cy="463135"/>
          </a:xfrm>
          <a:custGeom>
            <a:avLst/>
            <a:gdLst/>
            <a:ahLst/>
            <a:cxnLst/>
            <a:rect l="l" t="t" r="r" b="b"/>
            <a:pathLst>
              <a:path w="3240000" h="3230531" extrusionOk="0">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3"/>
          <p:cNvSpPr txBox="1"/>
          <p:nvPr/>
        </p:nvSpPr>
        <p:spPr>
          <a:xfrm>
            <a:off x="954463" y="1522518"/>
            <a:ext cx="1038598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Interfaces, if designed poorly, can make people sometimes feel insulted, stupid, or threatened. The effect can be to annoy them to the point of losing their temper.</a:t>
            </a:r>
            <a:endParaRPr sz="1800" b="1" i="0">
              <a:solidFill>
                <a:srgbClr val="223C50"/>
              </a:solidFill>
              <a:latin typeface="Arial"/>
              <a:ea typeface="Arial"/>
              <a:cs typeface="Arial"/>
              <a:sym typeface="Arial"/>
            </a:endParaRPr>
          </a:p>
        </p:txBody>
      </p:sp>
      <p:pic>
        <p:nvPicPr>
          <p:cNvPr id="335" name="Google Shape;335;p33" descr="Defusing Difficult Online Students"/>
          <p:cNvPicPr preferRelativeResize="0"/>
          <p:nvPr/>
        </p:nvPicPr>
        <p:blipFill rotWithShape="1">
          <a:blip r:embed="rId3">
            <a:alphaModFix/>
          </a:blip>
          <a:srcRect/>
          <a:stretch/>
        </p:blipFill>
        <p:spPr>
          <a:xfrm>
            <a:off x="6001339" y="2878419"/>
            <a:ext cx="5715000" cy="3810000"/>
          </a:xfrm>
          <a:prstGeom prst="rect">
            <a:avLst/>
          </a:prstGeom>
          <a:noFill/>
          <a:ln>
            <a:noFill/>
          </a:ln>
        </p:spPr>
      </p:pic>
      <p:pic>
        <p:nvPicPr>
          <p:cNvPr id="336" name="Google Shape;336;p33" descr="Por que é tão importante errar na hora de aprender inglês?"/>
          <p:cNvPicPr preferRelativeResize="0"/>
          <p:nvPr/>
        </p:nvPicPr>
        <p:blipFill rotWithShape="1">
          <a:blip r:embed="rId4">
            <a:alphaModFix/>
          </a:blip>
          <a:srcRect/>
          <a:stretch/>
        </p:blipFill>
        <p:spPr>
          <a:xfrm>
            <a:off x="1058946" y="2420578"/>
            <a:ext cx="5624658" cy="3650284"/>
          </a:xfrm>
          <a:prstGeom prst="rect">
            <a:avLst/>
          </a:prstGeom>
          <a:noFill/>
          <a:ln>
            <a:noFill/>
          </a:ln>
        </p:spPr>
      </p:pic>
      <p:sp>
        <p:nvSpPr>
          <p:cNvPr id="337" name="Google Shape;337;p33"/>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4"/>
          <p:cNvSpPr/>
          <p:nvPr/>
        </p:nvSpPr>
        <p:spPr>
          <a:xfrm>
            <a:off x="1792663" y="2502934"/>
            <a:ext cx="8606673" cy="1852132"/>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Calibri"/>
                <a:ea typeface="Calibri"/>
                <a:cs typeface="Calibri"/>
                <a:sym typeface="Calibri"/>
              </a:rPr>
              <a:t>   What are some situations that cause negative emotional responses? </a:t>
            </a:r>
            <a:endParaRPr sz="3600">
              <a:solidFill>
                <a:schemeClr val="lt1"/>
              </a:solidFill>
              <a:latin typeface="Calibri"/>
              <a:ea typeface="Calibri"/>
              <a:cs typeface="Calibri"/>
              <a:sym typeface="Calibri"/>
            </a:endParaRPr>
          </a:p>
        </p:txBody>
      </p:sp>
      <p:sp>
        <p:nvSpPr>
          <p:cNvPr id="343" name="Google Shape;343;p34"/>
          <p:cNvSpPr/>
          <p:nvPr/>
        </p:nvSpPr>
        <p:spPr>
          <a:xfrm>
            <a:off x="0" y="0"/>
            <a:ext cx="45987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44" name="Google Shape;344;p34"/>
          <p:cNvSpPr/>
          <p:nvPr/>
        </p:nvSpPr>
        <p:spPr>
          <a:xfrm>
            <a:off x="-4786" y="6518503"/>
            <a:ext cx="12196786" cy="339497"/>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45" name="Google Shape;345;p34"/>
          <p:cNvSpPr/>
          <p:nvPr/>
        </p:nvSpPr>
        <p:spPr>
          <a:xfrm>
            <a:off x="11732126" y="-1"/>
            <a:ext cx="459874" cy="2096169"/>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346" name="Google Shape;346;p34"/>
          <p:cNvSpPr/>
          <p:nvPr/>
        </p:nvSpPr>
        <p:spPr>
          <a:xfrm>
            <a:off x="1985688" y="2867494"/>
            <a:ext cx="464493" cy="463135"/>
          </a:xfrm>
          <a:custGeom>
            <a:avLst/>
            <a:gdLst/>
            <a:ahLst/>
            <a:cxnLst/>
            <a:rect l="l" t="t" r="r" b="b"/>
            <a:pathLst>
              <a:path w="3240000" h="3230531" extrusionOk="0">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5"/>
          <p:cNvSpPr txBox="1"/>
          <p:nvPr/>
        </p:nvSpPr>
        <p:spPr>
          <a:xfrm>
            <a:off x="1001598" y="751344"/>
            <a:ext cx="9264192"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When an application doesn’t work properly or crashes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a system doesn’t do what the user wants it to do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a user’s expectations are not met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52" name="Google Shape;352;p35" descr="Top 7 Disadvantages of Working from Home"/>
          <p:cNvPicPr preferRelativeResize="0"/>
          <p:nvPr/>
        </p:nvPicPr>
        <p:blipFill rotWithShape="1">
          <a:blip r:embed="rId3">
            <a:alphaModFix/>
          </a:blip>
          <a:srcRect l="9625" r="6840" b="6476"/>
          <a:stretch/>
        </p:blipFill>
        <p:spPr>
          <a:xfrm>
            <a:off x="6086182" y="2814919"/>
            <a:ext cx="4302155" cy="2765749"/>
          </a:xfrm>
          <a:prstGeom prst="rect">
            <a:avLst/>
          </a:prstGeom>
          <a:noFill/>
          <a:ln>
            <a:noFill/>
          </a:ln>
        </p:spPr>
      </p:pic>
      <p:sp>
        <p:nvSpPr>
          <p:cNvPr id="353" name="Google Shape;353;p35"/>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pic>
        <p:nvPicPr>
          <p:cNvPr id="354" name="Google Shape;354;p35" descr="Feel undervalued at work? Here's what you can do."/>
          <p:cNvPicPr preferRelativeResize="0"/>
          <p:nvPr/>
        </p:nvPicPr>
        <p:blipFill rotWithShape="1">
          <a:blip r:embed="rId4">
            <a:alphaModFix/>
          </a:blip>
          <a:srcRect/>
          <a:stretch/>
        </p:blipFill>
        <p:spPr>
          <a:xfrm>
            <a:off x="1819376" y="3890665"/>
            <a:ext cx="4144259" cy="2765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6"/>
          <p:cNvSpPr txBox="1"/>
          <p:nvPr/>
        </p:nvSpPr>
        <p:spPr>
          <a:xfrm>
            <a:off x="1001598" y="751344"/>
            <a:ext cx="9264192"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When a system does not provide sufficient information to let the user know what to do</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error messages pop up that are vague or obtuse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the appearance of an interface is too noisy, garish, gimmicky, or patronizing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60" name="Google Shape;360;p36" descr="Question Mark Pc Stock Illustrations – 365 Question Mark Pc Stock  Illustrations, Vectors &amp; Clipart - Dreamstime"/>
          <p:cNvPicPr preferRelativeResize="0"/>
          <p:nvPr/>
        </p:nvPicPr>
        <p:blipFill rotWithShape="1">
          <a:blip r:embed="rId3">
            <a:alphaModFix/>
          </a:blip>
          <a:srcRect/>
          <a:stretch/>
        </p:blipFill>
        <p:spPr>
          <a:xfrm>
            <a:off x="8474697" y="3429000"/>
            <a:ext cx="2304068" cy="2000839"/>
          </a:xfrm>
          <a:prstGeom prst="rect">
            <a:avLst/>
          </a:prstGeom>
          <a:noFill/>
          <a:ln>
            <a:noFill/>
          </a:ln>
        </p:spPr>
      </p:pic>
      <p:pic>
        <p:nvPicPr>
          <p:cNvPr id="361" name="Google Shape;361;p36" descr="Modern Business Elements UI, UX in HUD style. Futuristic User Interface GUI  3D objects, infographics, circle, graphic data and chart. Virtual touch  Stock Vector Image &amp; Art - Alamy"/>
          <p:cNvPicPr preferRelativeResize="0"/>
          <p:nvPr/>
        </p:nvPicPr>
        <p:blipFill rotWithShape="1">
          <a:blip r:embed="rId4">
            <a:alphaModFix/>
          </a:blip>
          <a:srcRect b="17137"/>
          <a:stretch/>
        </p:blipFill>
        <p:spPr>
          <a:xfrm>
            <a:off x="1084082" y="3287586"/>
            <a:ext cx="6363094" cy="2142253"/>
          </a:xfrm>
          <a:prstGeom prst="rect">
            <a:avLst/>
          </a:prstGeom>
          <a:noFill/>
          <a:ln>
            <a:noFill/>
          </a:ln>
        </p:spPr>
      </p:pic>
      <p:sp>
        <p:nvSpPr>
          <p:cNvPr id="362" name="Google Shape;362;p36"/>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7"/>
          <p:cNvSpPr txBox="1"/>
          <p:nvPr/>
        </p:nvSpPr>
        <p:spPr>
          <a:xfrm>
            <a:off x="1001598" y="751344"/>
            <a:ext cx="9264192"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Flashing animations, especially flashing banner ads and pop-up ads that cover the user view and which require them to click in order to close them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Featuritis—an excessive number of operations, such as an array of buttons on remote controls </a:t>
            </a:r>
            <a:endParaRPr/>
          </a:p>
        </p:txBody>
      </p:sp>
      <p:pic>
        <p:nvPicPr>
          <p:cNvPr id="368" name="Google Shape;368;p37" descr="Button Design — UI component series | UX Collective"/>
          <p:cNvPicPr preferRelativeResize="0"/>
          <p:nvPr/>
        </p:nvPicPr>
        <p:blipFill rotWithShape="1">
          <a:blip r:embed="rId3">
            <a:alphaModFix/>
          </a:blip>
          <a:srcRect/>
          <a:stretch/>
        </p:blipFill>
        <p:spPr>
          <a:xfrm>
            <a:off x="1530284" y="3059669"/>
            <a:ext cx="5222449" cy="1679394"/>
          </a:xfrm>
          <a:prstGeom prst="rect">
            <a:avLst/>
          </a:prstGeom>
          <a:noFill/>
          <a:ln>
            <a:noFill/>
          </a:ln>
        </p:spPr>
      </p:pic>
      <p:pic>
        <p:nvPicPr>
          <p:cNvPr id="369" name="Google Shape;369;p37" descr="10 Advantages and Disadvantages of Pop-Up Ads This 2018"/>
          <p:cNvPicPr preferRelativeResize="0"/>
          <p:nvPr/>
        </p:nvPicPr>
        <p:blipFill rotWithShape="1">
          <a:blip r:embed="rId4">
            <a:alphaModFix/>
          </a:blip>
          <a:srcRect l="10207" r="18511"/>
          <a:stretch/>
        </p:blipFill>
        <p:spPr>
          <a:xfrm>
            <a:off x="7503736" y="3059669"/>
            <a:ext cx="3157980" cy="2031325"/>
          </a:xfrm>
          <a:prstGeom prst="rect">
            <a:avLst/>
          </a:prstGeom>
          <a:noFill/>
          <a:ln>
            <a:noFill/>
          </a:ln>
        </p:spPr>
      </p:pic>
      <p:sp>
        <p:nvSpPr>
          <p:cNvPr id="370" name="Google Shape;370;p37"/>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8"/>
          <p:cNvSpPr txBox="1"/>
          <p:nvPr/>
        </p:nvSpPr>
        <p:spPr>
          <a:xfrm>
            <a:off x="929898" y="697841"/>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Little distinction between primary and secondary buttons</a:t>
            </a:r>
            <a:endParaRPr/>
          </a:p>
        </p:txBody>
      </p:sp>
      <p:sp>
        <p:nvSpPr>
          <p:cNvPr id="376" name="Google Shape;376;p38"/>
          <p:cNvSpPr txBox="1"/>
          <p:nvPr/>
        </p:nvSpPr>
        <p:spPr>
          <a:xfrm>
            <a:off x="6756090" y="697841"/>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Lack of text hierarchy</a:t>
            </a:r>
            <a:endParaRPr/>
          </a:p>
        </p:txBody>
      </p:sp>
      <p:pic>
        <p:nvPicPr>
          <p:cNvPr id="377" name="Google Shape;377;p38"/>
          <p:cNvPicPr preferRelativeResize="0"/>
          <p:nvPr/>
        </p:nvPicPr>
        <p:blipFill rotWithShape="1">
          <a:blip r:embed="rId3">
            <a:alphaModFix/>
          </a:blip>
          <a:srcRect/>
          <a:stretch/>
        </p:blipFill>
        <p:spPr>
          <a:xfrm>
            <a:off x="929898" y="1131221"/>
            <a:ext cx="5260156" cy="3996960"/>
          </a:xfrm>
          <a:prstGeom prst="rect">
            <a:avLst/>
          </a:prstGeom>
          <a:noFill/>
          <a:ln>
            <a:noFill/>
          </a:ln>
        </p:spPr>
      </p:pic>
      <p:pic>
        <p:nvPicPr>
          <p:cNvPr id="378" name="Google Shape;378;p38"/>
          <p:cNvPicPr preferRelativeResize="0"/>
          <p:nvPr/>
        </p:nvPicPr>
        <p:blipFill rotWithShape="1">
          <a:blip r:embed="rId4">
            <a:alphaModFix/>
          </a:blip>
          <a:srcRect/>
          <a:stretch/>
        </p:blipFill>
        <p:spPr>
          <a:xfrm>
            <a:off x="6756090" y="1131221"/>
            <a:ext cx="4506012" cy="4675690"/>
          </a:xfrm>
          <a:prstGeom prst="rect">
            <a:avLst/>
          </a:prstGeom>
          <a:noFill/>
          <a:ln>
            <a:noFill/>
          </a:ln>
        </p:spPr>
      </p:pic>
      <p:sp>
        <p:nvSpPr>
          <p:cNvPr id="379" name="Google Shape;379;p38"/>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39"/>
          <p:cNvPicPr preferRelativeResize="0">
            <a:picLocks noGrp="1"/>
          </p:cNvPicPr>
          <p:nvPr>
            <p:ph type="pic" idx="2"/>
          </p:nvPr>
        </p:nvPicPr>
        <p:blipFill rotWithShape="1">
          <a:blip r:embed="rId3">
            <a:alphaModFix/>
          </a:blip>
          <a:srcRect l="3171" r="3171"/>
          <a:stretch/>
        </p:blipFill>
        <p:spPr>
          <a:xfrm>
            <a:off x="1206631" y="1122852"/>
            <a:ext cx="4458878" cy="3958195"/>
          </a:xfrm>
          <a:prstGeom prst="rect">
            <a:avLst/>
          </a:prstGeom>
          <a:solidFill>
            <a:srgbClr val="F2F2F2"/>
          </a:solidFill>
          <a:ln>
            <a:noFill/>
          </a:ln>
        </p:spPr>
      </p:pic>
      <p:sp>
        <p:nvSpPr>
          <p:cNvPr id="385" name="Google Shape;385;p39"/>
          <p:cNvSpPr txBox="1"/>
          <p:nvPr/>
        </p:nvSpPr>
        <p:spPr>
          <a:xfrm>
            <a:off x="1206631" y="609600"/>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Low contrast</a:t>
            </a:r>
            <a:endParaRPr/>
          </a:p>
        </p:txBody>
      </p:sp>
      <p:sp>
        <p:nvSpPr>
          <p:cNvPr id="386" name="Google Shape;386;p39"/>
          <p:cNvSpPr txBox="1"/>
          <p:nvPr/>
        </p:nvSpPr>
        <p:spPr>
          <a:xfrm>
            <a:off x="6212264" y="681560"/>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Confusing forms</a:t>
            </a:r>
            <a:endParaRPr/>
          </a:p>
        </p:txBody>
      </p:sp>
      <p:pic>
        <p:nvPicPr>
          <p:cNvPr id="387" name="Google Shape;387;p39"/>
          <p:cNvPicPr preferRelativeResize="0"/>
          <p:nvPr/>
        </p:nvPicPr>
        <p:blipFill rotWithShape="1">
          <a:blip r:embed="rId4">
            <a:alphaModFix/>
          </a:blip>
          <a:srcRect/>
          <a:stretch/>
        </p:blipFill>
        <p:spPr>
          <a:xfrm>
            <a:off x="6212264" y="1122852"/>
            <a:ext cx="5647145" cy="3684818"/>
          </a:xfrm>
          <a:prstGeom prst="rect">
            <a:avLst/>
          </a:prstGeom>
          <a:noFill/>
          <a:ln>
            <a:noFill/>
          </a:ln>
        </p:spPr>
      </p:pic>
      <p:sp>
        <p:nvSpPr>
          <p:cNvPr id="388" name="Google Shape;388;p39"/>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0"/>
          <p:cNvSpPr txBox="1"/>
          <p:nvPr/>
        </p:nvSpPr>
        <p:spPr>
          <a:xfrm>
            <a:off x="1121790" y="652896"/>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Poor touch target on mobile and tablet</a:t>
            </a:r>
            <a:endParaRPr/>
          </a:p>
        </p:txBody>
      </p:sp>
      <p:sp>
        <p:nvSpPr>
          <p:cNvPr id="394" name="Google Shape;394;p40"/>
          <p:cNvSpPr txBox="1"/>
          <p:nvPr/>
        </p:nvSpPr>
        <p:spPr>
          <a:xfrm>
            <a:off x="6183754" y="3429000"/>
            <a:ext cx="60944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223C50"/>
                </a:solidFill>
                <a:latin typeface="Arial"/>
                <a:ea typeface="Arial"/>
                <a:cs typeface="Arial"/>
                <a:sym typeface="Arial"/>
              </a:rPr>
              <a:t>Using irrelevant or low-quality images</a:t>
            </a:r>
            <a:endParaRPr/>
          </a:p>
        </p:txBody>
      </p:sp>
      <p:pic>
        <p:nvPicPr>
          <p:cNvPr id="395" name="Google Shape;395;p40"/>
          <p:cNvPicPr preferRelativeResize="0"/>
          <p:nvPr/>
        </p:nvPicPr>
        <p:blipFill rotWithShape="1">
          <a:blip r:embed="rId3">
            <a:alphaModFix/>
          </a:blip>
          <a:srcRect/>
          <a:stretch/>
        </p:blipFill>
        <p:spPr>
          <a:xfrm>
            <a:off x="1121790" y="1064273"/>
            <a:ext cx="4886458" cy="2631033"/>
          </a:xfrm>
          <a:prstGeom prst="rect">
            <a:avLst/>
          </a:prstGeom>
          <a:noFill/>
          <a:ln>
            <a:noFill/>
          </a:ln>
        </p:spPr>
      </p:pic>
      <p:pic>
        <p:nvPicPr>
          <p:cNvPr id="396" name="Google Shape;396;p40"/>
          <p:cNvPicPr preferRelativeResize="0"/>
          <p:nvPr/>
        </p:nvPicPr>
        <p:blipFill rotWithShape="1">
          <a:blip r:embed="rId4">
            <a:alphaModFix/>
          </a:blip>
          <a:srcRect/>
          <a:stretch/>
        </p:blipFill>
        <p:spPr>
          <a:xfrm>
            <a:off x="6183754" y="3826327"/>
            <a:ext cx="5262403" cy="2527339"/>
          </a:xfrm>
          <a:prstGeom prst="rect">
            <a:avLst/>
          </a:prstGeom>
          <a:noFill/>
          <a:ln>
            <a:noFill/>
          </a:ln>
        </p:spPr>
      </p:pic>
      <p:sp>
        <p:nvSpPr>
          <p:cNvPr id="397" name="Google Shape;397;p40"/>
          <p:cNvSpPr/>
          <p:nvPr/>
        </p:nvSpPr>
        <p:spPr>
          <a:xfrm>
            <a:off x="745843" y="424206"/>
            <a:ext cx="10516259" cy="5859941"/>
          </a:xfrm>
          <a:custGeom>
            <a:avLst/>
            <a:gdLst/>
            <a:ahLst/>
            <a:cxnLst/>
            <a:rect l="l" t="t" r="r" b="b"/>
            <a:pathLst>
              <a:path w="3747714" h="1012372" extrusionOk="0">
                <a:moveTo>
                  <a:pt x="1770943" y="1005984"/>
                </a:moveTo>
                <a:lnTo>
                  <a:pt x="0" y="1012372"/>
                </a:lnTo>
                <a:lnTo>
                  <a:pt x="0" y="4260"/>
                </a:lnTo>
                <a:lnTo>
                  <a:pt x="3747714" y="0"/>
                </a:lnTo>
              </a:path>
            </a:pathLst>
          </a:custGeom>
          <a:noFill/>
          <a:ln w="47625" cap="flat" cmpd="sng">
            <a:solidFill>
              <a:srgbClr val="0033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1"/>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Nikshep Topic: 6.5 Affective computing and emotional AI</a:t>
            </a: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2"/>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Affective computing and Emotional AI</a:t>
            </a:r>
            <a:endParaRPr/>
          </a:p>
        </p:txBody>
      </p:sp>
      <p:sp>
        <p:nvSpPr>
          <p:cNvPr id="408" name="Google Shape;408;p42"/>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00000"/>
              </a:lnSpc>
              <a:spcBef>
                <a:spcPts val="0"/>
              </a:spcBef>
              <a:spcAft>
                <a:spcPts val="0"/>
              </a:spcAft>
              <a:buClr>
                <a:schemeClr val="dk1"/>
              </a:buClr>
              <a:buSzPct val="92664"/>
              <a:buChar char="⬩"/>
            </a:pPr>
            <a:r>
              <a:rPr lang="en-US"/>
              <a:t>Emotional AI is a field of study that aims to automate the measurement of emotions and actions by employing affective computing and AI technology that can detect emotions from voice and facial expressions.</a:t>
            </a:r>
            <a:endParaRPr/>
          </a:p>
          <a:p>
            <a:pPr marL="228600" lvl="0" indent="-228600" algn="just" rtl="0">
              <a:lnSpc>
                <a:spcPct val="100000"/>
              </a:lnSpc>
              <a:spcBef>
                <a:spcPts val="1000"/>
              </a:spcBef>
              <a:spcAft>
                <a:spcPts val="0"/>
              </a:spcAft>
              <a:buClr>
                <a:schemeClr val="dk1"/>
              </a:buClr>
              <a:buSzPct val="92664"/>
              <a:buChar char="⬩"/>
            </a:pPr>
            <a:r>
              <a:rPr lang="en-US"/>
              <a:t>Affective computing is concerned with how to use computers to recognize and express emotions in the same way as humans do (Picard, 1998).</a:t>
            </a:r>
            <a:endParaRPr/>
          </a:p>
          <a:p>
            <a:pPr marL="228600" lvl="0" indent="-228600" algn="just" rtl="0">
              <a:lnSpc>
                <a:spcPct val="100000"/>
              </a:lnSpc>
              <a:spcBef>
                <a:spcPts val="1000"/>
              </a:spcBef>
              <a:spcAft>
                <a:spcPts val="0"/>
              </a:spcAft>
              <a:buClr>
                <a:schemeClr val="dk1"/>
              </a:buClr>
              <a:buSzPct val="92664"/>
              <a:buChar char="⬩"/>
            </a:pPr>
            <a:r>
              <a:rPr lang="en-US"/>
              <a:t>It includes creating new methods to assess frustration, tension, and moods by examining people's expressions and discussions, as well as providing means for people to transmit their emotional states through the novel and wearable sensors.</a:t>
            </a:r>
            <a:endParaRPr/>
          </a:p>
          <a:p>
            <a:pPr marL="228600" lvl="0" indent="-228600" algn="just" rtl="0">
              <a:lnSpc>
                <a:spcPct val="100000"/>
              </a:lnSpc>
              <a:spcBef>
                <a:spcPts val="1000"/>
              </a:spcBef>
              <a:spcAft>
                <a:spcPts val="0"/>
              </a:spcAft>
              <a:buClr>
                <a:schemeClr val="dk1"/>
              </a:buClr>
              <a:buSzPct val="92664"/>
              <a:buChar char="⬩"/>
            </a:pPr>
            <a:r>
              <a:rPr lang="en-US"/>
              <a:t>Example: forecasting what someone is most likely to buy online when feeling sad, bored, or happy.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3"/>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Techniques and Technology</a:t>
            </a:r>
            <a:endParaRPr/>
          </a:p>
        </p:txBody>
      </p:sp>
      <p:sp>
        <p:nvSpPr>
          <p:cNvPr id="414" name="Google Shape;414;p43"/>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400"/>
              <a:buChar char="⬩"/>
            </a:pPr>
            <a:r>
              <a:rPr lang="en-US"/>
              <a:t>Cameras for measuring facial expressions</a:t>
            </a:r>
            <a:endParaRPr/>
          </a:p>
          <a:p>
            <a:pPr marL="228600" lvl="0" indent="-228600" algn="just" rtl="0">
              <a:lnSpc>
                <a:spcPct val="100000"/>
              </a:lnSpc>
              <a:spcBef>
                <a:spcPts val="1000"/>
              </a:spcBef>
              <a:spcAft>
                <a:spcPts val="0"/>
              </a:spcAft>
              <a:buClr>
                <a:schemeClr val="dk1"/>
              </a:buClr>
              <a:buSzPts val="2400"/>
              <a:buChar char="⬩"/>
            </a:pPr>
            <a:r>
              <a:rPr lang="en-US"/>
              <a:t>Biosensors placed on fingers or palms to measure galvanic skin response (which is used to infer how anxious or nervous someone is as indicated by an increase in their sweat).</a:t>
            </a:r>
            <a:endParaRPr/>
          </a:p>
          <a:p>
            <a:pPr marL="228600" lvl="0" indent="-228600" algn="just" rtl="0">
              <a:lnSpc>
                <a:spcPct val="100000"/>
              </a:lnSpc>
              <a:spcBef>
                <a:spcPts val="1000"/>
              </a:spcBef>
              <a:spcAft>
                <a:spcPts val="0"/>
              </a:spcAft>
              <a:buClr>
                <a:schemeClr val="dk1"/>
              </a:buClr>
              <a:buSzPts val="2400"/>
              <a:buChar char="⬩"/>
            </a:pPr>
            <a:r>
              <a:rPr lang="en-US"/>
              <a:t>Affective expression in speech (voice quality, intonation, pitch, loudness, and rhythm).</a:t>
            </a:r>
            <a:endParaRPr/>
          </a:p>
          <a:p>
            <a:pPr marL="228600" lvl="0" indent="-228600" algn="just" rtl="0">
              <a:lnSpc>
                <a:spcPct val="100000"/>
              </a:lnSpc>
              <a:spcBef>
                <a:spcPts val="1000"/>
              </a:spcBef>
              <a:spcAft>
                <a:spcPts val="0"/>
              </a:spcAft>
              <a:buClr>
                <a:schemeClr val="dk1"/>
              </a:buClr>
              <a:buSzPts val="2400"/>
              <a:buChar char="⬩"/>
            </a:pPr>
            <a:r>
              <a:rPr lang="en-US"/>
              <a:t>Body movement and gestures, as detected by motion capture systems or accelerometer sensors placed on various parts of the body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44"/>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20" name="Google Shape;420;p44"/>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00000"/>
              </a:lnSpc>
              <a:spcBef>
                <a:spcPts val="0"/>
              </a:spcBef>
              <a:spcAft>
                <a:spcPts val="0"/>
              </a:spcAft>
              <a:buClr>
                <a:schemeClr val="dk1"/>
              </a:buClr>
              <a:buSzPts val="2400"/>
              <a:buChar char="⬩"/>
            </a:pPr>
            <a:r>
              <a:rPr lang="en-US"/>
              <a:t>gaining popularity in commercial settings, especially in marketing and e-commerce</a:t>
            </a:r>
            <a:endParaRPr/>
          </a:p>
          <a:p>
            <a:pPr marL="228600" lvl="0" indent="-228600" algn="just" rtl="0">
              <a:lnSpc>
                <a:spcPct val="100000"/>
              </a:lnSpc>
              <a:spcBef>
                <a:spcPts val="1000"/>
              </a:spcBef>
              <a:spcAft>
                <a:spcPts val="0"/>
              </a:spcAft>
              <a:buClr>
                <a:schemeClr val="dk1"/>
              </a:buClr>
              <a:buSzPts val="2400"/>
              <a:buChar char="⬩"/>
            </a:pPr>
            <a:r>
              <a:rPr lang="en-US"/>
              <a:t>Example: Affectiva's Affdex emotion analytics software uses computer vision and machine learning algorithms to catalog a user's emotional responses to digital content as recorded through a webcam.</a:t>
            </a:r>
            <a:endParaRPr/>
          </a:p>
          <a:p>
            <a:pPr marL="228600" lvl="0" indent="-228600" algn="just" rtl="0">
              <a:lnSpc>
                <a:spcPct val="100000"/>
              </a:lnSpc>
              <a:spcBef>
                <a:spcPts val="1000"/>
              </a:spcBef>
              <a:spcAft>
                <a:spcPts val="0"/>
              </a:spcAft>
              <a:buClr>
                <a:schemeClr val="dk1"/>
              </a:buClr>
              <a:buSzPts val="2400"/>
              <a:buChar char="⬩"/>
            </a:pPr>
            <a:r>
              <a:rPr lang="en-US"/>
              <a:t>This information is used to determine how engaged the user is with digital online content, such as movies, online stores, and advertisements.</a:t>
            </a:r>
            <a:endParaRPr/>
          </a:p>
          <a:p>
            <a:pPr marL="228600" lvl="0" indent="-228600" algn="just" rtl="0">
              <a:lnSpc>
                <a:spcPct val="100000"/>
              </a:lnSpc>
              <a:spcBef>
                <a:spcPts val="1000"/>
              </a:spcBef>
              <a:spcAft>
                <a:spcPts val="0"/>
              </a:spcAft>
              <a:buClr>
                <a:schemeClr val="dk1"/>
              </a:buClr>
              <a:buSzPts val="2400"/>
              <a:buChar char="⬩"/>
            </a:pPr>
            <a:r>
              <a:rPr lang="en-US"/>
              <a:t>Affectiva website: </a:t>
            </a:r>
            <a:r>
              <a:rPr lang="en-US" u="sng">
                <a:solidFill>
                  <a:schemeClr val="hlink"/>
                </a:solidFill>
                <a:hlinkClick r:id="rId3"/>
              </a:rPr>
              <a:t>https://www.affectiva.com/</a:t>
            </a:r>
            <a:endParaRPr/>
          </a:p>
          <a:p>
            <a:pPr marL="0" lvl="0" indent="0" algn="just" rtl="0">
              <a:lnSpc>
                <a:spcPct val="100000"/>
              </a:lnSpc>
              <a:spcBef>
                <a:spcPts val="1000"/>
              </a:spcBef>
              <a:spcAft>
                <a:spcPts val="0"/>
              </a:spcAft>
              <a:buClr>
                <a:schemeClr val="dk1"/>
              </a:buClr>
              <a:buSzPts val="2400"/>
              <a:buNone/>
            </a:pPr>
            <a:endParaRPr/>
          </a:p>
          <a:p>
            <a:pPr marL="228600" lvl="0" indent="-76200" algn="just" rtl="0">
              <a:lnSpc>
                <a:spcPct val="100000"/>
              </a:lnSpc>
              <a:spcBef>
                <a:spcPts val="1000"/>
              </a:spcBef>
              <a:spcAft>
                <a:spcPts val="0"/>
              </a:spcAft>
              <a:buClr>
                <a:schemeClr val="dk1"/>
              </a:buClr>
              <a:buSzPts val="2400"/>
              <a:buNone/>
            </a:pPr>
            <a:endParaRPr/>
          </a:p>
          <a:p>
            <a:pPr marL="0" lvl="0" indent="0" algn="just" rtl="0">
              <a:lnSpc>
                <a:spcPct val="100000"/>
              </a:lnSpc>
              <a:spcBef>
                <a:spcPts val="1000"/>
              </a:spcBef>
              <a:spcAft>
                <a:spcPts val="0"/>
              </a:spcAft>
              <a:buClr>
                <a:schemeClr val="dk1"/>
              </a:buClr>
              <a:buSzPts val="24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5"/>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26" name="Google Shape;426;p45"/>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dk1"/>
              </a:buClr>
              <a:buSzPts val="2400"/>
              <a:buNone/>
            </a:pPr>
            <a:r>
              <a:rPr lang="en-US"/>
              <a:t>Six fundamental emotions are classified based on the facial expressions that Affdex collects.</a:t>
            </a:r>
            <a:endParaRPr/>
          </a:p>
          <a:p>
            <a:pPr marL="228600" lvl="0" indent="-228600" algn="just" rtl="0">
              <a:lnSpc>
                <a:spcPct val="100000"/>
              </a:lnSpc>
              <a:spcBef>
                <a:spcPts val="1000"/>
              </a:spcBef>
              <a:spcAft>
                <a:spcPts val="0"/>
              </a:spcAft>
              <a:buClr>
                <a:schemeClr val="dk1"/>
              </a:buClr>
              <a:buSzPts val="2400"/>
              <a:buChar char="⬩"/>
            </a:pPr>
            <a:r>
              <a:rPr lang="en-US"/>
              <a:t>Anger</a:t>
            </a:r>
            <a:endParaRPr/>
          </a:p>
          <a:p>
            <a:pPr marL="228600" lvl="0" indent="-228600" algn="just" rtl="0">
              <a:lnSpc>
                <a:spcPct val="100000"/>
              </a:lnSpc>
              <a:spcBef>
                <a:spcPts val="1000"/>
              </a:spcBef>
              <a:spcAft>
                <a:spcPts val="0"/>
              </a:spcAft>
              <a:buClr>
                <a:schemeClr val="dk1"/>
              </a:buClr>
              <a:buSzPts val="2400"/>
              <a:buChar char="⬩"/>
            </a:pPr>
            <a:r>
              <a:rPr lang="en-US"/>
              <a:t>Contempt</a:t>
            </a:r>
            <a:endParaRPr/>
          </a:p>
          <a:p>
            <a:pPr marL="228600" lvl="0" indent="-228600" algn="just" rtl="0">
              <a:lnSpc>
                <a:spcPct val="100000"/>
              </a:lnSpc>
              <a:spcBef>
                <a:spcPts val="1000"/>
              </a:spcBef>
              <a:spcAft>
                <a:spcPts val="0"/>
              </a:spcAft>
              <a:buClr>
                <a:schemeClr val="dk1"/>
              </a:buClr>
              <a:buSzPts val="2400"/>
              <a:buChar char="⬩"/>
            </a:pPr>
            <a:r>
              <a:rPr lang="en-US"/>
              <a:t>Disgust</a:t>
            </a:r>
            <a:endParaRPr/>
          </a:p>
          <a:p>
            <a:pPr marL="228600" lvl="0" indent="-228600" algn="just" rtl="0">
              <a:lnSpc>
                <a:spcPct val="100000"/>
              </a:lnSpc>
              <a:spcBef>
                <a:spcPts val="1000"/>
              </a:spcBef>
              <a:spcAft>
                <a:spcPts val="0"/>
              </a:spcAft>
              <a:buClr>
                <a:schemeClr val="dk1"/>
              </a:buClr>
              <a:buSzPts val="2400"/>
              <a:buChar char="⬩"/>
            </a:pPr>
            <a:r>
              <a:rPr lang="en-US"/>
              <a:t>Fear</a:t>
            </a:r>
            <a:endParaRPr/>
          </a:p>
          <a:p>
            <a:pPr marL="228600" lvl="0" indent="-228600" algn="just" rtl="0">
              <a:lnSpc>
                <a:spcPct val="100000"/>
              </a:lnSpc>
              <a:spcBef>
                <a:spcPts val="1000"/>
              </a:spcBef>
              <a:spcAft>
                <a:spcPts val="0"/>
              </a:spcAft>
              <a:buClr>
                <a:schemeClr val="dk1"/>
              </a:buClr>
              <a:buSzPts val="2400"/>
              <a:buChar char="⬩"/>
            </a:pPr>
            <a:r>
              <a:rPr lang="en-US"/>
              <a:t>Joy</a:t>
            </a:r>
            <a:endParaRPr/>
          </a:p>
          <a:p>
            <a:pPr marL="228600" lvl="0" indent="-228600" algn="just" rtl="0">
              <a:lnSpc>
                <a:spcPct val="100000"/>
              </a:lnSpc>
              <a:spcBef>
                <a:spcPts val="1000"/>
              </a:spcBef>
              <a:spcAft>
                <a:spcPts val="0"/>
              </a:spcAft>
              <a:buClr>
                <a:schemeClr val="dk1"/>
              </a:buClr>
              <a:buSzPts val="2400"/>
              <a:buChar char="⬩"/>
            </a:pPr>
            <a:r>
              <a:rPr lang="en-US"/>
              <a:t>Sadness</a:t>
            </a:r>
            <a:endParaRPr/>
          </a:p>
          <a:p>
            <a:pPr marL="0" lvl="0" indent="0" algn="just" rtl="0">
              <a:lnSpc>
                <a:spcPct val="100000"/>
              </a:lnSpc>
              <a:spcBef>
                <a:spcPts val="1000"/>
              </a:spcBef>
              <a:spcAft>
                <a:spcPts val="0"/>
              </a:spcAft>
              <a:buClr>
                <a:schemeClr val="dk1"/>
              </a:buClr>
              <a:buSzPts val="2400"/>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6"/>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32" name="Google Shape;432;p46"/>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00000"/>
              </a:lnSpc>
              <a:spcBef>
                <a:spcPts val="0"/>
              </a:spcBef>
              <a:spcAft>
                <a:spcPts val="0"/>
              </a:spcAft>
              <a:buClr>
                <a:schemeClr val="dk1"/>
              </a:buClr>
              <a:buSzPts val="2400"/>
              <a:buChar char="⬩"/>
            </a:pPr>
            <a:r>
              <a:rPr lang="en-US"/>
              <a:t>Smiling</a:t>
            </a:r>
            <a:endParaRPr/>
          </a:p>
          <a:p>
            <a:pPr marL="228600" lvl="0" indent="-228600" algn="just" rtl="0">
              <a:lnSpc>
                <a:spcPct val="100000"/>
              </a:lnSpc>
              <a:spcBef>
                <a:spcPts val="1000"/>
              </a:spcBef>
              <a:spcAft>
                <a:spcPts val="0"/>
              </a:spcAft>
              <a:buClr>
                <a:schemeClr val="dk1"/>
              </a:buClr>
              <a:buSzPts val="2400"/>
              <a:buChar char="⬩"/>
            </a:pPr>
            <a:r>
              <a:rPr lang="en-US"/>
              <a:t>Eye widening</a:t>
            </a:r>
            <a:endParaRPr/>
          </a:p>
          <a:p>
            <a:pPr marL="228600" lvl="0" indent="-228600" algn="just" rtl="0">
              <a:lnSpc>
                <a:spcPct val="100000"/>
              </a:lnSpc>
              <a:spcBef>
                <a:spcPts val="1000"/>
              </a:spcBef>
              <a:spcAft>
                <a:spcPts val="0"/>
              </a:spcAft>
              <a:buClr>
                <a:schemeClr val="dk1"/>
              </a:buClr>
              <a:buSzPts val="2400"/>
              <a:buChar char="⬩"/>
            </a:pPr>
            <a:r>
              <a:rPr lang="en-US"/>
              <a:t>Brow raising</a:t>
            </a:r>
            <a:endParaRPr/>
          </a:p>
          <a:p>
            <a:pPr marL="228600" lvl="0" indent="-228600" algn="just" rtl="0">
              <a:lnSpc>
                <a:spcPct val="100000"/>
              </a:lnSpc>
              <a:spcBef>
                <a:spcPts val="1000"/>
              </a:spcBef>
              <a:spcAft>
                <a:spcPts val="0"/>
              </a:spcAft>
              <a:buClr>
                <a:schemeClr val="dk1"/>
              </a:buClr>
              <a:buSzPts val="2400"/>
              <a:buChar char="⬩"/>
            </a:pPr>
            <a:r>
              <a:rPr lang="en-US"/>
              <a:t>Brow furrowing</a:t>
            </a:r>
            <a:endParaRPr/>
          </a:p>
          <a:p>
            <a:pPr marL="228600" lvl="0" indent="-228600" algn="just" rtl="0">
              <a:lnSpc>
                <a:spcPct val="100000"/>
              </a:lnSpc>
              <a:spcBef>
                <a:spcPts val="1000"/>
              </a:spcBef>
              <a:spcAft>
                <a:spcPts val="0"/>
              </a:spcAft>
              <a:buClr>
                <a:schemeClr val="dk1"/>
              </a:buClr>
              <a:buSzPts val="2400"/>
              <a:buChar char="⬩"/>
            </a:pPr>
            <a:r>
              <a:rPr lang="en-US"/>
              <a:t>Raising a cheek</a:t>
            </a:r>
            <a:endParaRPr/>
          </a:p>
          <a:p>
            <a:pPr marL="228600" lvl="0" indent="-228600" algn="just" rtl="0">
              <a:lnSpc>
                <a:spcPct val="100000"/>
              </a:lnSpc>
              <a:spcBef>
                <a:spcPts val="1000"/>
              </a:spcBef>
              <a:spcAft>
                <a:spcPts val="0"/>
              </a:spcAft>
              <a:buClr>
                <a:schemeClr val="dk1"/>
              </a:buClr>
              <a:buSzPts val="2400"/>
              <a:buChar char="⬩"/>
            </a:pPr>
            <a:r>
              <a:rPr lang="en-US"/>
              <a:t>Mouth opening</a:t>
            </a:r>
            <a:endParaRPr/>
          </a:p>
          <a:p>
            <a:pPr marL="228600" lvl="0" indent="-228600" algn="just" rtl="0">
              <a:lnSpc>
                <a:spcPct val="100000"/>
              </a:lnSpc>
              <a:spcBef>
                <a:spcPts val="1000"/>
              </a:spcBef>
              <a:spcAft>
                <a:spcPts val="0"/>
              </a:spcAft>
              <a:buClr>
                <a:schemeClr val="dk1"/>
              </a:buClr>
              <a:buSzPts val="2400"/>
              <a:buChar char="⬩"/>
            </a:pPr>
            <a:r>
              <a:rPr lang="en-US"/>
              <a:t>Upper-lip raising</a:t>
            </a:r>
            <a:endParaRPr/>
          </a:p>
          <a:p>
            <a:pPr marL="228600" lvl="0" indent="-228600" algn="just" rtl="0">
              <a:lnSpc>
                <a:spcPct val="100000"/>
              </a:lnSpc>
              <a:spcBef>
                <a:spcPts val="1000"/>
              </a:spcBef>
              <a:spcAft>
                <a:spcPts val="0"/>
              </a:spcAft>
              <a:buClr>
                <a:schemeClr val="dk1"/>
              </a:buClr>
              <a:buSzPts val="2400"/>
              <a:buChar char="⬩"/>
            </a:pPr>
            <a:r>
              <a:rPr lang="en-US"/>
              <a:t>Wrinkling of the nose</a:t>
            </a:r>
            <a:endParaRPr/>
          </a:p>
          <a:p>
            <a:pPr marL="0" lvl="0" indent="0" algn="just" rtl="0">
              <a:lnSpc>
                <a:spcPct val="100000"/>
              </a:lnSpc>
              <a:spcBef>
                <a:spcPts val="1000"/>
              </a:spcBef>
              <a:spcAft>
                <a:spcPts val="0"/>
              </a:spcAft>
              <a:buClr>
                <a:schemeClr val="dk1"/>
              </a:buClr>
              <a:buSzPts val="2400"/>
              <a:buNone/>
            </a:pPr>
            <a:endParaRPr/>
          </a:p>
        </p:txBody>
      </p:sp>
      <p:pic>
        <p:nvPicPr>
          <p:cNvPr id="433" name="Google Shape;433;p46" descr="A picture containing text, person, holding, indoor&#10;&#10;Description automatically generated"/>
          <p:cNvPicPr preferRelativeResize="0"/>
          <p:nvPr/>
        </p:nvPicPr>
        <p:blipFill rotWithShape="1">
          <a:blip r:embed="rId3">
            <a:alphaModFix/>
          </a:blip>
          <a:srcRect/>
          <a:stretch/>
        </p:blipFill>
        <p:spPr>
          <a:xfrm>
            <a:off x="6983809" y="1825625"/>
            <a:ext cx="3653090" cy="406814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7"/>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39" name="Google Shape;439;p47"/>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400"/>
              <a:buChar char="⬩"/>
            </a:pPr>
            <a:r>
              <a:rPr lang="en-US"/>
              <a:t>When a person is browsing, Based on the emotional state at that point, the website can adapt its ad, movie storyline or content.</a:t>
            </a:r>
            <a:endParaRPr/>
          </a:p>
          <a:p>
            <a:pPr marL="228600" lvl="0" indent="-228600" algn="just" rtl="0">
              <a:lnSpc>
                <a:spcPct val="100000"/>
              </a:lnSpc>
              <a:spcBef>
                <a:spcPts val="1000"/>
              </a:spcBef>
              <a:spcAft>
                <a:spcPts val="0"/>
              </a:spcAft>
              <a:buClr>
                <a:schemeClr val="dk1"/>
              </a:buClr>
              <a:buSzPts val="2400"/>
              <a:buChar char="⬩"/>
            </a:pPr>
            <a:r>
              <a:rPr lang="en-US"/>
              <a:t>If a user screws up their face when an ad pops up, this suggests that they feel disgust.</a:t>
            </a:r>
            <a:endParaRPr/>
          </a:p>
          <a:p>
            <a:pPr marL="228600" lvl="0" indent="-228600" algn="just" rtl="0">
              <a:lnSpc>
                <a:spcPct val="100000"/>
              </a:lnSpc>
              <a:spcBef>
                <a:spcPts val="1000"/>
              </a:spcBef>
              <a:spcAft>
                <a:spcPts val="0"/>
              </a:spcAft>
              <a:buClr>
                <a:schemeClr val="dk1"/>
              </a:buClr>
              <a:buSzPts val="2400"/>
              <a:buChar char="⬩"/>
            </a:pPr>
            <a:r>
              <a:rPr lang="en-US"/>
              <a:t>Whereas if they start smiling, it suggests that they are feeling happy.</a:t>
            </a:r>
            <a:endParaRPr/>
          </a:p>
          <a:p>
            <a:pPr marL="228600" lvl="0" indent="-228600" algn="just" rtl="0">
              <a:lnSpc>
                <a:spcPct val="100000"/>
              </a:lnSpc>
              <a:spcBef>
                <a:spcPts val="1000"/>
              </a:spcBef>
              <a:spcAft>
                <a:spcPts val="0"/>
              </a:spcAft>
              <a:buClr>
                <a:schemeClr val="dk1"/>
              </a:buClr>
              <a:buSzPts val="2400"/>
              <a:buChar char="⬩"/>
            </a:pPr>
            <a:r>
              <a:rPr lang="en-US"/>
              <a:t>This information is used to determine how engaged the user is with digital online content, such as movies, online stores, and advertisements.</a:t>
            </a:r>
            <a:endParaRPr/>
          </a:p>
          <a:p>
            <a:pPr marL="0" lvl="0" indent="0" algn="just" rtl="0">
              <a:lnSpc>
                <a:spcPct val="100000"/>
              </a:lnSpc>
              <a:spcBef>
                <a:spcPts val="1000"/>
              </a:spcBef>
              <a:spcAft>
                <a:spcPts val="0"/>
              </a:spcAft>
              <a:buClr>
                <a:schemeClr val="dk1"/>
              </a:buClr>
              <a:buSzPts val="2400"/>
              <a:buNone/>
            </a:pPr>
            <a:endParaRPr/>
          </a:p>
          <a:p>
            <a:pPr marL="228600" lvl="0" indent="-76200" algn="just" rtl="0">
              <a:lnSpc>
                <a:spcPct val="100000"/>
              </a:lnSpc>
              <a:spcBef>
                <a:spcPts val="1000"/>
              </a:spcBef>
              <a:spcAft>
                <a:spcPts val="0"/>
              </a:spcAft>
              <a:buClr>
                <a:schemeClr val="dk1"/>
              </a:buClr>
              <a:buSzPts val="2400"/>
              <a:buNone/>
            </a:pPr>
            <a:endParaRPr/>
          </a:p>
          <a:p>
            <a:pPr marL="0" lvl="0" indent="0" algn="just" rtl="0">
              <a:lnSpc>
                <a:spcPct val="100000"/>
              </a:lnSpc>
              <a:spcBef>
                <a:spcPts val="1000"/>
              </a:spcBef>
              <a:spcAft>
                <a:spcPts val="0"/>
              </a:spcAft>
              <a:buClr>
                <a:schemeClr val="dk1"/>
              </a:buClr>
              <a:buSzPts val="24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8"/>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45" name="Google Shape;445;p48"/>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100000"/>
              </a:lnSpc>
              <a:spcBef>
                <a:spcPts val="0"/>
              </a:spcBef>
              <a:spcAft>
                <a:spcPts val="0"/>
              </a:spcAft>
              <a:buClr>
                <a:schemeClr val="dk1"/>
              </a:buClr>
              <a:buSzPct val="92664"/>
              <a:buChar char="⬩"/>
            </a:pPr>
            <a:r>
              <a:rPr lang="en-US"/>
              <a:t>Affectiva has also started to analyze drivers’ facial expressions when on the road with the goal of improving driver safety.</a:t>
            </a:r>
            <a:endParaRPr/>
          </a:p>
          <a:p>
            <a:pPr marL="228600" lvl="0" indent="-228600" algn="just" rtl="0">
              <a:lnSpc>
                <a:spcPct val="100000"/>
              </a:lnSpc>
              <a:spcBef>
                <a:spcPts val="1000"/>
              </a:spcBef>
              <a:spcAft>
                <a:spcPts val="0"/>
              </a:spcAft>
              <a:buClr>
                <a:schemeClr val="dk1"/>
              </a:buClr>
              <a:buSzPct val="92664"/>
              <a:buChar char="⬩"/>
            </a:pPr>
            <a:r>
              <a:rPr lang="en-US"/>
              <a:t>Example: a virtual agent in the car might suggest to the driver to take a deep breath and play soothing music to help relax them. In addition to identifying particular emotions through facial expressions (for example, joy, anger, and surprise), Affectiva uses particular markers to detect drowsiness. These are eye closure, yawning, and blinking rate.</a:t>
            </a:r>
            <a:endParaRPr/>
          </a:p>
          <a:p>
            <a:pPr marL="228600" lvl="0" indent="-228600" algn="just" rtl="0">
              <a:lnSpc>
                <a:spcPct val="100000"/>
              </a:lnSpc>
              <a:spcBef>
                <a:spcPts val="1000"/>
              </a:spcBef>
              <a:spcAft>
                <a:spcPts val="0"/>
              </a:spcAft>
              <a:buClr>
                <a:schemeClr val="dk1"/>
              </a:buClr>
              <a:buSzPct val="92664"/>
              <a:buChar char="⬩"/>
            </a:pPr>
            <a:r>
              <a:rPr lang="en-US"/>
              <a:t>Again, upon detecting when a threshold has been reached for these facial expressions, the software might trigger an action, such as getting a virtual agent to suggest to the driver that they pull over where it is safe to do so.</a:t>
            </a:r>
            <a:endParaRPr/>
          </a:p>
          <a:p>
            <a:pPr marL="228600" lvl="0" indent="-76200" algn="just" rtl="0">
              <a:lnSpc>
                <a:spcPct val="100000"/>
              </a:lnSpc>
              <a:spcBef>
                <a:spcPts val="1000"/>
              </a:spcBef>
              <a:spcAft>
                <a:spcPts val="0"/>
              </a:spcAft>
              <a:buClr>
                <a:schemeClr val="dk1"/>
              </a:buClr>
              <a:buSzPct val="92664"/>
              <a:buNone/>
            </a:pPr>
            <a:endParaRPr/>
          </a:p>
          <a:p>
            <a:pPr marL="0" lvl="0" indent="0" algn="just" rtl="0">
              <a:lnSpc>
                <a:spcPct val="100000"/>
              </a:lnSpc>
              <a:spcBef>
                <a:spcPts val="1000"/>
              </a:spcBef>
              <a:spcAft>
                <a:spcPts val="0"/>
              </a:spcAft>
              <a:buClr>
                <a:schemeClr val="dk1"/>
              </a:buClr>
              <a:buSzPct val="92664"/>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9"/>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51" name="Google Shape;451;p49"/>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00000"/>
              </a:lnSpc>
              <a:spcBef>
                <a:spcPts val="0"/>
              </a:spcBef>
              <a:spcAft>
                <a:spcPts val="0"/>
              </a:spcAft>
              <a:buClr>
                <a:schemeClr val="dk1"/>
              </a:buClr>
              <a:buSzPct val="92664"/>
              <a:buChar char="⬩"/>
            </a:pPr>
            <a:r>
              <a:rPr lang="en-US"/>
              <a:t>There are some other indirect methods to reveal the emotional state of someone include eye-tracking, finger pulse, speech, and the words/phrases they use when tweeting, chatting online, or posting to Facebook (van den Broek, 2013).</a:t>
            </a:r>
            <a:endParaRPr/>
          </a:p>
          <a:p>
            <a:pPr marL="228600" lvl="0" indent="-228600" algn="just" rtl="0">
              <a:lnSpc>
                <a:spcPct val="100000"/>
              </a:lnSpc>
              <a:spcBef>
                <a:spcPts val="1000"/>
              </a:spcBef>
              <a:spcAft>
                <a:spcPts val="0"/>
              </a:spcAft>
              <a:buClr>
                <a:schemeClr val="dk1"/>
              </a:buClr>
              <a:buSzPct val="92664"/>
              <a:buChar char="⬩"/>
            </a:pPr>
            <a:r>
              <a:rPr lang="en-US"/>
              <a:t>The level of affect expressed by users, the language they use, and the frequency with which they express themselves when using social media can all indicate their mental state, well-being, and aspects of their personality (for instance, whether they are an extrovert or introvert, neurotic or calm, and so on).</a:t>
            </a:r>
            <a:endParaRPr/>
          </a:p>
          <a:p>
            <a:pPr marL="228600" lvl="0" indent="-228600" algn="just" rtl="0">
              <a:lnSpc>
                <a:spcPct val="100000"/>
              </a:lnSpc>
              <a:spcBef>
                <a:spcPts val="1000"/>
              </a:spcBef>
              <a:spcAft>
                <a:spcPts val="0"/>
              </a:spcAft>
              <a:buClr>
                <a:schemeClr val="dk1"/>
              </a:buClr>
              <a:buSzPct val="92664"/>
              <a:buChar char="⬩"/>
            </a:pPr>
            <a:r>
              <a:rPr lang="en-US"/>
              <a:t>This type of indirect emotion detection is beginning to be used to help infer or predict someone’s behavior, for example, determining their suitability for a job or how they will vote in an election.</a:t>
            </a:r>
            <a:endParaRPr/>
          </a:p>
          <a:p>
            <a:pPr marL="228600" lvl="0" indent="-76200" algn="just" rtl="0">
              <a:lnSpc>
                <a:spcPct val="100000"/>
              </a:lnSpc>
              <a:spcBef>
                <a:spcPts val="1000"/>
              </a:spcBef>
              <a:spcAft>
                <a:spcPts val="0"/>
              </a:spcAft>
              <a:buClr>
                <a:schemeClr val="dk1"/>
              </a:buClr>
              <a:buSzPct val="92664"/>
              <a:buNone/>
            </a:pPr>
            <a:endParaRPr/>
          </a:p>
          <a:p>
            <a:pPr marL="0" lvl="0" indent="0" algn="just" rtl="0">
              <a:lnSpc>
                <a:spcPct val="100000"/>
              </a:lnSpc>
              <a:spcBef>
                <a:spcPts val="1000"/>
              </a:spcBef>
              <a:spcAft>
                <a:spcPts val="0"/>
              </a:spcAft>
              <a:buClr>
                <a:schemeClr val="dk1"/>
              </a:buClr>
              <a:buSzPct val="92664"/>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0"/>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Automated facial expressions</a:t>
            </a:r>
            <a:endParaRPr/>
          </a:p>
        </p:txBody>
      </p:sp>
      <p:sp>
        <p:nvSpPr>
          <p:cNvPr id="457" name="Google Shape;457;p50"/>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a:bodyPr>
          <a:lstStyle/>
          <a:p>
            <a:pPr marL="228600" lvl="0" indent="-76200" algn="just" rtl="0">
              <a:lnSpc>
                <a:spcPct val="100000"/>
              </a:lnSpc>
              <a:spcBef>
                <a:spcPts val="0"/>
              </a:spcBef>
              <a:spcAft>
                <a:spcPts val="0"/>
              </a:spcAft>
              <a:buClr>
                <a:schemeClr val="dk1"/>
              </a:buClr>
              <a:buSzPts val="2400"/>
              <a:buNone/>
            </a:pPr>
            <a:endParaRPr/>
          </a:p>
          <a:p>
            <a:pPr marL="0" lvl="0" indent="0" algn="just" rtl="0">
              <a:lnSpc>
                <a:spcPct val="100000"/>
              </a:lnSpc>
              <a:spcBef>
                <a:spcPts val="1000"/>
              </a:spcBef>
              <a:spcAft>
                <a:spcPts val="0"/>
              </a:spcAft>
              <a:buClr>
                <a:schemeClr val="dk1"/>
              </a:buClr>
              <a:buSzPts val="2400"/>
              <a:buNone/>
            </a:pPr>
            <a:endParaRPr/>
          </a:p>
        </p:txBody>
      </p:sp>
      <p:pic>
        <p:nvPicPr>
          <p:cNvPr id="458" name="Google Shape;458;p50"/>
          <p:cNvPicPr preferRelativeResize="0"/>
          <p:nvPr/>
        </p:nvPicPr>
        <p:blipFill rotWithShape="1">
          <a:blip r:embed="rId3">
            <a:alphaModFix/>
          </a:blip>
          <a:srcRect/>
          <a:stretch/>
        </p:blipFill>
        <p:spPr>
          <a:xfrm>
            <a:off x="503853" y="1502229"/>
            <a:ext cx="10935477" cy="466530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1"/>
          <p:cNvSpPr txBox="1">
            <a:spLocks noGrp="1"/>
          </p:cNvSpPr>
          <p:nvPr>
            <p:ph type="title"/>
          </p:nvPr>
        </p:nvSpPr>
        <p:spPr>
          <a:xfrm>
            <a:off x="420624" y="365125"/>
            <a:ext cx="1054303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5200"/>
              <a:buFont typeface="Arial"/>
              <a:buNone/>
            </a:pPr>
            <a:r>
              <a:rPr lang="en-US"/>
              <a:t>Activity</a:t>
            </a:r>
            <a:endParaRPr/>
          </a:p>
        </p:txBody>
      </p:sp>
      <p:sp>
        <p:nvSpPr>
          <p:cNvPr id="464" name="Google Shape;464;p51"/>
          <p:cNvSpPr txBox="1">
            <a:spLocks noGrp="1"/>
          </p:cNvSpPr>
          <p:nvPr>
            <p:ph type="body" idx="1"/>
          </p:nvPr>
        </p:nvSpPr>
        <p:spPr>
          <a:xfrm>
            <a:off x="420625" y="1825625"/>
            <a:ext cx="10543031" cy="4206383"/>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400"/>
              <a:buNone/>
            </a:pPr>
            <a:r>
              <a:rPr lang="en-US" b="1"/>
              <a:t>Is It OK for Technology to Work Out How You Are Feeling?</a:t>
            </a:r>
            <a:endParaRPr/>
          </a:p>
          <a:p>
            <a:pPr marL="228600" lvl="0" indent="-228600" algn="just" rtl="0">
              <a:lnSpc>
                <a:spcPct val="100000"/>
              </a:lnSpc>
              <a:spcBef>
                <a:spcPts val="1000"/>
              </a:spcBef>
              <a:spcAft>
                <a:spcPts val="0"/>
              </a:spcAft>
              <a:buClr>
                <a:schemeClr val="dk1"/>
              </a:buClr>
              <a:buSzPts val="2400"/>
              <a:buChar char="⬩"/>
            </a:pPr>
            <a:r>
              <a:rPr lang="en-US"/>
              <a:t>Do you think it is ethical that technology is trying to read your emotions from your facial expressions or from what you write in your tweets and, based on its analysis, filter the online content that you are browsing, such as ads, news, or a movie to match your mood? Might some people think it is an invasion of their privacy?</a:t>
            </a:r>
            <a:endParaRPr/>
          </a:p>
          <a:p>
            <a:pPr marL="0" lvl="0" indent="0" algn="just" rtl="0">
              <a:lnSpc>
                <a:spcPct val="100000"/>
              </a:lnSpc>
              <a:spcBef>
                <a:spcPts val="1000"/>
              </a:spcBef>
              <a:spcAft>
                <a:spcPts val="0"/>
              </a:spcAft>
              <a:buClr>
                <a:schemeClr val="dk1"/>
              </a:buClr>
              <a:buSzPts val="24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2"/>
          <p:cNvSpPr txBox="1">
            <a:spLocks noGrp="1"/>
          </p:cNvSpPr>
          <p:nvPr>
            <p:ph type="subTitle" idx="1"/>
          </p:nvPr>
        </p:nvSpPr>
        <p:spPr>
          <a:xfrm>
            <a:off x="0" y="0"/>
            <a:ext cx="12192000" cy="6858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1800"/>
              <a:buNone/>
            </a:pPr>
            <a:endParaRPr sz="1800" b="1" u="sng">
              <a:latin typeface="Calibri"/>
              <a:ea typeface="Calibri"/>
              <a:cs typeface="Calibri"/>
              <a:sym typeface="Calibri"/>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rgbClr val="2D3B45"/>
              </a:buClr>
              <a:buSzPts val="2400"/>
              <a:buNone/>
            </a:pPr>
            <a:r>
              <a:rPr lang="en-US" b="1" u="sng">
                <a:solidFill>
                  <a:srgbClr val="2D3B45"/>
                </a:solidFill>
                <a:latin typeface="Helvetica Neue"/>
                <a:ea typeface="Helvetica Neue"/>
                <a:cs typeface="Helvetica Neue"/>
                <a:sym typeface="Helvetica Neue"/>
              </a:rPr>
              <a:t>Daniel Topic: 6.6 Persuasive Technologies and Behavioral Change &amp; 6.7 Anthropomorphism</a:t>
            </a: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1600"/>
              <a:buNone/>
            </a:pP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6.6 Persuasive Technologies and Behavioral Change </a:t>
            </a:r>
            <a:endParaRPr/>
          </a:p>
        </p:txBody>
      </p:sp>
      <p:sp>
        <p:nvSpPr>
          <p:cNvPr id="475" name="Google Shape;475;p5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Daniel Benjamin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What is Persuasive Design?</a:t>
            </a:r>
            <a:endParaRPr/>
          </a:p>
        </p:txBody>
      </p:sp>
      <p:sp>
        <p:nvSpPr>
          <p:cNvPr id="481" name="Google Shape;481;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 An area of design practice that focuses on influencing human behavior through a product’s or service’s characteristics. </a:t>
            </a:r>
            <a:endParaRPr/>
          </a:p>
          <a:p>
            <a:pPr marL="228600" lvl="0" indent="-228600" algn="l" rtl="0">
              <a:lnSpc>
                <a:spcPct val="90000"/>
              </a:lnSpc>
              <a:spcBef>
                <a:spcPts val="1000"/>
              </a:spcBef>
              <a:spcAft>
                <a:spcPts val="0"/>
              </a:spcAft>
              <a:buClr>
                <a:schemeClr val="dk1"/>
              </a:buClr>
              <a:buSzPts val="2800"/>
              <a:buChar char="•"/>
            </a:pPr>
            <a:r>
              <a:rPr lang="en-US"/>
              <a:t>Based on psychological and social theories, persuasive design is often used in e-commerce, organizational management, and public health.</a:t>
            </a:r>
            <a:endParaRPr/>
          </a:p>
          <a:p>
            <a:pPr marL="228600" lvl="0" indent="-228600" algn="l" rtl="0">
              <a:lnSpc>
                <a:spcPct val="90000"/>
              </a:lnSpc>
              <a:spcBef>
                <a:spcPts val="1000"/>
              </a:spcBef>
              <a:spcAft>
                <a:spcPts val="0"/>
              </a:spcAft>
              <a:buClr>
                <a:schemeClr val="dk1"/>
              </a:buClr>
              <a:buSzPts val="2800"/>
              <a:buChar char="•"/>
            </a:pPr>
            <a:r>
              <a:rPr lang="en-US"/>
              <a:t>Techniques include enticing , cajoling, or nudging someone into doing something through the use of persuasive technology</a:t>
            </a:r>
            <a:endParaRPr/>
          </a:p>
          <a:p>
            <a:pPr marL="228600" lvl="0" indent="-190500" algn="l" rtl="0">
              <a:lnSpc>
                <a:spcPct val="90000"/>
              </a:lnSpc>
              <a:spcBef>
                <a:spcPts val="1000"/>
              </a:spcBef>
              <a:spcAft>
                <a:spcPts val="0"/>
              </a:spcAft>
              <a:buClr>
                <a:schemeClr val="dk1"/>
              </a:buClr>
              <a:buSzPts val="600"/>
              <a:buNone/>
            </a:pPr>
            <a:endParaRPr sz="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What is Persuasive Technology?</a:t>
            </a:r>
            <a:endParaRPr/>
          </a:p>
        </p:txBody>
      </p:sp>
      <p:sp>
        <p:nvSpPr>
          <p:cNvPr id="487" name="Google Shape;487;p5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1" indent="0" algn="l" rtl="0">
              <a:lnSpc>
                <a:spcPct val="90000"/>
              </a:lnSpc>
              <a:spcBef>
                <a:spcPts val="0"/>
              </a:spcBef>
              <a:spcAft>
                <a:spcPts val="0"/>
              </a:spcAft>
              <a:buClr>
                <a:schemeClr val="dk1"/>
              </a:buClr>
              <a:buSzPts val="2400"/>
              <a:buNone/>
            </a:pPr>
            <a:endParaRPr sz="2400"/>
          </a:p>
          <a:p>
            <a:pPr marL="228600" lvl="0" indent="-228600" algn="l" rtl="0">
              <a:lnSpc>
                <a:spcPct val="90000"/>
              </a:lnSpc>
              <a:spcBef>
                <a:spcPts val="1000"/>
              </a:spcBef>
              <a:spcAft>
                <a:spcPts val="0"/>
              </a:spcAft>
              <a:buClr>
                <a:schemeClr val="dk1"/>
              </a:buClr>
              <a:buSzPts val="2800"/>
              <a:buChar char="•"/>
            </a:pPr>
            <a:r>
              <a:rPr lang="en-US"/>
              <a:t> Type of technology designed to change attitude or behavior of users. </a:t>
            </a:r>
            <a:endParaRPr/>
          </a:p>
          <a:p>
            <a:pPr marL="228600" lvl="0" indent="-228600" algn="l" rtl="0">
              <a:lnSpc>
                <a:spcPct val="90000"/>
              </a:lnSpc>
              <a:spcBef>
                <a:spcPts val="1000"/>
              </a:spcBef>
              <a:spcAft>
                <a:spcPts val="0"/>
              </a:spcAft>
              <a:buClr>
                <a:schemeClr val="dk1"/>
              </a:buClr>
              <a:buSzPts val="2800"/>
              <a:buChar char="•"/>
            </a:pPr>
            <a:r>
              <a:rPr lang="en-US"/>
              <a:t> Emphasis is on changing someone's habits or doing something that will improve an individual's well-being through monitoring their behavior. </a:t>
            </a:r>
            <a:endParaRPr/>
          </a:p>
          <a:p>
            <a:pPr marL="0" lvl="0" indent="0" algn="l" rtl="0">
              <a:lnSpc>
                <a:spcPct val="90000"/>
              </a:lnSpc>
              <a:spcBef>
                <a:spcPts val="1000"/>
              </a:spcBef>
              <a:spcAft>
                <a:spcPts val="0"/>
              </a:spcAft>
              <a:buClr>
                <a:schemeClr val="dk1"/>
              </a:buClr>
              <a:buSzPts val="2800"/>
              <a:buNone/>
            </a:pPr>
            <a:endParaRPr/>
          </a:p>
          <a:p>
            <a:pPr marL="457200" lvl="1" indent="0" algn="l" rtl="0">
              <a:lnSpc>
                <a:spcPct val="90000"/>
              </a:lnSpc>
              <a:spcBef>
                <a:spcPts val="500"/>
              </a:spcBef>
              <a:spcAft>
                <a:spcPts val="0"/>
              </a:spcAft>
              <a:buClr>
                <a:schemeClr val="dk1"/>
              </a:buClr>
              <a:buSzPts val="2400"/>
              <a:buNone/>
            </a:pPr>
            <a:r>
              <a:rPr lang="en-US"/>
              <a:t> </a:t>
            </a:r>
            <a:endParaRPr/>
          </a:p>
          <a:p>
            <a:pPr marL="457200" lvl="1" indent="0" algn="l" rtl="0">
              <a:lnSpc>
                <a:spcPct val="90000"/>
              </a:lnSpc>
              <a:spcBef>
                <a:spcPts val="500"/>
              </a:spcBef>
              <a:spcAft>
                <a:spcPts val="0"/>
              </a:spcAft>
              <a:buClr>
                <a:schemeClr val="dk1"/>
              </a:buClr>
              <a:buSzPts val="2400"/>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Examples of Persuasive Technologies</a:t>
            </a:r>
            <a:endParaRPr/>
          </a:p>
        </p:txBody>
      </p:sp>
      <p:sp>
        <p:nvSpPr>
          <p:cNvPr id="493" name="Google Shape;493;p56"/>
          <p:cNvSpPr txBox="1">
            <a:spLocks noGrp="1"/>
          </p:cNvSpPr>
          <p:nvPr>
            <p:ph type="body" idx="1"/>
          </p:nvPr>
        </p:nvSpPr>
        <p:spPr>
          <a:xfrm>
            <a:off x="838200" y="1825625"/>
            <a:ext cx="5063836" cy="3827030"/>
          </a:xfrm>
          <a:prstGeom prst="rect">
            <a:avLst/>
          </a:prstGeom>
          <a:noFill/>
          <a:ln>
            <a:noFill/>
          </a:ln>
        </p:spPr>
        <p:txBody>
          <a:bodyPr spcFirstLastPara="1" wrap="square" lIns="91425" tIns="45700" rIns="91425" bIns="45700" anchor="t" anchorCtr="0">
            <a:normAutofit lnSpcReduction="10000"/>
          </a:bodyPr>
          <a:lstStyle/>
          <a:p>
            <a:pPr marL="685800" lvl="1" indent="-228600" algn="l" rtl="0">
              <a:lnSpc>
                <a:spcPct val="90000"/>
              </a:lnSpc>
              <a:spcBef>
                <a:spcPts val="0"/>
              </a:spcBef>
              <a:spcAft>
                <a:spcPts val="0"/>
              </a:spcAft>
              <a:buClr>
                <a:schemeClr val="dk1"/>
              </a:buClr>
              <a:buSzPts val="2400"/>
              <a:buChar char="•"/>
            </a:pPr>
            <a:r>
              <a:rPr lang="en-US"/>
              <a:t>Nintendo's Pokémon Pikachu 	</a:t>
            </a:r>
            <a:endParaRPr/>
          </a:p>
          <a:p>
            <a:pPr marL="1143000" lvl="2" indent="-228600" algn="l" rtl="0">
              <a:lnSpc>
                <a:spcPct val="90000"/>
              </a:lnSpc>
              <a:spcBef>
                <a:spcPts val="500"/>
              </a:spcBef>
              <a:spcAft>
                <a:spcPts val="0"/>
              </a:spcAft>
              <a:buClr>
                <a:schemeClr val="dk1"/>
              </a:buClr>
              <a:buSzPts val="2000"/>
              <a:buChar char="•"/>
            </a:pPr>
            <a:r>
              <a:rPr lang="en-US"/>
              <a:t>Designed to motivate children to be more physically active on a consistent basis</a:t>
            </a:r>
            <a:endParaRPr/>
          </a:p>
          <a:p>
            <a:pPr marL="1143000" lvl="2" indent="-228600" algn="l" rtl="0">
              <a:lnSpc>
                <a:spcPct val="90000"/>
              </a:lnSpc>
              <a:spcBef>
                <a:spcPts val="500"/>
              </a:spcBef>
              <a:spcAft>
                <a:spcPts val="0"/>
              </a:spcAft>
              <a:buClr>
                <a:schemeClr val="dk1"/>
              </a:buClr>
              <a:buSzPts val="2000"/>
              <a:buChar char="•"/>
            </a:pPr>
            <a:r>
              <a:rPr lang="en-US"/>
              <a:t>Owner of pet that lives in device was required to walk, run, or jump each day to keep it alive</a:t>
            </a:r>
            <a:endParaRPr/>
          </a:p>
          <a:p>
            <a:pPr marL="1143000" lvl="2" indent="-228600" algn="l" rtl="0">
              <a:lnSpc>
                <a:spcPct val="90000"/>
              </a:lnSpc>
              <a:spcBef>
                <a:spcPts val="500"/>
              </a:spcBef>
              <a:spcAft>
                <a:spcPts val="0"/>
              </a:spcAft>
              <a:buClr>
                <a:schemeClr val="dk1"/>
              </a:buClr>
              <a:buSzPts val="2000"/>
              <a:buChar char="•"/>
            </a:pPr>
            <a:r>
              <a:rPr lang="en-US"/>
              <a:t>Wearer received credits in the forms of Watts for each step taken which could be used to buy Pikachu presents</a:t>
            </a:r>
            <a:endParaRPr/>
          </a:p>
          <a:p>
            <a:pPr marL="1143000" lvl="2" indent="-228600" algn="l" rtl="0">
              <a:lnSpc>
                <a:spcPct val="90000"/>
              </a:lnSpc>
              <a:spcBef>
                <a:spcPts val="500"/>
              </a:spcBef>
              <a:spcAft>
                <a:spcPts val="0"/>
              </a:spcAft>
              <a:buClr>
                <a:schemeClr val="dk1"/>
              </a:buClr>
              <a:buSzPts val="2000"/>
              <a:buChar char="•"/>
            </a:pPr>
            <a:r>
              <a:rPr lang="en-US"/>
              <a:t>If owner did not exercise for a week, the virtual pet became angry and refused to play</a:t>
            </a:r>
            <a:endParaRPr/>
          </a:p>
          <a:p>
            <a:pPr marL="457200" lvl="1" indent="0" algn="l" rtl="0">
              <a:lnSpc>
                <a:spcPct val="90000"/>
              </a:lnSpc>
              <a:spcBef>
                <a:spcPts val="500"/>
              </a:spcBef>
              <a:spcAft>
                <a:spcPts val="0"/>
              </a:spcAft>
              <a:buClr>
                <a:schemeClr val="dk1"/>
              </a:buClr>
              <a:buSzPts val="2400"/>
              <a:buNone/>
            </a:pPr>
            <a:endParaRPr/>
          </a:p>
          <a:p>
            <a:pPr marL="457200" lvl="1" indent="0" algn="l" rtl="0">
              <a:lnSpc>
                <a:spcPct val="90000"/>
              </a:lnSpc>
              <a:spcBef>
                <a:spcPts val="500"/>
              </a:spcBef>
              <a:spcAft>
                <a:spcPts val="0"/>
              </a:spcAft>
              <a:buClr>
                <a:schemeClr val="dk1"/>
              </a:buClr>
              <a:buSzPts val="2400"/>
              <a:buNone/>
            </a:pPr>
            <a:endParaRPr/>
          </a:p>
          <a:p>
            <a:pPr marL="457200" lvl="1" indent="0" algn="ctr" rtl="0">
              <a:lnSpc>
                <a:spcPct val="90000"/>
              </a:lnSpc>
              <a:spcBef>
                <a:spcPts val="500"/>
              </a:spcBef>
              <a:spcAft>
                <a:spcPts val="0"/>
              </a:spcAft>
              <a:buClr>
                <a:schemeClr val="dk1"/>
              </a:buClr>
              <a:buSzPts val="2400"/>
              <a:buNone/>
            </a:pPr>
            <a:endParaRPr/>
          </a:p>
        </p:txBody>
      </p:sp>
      <p:pic>
        <p:nvPicPr>
          <p:cNvPr id="494" name="Google Shape;494;p56"/>
          <p:cNvPicPr preferRelativeResize="0"/>
          <p:nvPr/>
        </p:nvPicPr>
        <p:blipFill rotWithShape="1">
          <a:blip r:embed="rId3">
            <a:alphaModFix/>
          </a:blip>
          <a:srcRect/>
          <a:stretch/>
        </p:blipFill>
        <p:spPr>
          <a:xfrm>
            <a:off x="8047587" y="1825625"/>
            <a:ext cx="2381250" cy="3048000"/>
          </a:xfrm>
          <a:prstGeom prst="rect">
            <a:avLst/>
          </a:prstGeom>
          <a:noFill/>
          <a:ln>
            <a:noFill/>
          </a:ln>
        </p:spPr>
      </p:pic>
      <p:sp>
        <p:nvSpPr>
          <p:cNvPr id="495" name="Google Shape;495;p56"/>
          <p:cNvSpPr txBox="1"/>
          <p:nvPr/>
        </p:nvSpPr>
        <p:spPr>
          <a:xfrm>
            <a:off x="2743200" y="5652655"/>
            <a:ext cx="6018415"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Major takeaway:</a:t>
            </a:r>
            <a:endParaRPr/>
          </a:p>
          <a:p>
            <a:pPr marL="0" marR="0" lvl="0" indent="0" algn="ctr" rtl="0">
              <a:spcBef>
                <a:spcPts val="0"/>
              </a:spcBef>
              <a:spcAft>
                <a:spcPts val="0"/>
              </a:spcAft>
              <a:buNone/>
            </a:pPr>
            <a:r>
              <a:rPr lang="en-US" sz="1800">
                <a:solidFill>
                  <a:schemeClr val="dk1"/>
                </a:solidFill>
                <a:latin typeface="Calibri"/>
                <a:ea typeface="Calibri"/>
                <a:cs typeface="Calibri"/>
                <a:sym typeface="Calibri"/>
              </a:rPr>
              <a:t>This use of positive rewarding and sulking  can be a power means of persuasion.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Examples of Persuasive Technologies</a:t>
            </a:r>
            <a:endParaRPr/>
          </a:p>
        </p:txBody>
      </p:sp>
      <p:sp>
        <p:nvSpPr>
          <p:cNvPr id="501" name="Google Shape;501;p57"/>
          <p:cNvSpPr txBox="1">
            <a:spLocks noGrp="1"/>
          </p:cNvSpPr>
          <p:nvPr>
            <p:ph type="body" idx="1"/>
          </p:nvPr>
        </p:nvSpPr>
        <p:spPr>
          <a:xfrm>
            <a:off x="838200" y="1825624"/>
            <a:ext cx="5612476" cy="4891059"/>
          </a:xfrm>
          <a:prstGeom prst="rect">
            <a:avLst/>
          </a:prstGeom>
          <a:noFill/>
          <a:ln>
            <a:noFill/>
          </a:ln>
        </p:spPr>
        <p:txBody>
          <a:bodyPr spcFirstLastPara="1" wrap="square" lIns="91425" tIns="45700" rIns="91425" bIns="45700" anchor="t" anchorCtr="0">
            <a:normAutofit fontScale="85000" lnSpcReduction="10000"/>
          </a:bodyPr>
          <a:lstStyle/>
          <a:p>
            <a:pPr marL="685800" lvl="1" indent="-228600" algn="l" rtl="0">
              <a:lnSpc>
                <a:spcPct val="90000"/>
              </a:lnSpc>
              <a:spcBef>
                <a:spcPts val="0"/>
              </a:spcBef>
              <a:spcAft>
                <a:spcPts val="0"/>
              </a:spcAft>
              <a:buClr>
                <a:schemeClr val="dk1"/>
              </a:buClr>
              <a:buSzPct val="100000"/>
              <a:buChar char="•"/>
            </a:pPr>
            <a:r>
              <a:rPr lang="en-US" sz="2800"/>
              <a:t>HAPIfork</a:t>
            </a:r>
            <a:r>
              <a:rPr lang="en-US" sz="2000"/>
              <a:t>	</a:t>
            </a:r>
            <a:endParaRPr/>
          </a:p>
          <a:p>
            <a:pPr marL="1143000" lvl="2" indent="-228600" algn="l" rtl="0">
              <a:lnSpc>
                <a:spcPct val="90000"/>
              </a:lnSpc>
              <a:spcBef>
                <a:spcPts val="500"/>
              </a:spcBef>
              <a:spcAft>
                <a:spcPts val="0"/>
              </a:spcAft>
              <a:buClr>
                <a:schemeClr val="dk1"/>
              </a:buClr>
              <a:buSzPct val="100000"/>
              <a:buChar char="•"/>
            </a:pPr>
            <a:r>
              <a:rPr lang="en-US"/>
              <a:t>Device that was developed to help someone monitor and track their eating habits</a:t>
            </a:r>
            <a:endParaRPr/>
          </a:p>
          <a:p>
            <a:pPr marL="1143000" lvl="2" indent="-228600" algn="l" rtl="0">
              <a:lnSpc>
                <a:spcPct val="90000"/>
              </a:lnSpc>
              <a:spcBef>
                <a:spcPts val="500"/>
              </a:spcBef>
              <a:spcAft>
                <a:spcPts val="0"/>
              </a:spcAft>
              <a:buClr>
                <a:schemeClr val="dk1"/>
              </a:buClr>
              <a:buSzPct val="100000"/>
              <a:buChar char="•"/>
            </a:pPr>
            <a:r>
              <a:rPr lang="en-US"/>
              <a:t>If it detects that they are eating too quickly, it will vibrate (similar to the way a smartphone does when on silent mode), and an ambient light will appear at the end of the fork, providing the eater with real-time feedback intended to slow them down.</a:t>
            </a:r>
            <a:endParaRPr/>
          </a:p>
          <a:p>
            <a:pPr marL="1143000" lvl="2" indent="-228600" algn="l" rtl="0">
              <a:lnSpc>
                <a:spcPct val="90000"/>
              </a:lnSpc>
              <a:spcBef>
                <a:spcPts val="500"/>
              </a:spcBef>
              <a:spcAft>
                <a:spcPts val="0"/>
              </a:spcAft>
              <a:buClr>
                <a:schemeClr val="dk1"/>
              </a:buClr>
              <a:buSzPct val="100000"/>
              <a:buChar char="•"/>
            </a:pPr>
            <a:r>
              <a:rPr lang="en-US"/>
              <a:t>Assumption is that eating too fast results in poor digestion and poor weight control and that making people aware that they are gobbling their food down can help them think about how to eat more slowly at a conscious level.</a:t>
            </a:r>
            <a:endParaRPr/>
          </a:p>
          <a:p>
            <a:pPr marL="1143000" lvl="2" indent="-228600" algn="l" rtl="0">
              <a:lnSpc>
                <a:spcPct val="90000"/>
              </a:lnSpc>
              <a:spcBef>
                <a:spcPts val="500"/>
              </a:spcBef>
              <a:spcAft>
                <a:spcPts val="0"/>
              </a:spcAft>
              <a:buClr>
                <a:schemeClr val="dk1"/>
              </a:buClr>
              <a:buSzPct val="100000"/>
              <a:buChar char="•"/>
            </a:pPr>
            <a:r>
              <a:rPr lang="en-US"/>
              <a:t>Additional Data Collected includes: how long it took them to finish their meal, the number of fork servings per minute, and the time between them</a:t>
            </a:r>
            <a:endParaRPr/>
          </a:p>
          <a:p>
            <a:pPr marL="1143000" lvl="2" indent="-228600" algn="l" rtl="0">
              <a:lnSpc>
                <a:spcPct val="90000"/>
              </a:lnSpc>
              <a:spcBef>
                <a:spcPts val="500"/>
              </a:spcBef>
              <a:spcAft>
                <a:spcPts val="0"/>
              </a:spcAft>
              <a:buClr>
                <a:schemeClr val="dk1"/>
              </a:buClr>
              <a:buSzPct val="100000"/>
              <a:buChar char="•"/>
            </a:pPr>
            <a:r>
              <a:rPr lang="en-US"/>
              <a:t>Data turned into dashboard of graphs and statistics so that the user can see each work whether their fork behavior is improving. </a:t>
            </a:r>
            <a:endParaRPr/>
          </a:p>
          <a:p>
            <a:pPr marL="1371600" lvl="3" indent="0" algn="l" rtl="0">
              <a:lnSpc>
                <a:spcPct val="90000"/>
              </a:lnSpc>
              <a:spcBef>
                <a:spcPts val="500"/>
              </a:spcBef>
              <a:spcAft>
                <a:spcPts val="0"/>
              </a:spcAft>
              <a:buClr>
                <a:schemeClr val="dk1"/>
              </a:buClr>
              <a:buSzPct val="100000"/>
              <a:buNone/>
            </a:pPr>
            <a:endParaRPr/>
          </a:p>
          <a:p>
            <a:pPr marL="1143000" lvl="2" indent="-120650" algn="l" rtl="0">
              <a:lnSpc>
                <a:spcPct val="90000"/>
              </a:lnSpc>
              <a:spcBef>
                <a:spcPts val="500"/>
              </a:spcBef>
              <a:spcAft>
                <a:spcPts val="0"/>
              </a:spcAft>
              <a:buClr>
                <a:schemeClr val="dk1"/>
              </a:buClr>
              <a:buSzPct val="100000"/>
              <a:buNone/>
            </a:pPr>
            <a:endParaRPr/>
          </a:p>
          <a:p>
            <a:pPr marL="1143000" lvl="2" indent="-142239" algn="l" rtl="0">
              <a:lnSpc>
                <a:spcPct val="90000"/>
              </a:lnSpc>
              <a:spcBef>
                <a:spcPts val="500"/>
              </a:spcBef>
              <a:spcAft>
                <a:spcPts val="0"/>
              </a:spcAft>
              <a:buClr>
                <a:schemeClr val="dk1"/>
              </a:buClr>
              <a:buSzPct val="100000"/>
              <a:buNone/>
            </a:pPr>
            <a:endParaRPr sz="1600"/>
          </a:p>
          <a:p>
            <a:pPr marL="1143000" lvl="2" indent="-120650" algn="l" rtl="0">
              <a:lnSpc>
                <a:spcPct val="90000"/>
              </a:lnSpc>
              <a:spcBef>
                <a:spcPts val="500"/>
              </a:spcBef>
              <a:spcAft>
                <a:spcPts val="0"/>
              </a:spcAft>
              <a:buClr>
                <a:schemeClr val="dk1"/>
              </a:buClr>
              <a:buSzPct val="100000"/>
              <a:buNone/>
            </a:pPr>
            <a:endParaRPr/>
          </a:p>
          <a:p>
            <a:pPr marL="457200" lvl="1" indent="0" algn="l" rtl="0">
              <a:lnSpc>
                <a:spcPct val="90000"/>
              </a:lnSpc>
              <a:spcBef>
                <a:spcPts val="500"/>
              </a:spcBef>
              <a:spcAft>
                <a:spcPts val="0"/>
              </a:spcAft>
              <a:buClr>
                <a:schemeClr val="dk1"/>
              </a:buClr>
              <a:buSzPct val="100000"/>
              <a:buNone/>
            </a:pPr>
            <a:endParaRPr/>
          </a:p>
          <a:p>
            <a:pPr marL="457200" lvl="1" indent="0" algn="ctr" rtl="0">
              <a:lnSpc>
                <a:spcPct val="90000"/>
              </a:lnSpc>
              <a:spcBef>
                <a:spcPts val="500"/>
              </a:spcBef>
              <a:spcAft>
                <a:spcPts val="0"/>
              </a:spcAft>
              <a:buClr>
                <a:schemeClr val="dk1"/>
              </a:buClr>
              <a:buSzPct val="100000"/>
              <a:buNone/>
            </a:pPr>
            <a:endParaRPr/>
          </a:p>
        </p:txBody>
      </p:sp>
      <p:pic>
        <p:nvPicPr>
          <p:cNvPr id="502" name="Google Shape;502;p57"/>
          <p:cNvPicPr preferRelativeResize="0"/>
          <p:nvPr/>
        </p:nvPicPr>
        <p:blipFill rotWithShape="1">
          <a:blip r:embed="rId3">
            <a:alphaModFix/>
          </a:blip>
          <a:srcRect/>
          <a:stretch/>
        </p:blipFill>
        <p:spPr>
          <a:xfrm>
            <a:off x="6630295" y="1926431"/>
            <a:ext cx="5165638" cy="434136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Examples of Persuasive Technologies</a:t>
            </a:r>
            <a:endParaRPr/>
          </a:p>
        </p:txBody>
      </p:sp>
      <p:sp>
        <p:nvSpPr>
          <p:cNvPr id="508" name="Google Shape;508;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Nowadays, there are many kinds of mobile apps and personal tracking devices available that are intended to help people monitor various behaviors and change them based on the data collected and displayed back to them.</a:t>
            </a:r>
            <a:endParaRPr/>
          </a:p>
          <a:p>
            <a:pPr marL="228600" lvl="0" indent="-228600" algn="l" rtl="0">
              <a:lnSpc>
                <a:spcPct val="90000"/>
              </a:lnSpc>
              <a:spcBef>
                <a:spcPts val="1000"/>
              </a:spcBef>
              <a:spcAft>
                <a:spcPts val="0"/>
              </a:spcAft>
              <a:buClr>
                <a:schemeClr val="dk1"/>
              </a:buClr>
              <a:buSzPts val="2800"/>
              <a:buChar char="•"/>
            </a:pPr>
            <a:r>
              <a:rPr lang="en-US"/>
              <a:t>Devices include: Fitness and weight trackers (Fitbit, smart scales)</a:t>
            </a:r>
            <a:endParaRPr/>
          </a:p>
          <a:p>
            <a:pPr marL="228600" lvl="0" indent="-228600" algn="l" rtl="0">
              <a:lnSpc>
                <a:spcPct val="90000"/>
              </a:lnSpc>
              <a:spcBef>
                <a:spcPts val="1000"/>
              </a:spcBef>
              <a:spcAft>
                <a:spcPts val="0"/>
              </a:spcAft>
              <a:buClr>
                <a:schemeClr val="dk1"/>
              </a:buClr>
              <a:buSzPts val="2800"/>
              <a:buChar char="•"/>
            </a:pPr>
            <a:r>
              <a:rPr lang="en-US"/>
              <a:t>These results can also be compared, through online leaderboards and charts, with how well they have done versus their peers and friends.</a:t>
            </a:r>
            <a:endParaRPr/>
          </a:p>
          <a:p>
            <a:pPr marL="228600" lvl="0" indent="-228600" algn="l" rtl="0">
              <a:lnSpc>
                <a:spcPct val="90000"/>
              </a:lnSpc>
              <a:spcBef>
                <a:spcPts val="1000"/>
              </a:spcBef>
              <a:spcAft>
                <a:spcPts val="0"/>
              </a:spcAft>
              <a:buClr>
                <a:schemeClr val="dk1"/>
              </a:buClr>
              <a:buSzPts val="2800"/>
              <a:buChar char="•"/>
            </a:pPr>
            <a:r>
              <a:rPr lang="en-US"/>
              <a:t>Other techniques employed to encourage people to exercise more or to move when sedentary include goal setting, reminders, and rewards for good behavior. </a:t>
            </a:r>
            <a:endParaRPr/>
          </a:p>
          <a:p>
            <a:pPr marL="1600200" lvl="3" indent="-114300" algn="l" rtl="0">
              <a:lnSpc>
                <a:spcPct val="90000"/>
              </a:lnSpc>
              <a:spcBef>
                <a:spcPts val="500"/>
              </a:spcBef>
              <a:spcAft>
                <a:spcPts val="0"/>
              </a:spcAft>
              <a:buClr>
                <a:schemeClr val="dk1"/>
              </a:buClr>
              <a:buSzPts val="1800"/>
              <a:buFont typeface="Calibri"/>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Examples of Persuasive Technologies</a:t>
            </a:r>
            <a:endParaRPr/>
          </a:p>
        </p:txBody>
      </p:sp>
      <p:sp>
        <p:nvSpPr>
          <p:cNvPr id="514" name="Google Shape;514;p5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An alternative approach to collecting quantified data about a behavior automatically is to ask people to write down manually how they are feeling now or to rate their mood and for them to reflect upon how they felt about themselves in the past.</a:t>
            </a:r>
            <a:endParaRPr/>
          </a:p>
          <a:p>
            <a:pPr marL="228600" lvl="0" indent="-228600" algn="l" rtl="0">
              <a:lnSpc>
                <a:spcPct val="90000"/>
              </a:lnSpc>
              <a:spcBef>
                <a:spcPts val="1000"/>
              </a:spcBef>
              <a:spcAft>
                <a:spcPts val="0"/>
              </a:spcAft>
              <a:buClr>
                <a:schemeClr val="dk1"/>
              </a:buClr>
              <a:buSzPct val="100000"/>
              <a:buChar char="•"/>
            </a:pPr>
            <a:r>
              <a:rPr lang="en-US"/>
              <a:t>A mobile app called Echo, for example, asked people to write a subject line, rate their happiness at that moment, and add a description, photos, and/or videos if they wanted to (Isaacs et al., 2013). </a:t>
            </a:r>
            <a:endParaRPr/>
          </a:p>
          <a:p>
            <a:pPr marL="228600" lvl="0" indent="-228600" algn="l" rtl="0">
              <a:lnSpc>
                <a:spcPct val="90000"/>
              </a:lnSpc>
              <a:spcBef>
                <a:spcPts val="1000"/>
              </a:spcBef>
              <a:spcAft>
                <a:spcPts val="0"/>
              </a:spcAft>
              <a:buClr>
                <a:schemeClr val="dk1"/>
              </a:buClr>
              <a:buSzPct val="100000"/>
              <a:buChar char="•"/>
            </a:pPr>
            <a:r>
              <a:rPr lang="en-US"/>
              <a:t>People who used the Echo app reported on the many positive effects of doing so, including reliving positive experiences and overcoming negative experiences by writing them down. The double act of recording and reflecting enabled them to generalize from the positive experiences and draw positive lessons from them.</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6.7 Antromorphism</a:t>
            </a:r>
            <a:endParaRPr/>
          </a:p>
        </p:txBody>
      </p:sp>
      <p:sp>
        <p:nvSpPr>
          <p:cNvPr id="520" name="Google Shape;520;p6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Daniel Benjamin</a:t>
            </a:r>
            <a:endParaRPr/>
          </a:p>
          <a:p>
            <a:pPr marL="0" lvl="0" indent="0" algn="ctr" rtl="0">
              <a:lnSpc>
                <a:spcPct val="90000"/>
              </a:lnSpc>
              <a:spcBef>
                <a:spcPts val="1000"/>
              </a:spcBef>
              <a:spcAft>
                <a:spcPts val="0"/>
              </a:spcAft>
              <a:buClr>
                <a:schemeClr val="dk1"/>
              </a:buClr>
              <a:buSzPts val="2400"/>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Antropomorphism</a:t>
            </a:r>
            <a:endParaRPr/>
          </a:p>
        </p:txBody>
      </p:sp>
      <p:sp>
        <p:nvSpPr>
          <p:cNvPr id="526" name="Google Shape;526;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propensity people have to attribute human qualities to animals and objects.</a:t>
            </a:r>
            <a:endParaRPr/>
          </a:p>
          <a:p>
            <a:pPr marL="228600" lvl="0" indent="-228600" algn="l" rtl="0">
              <a:lnSpc>
                <a:spcPct val="90000"/>
              </a:lnSpc>
              <a:spcBef>
                <a:spcPts val="1000"/>
              </a:spcBef>
              <a:spcAft>
                <a:spcPts val="0"/>
              </a:spcAft>
              <a:buClr>
                <a:schemeClr val="dk1"/>
              </a:buClr>
              <a:buSzPts val="2800"/>
              <a:buChar char="•"/>
            </a:pPr>
            <a:r>
              <a:rPr lang="en-US"/>
              <a:t>For example, people sometimes talk to their computers as if they were humans, treat their robot cleaners as if they were their pets, and give all manner of cute names to their mobile devices, routers, and so on. </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How Antropomorphism Impacts Design?</a:t>
            </a:r>
            <a:endParaRPr/>
          </a:p>
        </p:txBody>
      </p:sp>
      <p:sp>
        <p:nvSpPr>
          <p:cNvPr id="532" name="Google Shape;532;p62"/>
          <p:cNvSpPr txBox="1">
            <a:spLocks noGrp="1"/>
          </p:cNvSpPr>
          <p:nvPr>
            <p:ph type="body" idx="1"/>
          </p:nvPr>
        </p:nvSpPr>
        <p:spPr>
          <a:xfrm>
            <a:off x="838201" y="1825625"/>
            <a:ext cx="5257800" cy="4863042"/>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Anthropomorphic form works best when it’s used to tell a story or say something about what a product does.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It can be used to build brand identity, but it can also help users understand how and where to use products.</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Power tools, for instance, often take a more masculine form.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Their hard edges and chamfered angles are associated with strength, power, and durability. This form signals that the products are tough, rugged, and durable.</a:t>
            </a:r>
            <a:endParaRPr/>
          </a:p>
          <a:p>
            <a:pPr marL="228600" lvl="0" indent="-77470" algn="l" rtl="0">
              <a:lnSpc>
                <a:spcPct val="90000"/>
              </a:lnSpc>
              <a:spcBef>
                <a:spcPts val="1000"/>
              </a:spcBef>
              <a:spcAft>
                <a:spcPts val="0"/>
              </a:spcAft>
              <a:buClr>
                <a:schemeClr val="dk1"/>
              </a:buClr>
              <a:buSzPct val="100000"/>
              <a:buNone/>
            </a:pPr>
            <a:endParaRPr b="0" i="0">
              <a:solidFill>
                <a:srgbClr val="0A1717"/>
              </a:solidFill>
            </a:endParaRPr>
          </a:p>
          <a:p>
            <a:pPr marL="0" lvl="0" indent="0" algn="l" rtl="0">
              <a:lnSpc>
                <a:spcPct val="90000"/>
              </a:lnSpc>
              <a:spcBef>
                <a:spcPts val="1000"/>
              </a:spcBef>
              <a:spcAft>
                <a:spcPts val="0"/>
              </a:spcAft>
              <a:buClr>
                <a:schemeClr val="dk1"/>
              </a:buClr>
              <a:buSzPct val="100000"/>
              <a:buNone/>
            </a:pPr>
            <a:endParaRPr/>
          </a:p>
        </p:txBody>
      </p:sp>
      <p:pic>
        <p:nvPicPr>
          <p:cNvPr id="533" name="Google Shape;533;p62" descr="Image result for power tools"/>
          <p:cNvPicPr preferRelativeResize="0"/>
          <p:nvPr/>
        </p:nvPicPr>
        <p:blipFill rotWithShape="1">
          <a:blip r:embed="rId3">
            <a:alphaModFix/>
          </a:blip>
          <a:srcRect/>
          <a:stretch/>
        </p:blipFill>
        <p:spPr>
          <a:xfrm>
            <a:off x="7450138" y="2070630"/>
            <a:ext cx="2743728" cy="3712103"/>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How Antropomorphism Impacts Design?</a:t>
            </a:r>
            <a:endParaRPr/>
          </a:p>
        </p:txBody>
      </p:sp>
      <p:sp>
        <p:nvSpPr>
          <p:cNvPr id="539" name="Google Shape;539;p63"/>
          <p:cNvSpPr txBox="1">
            <a:spLocks noGrp="1"/>
          </p:cNvSpPr>
          <p:nvPr>
            <p:ph type="body" idx="1"/>
          </p:nvPr>
        </p:nvSpPr>
        <p:spPr>
          <a:xfrm>
            <a:off x="838200" y="1825625"/>
            <a:ext cx="4766733" cy="4863042"/>
          </a:xfrm>
          <a:prstGeom prst="rect">
            <a:avLst/>
          </a:prstGeom>
          <a:noFill/>
          <a:ln>
            <a:noFill/>
          </a:ln>
        </p:spPr>
        <p:txBody>
          <a:bodyPr spcFirstLastPara="1" wrap="square" lIns="91425" tIns="45700" rIns="91425" bIns="45700" anchor="t" anchorCtr="0">
            <a:normAutofit fontScale="85000" lnSpcReduction="20000"/>
          </a:bodyPr>
          <a:lstStyle/>
          <a:p>
            <a:pPr marL="228600" lvl="0" indent="-77470" algn="l" rtl="0">
              <a:lnSpc>
                <a:spcPct val="90000"/>
              </a:lnSpc>
              <a:spcBef>
                <a:spcPts val="0"/>
              </a:spcBef>
              <a:spcAft>
                <a:spcPts val="0"/>
              </a:spcAft>
              <a:buClr>
                <a:schemeClr val="dk1"/>
              </a:buClr>
              <a:buSzPct val="100000"/>
              <a:buNone/>
            </a:pPr>
            <a:endParaRPr/>
          </a:p>
          <a:p>
            <a:pPr marL="228600" lvl="0" indent="-228600" algn="l" rtl="0">
              <a:lnSpc>
                <a:spcPct val="90000"/>
              </a:lnSpc>
              <a:spcBef>
                <a:spcPts val="1000"/>
              </a:spcBef>
              <a:spcAft>
                <a:spcPts val="0"/>
              </a:spcAft>
              <a:buClr>
                <a:srgbClr val="0A1717"/>
              </a:buClr>
              <a:buSzPct val="100000"/>
              <a:buChar char="•"/>
            </a:pPr>
            <a:r>
              <a:rPr lang="en-US">
                <a:solidFill>
                  <a:srgbClr val="0A1717"/>
                </a:solidFill>
              </a:rPr>
              <a:t>P</a:t>
            </a:r>
            <a:r>
              <a:rPr lang="en-US" b="0" i="0">
                <a:solidFill>
                  <a:srgbClr val="0A1717"/>
                </a:solidFill>
              </a:rPr>
              <a:t>roducts with smooth, soft, round edges have more feminine or baby-like traits.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Often seen in products meant to be handled delicately and those that have a cute or playful element.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Aqua Products pool-cleaning robots were given an almost turtle-like shape. </a:t>
            </a:r>
            <a:endParaRPr/>
          </a:p>
          <a:p>
            <a:pPr marL="228600" lvl="0" indent="-228600" algn="l" rtl="0">
              <a:lnSpc>
                <a:spcPct val="90000"/>
              </a:lnSpc>
              <a:spcBef>
                <a:spcPts val="1000"/>
              </a:spcBef>
              <a:spcAft>
                <a:spcPts val="0"/>
              </a:spcAft>
              <a:buClr>
                <a:srgbClr val="0A1717"/>
              </a:buClr>
              <a:buSzPct val="100000"/>
              <a:buChar char="•"/>
            </a:pPr>
            <a:r>
              <a:rPr lang="en-US" b="0" i="0">
                <a:solidFill>
                  <a:srgbClr val="0A1717"/>
                </a:solidFill>
              </a:rPr>
              <a:t>The form is fun and playful, which is fitting for a poolside setting, and it almost looks like a creature that’s meant to live in the water.</a:t>
            </a:r>
            <a:endParaRPr/>
          </a:p>
          <a:p>
            <a:pPr marL="0" lvl="0" indent="0" algn="l" rtl="0">
              <a:lnSpc>
                <a:spcPct val="90000"/>
              </a:lnSpc>
              <a:spcBef>
                <a:spcPts val="1000"/>
              </a:spcBef>
              <a:spcAft>
                <a:spcPts val="0"/>
              </a:spcAft>
              <a:buClr>
                <a:schemeClr val="dk1"/>
              </a:buClr>
              <a:buSzPct val="100000"/>
              <a:buNone/>
            </a:pPr>
            <a:endParaRPr b="0" i="0">
              <a:solidFill>
                <a:srgbClr val="0A1717"/>
              </a:solidFill>
              <a:latin typeface="Arial"/>
              <a:ea typeface="Arial"/>
              <a:cs typeface="Arial"/>
              <a:sym typeface="Arial"/>
            </a:endParaRPr>
          </a:p>
          <a:p>
            <a:pPr marL="0" lvl="0" indent="0" algn="l" rtl="0">
              <a:lnSpc>
                <a:spcPct val="90000"/>
              </a:lnSpc>
              <a:spcBef>
                <a:spcPts val="1000"/>
              </a:spcBef>
              <a:spcAft>
                <a:spcPts val="0"/>
              </a:spcAft>
              <a:buClr>
                <a:schemeClr val="dk1"/>
              </a:buClr>
              <a:buSzPct val="100000"/>
              <a:buNone/>
            </a:pPr>
            <a:endParaRPr/>
          </a:p>
        </p:txBody>
      </p:sp>
      <p:pic>
        <p:nvPicPr>
          <p:cNvPr id="540" name="Google Shape;540;p63" descr="Image result for aqua products pool-cleaning robots"/>
          <p:cNvPicPr preferRelativeResize="0"/>
          <p:nvPr/>
        </p:nvPicPr>
        <p:blipFill rotWithShape="1">
          <a:blip r:embed="rId3">
            <a:alphaModFix/>
          </a:blip>
          <a:srcRect/>
          <a:stretch/>
        </p:blipFill>
        <p:spPr>
          <a:xfrm>
            <a:off x="7112001" y="1825625"/>
            <a:ext cx="3914775" cy="39147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4"/>
          <p:cNvSpPr txBox="1">
            <a:spLocks noGrp="1"/>
          </p:cNvSpPr>
          <p:nvPr>
            <p:ph type="title"/>
          </p:nvPr>
        </p:nvSpPr>
        <p:spPr>
          <a:xfrm>
            <a:off x="307731" y="365125"/>
            <a:ext cx="10049607" cy="1182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Activity - A Robot or a Cuddly Pet?</a:t>
            </a:r>
            <a:endParaRPr/>
          </a:p>
        </p:txBody>
      </p:sp>
      <p:sp>
        <p:nvSpPr>
          <p:cNvPr id="546" name="Google Shape;546;p64"/>
          <p:cNvSpPr txBox="1">
            <a:spLocks noGrp="1"/>
          </p:cNvSpPr>
          <p:nvPr>
            <p:ph type="body" idx="1"/>
          </p:nvPr>
        </p:nvSpPr>
        <p:spPr>
          <a:xfrm>
            <a:off x="861646" y="1825625"/>
            <a:ext cx="4536833" cy="4592760"/>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2D3B45"/>
              </a:buClr>
              <a:buSzPct val="100000"/>
              <a:buChar char="•"/>
            </a:pPr>
            <a:r>
              <a:rPr lang="en-US" b="0" i="0">
                <a:solidFill>
                  <a:srgbClr val="2D3B45"/>
                </a:solidFill>
              </a:rPr>
              <a:t>Early robot pets, such as Sony's AIBO, were made of hard materials that made them look shiny and clunky. In contrast, a more recent trend has been to make them look and feel more like real pets by covering them up in fur and making them behave in more cute, pet-like ways. </a:t>
            </a:r>
            <a:endParaRPr/>
          </a:p>
          <a:p>
            <a:pPr marL="228600" lvl="0" indent="-228600" algn="l" rtl="0">
              <a:lnSpc>
                <a:spcPct val="90000"/>
              </a:lnSpc>
              <a:spcBef>
                <a:spcPts val="1000"/>
              </a:spcBef>
              <a:spcAft>
                <a:spcPts val="0"/>
              </a:spcAft>
              <a:buClr>
                <a:srgbClr val="2D3B45"/>
              </a:buClr>
              <a:buSzPct val="100000"/>
              <a:buChar char="•"/>
            </a:pPr>
            <a:r>
              <a:rPr lang="en-US" b="0" i="0">
                <a:solidFill>
                  <a:srgbClr val="2D3B45"/>
                </a:solidFill>
              </a:rPr>
              <a:t>Two contrasting examples are presented in Figures a and b. Which do you prefer and why?</a:t>
            </a:r>
            <a:endParaRPr/>
          </a:p>
        </p:txBody>
      </p:sp>
      <p:pic>
        <p:nvPicPr>
          <p:cNvPr id="547" name="Google Shape;547;p64"/>
          <p:cNvPicPr preferRelativeResize="0"/>
          <p:nvPr/>
        </p:nvPicPr>
        <p:blipFill rotWithShape="1">
          <a:blip r:embed="rId3">
            <a:alphaModFix/>
          </a:blip>
          <a:srcRect/>
          <a:stretch/>
        </p:blipFill>
        <p:spPr>
          <a:xfrm>
            <a:off x="5955323" y="2168525"/>
            <a:ext cx="5674995" cy="274063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5">
            <a:hlinkClick r:id="rId3"/>
          </p:cNvPr>
          <p:cNvSpPr txBox="1"/>
          <p:nvPr/>
        </p:nvSpPr>
        <p:spPr>
          <a:xfrm>
            <a:off x="1" y="6483509"/>
            <a:ext cx="11924631" cy="24622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000" u="sng">
                <a:solidFill>
                  <a:schemeClr val="lt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http://www.free-powerpoint-templates-design.com</a:t>
            </a:r>
            <a:endParaRPr sz="1000">
              <a:solidFill>
                <a:schemeClr val="lt1"/>
              </a:solidFill>
              <a:latin typeface="Calibri"/>
              <a:ea typeface="Calibri"/>
              <a:cs typeface="Calibri"/>
              <a:sym typeface="Calibri"/>
            </a:endParaRPr>
          </a:p>
        </p:txBody>
      </p:sp>
      <p:sp>
        <p:nvSpPr>
          <p:cNvPr id="553" name="Google Shape;553;p65"/>
          <p:cNvSpPr/>
          <p:nvPr/>
        </p:nvSpPr>
        <p:spPr>
          <a:xfrm>
            <a:off x="4641212" y="3921646"/>
            <a:ext cx="7550484" cy="1651347"/>
          </a:xfrm>
          <a:prstGeom prst="rect">
            <a:avLst/>
          </a:prstGeom>
          <a:solidFill>
            <a:srgbClr val="262626">
              <a:alpha val="8784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Calibri"/>
              <a:ea typeface="Calibri"/>
              <a:cs typeface="Calibri"/>
              <a:sym typeface="Calibri"/>
            </a:endParaRPr>
          </a:p>
        </p:txBody>
      </p:sp>
      <p:sp>
        <p:nvSpPr>
          <p:cNvPr id="554" name="Google Shape;554;p65"/>
          <p:cNvSpPr txBox="1"/>
          <p:nvPr/>
        </p:nvSpPr>
        <p:spPr>
          <a:xfrm>
            <a:off x="5018751" y="4331820"/>
            <a:ext cx="7173249" cy="83099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4800">
                <a:solidFill>
                  <a:schemeClr val="lt1"/>
                </a:solidFill>
                <a:latin typeface="Calibri"/>
                <a:ea typeface="Calibri"/>
                <a:cs typeface="Calibri"/>
                <a:sym typeface="Calibri"/>
              </a:rPr>
              <a:t>Thank You</a:t>
            </a:r>
            <a:endParaRPr sz="4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4623</Words>
  <Application>Microsoft Macintosh PowerPoint</Application>
  <PresentationFormat>Widescreen</PresentationFormat>
  <Paragraphs>383</Paragraphs>
  <Slides>65</Slides>
  <Notes>65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Lato</vt:lpstr>
      <vt:lpstr>Helvetica Neue</vt:lpstr>
      <vt:lpstr>Georgia</vt:lpstr>
      <vt:lpstr>Times New Roman</vt:lpstr>
      <vt:lpstr>Calibri</vt:lpstr>
      <vt:lpstr>Arial</vt:lpstr>
      <vt:lpstr>Office Theme</vt:lpstr>
      <vt:lpstr>Class Presentation      Chapter 6: Emotional Interaction</vt:lpstr>
      <vt:lpstr>Topic</vt:lpstr>
      <vt:lpstr>PowerPoint Presentation</vt:lpstr>
      <vt:lpstr>Effect of Technology on Emotion</vt:lpstr>
      <vt:lpstr>Effect of Technology on Emotion</vt:lpstr>
      <vt:lpstr>Examples of Emotional Interaction in Products</vt:lpstr>
      <vt:lpstr>Examples of Emotional Interaction in Products</vt:lpstr>
      <vt:lpstr>Examples of Emotional Interaction in Products HappyOrNot</vt:lpstr>
      <vt:lpstr>How Do Emotions Affect Behavior?</vt:lpstr>
      <vt:lpstr>How Do Emotions Affect Behavior?</vt:lpstr>
      <vt:lpstr>How Do Emotions Affect Behavior? (Driving)</vt:lpstr>
      <vt:lpstr>The Levels of the Brain</vt:lpstr>
      <vt:lpstr>The Levels of the Brain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Affective computing and Emotional AI</vt:lpstr>
      <vt:lpstr>Techniques and Technology</vt:lpstr>
      <vt:lpstr>Automated facial expressions</vt:lpstr>
      <vt:lpstr>Automated facial expressions</vt:lpstr>
      <vt:lpstr>Automated facial expressions</vt:lpstr>
      <vt:lpstr>Automated facial expressions</vt:lpstr>
      <vt:lpstr>Automated facial expressions</vt:lpstr>
      <vt:lpstr>Automated facial expressions</vt:lpstr>
      <vt:lpstr>Automated facial expressions</vt:lpstr>
      <vt:lpstr>Activity</vt:lpstr>
      <vt:lpstr>PowerPoint Presentation</vt:lpstr>
      <vt:lpstr>6.6 Persuasive Technologies and Behavioral Change </vt:lpstr>
      <vt:lpstr>What is Persuasive Design?</vt:lpstr>
      <vt:lpstr>What is Persuasive Technology?</vt:lpstr>
      <vt:lpstr>Examples of Persuasive Technologies</vt:lpstr>
      <vt:lpstr>Examples of Persuasive Technologies</vt:lpstr>
      <vt:lpstr>Examples of Persuasive Technologies</vt:lpstr>
      <vt:lpstr>Examples of Persuasive Technologies</vt:lpstr>
      <vt:lpstr>6.7 Antromorphism</vt:lpstr>
      <vt:lpstr>Antropomorphism</vt:lpstr>
      <vt:lpstr>How Antropomorphism Impacts Design?</vt:lpstr>
      <vt:lpstr>How Antropomorphism Impacts Design?</vt:lpstr>
      <vt:lpstr>Activity - A Robot or a Cuddly Pet?</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Presentation      Chapter 6: Emotional Interaction</dc:title>
  <dc:creator>Sidharth Gautam</dc:creator>
  <cp:lastModifiedBy>Microsoft Office User</cp:lastModifiedBy>
  <cp:revision>1</cp:revision>
  <dcterms:created xsi:type="dcterms:W3CDTF">2022-10-09T17:55:39Z</dcterms:created>
  <dcterms:modified xsi:type="dcterms:W3CDTF">2022-10-14T18:09:42Z</dcterms:modified>
</cp:coreProperties>
</file>