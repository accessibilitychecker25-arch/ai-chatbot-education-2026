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x="18288000" cy="10287000"/>
  <p:notesSz cx="6858000" cy="9144000"/>
  <p:embeddedFontLst>
    <p:embeddedFont>
      <p:font typeface="Montserrat Bold" charset="1" panose="00000800000000000000"/>
      <p:regular r:id="rId22"/>
    </p:embeddedFont>
    <p:embeddedFont>
      <p:font typeface="Montserrat" charset="1" panose="00000500000000000000"/>
      <p:regular r:id="rId23"/>
    </p:embeddedFont>
    <p:embeddedFont>
      <p:font typeface="Montserrat Semi-Bold" charset="1" panose="00000700000000000000"/>
      <p:regular r:id="rId24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fonts/font22.fntdata" Type="http://schemas.openxmlformats.org/officeDocument/2006/relationships/font"/><Relationship Id="rId23" Target="fonts/font23.fntdata" Type="http://schemas.openxmlformats.org/officeDocument/2006/relationships/font"/><Relationship Id="rId24" Target="fonts/font24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3333" t="0" r="-33333" b="0"/>
            </a:stretch>
          </a:blipFill>
        </p:spPr>
      </p:sp>
      <p:sp>
        <p:nvSpPr>
          <p:cNvPr name="AutoShape 3" id="3"/>
          <p:cNvSpPr/>
          <p:nvPr/>
        </p:nvSpPr>
        <p:spPr>
          <a:xfrm>
            <a:off x="1028700" y="5942648"/>
            <a:ext cx="15453448" cy="0"/>
          </a:xfrm>
          <a:prstGeom prst="line">
            <a:avLst/>
          </a:prstGeom>
          <a:ln cap="flat" w="66675">
            <a:solidFill>
              <a:srgbClr val="2254C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257123" y="3167976"/>
            <a:ext cx="15453448" cy="12122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832"/>
              </a:lnSpc>
            </a:pPr>
            <a:r>
              <a:rPr lang="en-US" sz="7023" b="true">
                <a:solidFill>
                  <a:srgbClr val="2254C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Dr. Cheryl Seals' Faculty Website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8301464"/>
            <a:ext cx="15453448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 b="true">
                <a:solidFill>
                  <a:srgbClr val="2254C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Group Members:  Ghaday Alsulaimani, Nicholas Winfrey, Lily Edgil, Matthew Glass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91117" y="4749165"/>
            <a:ext cx="15453448" cy="7124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880"/>
              </a:lnSpc>
            </a:pPr>
            <a:r>
              <a:rPr lang="en-US" sz="4200" b="true">
                <a:solidFill>
                  <a:srgbClr val="2254C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COMP 5620: User Interface Design and Evaluation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8325896" y="3848853"/>
            <a:ext cx="8661955" cy="584000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84"/>
              </a:lnSpc>
            </a:pPr>
            <a:r>
              <a:rPr lang="en-US" sz="2203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T</a:t>
            </a:r>
            <a:r>
              <a:rPr lang="en-US" sz="2203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his project focuses on a</a:t>
            </a:r>
            <a:r>
              <a:rPr lang="en-US" sz="2203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nalyzing and redesigning Dr. Seals' existing faculty webpage to improve its overall user interface (UI) and user experience (UX).</a:t>
            </a:r>
          </a:p>
          <a:p>
            <a:pPr algn="l">
              <a:lnSpc>
                <a:spcPts val="3084"/>
              </a:lnSpc>
            </a:pPr>
          </a:p>
          <a:p>
            <a:pPr algn="l">
              <a:lnSpc>
                <a:spcPts val="3084"/>
              </a:lnSpc>
            </a:pPr>
            <a:r>
              <a:rPr lang="en-US" sz="2203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Key Objectives:</a:t>
            </a:r>
          </a:p>
          <a:p>
            <a:pPr algn="l" marL="475726" indent="-237863" lvl="1">
              <a:lnSpc>
                <a:spcPts val="3084"/>
              </a:lnSpc>
              <a:buFont typeface="Arial"/>
              <a:buChar char="•"/>
            </a:pPr>
            <a:r>
              <a:rPr lang="en-US" sz="2203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Make the site more accessible.</a:t>
            </a:r>
          </a:p>
          <a:p>
            <a:pPr algn="l" marL="475726" indent="-237863" lvl="1">
              <a:lnSpc>
                <a:spcPts val="3084"/>
              </a:lnSpc>
              <a:buFont typeface="Arial"/>
              <a:buChar char="•"/>
            </a:pPr>
            <a:r>
              <a:rPr lang="en-US" sz="2203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Make it visually engaging.</a:t>
            </a:r>
          </a:p>
          <a:p>
            <a:pPr algn="l" marL="475726" indent="-237863" lvl="1">
              <a:lnSpc>
                <a:spcPts val="3084"/>
              </a:lnSpc>
              <a:buFont typeface="Arial"/>
              <a:buChar char="•"/>
            </a:pPr>
            <a:r>
              <a:rPr lang="en-US" sz="2203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Make it intuitive for students, faculty, and visitors.</a:t>
            </a:r>
          </a:p>
          <a:p>
            <a:pPr algn="l">
              <a:lnSpc>
                <a:spcPts val="3084"/>
              </a:lnSpc>
            </a:pPr>
          </a:p>
          <a:p>
            <a:pPr algn="l">
              <a:lnSpc>
                <a:spcPts val="3084"/>
              </a:lnSpc>
            </a:pPr>
            <a:r>
              <a:rPr lang="en-US" sz="2203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Dr. Cheryl Seals is a Professor of Computer Science and Software Engineering at Auburn University. She is a leader in the intersection of Artificial Intelligence (AI), education, and design ethics , and has extensive experience in User Interface and Design.</a:t>
            </a:r>
          </a:p>
          <a:p>
            <a:pPr algn="l">
              <a:lnSpc>
                <a:spcPts val="3084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889353" y="1589605"/>
            <a:ext cx="8413366" cy="27881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951"/>
              </a:lnSpc>
            </a:pPr>
            <a:r>
              <a:rPr lang="en-US" sz="9360" b="true">
                <a:solidFill>
                  <a:srgbClr val="2254C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Pr</a:t>
            </a:r>
            <a:r>
              <a:rPr lang="en-US" sz="9360" b="true">
                <a:solidFill>
                  <a:srgbClr val="2254C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oject Abstract</a:t>
            </a:r>
          </a:p>
        </p:txBody>
      </p:sp>
      <p:sp>
        <p:nvSpPr>
          <p:cNvPr name="AutoShape 4" id="4"/>
          <p:cNvSpPr/>
          <p:nvPr/>
        </p:nvSpPr>
        <p:spPr>
          <a:xfrm>
            <a:off x="1028700" y="1042988"/>
            <a:ext cx="6437939" cy="0"/>
          </a:xfrm>
          <a:prstGeom prst="line">
            <a:avLst/>
          </a:prstGeom>
          <a:ln cap="flat" w="28575">
            <a:solidFill>
              <a:srgbClr val="2254C5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225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970252" y="9719678"/>
            <a:ext cx="20335605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028202" y="1390540"/>
            <a:ext cx="12047564" cy="2432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9799"/>
              </a:lnSpc>
            </a:pPr>
            <a:r>
              <a:rPr lang="en-US" sz="6999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Software Development Process &amp; Tools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61821" y="5105400"/>
            <a:ext cx="6096120" cy="31064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We use</a:t>
            </a:r>
            <a:r>
              <a:rPr lang="en-US" sz="21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 the Scrum Agile process.</a:t>
            </a:r>
          </a:p>
          <a:p>
            <a:pPr algn="l" marL="474979" indent="-237490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Focuses on short, iterative sprints.</a:t>
            </a:r>
          </a:p>
          <a:p>
            <a:pPr algn="l" marL="474979" indent="-237490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Includes frequent feedback from Dr. Seals.</a:t>
            </a:r>
          </a:p>
          <a:p>
            <a:pPr algn="l" marL="474979" indent="-237490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Ensures the redesign evolves through collaboration and continuous improvement.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261821" y="4446600"/>
            <a:ext cx="5297816" cy="389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3"/>
              </a:lnSpc>
            </a:pPr>
            <a:r>
              <a:rPr lang="en-US" sz="2302" b="true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Software Development Process:</a:t>
            </a:r>
          </a:p>
        </p:txBody>
      </p:sp>
      <p:sp>
        <p:nvSpPr>
          <p:cNvPr name="AutoShape 6" id="6"/>
          <p:cNvSpPr/>
          <p:nvPr/>
        </p:nvSpPr>
        <p:spPr>
          <a:xfrm>
            <a:off x="1028202" y="1028700"/>
            <a:ext cx="11068556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7051984" y="4446600"/>
            <a:ext cx="4812447" cy="389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3"/>
              </a:lnSpc>
            </a:pPr>
            <a:r>
              <a:rPr lang="en-US" sz="2302" b="true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Development Cycle: 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6927820" y="5105400"/>
            <a:ext cx="5680090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Ea</a:t>
            </a:r>
            <a:r>
              <a:rPr lang="en-US" sz="21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ch sprint includes planning, design, testing, and refinement.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594785" y="4446600"/>
            <a:ext cx="4812447" cy="3891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23"/>
              </a:lnSpc>
            </a:pPr>
            <a:r>
              <a:rPr lang="en-US" sz="2302" b="true">
                <a:solidFill>
                  <a:srgbClr val="FFFFFF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Tools Utilized: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607910" y="5105400"/>
            <a:ext cx="5680090" cy="271589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Project Managemen</a:t>
            </a:r>
            <a:r>
              <a:rPr lang="en-US" sz="21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t: Scrum (for workflow organization).</a:t>
            </a:r>
          </a:p>
          <a:p>
            <a:pPr algn="l" marL="474979" indent="-237490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Design/Prototyping: Canva , Figma.</a:t>
            </a:r>
          </a:p>
          <a:p>
            <a:pPr algn="l" marL="474979" indent="-237490" lvl="1">
              <a:lnSpc>
                <a:spcPts val="3079"/>
              </a:lnSpc>
              <a:spcBef>
                <a:spcPct val="0"/>
              </a:spcBef>
              <a:buFont typeface="Arial"/>
              <a:buChar char="•"/>
            </a:pPr>
            <a:r>
              <a:rPr lang="en-US" sz="21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Hardwa</a:t>
            </a:r>
            <a:r>
              <a:rPr lang="en-US" sz="2199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re: Computer, Mouse, Keyboard.</a:t>
            </a:r>
          </a:p>
          <a:p>
            <a:pPr algn="l">
              <a:lnSpc>
                <a:spcPts val="3079"/>
              </a:lnSpc>
              <a:spcBef>
                <a:spcPct val="0"/>
              </a:spcBef>
            </a:pPr>
          </a:p>
          <a:p>
            <a:pPr algn="l">
              <a:lnSpc>
                <a:spcPts val="307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024145" y="9719678"/>
            <a:ext cx="20443391" cy="0"/>
          </a:xfrm>
          <a:prstGeom prst="line">
            <a:avLst/>
          </a:prstGeom>
          <a:ln cap="flat" w="28575">
            <a:solidFill>
              <a:srgbClr val="2254C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1468039" y="1580064"/>
            <a:ext cx="11615537" cy="155988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2722"/>
              </a:lnSpc>
            </a:pPr>
            <a:r>
              <a:rPr lang="en-US" sz="9087" b="true">
                <a:solidFill>
                  <a:srgbClr val="2254C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Conceptual Model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468039" y="4456189"/>
            <a:ext cx="8167532" cy="19348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It should feel like walking into her workspace: welcoming, organized, and full of information.</a:t>
            </a:r>
          </a:p>
          <a:p>
            <a:pPr algn="l" marL="474979" indent="-237490" lvl="1">
              <a:lnSpc>
                <a:spcPts val="3079"/>
              </a:lnSpc>
              <a:buFont typeface="Arial"/>
              <a:buChar char="•"/>
            </a:pPr>
            <a:r>
              <a:rPr lang="en-US" sz="2199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Each section acts like a part of her office where students/colleagues can learn or reach out.</a:t>
            </a:r>
          </a:p>
          <a:p>
            <a:pPr algn="l">
              <a:lnSpc>
                <a:spcPts val="3079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468039" y="3458362"/>
            <a:ext cx="13305541" cy="1091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7"/>
              </a:lnSpc>
            </a:pPr>
            <a:r>
              <a:rPr lang="en-US" sz="3148" b="true">
                <a:solidFill>
                  <a:srgbClr val="2254C5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Interface Metaphor: Dr. Seals' Virtual Office.</a:t>
            </a:r>
          </a:p>
          <a:p>
            <a:pPr algn="l">
              <a:lnSpc>
                <a:spcPts val="4407"/>
              </a:lnSpc>
            </a:pPr>
          </a:p>
        </p:txBody>
      </p:sp>
      <p:sp>
        <p:nvSpPr>
          <p:cNvPr name="TextBox 6" id="6"/>
          <p:cNvSpPr txBox="true"/>
          <p:nvPr/>
        </p:nvSpPr>
        <p:spPr>
          <a:xfrm rot="0">
            <a:off x="1468039" y="6500469"/>
            <a:ext cx="6423706" cy="5391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07"/>
              </a:lnSpc>
            </a:pPr>
            <a:r>
              <a:rPr lang="en-US" sz="3148" b="true">
                <a:solidFill>
                  <a:srgbClr val="2254C5"/>
                </a:solidFill>
                <a:latin typeface="Montserrat Semi-Bold"/>
                <a:ea typeface="Montserrat Semi-Bold"/>
                <a:cs typeface="Montserrat Semi-Bold"/>
                <a:sym typeface="Montserrat Semi-Bold"/>
              </a:rPr>
              <a:t>Interaction Type: Exploring.</a:t>
            </a:r>
          </a:p>
        </p:txBody>
      </p:sp>
      <p:sp>
        <p:nvSpPr>
          <p:cNvPr name="AutoShape 7" id="7"/>
          <p:cNvSpPr/>
          <p:nvPr/>
        </p:nvSpPr>
        <p:spPr>
          <a:xfrm>
            <a:off x="1119208" y="1014412"/>
            <a:ext cx="11343724" cy="14288"/>
          </a:xfrm>
          <a:prstGeom prst="line">
            <a:avLst/>
          </a:prstGeom>
          <a:ln cap="flat" w="28575">
            <a:solidFill>
              <a:srgbClr val="2254C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1468039" y="7535762"/>
            <a:ext cx="8167532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79"/>
              </a:lnSpc>
            </a:pPr>
            <a:r>
              <a:rPr lang="en-US" sz="2199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The user instructs the system by scrolling and clicking button links.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024145" y="9719678"/>
            <a:ext cx="20443391" cy="0"/>
          </a:xfrm>
          <a:prstGeom prst="line">
            <a:avLst/>
          </a:prstGeom>
          <a:ln cap="flat" w="28575">
            <a:solidFill>
              <a:srgbClr val="2254C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1045456" y="1014412"/>
            <a:ext cx="6923190" cy="0"/>
          </a:xfrm>
          <a:prstGeom prst="line">
            <a:avLst/>
          </a:prstGeom>
          <a:ln cap="flat" w="28575">
            <a:solidFill>
              <a:srgbClr val="2254C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4" id="4"/>
          <p:cNvSpPr/>
          <p:nvPr/>
        </p:nvSpPr>
        <p:spPr>
          <a:xfrm flipH="false" flipV="false" rot="0">
            <a:off x="11145241" y="1729085"/>
            <a:ext cx="6305115" cy="6828830"/>
          </a:xfrm>
          <a:custGeom>
            <a:avLst/>
            <a:gdLst/>
            <a:ahLst/>
            <a:cxnLst/>
            <a:rect r="r" b="b" t="t" l="l"/>
            <a:pathLst>
              <a:path h="6828830" w="6305115">
                <a:moveTo>
                  <a:pt x="0" y="0"/>
                </a:moveTo>
                <a:lnTo>
                  <a:pt x="6305115" y="0"/>
                </a:lnTo>
                <a:lnTo>
                  <a:pt x="6305115" y="6828830"/>
                </a:lnTo>
                <a:lnTo>
                  <a:pt x="0" y="682883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5" id="5"/>
          <p:cNvSpPr txBox="true"/>
          <p:nvPr/>
        </p:nvSpPr>
        <p:spPr>
          <a:xfrm rot="0">
            <a:off x="1468039" y="1556998"/>
            <a:ext cx="6500607" cy="11749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784"/>
              </a:lnSpc>
            </a:pPr>
            <a:r>
              <a:rPr lang="en-US" sz="8963" b="true">
                <a:solidFill>
                  <a:srgbClr val="2254C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Persona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45456" y="3869944"/>
            <a:ext cx="7826315" cy="290544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0865" indent="-255432" lvl="1">
              <a:lnSpc>
                <a:spcPts val="3312"/>
              </a:lnSpc>
              <a:spcBef>
                <a:spcPct val="0"/>
              </a:spcBef>
              <a:buFont typeface="Arial"/>
              <a:buChar char="•"/>
            </a:pPr>
            <a:r>
              <a:rPr lang="en-US" sz="2366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K</a:t>
            </a:r>
            <a:r>
              <a:rPr lang="en-US" sz="2366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ey Goals: Demonstrate excellence through the website, show her AI knowledge, and express her professionalism.</a:t>
            </a:r>
          </a:p>
          <a:p>
            <a:pPr algn="l" marL="510865" indent="-255432" lvl="1">
              <a:lnSpc>
                <a:spcPts val="3312"/>
              </a:lnSpc>
              <a:spcBef>
                <a:spcPct val="0"/>
              </a:spcBef>
              <a:buFont typeface="Arial"/>
              <a:buChar char="•"/>
            </a:pPr>
            <a:r>
              <a:rPr lang="en-US" sz="2366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Key Needs: A website with an accessible interface, a visually attractive website, and a site with accurate information.</a:t>
            </a:r>
          </a:p>
          <a:p>
            <a:pPr algn="l">
              <a:lnSpc>
                <a:spcPts val="331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024145" y="9719678"/>
            <a:ext cx="20443391" cy="0"/>
          </a:xfrm>
          <a:prstGeom prst="line">
            <a:avLst/>
          </a:prstGeom>
          <a:ln cap="flat" w="28575">
            <a:solidFill>
              <a:srgbClr val="2254C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 flipV="true">
            <a:off x="1468039" y="1028700"/>
            <a:ext cx="8737179" cy="14288"/>
          </a:xfrm>
          <a:prstGeom prst="line">
            <a:avLst/>
          </a:prstGeom>
          <a:ln cap="flat" w="28575">
            <a:solidFill>
              <a:srgbClr val="2254C5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4" id="4"/>
          <p:cNvGrpSpPr/>
          <p:nvPr/>
        </p:nvGrpSpPr>
        <p:grpSpPr>
          <a:xfrm rot="0">
            <a:off x="1468039" y="3600450"/>
            <a:ext cx="8737179" cy="5235590"/>
            <a:chOff x="0" y="0"/>
            <a:chExt cx="2301150" cy="1378921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301150" cy="1378921"/>
            </a:xfrm>
            <a:custGeom>
              <a:avLst/>
              <a:gdLst/>
              <a:ahLst/>
              <a:cxnLst/>
              <a:rect r="r" b="b" t="t" l="l"/>
              <a:pathLst>
                <a:path h="1378921" w="2301150">
                  <a:moveTo>
                    <a:pt x="0" y="0"/>
                  </a:moveTo>
                  <a:lnTo>
                    <a:pt x="2301150" y="0"/>
                  </a:lnTo>
                  <a:lnTo>
                    <a:pt x="2301150" y="1378921"/>
                  </a:lnTo>
                  <a:lnTo>
                    <a:pt x="0" y="1378921"/>
                  </a:lnTo>
                  <a:close/>
                </a:path>
              </a:pathLst>
            </a:custGeom>
            <a:solidFill>
              <a:srgbClr val="FEFEFE"/>
            </a:solidFill>
            <a:ln w="19050" cap="sq">
              <a:solidFill>
                <a:srgbClr val="2254C5"/>
              </a:solidFill>
              <a:prstDash val="solid"/>
              <a:miter/>
            </a:ln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2301150" cy="142654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3218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1468039" y="1163470"/>
            <a:ext cx="9719330" cy="16253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285"/>
              </a:lnSpc>
            </a:pPr>
            <a:r>
              <a:rPr lang="en-US" sz="9489" b="true">
                <a:solidFill>
                  <a:srgbClr val="2254C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Empathy Map</a:t>
            </a:r>
          </a:p>
        </p:txBody>
      </p:sp>
      <p:sp>
        <p:nvSpPr>
          <p:cNvPr name="AutoShape 8" id="8"/>
          <p:cNvSpPr/>
          <p:nvPr/>
        </p:nvSpPr>
        <p:spPr>
          <a:xfrm>
            <a:off x="1468039" y="3635876"/>
            <a:ext cx="8737179" cy="5100481"/>
          </a:xfrm>
          <a:prstGeom prst="line">
            <a:avLst/>
          </a:prstGeom>
          <a:ln cap="flat" w="38100">
            <a:solidFill>
              <a:srgbClr val="2254C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flipV="true">
            <a:off x="1532611" y="3600450"/>
            <a:ext cx="8672607" cy="5235590"/>
          </a:xfrm>
          <a:prstGeom prst="line">
            <a:avLst/>
          </a:prstGeom>
          <a:ln cap="flat" w="38100">
            <a:solidFill>
              <a:srgbClr val="2254C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0" id="10"/>
          <p:cNvSpPr txBox="true"/>
          <p:nvPr/>
        </p:nvSpPr>
        <p:spPr>
          <a:xfrm rot="0">
            <a:off x="5253316" y="3569201"/>
            <a:ext cx="3778113" cy="545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59"/>
              </a:lnSpc>
            </a:pPr>
            <a:r>
              <a:rPr lang="en-US" sz="3185" b="true">
                <a:solidFill>
                  <a:srgbClr val="2254C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SAYS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4161598" y="4278038"/>
            <a:ext cx="3887875" cy="816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4999" indent="-172500" lvl="1">
              <a:lnSpc>
                <a:spcPts val="2237"/>
              </a:lnSpc>
              <a:buFont typeface="Arial"/>
              <a:buChar char="•"/>
            </a:pPr>
            <a:r>
              <a:rPr lang="en-US" sz="1597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This is a nice website</a:t>
            </a:r>
          </a:p>
          <a:p>
            <a:pPr algn="l" marL="344999" indent="-172500" lvl="1">
              <a:lnSpc>
                <a:spcPts val="2237"/>
              </a:lnSpc>
              <a:buFont typeface="Arial"/>
              <a:buChar char="•"/>
            </a:pPr>
            <a:r>
              <a:rPr lang="en-US" sz="1597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Everything is really easy to find</a:t>
            </a:r>
          </a:p>
          <a:p>
            <a:pPr algn="l" marL="344999" indent="-172500" lvl="1">
              <a:lnSpc>
                <a:spcPts val="2237"/>
              </a:lnSpc>
              <a:buFont typeface="Arial"/>
              <a:buChar char="•"/>
            </a:pPr>
            <a:r>
              <a:rPr lang="en-US" sz="1597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She seems very knowledgeable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44122" y="4633982"/>
            <a:ext cx="3778113" cy="545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59"/>
              </a:lnSpc>
            </a:pPr>
            <a:r>
              <a:rPr lang="en-US" sz="3185" b="true">
                <a:solidFill>
                  <a:srgbClr val="2254C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DOES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689242" y="5604042"/>
            <a:ext cx="3887875" cy="8166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4999" indent="-172500" lvl="1">
              <a:lnSpc>
                <a:spcPts val="2237"/>
              </a:lnSpc>
              <a:buFont typeface="Arial"/>
              <a:buChar char="•"/>
            </a:pPr>
            <a:r>
              <a:rPr lang="en-US" sz="1597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Navigates the pages</a:t>
            </a:r>
          </a:p>
          <a:p>
            <a:pPr algn="l" marL="344999" indent="-172500" lvl="1">
              <a:lnSpc>
                <a:spcPts val="2237"/>
              </a:lnSpc>
              <a:buFont typeface="Arial"/>
              <a:buChar char="•"/>
            </a:pPr>
            <a:r>
              <a:rPr lang="en-US" sz="1597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Moves Mouse</a:t>
            </a:r>
          </a:p>
          <a:p>
            <a:pPr algn="l" marL="344999" indent="-172500" lvl="1">
              <a:lnSpc>
                <a:spcPts val="2237"/>
              </a:lnSpc>
              <a:buFont typeface="Arial"/>
              <a:buChar char="•"/>
            </a:pPr>
            <a:r>
              <a:rPr lang="en-US" sz="1597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Scrolls on webpage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5112098" y="6763819"/>
            <a:ext cx="3778113" cy="545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59"/>
              </a:lnSpc>
            </a:pPr>
            <a:r>
              <a:rPr lang="en-US" sz="3185" b="true">
                <a:solidFill>
                  <a:srgbClr val="2254C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FEELS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161598" y="7575449"/>
            <a:ext cx="4728613" cy="10928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4999" indent="-172500" lvl="1">
              <a:lnSpc>
                <a:spcPts val="2237"/>
              </a:lnSpc>
              <a:buFont typeface="Arial"/>
              <a:buChar char="•"/>
            </a:pPr>
            <a:r>
              <a:rPr lang="en-US" sz="1597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Impressed with the user interface</a:t>
            </a:r>
          </a:p>
          <a:p>
            <a:pPr algn="l" marL="344999" indent="-172500" lvl="1">
              <a:lnSpc>
                <a:spcPts val="2237"/>
              </a:lnSpc>
              <a:buFont typeface="Arial"/>
              <a:buChar char="•"/>
            </a:pPr>
            <a:r>
              <a:rPr lang="en-US" sz="1597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Satisfied as everything is easy to find</a:t>
            </a:r>
          </a:p>
          <a:p>
            <a:pPr algn="l" marL="344999" indent="-172500" lvl="1">
              <a:lnSpc>
                <a:spcPts val="2237"/>
              </a:lnSpc>
              <a:buFont typeface="Arial"/>
              <a:buChar char="•"/>
            </a:pPr>
            <a:r>
              <a:rPr lang="en-US" sz="1597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Challenged trying to go through the information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6525905" y="5933739"/>
            <a:ext cx="3887875" cy="540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44999" indent="-172500" lvl="1">
              <a:lnSpc>
                <a:spcPts val="2237"/>
              </a:lnSpc>
              <a:buFont typeface="Arial"/>
              <a:buChar char="•"/>
            </a:pPr>
            <a:r>
              <a:rPr lang="en-US" sz="1597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Where is her contact information</a:t>
            </a:r>
          </a:p>
          <a:p>
            <a:pPr algn="l" marL="344999" indent="-172500" lvl="1">
              <a:lnSpc>
                <a:spcPts val="2237"/>
              </a:lnSpc>
              <a:buFont typeface="Arial"/>
              <a:buChar char="•"/>
            </a:pPr>
            <a:r>
              <a:rPr lang="en-US" sz="1597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She has alot of achivements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024145" y="9719678"/>
            <a:ext cx="20443391" cy="0"/>
          </a:xfrm>
          <a:prstGeom prst="line">
            <a:avLst/>
          </a:prstGeom>
          <a:ln cap="flat" w="28575">
            <a:solidFill>
              <a:srgbClr val="2254C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598577" y="1353878"/>
            <a:ext cx="12087490" cy="0"/>
          </a:xfrm>
          <a:prstGeom prst="line">
            <a:avLst/>
          </a:prstGeom>
          <a:ln cap="flat" w="28575">
            <a:solidFill>
              <a:srgbClr val="2254C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598577" y="1401031"/>
            <a:ext cx="13711611" cy="1625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23"/>
              </a:lnSpc>
            </a:pPr>
            <a:r>
              <a:rPr lang="en-US" sz="9516" b="true">
                <a:solidFill>
                  <a:srgbClr val="2254C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High-Level Mochup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98577" y="3662201"/>
            <a:ext cx="16241318" cy="332093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10865" indent="-255432" lvl="1">
              <a:lnSpc>
                <a:spcPts val="3312"/>
              </a:lnSpc>
              <a:spcBef>
                <a:spcPct val="0"/>
              </a:spcBef>
              <a:buFont typeface="Arial"/>
              <a:buChar char="•"/>
            </a:pPr>
            <a:r>
              <a:rPr lang="en-US" sz="2366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Protot</a:t>
            </a:r>
            <a:r>
              <a:rPr lang="en-US" sz="2366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ype Overview: The following shows the redesigned homepage/navigation, implementing the clear structure required for user success.</a:t>
            </a:r>
          </a:p>
          <a:p>
            <a:pPr algn="l" marL="510865" indent="-255432" lvl="1">
              <a:lnSpc>
                <a:spcPts val="3312"/>
              </a:lnSpc>
              <a:spcBef>
                <a:spcPct val="0"/>
              </a:spcBef>
              <a:buFont typeface="Arial"/>
              <a:buChar char="•"/>
            </a:pPr>
            <a:r>
              <a:rPr lang="en-US" sz="2366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Key Design Features Shown:</a:t>
            </a:r>
          </a:p>
          <a:p>
            <a:pPr algn="l">
              <a:lnSpc>
                <a:spcPts val="3312"/>
              </a:lnSpc>
              <a:spcBef>
                <a:spcPct val="0"/>
              </a:spcBef>
            </a:pPr>
            <a:r>
              <a:rPr lang="en-US" sz="2366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      </a:t>
            </a:r>
            <a:r>
              <a:rPr lang="en-US" sz="2366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Clear main navigation bar (Bio, Research, Publications, Teaching).</a:t>
            </a:r>
          </a:p>
          <a:p>
            <a:pPr algn="l" marL="510865" indent="-255432" lvl="1">
              <a:lnSpc>
                <a:spcPts val="3312"/>
              </a:lnSpc>
              <a:spcBef>
                <a:spcPct val="0"/>
              </a:spcBef>
              <a:buFont typeface="Arial"/>
              <a:buChar char="•"/>
            </a:pPr>
            <a:r>
              <a:rPr lang="en-US" sz="2366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Promin</a:t>
            </a:r>
            <a:r>
              <a:rPr lang="en-US" sz="2366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ent display of contact/office information (Email, Location, Office hours).</a:t>
            </a:r>
          </a:p>
          <a:p>
            <a:pPr algn="l" marL="510865" indent="-255432" lvl="1">
              <a:lnSpc>
                <a:spcPts val="3312"/>
              </a:lnSpc>
              <a:spcBef>
                <a:spcPct val="0"/>
              </a:spcBef>
              <a:buFont typeface="Arial"/>
              <a:buChar char="•"/>
            </a:pPr>
            <a:r>
              <a:rPr lang="en-US" sz="2366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Dedicated area for her professional photo and title.</a:t>
            </a:r>
          </a:p>
          <a:p>
            <a:pPr algn="l" marL="510865" indent="-255432" lvl="1">
              <a:lnSpc>
                <a:spcPts val="3312"/>
              </a:lnSpc>
              <a:spcBef>
                <a:spcPct val="0"/>
              </a:spcBef>
              <a:buFont typeface="Arial"/>
              <a:buChar char="•"/>
            </a:pPr>
            <a:r>
              <a:rPr lang="en-US" sz="2366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Development Tools: Prototype developed using Figma and Canva.</a:t>
            </a:r>
          </a:p>
          <a:p>
            <a:pPr algn="l">
              <a:lnSpc>
                <a:spcPts val="331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274665" y="0"/>
            <a:ext cx="15125987" cy="10287000"/>
          </a:xfrm>
          <a:custGeom>
            <a:avLst/>
            <a:gdLst/>
            <a:ahLst/>
            <a:cxnLst/>
            <a:rect r="r" b="b" t="t" l="l"/>
            <a:pathLst>
              <a:path h="10287000" w="15125987">
                <a:moveTo>
                  <a:pt x="0" y="0"/>
                </a:moveTo>
                <a:lnTo>
                  <a:pt x="15125987" y="0"/>
                </a:lnTo>
                <a:lnTo>
                  <a:pt x="15125987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370770" y="0"/>
            <a:ext cx="11546460" cy="10287000"/>
          </a:xfrm>
          <a:custGeom>
            <a:avLst/>
            <a:gdLst/>
            <a:ahLst/>
            <a:cxnLst/>
            <a:rect r="r" b="b" t="t" l="l"/>
            <a:pathLst>
              <a:path h="10287000" w="11546460">
                <a:moveTo>
                  <a:pt x="0" y="0"/>
                </a:moveTo>
                <a:lnTo>
                  <a:pt x="11546460" y="0"/>
                </a:lnTo>
                <a:lnTo>
                  <a:pt x="1154646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966387" y="0"/>
            <a:ext cx="10355226" cy="10287000"/>
          </a:xfrm>
          <a:custGeom>
            <a:avLst/>
            <a:gdLst/>
            <a:ahLst/>
            <a:cxnLst/>
            <a:rect r="r" b="b" t="t" l="l"/>
            <a:pathLst>
              <a:path h="10287000" w="10355226">
                <a:moveTo>
                  <a:pt x="0" y="0"/>
                </a:moveTo>
                <a:lnTo>
                  <a:pt x="10355226" y="0"/>
                </a:lnTo>
                <a:lnTo>
                  <a:pt x="1035522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3873167" y="0"/>
            <a:ext cx="10541667" cy="10287000"/>
          </a:xfrm>
          <a:custGeom>
            <a:avLst/>
            <a:gdLst/>
            <a:ahLst/>
            <a:cxnLst/>
            <a:rect r="r" b="b" t="t" l="l"/>
            <a:pathLst>
              <a:path h="10287000" w="10541667">
                <a:moveTo>
                  <a:pt x="0" y="0"/>
                </a:moveTo>
                <a:lnTo>
                  <a:pt x="10541666" y="0"/>
                </a:lnTo>
                <a:lnTo>
                  <a:pt x="10541666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024145" y="9719678"/>
            <a:ext cx="20443391" cy="0"/>
          </a:xfrm>
          <a:prstGeom prst="line">
            <a:avLst/>
          </a:prstGeom>
          <a:ln cap="flat" w="28575">
            <a:solidFill>
              <a:srgbClr val="2254C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598577" y="1353878"/>
            <a:ext cx="12087490" cy="0"/>
          </a:xfrm>
          <a:prstGeom prst="line">
            <a:avLst/>
          </a:prstGeom>
          <a:ln cap="flat" w="28575">
            <a:solidFill>
              <a:srgbClr val="2254C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598577" y="1401031"/>
            <a:ext cx="13711611" cy="1625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23"/>
              </a:lnSpc>
            </a:pPr>
            <a:r>
              <a:rPr lang="en-US" sz="9516" b="true">
                <a:solidFill>
                  <a:srgbClr val="2254C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Scenario 1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98577" y="3662201"/>
            <a:ext cx="16241318" cy="50262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  <a:spcBef>
                <a:spcPct val="0"/>
              </a:spcBef>
            </a:pPr>
            <a:r>
              <a:rPr lang="en-US" b="true" sz="2366">
                <a:solidFill>
                  <a:srgbClr val="2254C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Sc</a:t>
            </a:r>
            <a:r>
              <a:rPr lang="en-US" b="true" sz="2366">
                <a:solidFill>
                  <a:srgbClr val="2254C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enario: </a:t>
            </a:r>
            <a:r>
              <a:rPr lang="en-US" sz="2366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Josh, a new student, needs to quickly locate and download the syllabus for COMP 5620: UI Design &amp; Eval.</a:t>
            </a:r>
          </a:p>
          <a:p>
            <a:pPr algn="l">
              <a:lnSpc>
                <a:spcPts val="3312"/>
              </a:lnSpc>
              <a:spcBef>
                <a:spcPct val="0"/>
              </a:spcBef>
            </a:pPr>
            <a:r>
              <a:rPr lang="en-US" b="true" sz="2366">
                <a:solidFill>
                  <a:srgbClr val="2254C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User Flow:</a:t>
            </a:r>
          </a:p>
          <a:p>
            <a:pPr algn="l" marL="510865" indent="-255433" lvl="1">
              <a:lnSpc>
                <a:spcPts val="3312"/>
              </a:lnSpc>
              <a:spcBef>
                <a:spcPct val="0"/>
              </a:spcBef>
              <a:buFont typeface="Arial"/>
              <a:buChar char="•"/>
            </a:pPr>
            <a:r>
              <a:rPr lang="en-US" sz="2366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N</a:t>
            </a:r>
            <a:r>
              <a:rPr lang="en-US" sz="2366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avigates to Dr. Seals' page.</a:t>
            </a:r>
          </a:p>
          <a:p>
            <a:pPr algn="l" marL="510865" indent="-255433" lvl="1">
              <a:lnSpc>
                <a:spcPts val="3312"/>
              </a:lnSpc>
              <a:spcBef>
                <a:spcPct val="0"/>
              </a:spcBef>
              <a:buFont typeface="Arial"/>
              <a:buChar char="•"/>
            </a:pPr>
            <a:r>
              <a:rPr lang="en-US" sz="2366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Clicks the "Teaching" tab.</a:t>
            </a:r>
          </a:p>
          <a:p>
            <a:pPr algn="l" marL="510865" indent="-255433" lvl="1">
              <a:lnSpc>
                <a:spcPts val="3312"/>
              </a:lnSpc>
              <a:spcBef>
                <a:spcPct val="0"/>
              </a:spcBef>
              <a:buFont typeface="Arial"/>
              <a:buChar char="•"/>
            </a:pPr>
            <a:r>
              <a:rPr lang="en-US" sz="2366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L</a:t>
            </a:r>
            <a:r>
              <a:rPr lang="en-US" sz="2366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ocat</a:t>
            </a:r>
            <a:r>
              <a:rPr lang="en-US" sz="2366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es the course under the "Teaching" list.</a:t>
            </a:r>
          </a:p>
          <a:p>
            <a:pPr algn="l" marL="510865" indent="-255433" lvl="1">
              <a:lnSpc>
                <a:spcPts val="3312"/>
              </a:lnSpc>
              <a:spcBef>
                <a:spcPct val="0"/>
              </a:spcBef>
              <a:buFont typeface="Arial"/>
              <a:buChar char="•"/>
            </a:pPr>
            <a:r>
              <a:rPr lang="en-US" sz="2366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Cl</a:t>
            </a:r>
            <a:r>
              <a:rPr lang="en-US" sz="2366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icks the course name, then find the Syllabus.</a:t>
            </a:r>
          </a:p>
          <a:p>
            <a:pPr algn="l">
              <a:lnSpc>
                <a:spcPts val="3312"/>
              </a:lnSpc>
              <a:spcBef>
                <a:spcPct val="0"/>
              </a:spcBef>
            </a:pPr>
            <a:r>
              <a:rPr lang="en-US" b="true" sz="2366">
                <a:solidFill>
                  <a:srgbClr val="2254C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Functional Requirements Met:</a:t>
            </a:r>
          </a:p>
          <a:p>
            <a:pPr algn="l" marL="510865" indent="-255433" lvl="1">
              <a:lnSpc>
                <a:spcPts val="3312"/>
              </a:lnSpc>
              <a:spcBef>
                <a:spcPct val="0"/>
              </a:spcBef>
              <a:buFont typeface="Arial"/>
              <a:buChar char="•"/>
            </a:pPr>
            <a:r>
              <a:rPr lang="en-US" sz="2366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System includes a dedicated "Teaching" section listing courses.</a:t>
            </a:r>
          </a:p>
          <a:p>
            <a:pPr algn="l" marL="510865" indent="-255433" lvl="1">
              <a:lnSpc>
                <a:spcPts val="3312"/>
              </a:lnSpc>
              <a:spcBef>
                <a:spcPct val="0"/>
              </a:spcBef>
              <a:buFont typeface="Arial"/>
              <a:buChar char="•"/>
            </a:pPr>
            <a:r>
              <a:rPr lang="en-US" sz="2366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System allows the faculty member to upload and link required course documents (the syllabus).</a:t>
            </a:r>
          </a:p>
          <a:p>
            <a:pPr algn="l">
              <a:lnSpc>
                <a:spcPts val="3312"/>
              </a:lnSpc>
              <a:spcBef>
                <a:spcPct val="0"/>
              </a:spcBef>
            </a:pPr>
          </a:p>
          <a:p>
            <a:pPr algn="l">
              <a:lnSpc>
                <a:spcPts val="331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3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024145" y="9719678"/>
            <a:ext cx="20443391" cy="0"/>
          </a:xfrm>
          <a:prstGeom prst="line">
            <a:avLst/>
          </a:prstGeom>
          <a:ln cap="flat" w="28575">
            <a:solidFill>
              <a:srgbClr val="2254C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598577" y="1353878"/>
            <a:ext cx="12087490" cy="0"/>
          </a:xfrm>
          <a:prstGeom prst="line">
            <a:avLst/>
          </a:prstGeom>
          <a:ln cap="flat" w="28575">
            <a:solidFill>
              <a:srgbClr val="2254C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598577" y="1401031"/>
            <a:ext cx="13711611" cy="16251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3323"/>
              </a:lnSpc>
            </a:pPr>
            <a:r>
              <a:rPr lang="en-US" sz="9516" b="true">
                <a:solidFill>
                  <a:srgbClr val="2254C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Scenario 2 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98577" y="3662201"/>
            <a:ext cx="16241318" cy="41880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  <a:spcBef>
                <a:spcPct val="0"/>
              </a:spcBef>
            </a:pPr>
            <a:r>
              <a:rPr lang="en-US" b="true" sz="2366">
                <a:solidFill>
                  <a:srgbClr val="2254C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Sc</a:t>
            </a:r>
            <a:r>
              <a:rPr lang="en-US" b="true" sz="2366">
                <a:solidFill>
                  <a:srgbClr val="2254C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enario: </a:t>
            </a:r>
            <a:r>
              <a:rPr lang="en-US" sz="2366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Alex finds Dr. Seals' page and scans for information on Research, Publications, and her AI@AU Ethics Committee involvement.</a:t>
            </a:r>
          </a:p>
          <a:p>
            <a:pPr algn="l">
              <a:lnSpc>
                <a:spcPts val="3312"/>
              </a:lnSpc>
              <a:spcBef>
                <a:spcPct val="0"/>
              </a:spcBef>
            </a:pPr>
            <a:r>
              <a:rPr lang="en-US" b="true" sz="2366">
                <a:solidFill>
                  <a:srgbClr val="2254C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User Flow:</a:t>
            </a:r>
          </a:p>
          <a:p>
            <a:pPr algn="l" marL="510865" indent="-255433" lvl="1">
              <a:lnSpc>
                <a:spcPts val="3312"/>
              </a:lnSpc>
              <a:buFont typeface="Arial"/>
              <a:buChar char="•"/>
            </a:pPr>
            <a:r>
              <a:rPr lang="en-US" sz="2366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Navigates to the "Research" section.</a:t>
            </a:r>
          </a:p>
          <a:p>
            <a:pPr algn="l" marL="510865" indent="-255433" lvl="1">
              <a:lnSpc>
                <a:spcPts val="3312"/>
              </a:lnSpc>
              <a:buFont typeface="Arial"/>
              <a:buChar char="•"/>
            </a:pPr>
            <a:r>
              <a:rPr lang="en-US" sz="2366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Finds a summary of her work in UI/UX and AI Ethics.</a:t>
            </a:r>
          </a:p>
          <a:p>
            <a:pPr algn="l" marL="510865" indent="-255433" lvl="1">
              <a:lnSpc>
                <a:spcPts val="3312"/>
              </a:lnSpc>
              <a:buFont typeface="Arial"/>
              <a:buChar char="•"/>
            </a:pPr>
            <a:r>
              <a:rPr lang="en-US" sz="2366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Navigates to "Publications" to find a recent paper on responsible AI.</a:t>
            </a:r>
          </a:p>
          <a:p>
            <a:pPr algn="l">
              <a:lnSpc>
                <a:spcPts val="3312"/>
              </a:lnSpc>
              <a:spcBef>
                <a:spcPct val="0"/>
              </a:spcBef>
            </a:pPr>
            <a:r>
              <a:rPr lang="en-US" b="true" sz="2366">
                <a:solidFill>
                  <a:srgbClr val="2254C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Functional Requirements Met:</a:t>
            </a:r>
          </a:p>
          <a:p>
            <a:pPr algn="l" marL="510865" indent="-255433" lvl="1">
              <a:lnSpc>
                <a:spcPts val="3312"/>
              </a:lnSpc>
              <a:spcBef>
                <a:spcPct val="0"/>
              </a:spcBef>
              <a:buFont typeface="Arial"/>
              <a:buChar char="•"/>
            </a:pPr>
            <a:r>
              <a:rPr lang="en-US" sz="2366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System allows navigation to a separate Publications list in a single click.</a:t>
            </a:r>
          </a:p>
          <a:p>
            <a:pPr algn="l" marL="510865" indent="-255433" lvl="1">
              <a:lnSpc>
                <a:spcPts val="3312"/>
              </a:lnSpc>
              <a:spcBef>
                <a:spcPct val="0"/>
              </a:spcBef>
              <a:buFont typeface="Arial"/>
              <a:buChar char="•"/>
            </a:pPr>
            <a:r>
              <a:rPr lang="en-US" sz="2366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Visual linkage to her involvement with the AI@AU Ethics Committee is provided</a:t>
            </a:r>
          </a:p>
          <a:p>
            <a:pPr algn="l">
              <a:lnSpc>
                <a:spcPts val="331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4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024145" y="9719678"/>
            <a:ext cx="20443391" cy="0"/>
          </a:xfrm>
          <a:prstGeom prst="line">
            <a:avLst/>
          </a:prstGeom>
          <a:ln cap="flat" w="28575">
            <a:solidFill>
              <a:srgbClr val="2254C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598577" y="1353878"/>
            <a:ext cx="13237742" cy="0"/>
          </a:xfrm>
          <a:prstGeom prst="line">
            <a:avLst/>
          </a:prstGeom>
          <a:ln cap="flat" w="28575">
            <a:solidFill>
              <a:srgbClr val="2254C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598577" y="1429606"/>
            <a:ext cx="13711611" cy="1294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24"/>
              </a:lnSpc>
            </a:pPr>
            <a:r>
              <a:rPr lang="en-US" sz="7517" b="true">
                <a:solidFill>
                  <a:srgbClr val="2254C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 Analysis &amp; Testing Results</a:t>
            </a:r>
          </a:p>
        </p:txBody>
      </p:sp>
    </p:spTree>
  </p:cSld>
  <p:clrMapOvr>
    <a:masterClrMapping/>
  </p:clrMapOvr>
</p:sld>
</file>

<file path=ppt/slides/slide15.xml><?xml version="1.0" encoding="utf-8"?>
<p:sld xmlns:p="http://schemas.openxmlformats.org/presentationml/2006/main" xmlns:a="http://schemas.openxmlformats.org/drawing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-1024145" y="9719678"/>
            <a:ext cx="20443391" cy="0"/>
          </a:xfrm>
          <a:prstGeom prst="line">
            <a:avLst/>
          </a:prstGeom>
          <a:ln cap="flat" w="28575">
            <a:solidFill>
              <a:srgbClr val="2254C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3" id="3"/>
          <p:cNvSpPr/>
          <p:nvPr/>
        </p:nvSpPr>
        <p:spPr>
          <a:xfrm>
            <a:off x="1598577" y="1353878"/>
            <a:ext cx="13237742" cy="0"/>
          </a:xfrm>
          <a:prstGeom prst="line">
            <a:avLst/>
          </a:prstGeom>
          <a:ln cap="flat" w="28575">
            <a:solidFill>
              <a:srgbClr val="2254C5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" id="4"/>
          <p:cNvSpPr txBox="true"/>
          <p:nvPr/>
        </p:nvSpPr>
        <p:spPr>
          <a:xfrm rot="0">
            <a:off x="1598577" y="1429606"/>
            <a:ext cx="13711611" cy="12949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0524"/>
              </a:lnSpc>
            </a:pPr>
            <a:r>
              <a:rPr lang="en-US" sz="7517" b="true">
                <a:solidFill>
                  <a:srgbClr val="2254C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Future Work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598577" y="3238424"/>
            <a:ext cx="16241318" cy="334984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312"/>
              </a:lnSpc>
              <a:spcBef>
                <a:spcPct val="0"/>
              </a:spcBef>
            </a:pPr>
            <a:r>
              <a:rPr lang="en-US" b="true" sz="2366">
                <a:solidFill>
                  <a:srgbClr val="2254C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Id</a:t>
            </a:r>
            <a:r>
              <a:rPr lang="en-US" b="true" sz="2366">
                <a:solidFill>
                  <a:srgbClr val="2254C5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eas for Other Features (If we had more time):</a:t>
            </a:r>
          </a:p>
          <a:p>
            <a:pPr algn="l" marL="510865" indent="-255433" lvl="1">
              <a:lnSpc>
                <a:spcPts val="3312"/>
              </a:lnSpc>
              <a:spcBef>
                <a:spcPct val="0"/>
              </a:spcBef>
              <a:buFont typeface="Arial"/>
              <a:buChar char="•"/>
            </a:pPr>
            <a:r>
              <a:rPr lang="en-US" sz="2366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Dynamic Filtering: Implement advanced filtering and search for the Publications section, allowing categorization by multiple criteria (year, t</a:t>
            </a:r>
            <a:r>
              <a:rPr lang="en-US" sz="2366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opic, co-author).</a:t>
            </a:r>
          </a:p>
          <a:p>
            <a:pPr algn="l" marL="510865" indent="-255433" lvl="1">
              <a:lnSpc>
                <a:spcPts val="3312"/>
              </a:lnSpc>
              <a:spcBef>
                <a:spcPct val="0"/>
              </a:spcBef>
              <a:buFont typeface="Arial"/>
              <a:buChar char="•"/>
            </a:pPr>
            <a:r>
              <a:rPr lang="en-US" sz="2366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Int</a:t>
            </a:r>
            <a:r>
              <a:rPr lang="en-US" sz="2366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eractive Office: Enhance the "Virtua</a:t>
            </a:r>
            <a:r>
              <a:rPr lang="en-US" sz="2366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l Off</a:t>
            </a:r>
            <a:r>
              <a:rPr lang="en-US" sz="2366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ice" metaphor with intera</a:t>
            </a:r>
            <a:r>
              <a:rPr lang="en-US" sz="2366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ctive elements or a more visual map of the information.</a:t>
            </a:r>
          </a:p>
          <a:p>
            <a:pPr algn="l" marL="510865" indent="-255433" lvl="1">
              <a:lnSpc>
                <a:spcPts val="3312"/>
              </a:lnSpc>
              <a:spcBef>
                <a:spcPct val="0"/>
              </a:spcBef>
              <a:buFont typeface="Arial"/>
              <a:buChar char="•"/>
            </a:pPr>
            <a:r>
              <a:rPr lang="en-US" sz="2366">
                <a:solidFill>
                  <a:srgbClr val="2254C5"/>
                </a:solidFill>
                <a:latin typeface="Montserrat"/>
                <a:ea typeface="Montserrat"/>
                <a:cs typeface="Montserrat"/>
                <a:sym typeface="Montserrat"/>
              </a:rPr>
              <a:t>Multimedia Integration: Integrate Dr. Seals' video workshop presentations (AI-related) directly into the Research section for richer content.</a:t>
            </a:r>
          </a:p>
          <a:p>
            <a:pPr algn="l">
              <a:lnSpc>
                <a:spcPts val="3312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6.xml><?xml version="1.0" encoding="utf-8"?>
<p:sld xmlns:p="http://schemas.openxmlformats.org/presentationml/2006/main" xmlns:a="http://schemas.openxmlformats.org/drawingml/2006/main">
  <p:cSld>
    <p:bg>
      <p:bgPr>
        <a:solidFill>
          <a:srgbClr val="225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371235" y="3103975"/>
            <a:ext cx="13059340" cy="248837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0345"/>
              </a:lnSpc>
            </a:pPr>
            <a:r>
              <a:rPr lang="en-US" sz="14532" b="true">
                <a:solidFill>
                  <a:srgbClr val="FFFFFF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 You</a:t>
            </a:r>
          </a:p>
        </p:txBody>
      </p:sp>
      <p:sp>
        <p:nvSpPr>
          <p:cNvPr name="AutoShape 3" id="3"/>
          <p:cNvSpPr/>
          <p:nvPr/>
        </p:nvSpPr>
        <p:spPr>
          <a:xfrm>
            <a:off x="-970252" y="9719678"/>
            <a:ext cx="20335605" cy="0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>
            <a:off x="1371235" y="1014412"/>
            <a:ext cx="10062751" cy="14288"/>
          </a:xfrm>
          <a:prstGeom prst="line">
            <a:avLst/>
          </a:prstGeom>
          <a:ln cap="flat" w="2857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DAG5F64VF_8</dc:identifier>
  <dcterms:modified xsi:type="dcterms:W3CDTF">2011-08-01T06:04:30Z</dcterms:modified>
  <cp:revision>1</cp:revision>
  <dc:title>White Blue Simple Business Pitch Deck Presentation</dc:title>
</cp:coreProperties>
</file>