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42"/>
  </p:notesMasterIdLst>
  <p:handoutMasterIdLst>
    <p:handoutMasterId r:id="rId43"/>
  </p:handoutMasterIdLst>
  <p:sldIdLst>
    <p:sldId id="520" r:id="rId2"/>
    <p:sldId id="639" r:id="rId3"/>
    <p:sldId id="522" r:id="rId4"/>
    <p:sldId id="606" r:id="rId5"/>
    <p:sldId id="632" r:id="rId6"/>
    <p:sldId id="633" r:id="rId7"/>
    <p:sldId id="634" r:id="rId8"/>
    <p:sldId id="607" r:id="rId9"/>
    <p:sldId id="636" r:id="rId10"/>
    <p:sldId id="637" r:id="rId11"/>
    <p:sldId id="635" r:id="rId12"/>
    <p:sldId id="640" r:id="rId13"/>
    <p:sldId id="638" r:id="rId14"/>
    <p:sldId id="643" r:id="rId15"/>
    <p:sldId id="609" r:id="rId16"/>
    <p:sldId id="610" r:id="rId17"/>
    <p:sldId id="611" r:id="rId18"/>
    <p:sldId id="642" r:id="rId19"/>
    <p:sldId id="613" r:id="rId20"/>
    <p:sldId id="644" r:id="rId21"/>
    <p:sldId id="645" r:id="rId22"/>
    <p:sldId id="650" r:id="rId23"/>
    <p:sldId id="617" r:id="rId24"/>
    <p:sldId id="649" r:id="rId25"/>
    <p:sldId id="654" r:id="rId26"/>
    <p:sldId id="619" r:id="rId27"/>
    <p:sldId id="651" r:id="rId28"/>
    <p:sldId id="652" r:id="rId29"/>
    <p:sldId id="622" r:id="rId30"/>
    <p:sldId id="653" r:id="rId31"/>
    <p:sldId id="623" r:id="rId32"/>
    <p:sldId id="655" r:id="rId33"/>
    <p:sldId id="656" r:id="rId34"/>
    <p:sldId id="657" r:id="rId35"/>
    <p:sldId id="624" r:id="rId36"/>
    <p:sldId id="625" r:id="rId37"/>
    <p:sldId id="627" r:id="rId38"/>
    <p:sldId id="628" r:id="rId39"/>
    <p:sldId id="629" r:id="rId40"/>
    <p:sldId id="585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0F1F4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66"/>
    <p:restoredTop sz="94677"/>
  </p:normalViewPr>
  <p:slideViewPr>
    <p:cSldViewPr snapToGrid="0" snapToObjects="1">
      <p:cViewPr varScale="1">
        <p:scale>
          <a:sx n="101" d="100"/>
          <a:sy n="101" d="100"/>
        </p:scale>
        <p:origin x="10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4BA1F-1031-2C42-837A-C6DBAB340155}" type="datetimeFigureOut">
              <a:rPr lang="en-US" smtClean="0"/>
              <a:t>6/21/23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4C20E3-FB14-7E48-9C5F-483662B93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42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9761D-73B9-1A4F-8555-48E06A216E40}" type="datetimeFigureOut">
              <a:rPr lang="en-US" smtClean="0"/>
              <a:t>6/21/23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9DADB-19AE-004E-8C71-97EB08DF0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877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Video Module 7-01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63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AA262-1C51-46F4-B4E1-EF89941267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81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89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7-02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89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lIns="91430" tIns="45715" rIns="91430" bIns="45715" anchor="t"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lIns="91430" tIns="45715" rIns="91430" bIns="45715" anchor="t"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7-03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89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7-04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89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7-05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89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7-06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89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7</a:t>
            </a:r>
            <a:r>
              <a:rPr lang="en-US" b="1"/>
              <a:t>-07</a:t>
            </a:r>
            <a:endParaRPr lang="en-US" b="1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89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7</a:t>
            </a:r>
            <a:r>
              <a:rPr lang="en-US" b="1"/>
              <a:t>-08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9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" y="983655"/>
            <a:ext cx="9143999" cy="4890691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" y="4488455"/>
            <a:ext cx="9143999" cy="777008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300" b="0" spc="-75" baseline="0">
                <a:solidFill>
                  <a:srgbClr val="F4812A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" y="5279800"/>
            <a:ext cx="9143999" cy="46595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1500" b="0" i="0" cap="none" spc="0" baseline="0"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054" y="1984211"/>
            <a:ext cx="5581894" cy="2003756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 Video">
    <p:bg>
      <p:bgPr>
        <a:blipFill dpi="0" rotWithShape="1">
          <a:blip r:embed="rId2">
            <a:alphaModFix amt="67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4000" contrast="-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" y="0"/>
            <a:ext cx="2582693" cy="6858000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anchor="t"/>
          <a:lstStyle>
            <a:lvl1pPr marL="25717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56578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8658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2087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5516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89689" y="2"/>
            <a:ext cx="2210612" cy="68579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 b="0" baseline="0">
                <a:solidFill>
                  <a:srgbClr val="E78734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dirty="0"/>
              <a:t>Add Title 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" y="2"/>
            <a:ext cx="1905119" cy="6857999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17872" y="171452"/>
            <a:ext cx="1660922" cy="20459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400" b="0">
                <a:solidFill>
                  <a:srgbClr val="E78734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16996" y="1407555"/>
            <a:ext cx="5967413" cy="4910696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2616996" y="459263"/>
            <a:ext cx="5967413" cy="550227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3000" baseline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Secondary Title Here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470424" y="603843"/>
            <a:ext cx="6107907" cy="642283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2700" b="0" baseline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 Title Here</a:t>
            </a:r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1"/>
          </p:nvPr>
        </p:nvSpPr>
        <p:spPr>
          <a:xfrm>
            <a:off x="1470425" y="1628774"/>
            <a:ext cx="6273403" cy="466725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0" i="0"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38928" y="1114427"/>
            <a:ext cx="4401476" cy="4954975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552668" y="504827"/>
            <a:ext cx="3751082" cy="59213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38928" y="459263"/>
            <a:ext cx="4401476" cy="550227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2100" baseline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Secondary Title Here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716893" y="2"/>
            <a:ext cx="4427108" cy="6857999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206581" y="504827"/>
            <a:ext cx="4418999" cy="59213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1559" y="504826"/>
            <a:ext cx="4108847" cy="5207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2100" b="0">
                <a:solidFill>
                  <a:srgbClr val="E78734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831559" y="1331056"/>
            <a:ext cx="4108847" cy="5095144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206581" y="504827"/>
            <a:ext cx="4418999" cy="59213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1559" y="504826"/>
            <a:ext cx="4108847" cy="5207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2100" b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831559" y="1331056"/>
            <a:ext cx="4108847" cy="5095144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/>
          <p:cNvSpPr>
            <a:spLocks noGrp="1"/>
          </p:cNvSpPr>
          <p:nvPr>
            <p:ph type="media" sz="quarter" idx="11"/>
          </p:nvPr>
        </p:nvSpPr>
        <p:spPr>
          <a:xfrm>
            <a:off x="711551" y="688479"/>
            <a:ext cx="7781152" cy="541643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" y="5875009"/>
            <a:ext cx="9143999" cy="982993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4000" cy="587500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" y="6072190"/>
            <a:ext cx="9143999" cy="61277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2400" b="0" baseline="0">
                <a:solidFill>
                  <a:srgbClr val="F58420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" y="0"/>
            <a:ext cx="1739900" cy="6858000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9300" y="864108"/>
            <a:ext cx="6565900" cy="5120640"/>
          </a:xfrm>
          <a:prstGeom prst="rect">
            <a:avLst/>
          </a:prstGeom>
        </p:spPr>
        <p:txBody>
          <a:bodyPr anchor="t"/>
          <a:lstStyle>
            <a:lvl1pPr marL="25717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56578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8658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2087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5516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38350" y="1123838"/>
            <a:ext cx="1601550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100" b="0">
                <a:solidFill>
                  <a:srgbClr val="E78734"/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1" y="1135571"/>
            <a:ext cx="8007350" cy="5120640"/>
          </a:xfrm>
          <a:prstGeom prst="rect">
            <a:avLst/>
          </a:prstGeom>
        </p:spPr>
        <p:txBody>
          <a:bodyPr anchor="t"/>
          <a:lstStyle>
            <a:lvl1pPr marL="39433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  <p:sp>
        <p:nvSpPr>
          <p:cNvPr id="5" name="Content Placeholder 2"/>
          <p:cNvSpPr>
            <a:spLocks noGrp="1"/>
          </p:cNvSpPr>
          <p:nvPr>
            <p:ph idx="10" hasCustomPrompt="1"/>
          </p:nvPr>
        </p:nvSpPr>
        <p:spPr>
          <a:xfrm>
            <a:off x="185738" y="257175"/>
            <a:ext cx="8007350" cy="628652"/>
          </a:xfrm>
          <a:prstGeom prst="rect">
            <a:avLst/>
          </a:prstGeom>
        </p:spPr>
        <p:txBody>
          <a:bodyPr anchor="t"/>
          <a:lstStyle>
            <a:lvl1pPr marL="137160" indent="0">
              <a:spcBef>
                <a:spcPts val="900"/>
              </a:spcBef>
              <a:buClr>
                <a:srgbClr val="0B194E"/>
              </a:buClr>
              <a:buFont typeface="Arial" charset="0"/>
              <a:buNone/>
              <a:defRPr sz="2700">
                <a:solidFill>
                  <a:srgbClr val="000000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 dirty="0"/>
              <a:t>Click to add Slide Title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Imag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948" y="5378981"/>
            <a:ext cx="5743574" cy="917660"/>
          </a:xfrm>
          <a:prstGeom prst="rect">
            <a:avLst/>
          </a:prstGeom>
          <a:gradFill flip="none" rotWithShape="1">
            <a:gsLst>
              <a:gs pos="41000">
                <a:srgbClr val="01275D"/>
              </a:gs>
              <a:gs pos="100000">
                <a:srgbClr val="013D73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9" name="Rectangle 8"/>
          <p:cNvSpPr/>
          <p:nvPr/>
        </p:nvSpPr>
        <p:spPr>
          <a:xfrm flipV="1">
            <a:off x="6948" y="6261321"/>
            <a:ext cx="9148032" cy="56907"/>
          </a:xfrm>
          <a:prstGeom prst="rect">
            <a:avLst/>
          </a:prstGeom>
          <a:solidFill>
            <a:srgbClr val="DE55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246460" y="5607350"/>
            <a:ext cx="5300462" cy="51435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6111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B57850E7-7C6C-754D-81F8-C814130E13C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525645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771ED51-80D5-094A-814E-1100B63F1CFE}" type="datetime1">
              <a:rPr lang="en-US"/>
              <a:pPr/>
              <a:t>6/21/23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Operating Systems   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EC25315-6BDB-F048-B311-200214A11AC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63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alphaModFix amt="67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14000" contrast="-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451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6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spc="-45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44">
          <p15:clr>
            <a:srgbClr val="F26B43"/>
          </p15:clr>
        </p15:guide>
        <p15:guide id="2" pos="201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36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Virtual Memory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1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686"/>
    </mc:Choice>
    <mc:Fallback xmlns="">
      <p:transition spd="slow" advTm="2468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eads.jpg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01"/>
          <a:stretch/>
        </p:blipFill>
        <p:spPr>
          <a:xfrm>
            <a:off x="153716" y="1543300"/>
            <a:ext cx="4339459" cy="1921533"/>
          </a:xfrm>
          <a:prstGeom prst="rect">
            <a:avLst/>
          </a:prstGeom>
        </p:spPr>
      </p:pic>
      <p:pic>
        <p:nvPicPr>
          <p:cNvPr id="6" name="Picture 5" descr="heads.jpg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01"/>
          <a:stretch/>
        </p:blipFill>
        <p:spPr>
          <a:xfrm>
            <a:off x="95536" y="2713644"/>
            <a:ext cx="4455814" cy="1973056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14878" y="127432"/>
            <a:ext cx="4429125" cy="390525"/>
          </a:xfrm>
        </p:spPr>
        <p:txBody>
          <a:bodyPr/>
          <a:lstStyle/>
          <a:p>
            <a:r>
              <a:rPr lang="en-US" dirty="0">
                <a:ea typeface="Century Gothic"/>
                <a:sym typeface="Questrial"/>
              </a:rPr>
              <a:t>Overview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831557" y="576224"/>
            <a:ext cx="4215880" cy="5819181"/>
          </a:xfrm>
        </p:spPr>
        <p:txBody>
          <a:bodyPr/>
          <a:lstStyle/>
          <a:p>
            <a:pPr marL="137160" indent="0">
              <a:buNone/>
            </a:pPr>
            <a:r>
              <a:rPr lang="en-US" sz="2100" b="1" dirty="0"/>
              <a:t>Objectives</a:t>
            </a:r>
          </a:p>
          <a:p>
            <a:r>
              <a:rPr lang="en-US" dirty="0"/>
              <a:t>Review the </a:t>
            </a:r>
            <a:r>
              <a:rPr lang="en-US" dirty="0">
                <a:solidFill>
                  <a:srgbClr val="FF6600"/>
                </a:solidFill>
              </a:rPr>
              <a:t>objectives, constraints, and “helpers” of </a:t>
            </a:r>
            <a:r>
              <a:rPr lang="en-US" dirty="0"/>
              <a:t> </a:t>
            </a:r>
            <a:r>
              <a:rPr lang="en-US" dirty="0">
                <a:solidFill>
                  <a:srgbClr val="FF6600"/>
                </a:solidFill>
              </a:rPr>
              <a:t>Memory Management</a:t>
            </a:r>
            <a:r>
              <a:rPr lang="en-US" dirty="0"/>
              <a:t>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Learn and understand the </a:t>
            </a:r>
            <a:r>
              <a:rPr lang="en-US" dirty="0">
                <a:solidFill>
                  <a:srgbClr val="FF6600"/>
                </a:solidFill>
              </a:rPr>
              <a:t>design</a:t>
            </a:r>
            <a:r>
              <a:rPr lang="en-US" dirty="0"/>
              <a:t> </a:t>
            </a:r>
            <a:r>
              <a:rPr lang="en-US" dirty="0">
                <a:solidFill>
                  <a:srgbClr val="FF6600"/>
                </a:solidFill>
              </a:rPr>
              <a:t>guiding principles </a:t>
            </a:r>
            <a:r>
              <a:rPr lang="en-US" dirty="0"/>
              <a:t>to hierarchical memory.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Describe, discuss and evaluate </a:t>
            </a:r>
            <a:r>
              <a:rPr lang="en-US" dirty="0">
                <a:solidFill>
                  <a:srgbClr val="FF6600"/>
                </a:solidFill>
              </a:rPr>
              <a:t>the virtual memory (Demand Paging)</a:t>
            </a:r>
            <a:r>
              <a:rPr lang="en-US" dirty="0"/>
              <a:t>.</a:t>
            </a:r>
          </a:p>
          <a:p>
            <a:r>
              <a:rPr lang="en-US" dirty="0"/>
              <a:t>Learn and understand </a:t>
            </a:r>
            <a:r>
              <a:rPr lang="en-US" dirty="0">
                <a:solidFill>
                  <a:srgbClr val="FF6600"/>
                </a:solidFill>
              </a:rPr>
              <a:t>Page Replacement</a:t>
            </a:r>
            <a:r>
              <a:rPr lang="en-US" dirty="0"/>
              <a:t> Policies.</a:t>
            </a:r>
          </a:p>
          <a:p>
            <a:r>
              <a:rPr lang="en-US" dirty="0"/>
              <a:t>Learn and Understand </a:t>
            </a:r>
            <a:r>
              <a:rPr lang="en-US" dirty="0">
                <a:solidFill>
                  <a:srgbClr val="FF6600"/>
                </a:solidFill>
              </a:rPr>
              <a:t>Frame Allocation</a:t>
            </a:r>
            <a:r>
              <a:rPr lang="en-US" dirty="0"/>
              <a:t> Policies.</a:t>
            </a:r>
          </a:p>
          <a:p>
            <a:pPr marL="137160" indent="0">
              <a:buNone/>
            </a:pPr>
            <a:r>
              <a:rPr lang="en-US" sz="2000" b="1" dirty="0"/>
              <a:t>Requirements</a:t>
            </a:r>
          </a:p>
          <a:p>
            <a:r>
              <a:rPr lang="en-US" dirty="0"/>
              <a:t>Basics from Computer Organization principles (COMP 3350 or equivalent)</a:t>
            </a:r>
          </a:p>
          <a:p>
            <a:r>
              <a:rPr lang="en-US" dirty="0"/>
              <a:t>Read Sections 1.8.3, 8.1 through 8.6.</a:t>
            </a:r>
          </a:p>
          <a:p>
            <a:r>
              <a:rPr lang="en-US" dirty="0"/>
              <a:t>Section 8.3 is not covered by this presentation</a:t>
            </a:r>
          </a:p>
        </p:txBody>
      </p:sp>
    </p:spTree>
    <p:extLst>
      <p:ext uri="{BB962C8B-B14F-4D97-AF65-F5344CB8AC3E}">
        <p14:creationId xmlns:p14="http://schemas.microsoft.com/office/powerpoint/2010/main" val="253089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13051" y="972312"/>
            <a:ext cx="5898734" cy="3180588"/>
          </a:xfrm>
        </p:spPr>
        <p:txBody>
          <a:bodyPr/>
          <a:lstStyle/>
          <a:p>
            <a:r>
              <a:rPr lang="en-US" b="1" dirty="0">
                <a:solidFill>
                  <a:srgbClr val="3366FF"/>
                </a:solidFill>
              </a:rPr>
              <a:t>Objectives</a:t>
            </a:r>
          </a:p>
          <a:p>
            <a:pPr marL="651510" lvl="1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Offer what a user/programmer wants</a:t>
            </a:r>
          </a:p>
          <a:p>
            <a:pPr marL="651510" lvl="2" indent="0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a flat, </a:t>
            </a:r>
            <a:r>
              <a:rPr lang="en-US" b="1" dirty="0">
                <a:solidFill>
                  <a:srgbClr val="3366FF"/>
                </a:solidFill>
              </a:rPr>
              <a:t>fast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b="1" dirty="0">
                <a:solidFill>
                  <a:srgbClr val="3366FF"/>
                </a:solidFill>
              </a:rPr>
              <a:t>inexpensive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and </a:t>
            </a:r>
            <a:r>
              <a:rPr lang="en-US" b="1" dirty="0">
                <a:solidFill>
                  <a:srgbClr val="3366FF"/>
                </a:solidFill>
              </a:rPr>
              <a:t>infinite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space starting at </a:t>
            </a:r>
            <a:r>
              <a:rPr lang="en-US" dirty="0">
                <a:solidFill>
                  <a:srgbClr val="3366FF"/>
                </a:solidFill>
              </a:rPr>
              <a:t>Address 0</a:t>
            </a:r>
          </a:p>
          <a:p>
            <a:pPr marL="651510" lvl="1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Maximize the number of processes in the memory</a:t>
            </a:r>
          </a:p>
          <a:p>
            <a:pPr marL="651510" lvl="1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Minimize the access time to memory</a:t>
            </a:r>
          </a:p>
          <a:p>
            <a:r>
              <a:rPr lang="en-US" b="1" dirty="0">
                <a:solidFill>
                  <a:srgbClr val="3366FF"/>
                </a:solidFill>
              </a:rPr>
              <a:t>Constraints</a:t>
            </a:r>
          </a:p>
          <a:p>
            <a:pPr marL="308610" lvl="1" indent="0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Faster memory costs much more</a:t>
            </a:r>
          </a:p>
          <a:p>
            <a:r>
              <a:rPr lang="en-US" b="1" dirty="0">
                <a:solidFill>
                  <a:srgbClr val="3366FF"/>
                </a:solidFill>
              </a:rPr>
              <a:t>“Helpers”</a:t>
            </a:r>
          </a:p>
          <a:p>
            <a:pPr marL="651510" lvl="1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Only a small part of a program (code, data, and stack) is needed in memory</a:t>
            </a:r>
          </a:p>
          <a:p>
            <a:pPr marL="651510" lvl="1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Temporal locality</a:t>
            </a:r>
          </a:p>
          <a:p>
            <a:pPr marL="651510" lvl="1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Spatial locality</a:t>
            </a:r>
          </a:p>
          <a:p>
            <a:pPr marL="308610" lvl="1" indent="0">
              <a:buNone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(re) Read Section 1.8.3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 Objectives, Constraints, and “Helpers”</a:t>
            </a:r>
          </a:p>
        </p:txBody>
      </p:sp>
    </p:spTree>
    <p:extLst>
      <p:ext uri="{BB962C8B-B14F-4D97-AF65-F5344CB8AC3E}">
        <p14:creationId xmlns:p14="http://schemas.microsoft.com/office/powerpoint/2010/main" val="341895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52ED9A0-F775-AF4B-B3E4-CD7FFE90890E}" type="slidenum">
              <a:rPr lang="en-US">
                <a:solidFill>
                  <a:srgbClr val="7F7F7F"/>
                </a:solidFill>
              </a:rPr>
              <a:pPr algn="r"/>
              <a:t>4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Objectives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The user/programmer wants </a:t>
            </a:r>
            <a:r>
              <a:rPr lang="en-US" dirty="0">
                <a:solidFill>
                  <a:srgbClr val="3366FF"/>
                </a:solidFill>
              </a:rPr>
              <a:t>fast</a:t>
            </a:r>
            <a:r>
              <a:rPr lang="en-US" dirty="0">
                <a:solidFill>
                  <a:srgbClr val="7F7F7F"/>
                </a:solidFill>
              </a:rPr>
              <a:t>, </a:t>
            </a:r>
            <a:r>
              <a:rPr lang="en-US" dirty="0">
                <a:solidFill>
                  <a:srgbClr val="3366FF"/>
                </a:solidFill>
              </a:rPr>
              <a:t>inexpensive</a:t>
            </a:r>
            <a:r>
              <a:rPr lang="en-US" dirty="0">
                <a:solidFill>
                  <a:srgbClr val="7F7F7F"/>
                </a:solidFill>
              </a:rPr>
              <a:t>, </a:t>
            </a:r>
            <a:r>
              <a:rPr lang="en-US" dirty="0">
                <a:solidFill>
                  <a:srgbClr val="3366FF"/>
                </a:solidFill>
              </a:rPr>
              <a:t>unbounded</a:t>
            </a:r>
            <a:r>
              <a:rPr lang="en-US" dirty="0">
                <a:solidFill>
                  <a:srgbClr val="7F7F7F"/>
                </a:solidFill>
              </a:rPr>
              <a:t>, </a:t>
            </a:r>
            <a:r>
              <a:rPr lang="en-US" dirty="0">
                <a:solidFill>
                  <a:srgbClr val="3366FF"/>
                </a:solidFill>
              </a:rPr>
              <a:t>convenient</a:t>
            </a:r>
            <a:r>
              <a:rPr lang="en-US" dirty="0">
                <a:solidFill>
                  <a:srgbClr val="7F7F7F"/>
                </a:solidFill>
              </a:rPr>
              <a:t> memory space;</a:t>
            </a:r>
          </a:p>
          <a:p>
            <a:pPr lvl="1"/>
            <a:r>
              <a:rPr lang="en-US" dirty="0">
                <a:solidFill>
                  <a:srgbClr val="3366FF"/>
                </a:solidFill>
              </a:rPr>
              <a:t>convenience</a:t>
            </a:r>
            <a:r>
              <a:rPr lang="en-US" dirty="0">
                <a:solidFill>
                  <a:srgbClr val="7F7F7F"/>
                </a:solidFill>
              </a:rPr>
              <a:t> of a flat and simple space is offered using the </a:t>
            </a:r>
            <a:r>
              <a:rPr lang="en-US" dirty="0">
                <a:solidFill>
                  <a:srgbClr val="3366FF"/>
                </a:solidFill>
              </a:rPr>
              <a:t>logical</a:t>
            </a:r>
            <a:r>
              <a:rPr lang="en-US" dirty="0">
                <a:solidFill>
                  <a:srgbClr val="7F7F7F"/>
                </a:solidFill>
              </a:rPr>
              <a:t> space (OS and memory management unit take care of the messy details and realities of the </a:t>
            </a:r>
            <a:r>
              <a:rPr lang="en-US" dirty="0">
                <a:solidFill>
                  <a:srgbClr val="3366FF"/>
                </a:solidFill>
              </a:rPr>
              <a:t>physical</a:t>
            </a:r>
            <a:r>
              <a:rPr lang="en-US" dirty="0">
                <a:solidFill>
                  <a:srgbClr val="7F7F7F"/>
                </a:solidFill>
              </a:rPr>
              <a:t> space)</a:t>
            </a:r>
          </a:p>
          <a:p>
            <a:pPr lvl="1"/>
            <a:r>
              <a:rPr lang="en-US" dirty="0">
                <a:solidFill>
                  <a:srgbClr val="3366FF"/>
                </a:solidFill>
              </a:rPr>
              <a:t>fast</a:t>
            </a:r>
            <a:r>
              <a:rPr lang="en-US" dirty="0">
                <a:solidFill>
                  <a:srgbClr val="7F7F7F"/>
                </a:solidFill>
              </a:rPr>
              <a:t> : it would be easy if the user gave up inexpensive</a:t>
            </a:r>
          </a:p>
          <a:p>
            <a:pPr lvl="1"/>
            <a:r>
              <a:rPr lang="en-US" dirty="0">
                <a:solidFill>
                  <a:srgbClr val="3366FF"/>
                </a:solidFill>
              </a:rPr>
              <a:t>inexpensive</a:t>
            </a:r>
            <a:r>
              <a:rPr lang="en-US" dirty="0">
                <a:solidFill>
                  <a:srgbClr val="7F7F7F"/>
                </a:solidFill>
              </a:rPr>
              <a:t>: it would be easy if the user can live with a slow system</a:t>
            </a:r>
          </a:p>
          <a:p>
            <a:pPr lvl="1"/>
            <a:r>
              <a:rPr lang="en-US" dirty="0">
                <a:solidFill>
                  <a:srgbClr val="3366FF"/>
                </a:solidFill>
              </a:rPr>
              <a:t>unbounded</a:t>
            </a:r>
            <a:r>
              <a:rPr lang="en-US" dirty="0">
                <a:solidFill>
                  <a:srgbClr val="7F7F7F"/>
                </a:solidFill>
              </a:rPr>
              <a:t>: easy if the user gave up inexpensive</a:t>
            </a:r>
          </a:p>
          <a:p>
            <a:pPr lvl="1"/>
            <a:r>
              <a:rPr lang="is-IS" dirty="0">
                <a:solidFill>
                  <a:srgbClr val="7F7F7F"/>
                </a:solidFill>
              </a:rPr>
              <a:t>….... What to do?</a:t>
            </a:r>
            <a:endParaRPr lang="en-US" dirty="0">
              <a:solidFill>
                <a:srgbClr val="7F7F7F"/>
              </a:solidFill>
            </a:endParaRPr>
          </a:p>
          <a:p>
            <a:endParaRPr lang="en-US" dirty="0">
              <a:solidFill>
                <a:srgbClr val="7F7F7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The OS must keep the CPU busy</a:t>
            </a:r>
            <a:r>
              <a:rPr lang="en-US" dirty="0">
                <a:solidFill>
                  <a:srgbClr val="7F7F7F"/>
                </a:solidFill>
                <a:sym typeface="Wingdings"/>
              </a:rPr>
              <a:t> must keep as many ready processes as possible in the system</a:t>
            </a:r>
            <a:r>
              <a:rPr lang="is-IS" dirty="0">
                <a:solidFill>
                  <a:srgbClr val="7F7F7F"/>
                </a:solidFill>
                <a:sym typeface="Wingdings"/>
              </a:rPr>
              <a:t>…. (</a:t>
            </a:r>
            <a:r>
              <a:rPr lang="is-IS" dirty="0">
                <a:solidFill>
                  <a:srgbClr val="3366FF"/>
                </a:solidFill>
                <a:sym typeface="Wingdings"/>
              </a:rPr>
              <a:t>need large memory</a:t>
            </a:r>
            <a:r>
              <a:rPr lang="is-IS" dirty="0">
                <a:solidFill>
                  <a:srgbClr val="7F7F7F"/>
                </a:solidFill>
                <a:sym typeface="Wingdings"/>
              </a:rPr>
              <a:t>)</a:t>
            </a:r>
            <a:endParaRPr lang="en-US" dirty="0">
              <a:solidFill>
                <a:srgbClr val="7F7F7F"/>
              </a:solidFill>
            </a:endParaRPr>
          </a:p>
          <a:p>
            <a:endParaRPr lang="en-US" dirty="0">
              <a:solidFill>
                <a:srgbClr val="7F7F7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Constraints : Faster Costs More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rial" charset="0"/>
              </a:rPr>
              <a:t>Static RAM </a:t>
            </a:r>
            <a:r>
              <a:rPr lang="en-US" dirty="0">
                <a:latin typeface="Arial" charset="0"/>
              </a:rPr>
              <a:t>(SRAM)</a:t>
            </a:r>
          </a:p>
          <a:p>
            <a:pPr lvl="1"/>
            <a:r>
              <a:rPr lang="en-US" sz="1800" dirty="0">
                <a:latin typeface="Arial" charset="0"/>
              </a:rPr>
              <a:t>0.5ns – 2.5ns, $2000 – $5000 per GB</a:t>
            </a:r>
          </a:p>
          <a:p>
            <a:r>
              <a:rPr lang="en-US" b="1" dirty="0">
                <a:latin typeface="Arial" charset="0"/>
              </a:rPr>
              <a:t>Dynamic RAM </a:t>
            </a:r>
            <a:r>
              <a:rPr lang="en-US" dirty="0">
                <a:latin typeface="Arial" charset="0"/>
              </a:rPr>
              <a:t>(DRAM)</a:t>
            </a:r>
          </a:p>
          <a:p>
            <a:pPr lvl="1"/>
            <a:r>
              <a:rPr lang="en-US" sz="1800" dirty="0">
                <a:latin typeface="Arial" charset="0"/>
              </a:rPr>
              <a:t>50ns – 70ns, $20 – $75 per GB</a:t>
            </a:r>
          </a:p>
          <a:p>
            <a:r>
              <a:rPr lang="en-US" b="1" dirty="0">
                <a:latin typeface="Arial" charset="0"/>
              </a:rPr>
              <a:t>Flash</a:t>
            </a:r>
          </a:p>
          <a:p>
            <a:pPr lvl="1"/>
            <a:r>
              <a:rPr lang="en-US" sz="1800" dirty="0">
                <a:latin typeface="Arial" charset="0"/>
              </a:rPr>
              <a:t>25</a:t>
            </a:r>
            <a:r>
              <a:rPr lang="en-US" sz="1800" dirty="0">
                <a:latin typeface="Symbol" charset="0"/>
                <a:cs typeface="Symbol" charset="0"/>
              </a:rPr>
              <a:t>m</a:t>
            </a:r>
            <a:r>
              <a:rPr lang="en-US" sz="1800" dirty="0">
                <a:latin typeface="Arial" charset="0"/>
              </a:rPr>
              <a:t>s – 50</a:t>
            </a:r>
            <a:r>
              <a:rPr lang="en-US" sz="1800" dirty="0">
                <a:latin typeface="Symbol" charset="0"/>
                <a:cs typeface="Symbol" charset="0"/>
              </a:rPr>
              <a:t>m</a:t>
            </a:r>
            <a:r>
              <a:rPr lang="en-US" sz="1800" dirty="0">
                <a:latin typeface="Arial" charset="0"/>
              </a:rPr>
              <a:t>s, $0.40 – $1 per GB</a:t>
            </a:r>
          </a:p>
          <a:p>
            <a:r>
              <a:rPr lang="en-US" b="1" dirty="0">
                <a:latin typeface="Arial" charset="0"/>
              </a:rPr>
              <a:t>Magnetic disk</a:t>
            </a:r>
          </a:p>
          <a:p>
            <a:pPr lvl="1"/>
            <a:r>
              <a:rPr lang="en-US" sz="1800" dirty="0">
                <a:latin typeface="Arial" charset="0"/>
              </a:rPr>
              <a:t>5ms – 20ms, $0.20 – $2 per GB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57850E7-7C6C-754D-81F8-C814130E13C9}" type="slidenum">
              <a:rPr lang="en-US" smtClean="0"/>
              <a:pPr algn="r"/>
              <a:t>5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4724400" y="1739900"/>
            <a:ext cx="3259656" cy="647700"/>
            <a:chOff x="4724400" y="1739900"/>
            <a:chExt cx="3259656" cy="647700"/>
          </a:xfrm>
        </p:grpSpPr>
        <p:sp>
          <p:nvSpPr>
            <p:cNvPr id="5" name="Freeform 4"/>
            <p:cNvSpPr/>
            <p:nvPr/>
          </p:nvSpPr>
          <p:spPr>
            <a:xfrm>
              <a:off x="4724400" y="1739900"/>
              <a:ext cx="620592" cy="647700"/>
            </a:xfrm>
            <a:custGeom>
              <a:avLst/>
              <a:gdLst>
                <a:gd name="connsiteX0" fmla="*/ 444500 w 620592"/>
                <a:gd name="connsiteY0" fmla="*/ 0 h 647700"/>
                <a:gd name="connsiteX1" fmla="*/ 596900 w 620592"/>
                <a:gd name="connsiteY1" fmla="*/ 254000 h 647700"/>
                <a:gd name="connsiteX2" fmla="*/ 0 w 620592"/>
                <a:gd name="connsiteY2" fmla="*/ 647700 h 647700"/>
                <a:gd name="connsiteX3" fmla="*/ 0 w 620592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592" h="647700">
                  <a:moveTo>
                    <a:pt x="444500" y="0"/>
                  </a:moveTo>
                  <a:cubicBezTo>
                    <a:pt x="557741" y="73025"/>
                    <a:pt x="670983" y="146050"/>
                    <a:pt x="596900" y="254000"/>
                  </a:cubicBezTo>
                  <a:cubicBezTo>
                    <a:pt x="522817" y="361950"/>
                    <a:pt x="0" y="647700"/>
                    <a:pt x="0" y="647700"/>
                  </a:cubicBezTo>
                  <a:lnTo>
                    <a:pt x="0" y="647700"/>
                  </a:lnTo>
                </a:path>
              </a:pathLst>
            </a:custGeom>
            <a:ln w="38100" cmpd="sng">
              <a:solidFill>
                <a:srgbClr val="FF0000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344992" y="1833602"/>
              <a:ext cx="26390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50 to 100 more expensive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513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Helpers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34290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Only a small part of a program (code, data, and stack) is needed in memory</a:t>
            </a:r>
          </a:p>
          <a:p>
            <a:pPr marL="651510" lvl="1" indent="-342900"/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At the extreme, we need only space for one instruction and its operands</a:t>
            </a:r>
          </a:p>
          <a:p>
            <a:pPr marL="651510" lvl="1" indent="-342900"/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74320" indent="-34290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Most (well designed) programs exhibit temporal and spatial locality:</a:t>
            </a:r>
          </a:p>
          <a:p>
            <a:pPr marL="651510" lvl="1" indent="-342900"/>
            <a:r>
              <a:rPr lang="en-US" sz="1800" dirty="0">
                <a:solidFill>
                  <a:srgbClr val="0000FF"/>
                </a:solidFill>
              </a:rPr>
              <a:t>Temporal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locality: a referenced item will be soon referenced again</a:t>
            </a:r>
          </a:p>
          <a:p>
            <a:pPr marL="651510" lvl="1" indent="-342900"/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651510" lvl="1" indent="-342900"/>
            <a:r>
              <a:rPr lang="en-US" sz="1800" dirty="0">
                <a:solidFill>
                  <a:srgbClr val="0000FF"/>
                </a:solidFill>
              </a:rPr>
              <a:t>Spatial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locality : neighbors of a recently referenced item are often also referenced right after</a:t>
            </a:r>
          </a:p>
          <a:p>
            <a:pPr marL="651510" lvl="1" indent="-342900"/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651510" lvl="1" indent="-342900"/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r>
              <a:rPr lang="en-US" sz="2400" b="1" dirty="0">
                <a:solidFill>
                  <a:srgbClr val="0000FF"/>
                </a:solidFill>
              </a:rPr>
              <a:t>Conclusion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keep in the memory only a small part of a program, especially that part often used! If small</a:t>
            </a:r>
            <a:r>
              <a:rPr lang="is-I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…. costs less...</a:t>
            </a:r>
          </a:p>
          <a:p>
            <a:pPr marL="308610" lvl="1" indent="0">
              <a:buNone/>
            </a:pPr>
            <a:r>
              <a:rPr lang="is-I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Then the memory could be </a:t>
            </a:r>
            <a:r>
              <a:rPr lang="is-IS" sz="2400" dirty="0">
                <a:solidFill>
                  <a:srgbClr val="0000FF"/>
                </a:solidFill>
              </a:rPr>
              <a:t>PHYSICALLY</a:t>
            </a:r>
            <a:r>
              <a:rPr lang="is-I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......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994410" lvl="2" indent="-342900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57850E7-7C6C-754D-81F8-C814130E13C9}" type="slidenum">
              <a:rPr lang="en-US" smtClean="0"/>
              <a:pPr algn="r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42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13051" y="972312"/>
            <a:ext cx="5898734" cy="3180588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Build a memory such that: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</a:t>
            </a:r>
            <a:r>
              <a:rPr lang="en-US" dirty="0">
                <a:solidFill>
                  <a:srgbClr val="3366FF"/>
                </a:solidFill>
              </a:rPr>
              <a:t>most used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part of a program remains in a </a:t>
            </a:r>
            <a:r>
              <a:rPr lang="en-US" dirty="0">
                <a:solidFill>
                  <a:srgbClr val="3366FF"/>
                </a:solidFill>
              </a:rPr>
              <a:t>fast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storage </a:t>
            </a:r>
            <a:r>
              <a:rPr lang="en-US" dirty="0">
                <a:solidFill>
                  <a:srgbClr val="3366FF"/>
                </a:solidFill>
              </a:rPr>
              <a:t>closest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to the CPU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closest storage does not have to be large because the CPU does not need the full program at once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</a:t>
            </a:r>
            <a:r>
              <a:rPr lang="en-US" dirty="0">
                <a:solidFill>
                  <a:srgbClr val="0000FF"/>
                </a:solidFill>
              </a:rPr>
              <a:t>(re) Read Section 1.8.3</a:t>
            </a:r>
          </a:p>
          <a:p>
            <a:pPr marL="308610" lvl="1" indent="0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Memory</a:t>
            </a:r>
          </a:p>
        </p:txBody>
      </p:sp>
    </p:spTree>
    <p:extLst>
      <p:ext uri="{BB962C8B-B14F-4D97-AF65-F5344CB8AC3E}">
        <p14:creationId xmlns:p14="http://schemas.microsoft.com/office/powerpoint/2010/main" val="130346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3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3277CE7-3AD4-0546-A439-C16617977E6B}" type="slidenum">
              <a:rPr lang="en-US"/>
              <a:pPr algn="r"/>
              <a:t>8</a:t>
            </a:fld>
            <a:endParaRPr 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Hierarchical Memory</a:t>
            </a:r>
          </a:p>
        </p:txBody>
      </p:sp>
      <p:pic>
        <p:nvPicPr>
          <p:cNvPr id="3" name="Content Placeholder 2" descr="Hierarchical Memory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74" b="13374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57626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Memory System Hierarchy</a:t>
            </a:r>
          </a:p>
        </p:txBody>
      </p:sp>
      <p:pic>
        <p:nvPicPr>
          <p:cNvPr id="4403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1384300"/>
            <a:ext cx="5330825" cy="446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212725" y="1377950"/>
            <a:ext cx="369888" cy="4449763"/>
            <a:chOff x="212725" y="1377950"/>
            <a:chExt cx="369888" cy="4449763"/>
          </a:xfrm>
        </p:grpSpPr>
        <p:cxnSp>
          <p:nvCxnSpPr>
            <p:cNvPr id="44035" name="Straight Arrow Connector 2"/>
            <p:cNvCxnSpPr>
              <a:cxnSpLocks noChangeShapeType="1"/>
            </p:cNvCxnSpPr>
            <p:nvPr/>
          </p:nvCxnSpPr>
          <p:spPr bwMode="auto">
            <a:xfrm flipV="1">
              <a:off x="541338" y="1377950"/>
              <a:ext cx="9525" cy="4449763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036" name="TextBox 3"/>
            <p:cNvSpPr txBox="1">
              <a:spLocks noChangeArrowheads="1"/>
            </p:cNvSpPr>
            <p:nvPr/>
          </p:nvSpPr>
          <p:spPr bwMode="auto">
            <a:xfrm rot="-5400000">
              <a:off x="-476250" y="3090863"/>
              <a:ext cx="17478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1pPr>
              <a:lvl2pPr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r>
                <a:rPr kumimoji="0" lang="en-US" dirty="0">
                  <a:solidFill>
                    <a:srgbClr val="7F7F7F"/>
                  </a:solidFill>
                  <a:latin typeface="Verdana" charset="0"/>
                </a:rPr>
                <a:t>Cost per byte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868363" y="1398588"/>
            <a:ext cx="369887" cy="4459287"/>
            <a:chOff x="868363" y="1398588"/>
            <a:chExt cx="369887" cy="4459287"/>
          </a:xfrm>
        </p:grpSpPr>
        <p:cxnSp>
          <p:nvCxnSpPr>
            <p:cNvPr id="44037" name="Straight Arrow Connector 5"/>
            <p:cNvCxnSpPr>
              <a:cxnSpLocks noChangeShapeType="1"/>
            </p:cNvCxnSpPr>
            <p:nvPr/>
          </p:nvCxnSpPr>
          <p:spPr bwMode="auto">
            <a:xfrm>
              <a:off x="895350" y="1398588"/>
              <a:ext cx="11113" cy="4459287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038" name="TextBox 8"/>
            <p:cNvSpPr txBox="1">
              <a:spLocks noChangeArrowheads="1"/>
            </p:cNvSpPr>
            <p:nvPr/>
          </p:nvSpPr>
          <p:spPr bwMode="auto">
            <a:xfrm rot="-5400000">
              <a:off x="248444" y="2967832"/>
              <a:ext cx="16097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1pPr>
              <a:lvl2pPr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r>
                <a:rPr kumimoji="0" lang="en-US">
                  <a:solidFill>
                    <a:srgbClr val="7F7F7F"/>
                  </a:solidFill>
                  <a:latin typeface="Verdana" charset="0"/>
                </a:rPr>
                <a:t>Access Time</a:t>
              </a:r>
            </a:p>
          </p:txBody>
        </p:sp>
      </p:grpSp>
      <p:sp>
        <p:nvSpPr>
          <p:cNvPr id="44039" name="Rectangle 3"/>
          <p:cNvSpPr>
            <a:spLocks noChangeArrowheads="1"/>
          </p:cNvSpPr>
          <p:nvPr/>
        </p:nvSpPr>
        <p:spPr bwMode="auto">
          <a:xfrm>
            <a:off x="1998663" y="3209925"/>
            <a:ext cx="4360862" cy="1771650"/>
          </a:xfrm>
          <a:prstGeom prst="rect">
            <a:avLst/>
          </a:prstGeom>
          <a:solidFill>
            <a:schemeClr val="bg1"/>
          </a:solidFill>
          <a:ln w="7620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7F7F7F"/>
              </a:solidFill>
            </a:endParaRPr>
          </a:p>
        </p:txBody>
      </p:sp>
      <p:sp>
        <p:nvSpPr>
          <p:cNvPr id="44040" name="TextBox 4"/>
          <p:cNvSpPr txBox="1">
            <a:spLocks noChangeArrowheads="1"/>
          </p:cNvSpPr>
          <p:nvPr/>
        </p:nvSpPr>
        <p:spPr bwMode="auto">
          <a:xfrm>
            <a:off x="3781425" y="3741738"/>
            <a:ext cx="6842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r>
              <a:rPr kumimoji="0" lang="en-US">
                <a:solidFill>
                  <a:srgbClr val="7F7F7F"/>
                </a:solidFill>
                <a:latin typeface="Verdana" charset="0"/>
              </a:rPr>
              <a:t>Disk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335088" y="1403350"/>
            <a:ext cx="369887" cy="4459288"/>
            <a:chOff x="1335088" y="1403350"/>
            <a:chExt cx="369887" cy="4459288"/>
          </a:xfrm>
        </p:grpSpPr>
        <p:cxnSp>
          <p:nvCxnSpPr>
            <p:cNvPr id="44041" name="Straight Arrow Connector 5"/>
            <p:cNvCxnSpPr>
              <a:cxnSpLocks noChangeShapeType="1"/>
            </p:cNvCxnSpPr>
            <p:nvPr/>
          </p:nvCxnSpPr>
          <p:spPr bwMode="auto">
            <a:xfrm>
              <a:off x="1363663" y="1403350"/>
              <a:ext cx="9525" cy="4459288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042" name="TextBox 8"/>
            <p:cNvSpPr txBox="1">
              <a:spLocks noChangeArrowheads="1"/>
            </p:cNvSpPr>
            <p:nvPr/>
          </p:nvSpPr>
          <p:spPr bwMode="auto">
            <a:xfrm rot="-5400000">
              <a:off x="1188244" y="2972594"/>
              <a:ext cx="6635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1pPr>
              <a:lvl2pPr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r>
                <a:rPr kumimoji="0" lang="en-US" dirty="0">
                  <a:solidFill>
                    <a:srgbClr val="7F7F7F"/>
                  </a:solidFill>
                  <a:latin typeface="Verdana" charset="0"/>
                </a:rPr>
                <a:t>Size</a:t>
              </a:r>
            </a:p>
          </p:txBody>
        </p:sp>
      </p:grpSp>
      <p:sp>
        <p:nvSpPr>
          <p:cNvPr id="44043" name="TextBox 5"/>
          <p:cNvSpPr txBox="1">
            <a:spLocks noChangeArrowheads="1"/>
          </p:cNvSpPr>
          <p:nvPr/>
        </p:nvSpPr>
        <p:spPr bwMode="auto">
          <a:xfrm>
            <a:off x="4410075" y="2608263"/>
            <a:ext cx="3703545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r>
              <a:rPr kumimoji="0" lang="en-US" sz="1400" dirty="0">
                <a:solidFill>
                  <a:srgbClr val="7F7F7F"/>
                </a:solidFill>
                <a:latin typeface="Verdana" charset="0"/>
              </a:rPr>
              <a:t>Transfers governed by </a:t>
            </a:r>
            <a:r>
              <a:rPr kumimoji="0" lang="en-US" sz="3200" b="1" dirty="0">
                <a:solidFill>
                  <a:srgbClr val="3366FF"/>
                </a:solidFill>
                <a:latin typeface="Verdana" charset="0"/>
              </a:rPr>
              <a:t>OS/</a:t>
            </a:r>
            <a:r>
              <a:rPr kumimoji="0" lang="en-US" sz="1600" b="1" dirty="0">
                <a:solidFill>
                  <a:srgbClr val="3366FF"/>
                </a:solidFill>
                <a:latin typeface="Verdana" charset="0"/>
              </a:rPr>
              <a:t>User</a:t>
            </a:r>
          </a:p>
        </p:txBody>
      </p:sp>
      <p:sp>
        <p:nvSpPr>
          <p:cNvPr id="44044" name="TextBox 14"/>
          <p:cNvSpPr txBox="1">
            <a:spLocks noChangeArrowheads="1"/>
          </p:cNvSpPr>
          <p:nvPr/>
        </p:nvSpPr>
        <p:spPr bwMode="auto">
          <a:xfrm>
            <a:off x="4327525" y="2190750"/>
            <a:ext cx="335859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r>
              <a:rPr kumimoji="0" lang="en-US" sz="1400" dirty="0">
                <a:solidFill>
                  <a:srgbClr val="7F7F7F"/>
                </a:solidFill>
                <a:latin typeface="Verdana" charset="0"/>
              </a:rPr>
              <a:t>Transfers governed by </a:t>
            </a:r>
            <a:r>
              <a:rPr kumimoji="0" lang="en-US" sz="1600" b="1" dirty="0">
                <a:solidFill>
                  <a:srgbClr val="3366FF"/>
                </a:solidFill>
                <a:latin typeface="Verdana" charset="0"/>
              </a:rPr>
              <a:t>hardware</a:t>
            </a:r>
          </a:p>
        </p:txBody>
      </p:sp>
      <p:sp>
        <p:nvSpPr>
          <p:cNvPr id="44045" name="TextBox 15"/>
          <p:cNvSpPr txBox="1">
            <a:spLocks noChangeArrowheads="1"/>
          </p:cNvSpPr>
          <p:nvPr/>
        </p:nvSpPr>
        <p:spPr bwMode="auto">
          <a:xfrm>
            <a:off x="4302125" y="1654175"/>
            <a:ext cx="48397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r>
              <a:rPr kumimoji="0" lang="en-US" sz="1400" dirty="0">
                <a:solidFill>
                  <a:srgbClr val="7F7F7F"/>
                </a:solidFill>
                <a:latin typeface="Verdana" charset="0"/>
              </a:rPr>
              <a:t>Transfers governed by </a:t>
            </a:r>
            <a:r>
              <a:rPr kumimoji="0" lang="en-US" sz="1600" b="1" dirty="0">
                <a:solidFill>
                  <a:srgbClr val="3366FF"/>
                </a:solidFill>
                <a:latin typeface="Verdana" charset="0"/>
              </a:rPr>
              <a:t>programmer/compiler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</p:spPr>
        <p:txBody>
          <a:bodyPr/>
          <a:lstStyle/>
          <a:p>
            <a:pPr algn="r"/>
            <a:fld id="{23277CE7-3AD4-0546-A439-C16617977E6B}" type="slidenum">
              <a:rPr lang="en-US"/>
              <a:pPr algn="r"/>
              <a:t>9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464300" y="2529305"/>
            <a:ext cx="1649320" cy="823496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5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3" grpId="0"/>
      <p:bldP spid="44044" grpId="0"/>
      <p:bldP spid="44045" grpId="0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2775" y="277813"/>
            <a:ext cx="8531225" cy="57626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80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Performance of Various Levels of Storage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607300" cy="4530725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7F7F7F"/>
                </a:solidFill>
                <a:latin typeface="Helvetica" charset="0"/>
                <a:ea typeface="ＭＳ Ｐゴシック" charset="0"/>
                <a:cs typeface="ＭＳ Ｐゴシック" charset="0"/>
              </a:rPr>
              <a:t>Movement between levels of storage hierarchy can be explicit or implicit</a:t>
            </a:r>
          </a:p>
        </p:txBody>
      </p:sp>
      <p:pic>
        <p:nvPicPr>
          <p:cNvPr id="4608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8" y="2300288"/>
            <a:ext cx="7632700" cy="319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916588" y="1976478"/>
            <a:ext cx="7401912" cy="369332"/>
            <a:chOff x="916588" y="1976478"/>
            <a:chExt cx="7401912" cy="369332"/>
          </a:xfrm>
        </p:grpSpPr>
        <p:sp>
          <p:nvSpPr>
            <p:cNvPr id="3" name="TextBox 2"/>
            <p:cNvSpPr txBox="1"/>
            <p:nvPr/>
          </p:nvSpPr>
          <p:spPr>
            <a:xfrm>
              <a:off x="916588" y="1976478"/>
              <a:ext cx="1547212" cy="369332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Price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478688" y="1976478"/>
              <a:ext cx="1699612" cy="369332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?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193188" y="1976478"/>
              <a:ext cx="1432912" cy="369332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?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628288" y="1976478"/>
              <a:ext cx="1344012" cy="369332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?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974488" y="1976478"/>
              <a:ext cx="1344012" cy="369332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?</a:t>
              </a:r>
            </a:p>
          </p:txBody>
        </p:sp>
      </p:grpSp>
      <p:sp>
        <p:nvSpPr>
          <p:cNvPr id="4" name="Oval 3"/>
          <p:cNvSpPr/>
          <p:nvPr/>
        </p:nvSpPr>
        <p:spPr>
          <a:xfrm>
            <a:off x="5626100" y="4648200"/>
            <a:ext cx="1460500" cy="4699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010400" y="4660900"/>
            <a:ext cx="1460500" cy="4699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</p:spPr>
        <p:txBody>
          <a:bodyPr/>
          <a:lstStyle/>
          <a:p>
            <a:pPr algn="r"/>
            <a:fld id="{23277CE7-3AD4-0546-A439-C16617977E6B}" type="slidenum">
              <a:rPr lang="en-US"/>
              <a:pPr algn="r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11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3277CE7-3AD4-0546-A439-C16617977E6B}" type="slidenum">
              <a:rPr lang="en-US"/>
              <a:pPr algn="r"/>
              <a:t>11</a:t>
            </a:fld>
            <a:endParaRPr 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 Virtual Memory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dirty="0">
                <a:solidFill>
                  <a:srgbClr val="3366FF"/>
                </a:solidFill>
              </a:rPr>
              <a:t>ILLUSION</a:t>
            </a:r>
            <a:r>
              <a:rPr lang="en-US" dirty="0"/>
              <a:t>: (achieved by the OS helped by the MMU)</a:t>
            </a:r>
          </a:p>
          <a:p>
            <a:pPr lvl="1"/>
            <a:r>
              <a:rPr lang="en-US" dirty="0"/>
              <a:t>Make the user/programmer believe that the physical space is flat and homogeneous (while it is </a:t>
            </a:r>
            <a:r>
              <a:rPr lang="en-US" dirty="0">
                <a:solidFill>
                  <a:srgbClr val="3366FF"/>
                </a:solidFill>
              </a:rPr>
              <a:t>hierarchical</a:t>
            </a:r>
            <a:r>
              <a:rPr lang="en-US" dirty="0"/>
              <a:t> and implemented with </a:t>
            </a:r>
            <a:r>
              <a:rPr lang="en-US" dirty="0">
                <a:solidFill>
                  <a:srgbClr val="3366FF"/>
                </a:solidFill>
              </a:rPr>
              <a:t>heteroclite</a:t>
            </a:r>
            <a:r>
              <a:rPr lang="en-US" dirty="0"/>
              <a:t> technologies)</a:t>
            </a:r>
          </a:p>
          <a:p>
            <a:endParaRPr lang="en-US" dirty="0"/>
          </a:p>
          <a:p>
            <a:r>
              <a:rPr lang="en-US" dirty="0"/>
              <a:t>Separation of user logical space from physical memory</a:t>
            </a:r>
          </a:p>
          <a:p>
            <a:pPr lvl="1"/>
            <a:r>
              <a:rPr lang="en-US" dirty="0"/>
              <a:t>Very large logical (virtual) memory</a:t>
            </a:r>
          </a:p>
          <a:p>
            <a:pPr lvl="1"/>
            <a:r>
              <a:rPr lang="en-US" dirty="0"/>
              <a:t>Efficient use of physical memory consisting of </a:t>
            </a:r>
          </a:p>
          <a:p>
            <a:pPr marL="1062990" lvl="2" indent="-342900">
              <a:buFont typeface="+mj-lt"/>
              <a:buAutoNum type="arabicPeriod"/>
            </a:pPr>
            <a:r>
              <a:rPr lang="en-US" dirty="0"/>
              <a:t>the main memory and</a:t>
            </a:r>
          </a:p>
          <a:p>
            <a:pPr marL="1062990" lvl="2" indent="-342900">
              <a:buFont typeface="+mj-lt"/>
              <a:buAutoNum type="arabicPeriod"/>
            </a:pPr>
            <a:r>
              <a:rPr lang="en-US" dirty="0"/>
              <a:t> the secondary storage secondary</a:t>
            </a:r>
          </a:p>
          <a:p>
            <a:pPr marL="720090" lvl="2" indent="0">
              <a:buNone/>
            </a:pPr>
            <a:endParaRPr lang="en-US" dirty="0"/>
          </a:p>
          <a:p>
            <a:r>
              <a:rPr lang="en-US" dirty="0"/>
              <a:t>Implementation</a:t>
            </a:r>
          </a:p>
          <a:p>
            <a:pPr lvl="1"/>
            <a:r>
              <a:rPr lang="en-US" b="1" dirty="0">
                <a:solidFill>
                  <a:srgbClr val="3366FF"/>
                </a:solidFill>
              </a:rPr>
              <a:t>Demand paging</a:t>
            </a:r>
            <a:r>
              <a:rPr lang="en-US" dirty="0"/>
              <a:t>: only bring in a page when it is demanded (data or instruction referenced)</a:t>
            </a:r>
          </a:p>
        </p:txBody>
      </p:sp>
    </p:spTree>
    <p:extLst>
      <p:ext uri="{BB962C8B-B14F-4D97-AF65-F5344CB8AC3E}">
        <p14:creationId xmlns:p14="http://schemas.microsoft.com/office/powerpoint/2010/main" val="45946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 bldLvl="3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13051" y="972312"/>
            <a:ext cx="5898734" cy="3180588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does Demand Paging work?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happens when a page in not in the main memory?</a:t>
            </a:r>
          </a:p>
          <a:p>
            <a:pPr lvl="1"/>
            <a:r>
              <a:rPr lang="en-US" b="1" dirty="0">
                <a:solidFill>
                  <a:srgbClr val="3366FF"/>
                </a:solidFill>
              </a:rPr>
              <a:t>Answer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a </a:t>
            </a:r>
            <a:r>
              <a:rPr lang="en-US" b="1" dirty="0">
                <a:solidFill>
                  <a:srgbClr val="3366FF"/>
                </a:solidFill>
              </a:rPr>
              <a:t>page fault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occurs?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to handle a page fault?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Read Sections 8.2 Introduction and 8.2.1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Paging</a:t>
            </a:r>
          </a:p>
        </p:txBody>
      </p:sp>
    </p:spTree>
    <p:extLst>
      <p:ext uri="{BB962C8B-B14F-4D97-AF65-F5344CB8AC3E}">
        <p14:creationId xmlns:p14="http://schemas.microsoft.com/office/powerpoint/2010/main" val="365354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algn="r"/>
            <a:fld id="{0268A94F-0684-934A-9903-543222CD0C84}" type="slidenum">
              <a:rPr lang="en-US"/>
              <a:pPr algn="r"/>
              <a:t>13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251325" y="1308100"/>
            <a:ext cx="1244600" cy="2475131"/>
            <a:chOff x="4251325" y="1905000"/>
            <a:chExt cx="1244600" cy="2475131"/>
          </a:xfrm>
        </p:grpSpPr>
        <p:sp>
          <p:nvSpPr>
            <p:cNvPr id="36" name="Rectangle 40"/>
            <p:cNvSpPr>
              <a:spLocks noChangeArrowheads="1"/>
            </p:cNvSpPr>
            <p:nvPr/>
          </p:nvSpPr>
          <p:spPr bwMode="auto">
            <a:xfrm>
              <a:off x="4654550" y="19621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Rectangle 42"/>
            <p:cNvSpPr>
              <a:spLocks noChangeArrowheads="1"/>
            </p:cNvSpPr>
            <p:nvPr/>
          </p:nvSpPr>
          <p:spPr bwMode="auto">
            <a:xfrm>
              <a:off x="4651375" y="23368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Text Box 43"/>
            <p:cNvSpPr txBox="1">
              <a:spLocks noChangeArrowheads="1"/>
            </p:cNvSpPr>
            <p:nvPr/>
          </p:nvSpPr>
          <p:spPr bwMode="auto">
            <a:xfrm>
              <a:off x="4868863" y="2298700"/>
              <a:ext cx="4048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39" name="Rectangle 44"/>
            <p:cNvSpPr>
              <a:spLocks noChangeArrowheads="1"/>
            </p:cNvSpPr>
            <p:nvPr/>
          </p:nvSpPr>
          <p:spPr bwMode="auto">
            <a:xfrm>
              <a:off x="4648200" y="27114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Text Box 45"/>
            <p:cNvSpPr txBox="1">
              <a:spLocks noChangeArrowheads="1"/>
            </p:cNvSpPr>
            <p:nvPr/>
          </p:nvSpPr>
          <p:spPr bwMode="auto">
            <a:xfrm>
              <a:off x="4876800" y="1905000"/>
              <a:ext cx="3540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4645025" y="30861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Text Box 47"/>
            <p:cNvSpPr txBox="1">
              <a:spLocks noChangeArrowheads="1"/>
            </p:cNvSpPr>
            <p:nvPr/>
          </p:nvSpPr>
          <p:spPr bwMode="auto">
            <a:xfrm>
              <a:off x="4876800" y="3048000"/>
              <a:ext cx="387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C</a:t>
              </a:r>
            </a:p>
          </p:txBody>
        </p:sp>
        <p:sp>
          <p:nvSpPr>
            <p:cNvPr id="43" name="Text Box 48"/>
            <p:cNvSpPr txBox="1">
              <a:spLocks noChangeArrowheads="1"/>
            </p:cNvSpPr>
            <p:nvPr/>
          </p:nvSpPr>
          <p:spPr bwMode="auto">
            <a:xfrm>
              <a:off x="4251325" y="1965325"/>
              <a:ext cx="338554" cy="19389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3366FF"/>
                  </a:solidFill>
                </a:rPr>
                <a:t>0</a:t>
              </a:r>
            </a:p>
            <a:p>
              <a:r>
                <a:rPr lang="en-US" sz="2400" dirty="0">
                  <a:solidFill>
                    <a:srgbClr val="3366FF"/>
                  </a:solidFill>
                </a:rPr>
                <a:t>1</a:t>
              </a:r>
            </a:p>
            <a:p>
              <a:r>
                <a:rPr lang="en-US" sz="2400" dirty="0">
                  <a:solidFill>
                    <a:srgbClr val="3366FF"/>
                  </a:solidFill>
                </a:rPr>
                <a:t>2</a:t>
              </a:r>
            </a:p>
            <a:p>
              <a:r>
                <a:rPr lang="en-US" sz="2400" dirty="0">
                  <a:solidFill>
                    <a:srgbClr val="3366FF"/>
                  </a:solidFill>
                </a:rPr>
                <a:t>3</a:t>
              </a:r>
            </a:p>
            <a:p>
              <a:endParaRPr lang="en-US" sz="2400" dirty="0">
                <a:solidFill>
                  <a:srgbClr val="3366FF"/>
                </a:solidFill>
              </a:endParaRPr>
            </a:p>
          </p:txBody>
        </p:sp>
        <p:sp>
          <p:nvSpPr>
            <p:cNvPr id="63" name="Text Box 77"/>
            <p:cNvSpPr txBox="1">
              <a:spLocks noChangeArrowheads="1"/>
            </p:cNvSpPr>
            <p:nvPr/>
          </p:nvSpPr>
          <p:spPr bwMode="auto">
            <a:xfrm>
              <a:off x="4343400" y="3733800"/>
              <a:ext cx="1107996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/>
                <a:t>Main</a:t>
              </a:r>
            </a:p>
            <a:p>
              <a:pPr algn="ctr"/>
              <a:r>
                <a:rPr lang="en-US" b="1" dirty="0"/>
                <a:t>Memory</a:t>
              </a:r>
              <a:endParaRPr lang="en-US" dirty="0"/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6324600" y="241300"/>
            <a:ext cx="2579688" cy="4191000"/>
            <a:chOff x="6324600" y="838200"/>
            <a:chExt cx="2579688" cy="4191000"/>
          </a:xfrm>
        </p:grpSpPr>
        <p:sp>
          <p:nvSpPr>
            <p:cNvPr id="44" name="Oval 49"/>
            <p:cNvSpPr>
              <a:spLocks noChangeArrowheads="1"/>
            </p:cNvSpPr>
            <p:nvPr/>
          </p:nvSpPr>
          <p:spPr bwMode="auto">
            <a:xfrm>
              <a:off x="6400800" y="838200"/>
              <a:ext cx="2362200" cy="685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50"/>
            <p:cNvSpPr>
              <a:spLocks noChangeArrowheads="1"/>
            </p:cNvSpPr>
            <p:nvPr/>
          </p:nvSpPr>
          <p:spPr bwMode="auto">
            <a:xfrm>
              <a:off x="6400800" y="3657600"/>
              <a:ext cx="2362200" cy="685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51"/>
            <p:cNvSpPr>
              <a:spLocks noChangeShapeType="1"/>
            </p:cNvSpPr>
            <p:nvPr/>
          </p:nvSpPr>
          <p:spPr bwMode="auto">
            <a:xfrm>
              <a:off x="6400800" y="1219200"/>
              <a:ext cx="0" cy="2819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52"/>
            <p:cNvSpPr>
              <a:spLocks noChangeShapeType="1"/>
            </p:cNvSpPr>
            <p:nvPr/>
          </p:nvSpPr>
          <p:spPr bwMode="auto">
            <a:xfrm>
              <a:off x="8763000" y="1219200"/>
              <a:ext cx="0" cy="274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Rectangle 53"/>
            <p:cNvSpPr>
              <a:spLocks noChangeArrowheads="1"/>
            </p:cNvSpPr>
            <p:nvPr/>
          </p:nvSpPr>
          <p:spPr bwMode="auto">
            <a:xfrm>
              <a:off x="6629400" y="1752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49" name="Rectangle 54"/>
            <p:cNvSpPr>
              <a:spLocks noChangeArrowheads="1"/>
            </p:cNvSpPr>
            <p:nvPr/>
          </p:nvSpPr>
          <p:spPr bwMode="auto">
            <a:xfrm>
              <a:off x="7391400" y="1752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Rectangle 55"/>
            <p:cNvSpPr>
              <a:spLocks noChangeArrowheads="1"/>
            </p:cNvSpPr>
            <p:nvPr/>
          </p:nvSpPr>
          <p:spPr bwMode="auto">
            <a:xfrm>
              <a:off x="8153400" y="1752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E</a:t>
              </a:r>
            </a:p>
          </p:txBody>
        </p:sp>
        <p:sp>
          <p:nvSpPr>
            <p:cNvPr id="51" name="Rectangle 56"/>
            <p:cNvSpPr>
              <a:spLocks noChangeArrowheads="1"/>
            </p:cNvSpPr>
            <p:nvPr/>
          </p:nvSpPr>
          <p:spPr bwMode="auto">
            <a:xfrm>
              <a:off x="6629400" y="23622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Rectangle 57"/>
            <p:cNvSpPr>
              <a:spLocks noChangeArrowheads="1"/>
            </p:cNvSpPr>
            <p:nvPr/>
          </p:nvSpPr>
          <p:spPr bwMode="auto">
            <a:xfrm>
              <a:off x="7391400" y="23622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53" name="Rectangle 58"/>
            <p:cNvSpPr>
              <a:spLocks noChangeArrowheads="1"/>
            </p:cNvSpPr>
            <p:nvPr/>
          </p:nvSpPr>
          <p:spPr bwMode="auto">
            <a:xfrm>
              <a:off x="8153400" y="23622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Rectangle 59"/>
            <p:cNvSpPr>
              <a:spLocks noChangeArrowheads="1"/>
            </p:cNvSpPr>
            <p:nvPr/>
          </p:nvSpPr>
          <p:spPr bwMode="auto">
            <a:xfrm>
              <a:off x="6629400" y="2971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55" name="Rectangle 60"/>
            <p:cNvSpPr>
              <a:spLocks noChangeArrowheads="1"/>
            </p:cNvSpPr>
            <p:nvPr/>
          </p:nvSpPr>
          <p:spPr bwMode="auto">
            <a:xfrm>
              <a:off x="7391400" y="2971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Rectangle 61"/>
            <p:cNvSpPr>
              <a:spLocks noChangeArrowheads="1"/>
            </p:cNvSpPr>
            <p:nvPr/>
          </p:nvSpPr>
          <p:spPr bwMode="auto">
            <a:xfrm>
              <a:off x="8153400" y="2971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57" name="Rectangle 62"/>
            <p:cNvSpPr>
              <a:spLocks noChangeArrowheads="1"/>
            </p:cNvSpPr>
            <p:nvPr/>
          </p:nvSpPr>
          <p:spPr bwMode="auto">
            <a:xfrm>
              <a:off x="6629400" y="3581400"/>
              <a:ext cx="3810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58" name="Rectangle 63"/>
            <p:cNvSpPr>
              <a:spLocks noChangeArrowheads="1"/>
            </p:cNvSpPr>
            <p:nvPr/>
          </p:nvSpPr>
          <p:spPr bwMode="auto">
            <a:xfrm>
              <a:off x="7391400" y="3581400"/>
              <a:ext cx="3810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Rectangle 64"/>
            <p:cNvSpPr>
              <a:spLocks noChangeArrowheads="1"/>
            </p:cNvSpPr>
            <p:nvPr/>
          </p:nvSpPr>
          <p:spPr bwMode="auto">
            <a:xfrm>
              <a:off x="8153400" y="3581400"/>
              <a:ext cx="3810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Text Box 73"/>
            <p:cNvSpPr txBox="1">
              <a:spLocks noChangeArrowheads="1"/>
            </p:cNvSpPr>
            <p:nvPr/>
          </p:nvSpPr>
          <p:spPr bwMode="auto">
            <a:xfrm>
              <a:off x="7451725" y="1676400"/>
              <a:ext cx="4048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D</a:t>
              </a:r>
            </a:p>
          </p:txBody>
        </p:sp>
        <p:sp>
          <p:nvSpPr>
            <p:cNvPr id="64" name="Text Box 79"/>
            <p:cNvSpPr txBox="1">
              <a:spLocks noChangeArrowheads="1"/>
            </p:cNvSpPr>
            <p:nvPr/>
          </p:nvSpPr>
          <p:spPr bwMode="auto">
            <a:xfrm>
              <a:off x="6324600" y="4572000"/>
              <a:ext cx="25796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/>
                <a:t>Secondary storage</a:t>
              </a:r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2225" y="1111250"/>
            <a:ext cx="1120775" cy="3189506"/>
            <a:chOff x="22225" y="1708150"/>
            <a:chExt cx="1120775" cy="3189506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301625" y="17462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519113" y="1708150"/>
              <a:ext cx="4048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98450" y="21209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515938" y="2082800"/>
              <a:ext cx="387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B</a:t>
              </a: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295275" y="24955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512763" y="2457450"/>
              <a:ext cx="387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292100" y="28702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509588" y="2832100"/>
              <a:ext cx="4048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D</a:t>
              </a:r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288925" y="32448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506413" y="3206750"/>
              <a:ext cx="36988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E</a:t>
              </a:r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285750" y="36195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503238" y="3581400"/>
              <a:ext cx="3540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61" name="Text Box 75"/>
            <p:cNvSpPr txBox="1">
              <a:spLocks noChangeArrowheads="1"/>
            </p:cNvSpPr>
            <p:nvPr/>
          </p:nvSpPr>
          <p:spPr bwMode="auto">
            <a:xfrm>
              <a:off x="138113" y="4251325"/>
              <a:ext cx="948509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/>
                <a:t>Logical</a:t>
              </a:r>
            </a:p>
            <a:p>
              <a:pPr algn="ctr"/>
              <a:r>
                <a:rPr lang="en-US" b="1" dirty="0"/>
                <a:t>Space</a:t>
              </a:r>
              <a:endParaRPr lang="en-US" dirty="0"/>
            </a:p>
          </p:txBody>
        </p:sp>
        <p:sp>
          <p:nvSpPr>
            <p:cNvPr id="65" name="Text Box 80"/>
            <p:cNvSpPr txBox="1">
              <a:spLocks noChangeArrowheads="1"/>
            </p:cNvSpPr>
            <p:nvPr/>
          </p:nvSpPr>
          <p:spPr bwMode="auto">
            <a:xfrm>
              <a:off x="22225" y="1730375"/>
              <a:ext cx="338554" cy="2308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/>
                <a:t>0</a:t>
              </a:r>
            </a:p>
            <a:p>
              <a:r>
                <a:rPr lang="en-US" sz="2400" dirty="0"/>
                <a:t>1</a:t>
              </a:r>
            </a:p>
            <a:p>
              <a:r>
                <a:rPr lang="en-US" sz="2400" dirty="0"/>
                <a:t>2</a:t>
              </a:r>
            </a:p>
            <a:p>
              <a:r>
                <a:rPr lang="en-US" sz="2400" dirty="0"/>
                <a:t>3</a:t>
              </a:r>
            </a:p>
            <a:p>
              <a:r>
                <a:rPr lang="en-US" sz="2400" dirty="0"/>
                <a:t>4</a:t>
              </a:r>
            </a:p>
            <a:p>
              <a:r>
                <a:rPr lang="en-US" sz="2400" dirty="0"/>
                <a:t>5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339850" y="1133475"/>
            <a:ext cx="1951038" cy="2825750"/>
            <a:chOff x="1339850" y="1730375"/>
            <a:chExt cx="1951038" cy="2825750"/>
          </a:xfrm>
        </p:grpSpPr>
        <p:sp>
          <p:nvSpPr>
            <p:cNvPr id="62" name="Text Box 76"/>
            <p:cNvSpPr txBox="1">
              <a:spLocks noChangeArrowheads="1"/>
            </p:cNvSpPr>
            <p:nvPr/>
          </p:nvSpPr>
          <p:spPr bwMode="auto">
            <a:xfrm>
              <a:off x="1660525" y="4098925"/>
              <a:ext cx="16303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/>
                <a:t>Page Table</a:t>
              </a:r>
              <a:endParaRPr lang="en-US"/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1673225" y="17526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1670050" y="21272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1666875" y="2511425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1673225" y="2892425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1673225" y="3273425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1673225" y="3654425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2514600" y="1755775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7" name="Rectangle 23"/>
            <p:cNvSpPr>
              <a:spLocks noChangeArrowheads="1"/>
            </p:cNvSpPr>
            <p:nvPr/>
          </p:nvSpPr>
          <p:spPr bwMode="auto">
            <a:xfrm>
              <a:off x="2514600" y="2130425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 dirty="0" err="1">
                  <a:solidFill>
                    <a:srgbClr val="FF0000"/>
                  </a:solidFill>
                </a:rPr>
                <a:t>i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8" name="Rectangle 24"/>
            <p:cNvSpPr>
              <a:spLocks noChangeArrowheads="1"/>
            </p:cNvSpPr>
            <p:nvPr/>
          </p:nvSpPr>
          <p:spPr bwMode="auto">
            <a:xfrm>
              <a:off x="2514600" y="25146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9" name="Rectangle 25"/>
            <p:cNvSpPr>
              <a:spLocks noChangeArrowheads="1"/>
            </p:cNvSpPr>
            <p:nvPr/>
          </p:nvSpPr>
          <p:spPr bwMode="auto">
            <a:xfrm>
              <a:off x="2514600" y="28956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auto">
            <a:xfrm>
              <a:off x="2514600" y="32766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31" name="Rectangle 27"/>
            <p:cNvSpPr>
              <a:spLocks noChangeArrowheads="1"/>
            </p:cNvSpPr>
            <p:nvPr/>
          </p:nvSpPr>
          <p:spPr bwMode="auto">
            <a:xfrm>
              <a:off x="2514600" y="36576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32" name="Text Box 28"/>
            <p:cNvSpPr txBox="1">
              <a:spLocks noChangeArrowheads="1"/>
            </p:cNvSpPr>
            <p:nvPr/>
          </p:nvSpPr>
          <p:spPr bwMode="auto">
            <a:xfrm>
              <a:off x="1965325" y="1752600"/>
              <a:ext cx="31203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1</a:t>
              </a:r>
            </a:p>
          </p:txBody>
        </p:sp>
        <p:sp>
          <p:nvSpPr>
            <p:cNvPr id="33" name="Text Box 29"/>
            <p:cNvSpPr txBox="1">
              <a:spLocks noChangeArrowheads="1"/>
            </p:cNvSpPr>
            <p:nvPr/>
          </p:nvSpPr>
          <p:spPr bwMode="auto">
            <a:xfrm>
              <a:off x="1965325" y="2514600"/>
              <a:ext cx="92619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3  </a:t>
              </a:r>
              <a:r>
                <a:rPr lang="en-US" dirty="0"/>
                <a:t>      v</a:t>
              </a:r>
            </a:p>
          </p:txBody>
        </p:sp>
        <p:sp>
          <p:nvSpPr>
            <p:cNvPr id="34" name="Text Box 30"/>
            <p:cNvSpPr txBox="1">
              <a:spLocks noChangeArrowheads="1"/>
            </p:cNvSpPr>
            <p:nvPr/>
          </p:nvSpPr>
          <p:spPr bwMode="auto">
            <a:xfrm>
              <a:off x="1981200" y="3657600"/>
              <a:ext cx="92619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0 </a:t>
              </a:r>
              <a:r>
                <a:rPr lang="en-US" dirty="0"/>
                <a:t>       v</a:t>
              </a:r>
            </a:p>
          </p:txBody>
        </p:sp>
        <p:sp>
          <p:nvSpPr>
            <p:cNvPr id="35" name="Text Box 31"/>
            <p:cNvSpPr txBox="1">
              <a:spLocks noChangeArrowheads="1"/>
            </p:cNvSpPr>
            <p:nvPr/>
          </p:nvSpPr>
          <p:spPr bwMode="auto">
            <a:xfrm>
              <a:off x="2117725" y="1736725"/>
              <a:ext cx="7346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       v</a:t>
              </a:r>
            </a:p>
          </p:txBody>
        </p:sp>
        <p:sp>
          <p:nvSpPr>
            <p:cNvPr id="66" name="Text Box 81"/>
            <p:cNvSpPr txBox="1">
              <a:spLocks noChangeArrowheads="1"/>
            </p:cNvSpPr>
            <p:nvPr/>
          </p:nvSpPr>
          <p:spPr bwMode="auto">
            <a:xfrm>
              <a:off x="1339850" y="1730375"/>
              <a:ext cx="338554" cy="26776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/>
                <a:t>0</a:t>
              </a:r>
            </a:p>
            <a:p>
              <a:r>
                <a:rPr lang="en-US" sz="2400" dirty="0"/>
                <a:t>1</a:t>
              </a:r>
            </a:p>
            <a:p>
              <a:r>
                <a:rPr lang="en-US" sz="2400" dirty="0"/>
                <a:t>2</a:t>
              </a:r>
            </a:p>
            <a:p>
              <a:r>
                <a:rPr lang="en-US" sz="2400" dirty="0"/>
                <a:t>3</a:t>
              </a:r>
            </a:p>
            <a:p>
              <a:r>
                <a:rPr lang="en-US" sz="2400" dirty="0"/>
                <a:t>4</a:t>
              </a:r>
            </a:p>
            <a:p>
              <a:r>
                <a:rPr lang="en-US" sz="2400" dirty="0"/>
                <a:t>5</a:t>
              </a:r>
            </a:p>
            <a:p>
              <a:endParaRPr lang="en-US" sz="2400" dirty="0"/>
            </a:p>
          </p:txBody>
        </p:sp>
      </p:grpSp>
      <p:sp>
        <p:nvSpPr>
          <p:cNvPr id="67" name="Rectangle 2"/>
          <p:cNvSpPr txBox="1">
            <a:spLocks noChangeArrowheads="1"/>
          </p:cNvSpPr>
          <p:nvPr/>
        </p:nvSpPr>
        <p:spPr>
          <a:xfrm>
            <a:off x="457200" y="274639"/>
            <a:ext cx="5334000" cy="61119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 spc="-45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Demand Paging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57200" y="5029200"/>
            <a:ext cx="8229600" cy="1096964"/>
          </a:xfrm>
          <a:prstGeom prst="rect">
            <a:avLst/>
          </a:prstGeom>
        </p:spPr>
        <p:txBody>
          <a:bodyPr/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1625" y="5461000"/>
            <a:ext cx="82381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What happens when we refer </a:t>
            </a:r>
            <a:r>
              <a:rPr lang="en-US" dirty="0">
                <a:solidFill>
                  <a:srgbClr val="3366FF"/>
                </a:solidFill>
              </a:rPr>
              <a:t>Page # 2</a:t>
            </a:r>
            <a:r>
              <a:rPr lang="en-US" dirty="0"/>
              <a:t>?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If the main memory was always sufficiently large  to accommodate the logical space </a:t>
            </a:r>
          </a:p>
          <a:p>
            <a:r>
              <a:rPr lang="en-US" dirty="0"/>
              <a:t> then we  would stop here</a:t>
            </a:r>
            <a:r>
              <a:rPr lang="is-IS" dirty="0"/>
              <a:t>….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What happens when we refer </a:t>
            </a:r>
            <a:r>
              <a:rPr lang="en-US" dirty="0">
                <a:solidFill>
                  <a:srgbClr val="3366FF"/>
                </a:solidFill>
              </a:rPr>
              <a:t>Page # 1</a:t>
            </a:r>
            <a:r>
              <a:rPr lang="en-US" dirty="0"/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2539093" y="1082675"/>
            <a:ext cx="469900" cy="2422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0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algn="r"/>
            <a:fld id="{0268A94F-0684-934A-9903-543222CD0C84}" type="slidenum">
              <a:rPr lang="en-US"/>
              <a:pPr algn="r"/>
              <a:t>14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251325" y="1308100"/>
            <a:ext cx="1244600" cy="2475131"/>
            <a:chOff x="4251325" y="1905000"/>
            <a:chExt cx="1244600" cy="2475131"/>
          </a:xfrm>
        </p:grpSpPr>
        <p:sp>
          <p:nvSpPr>
            <p:cNvPr id="36" name="Rectangle 40"/>
            <p:cNvSpPr>
              <a:spLocks noChangeArrowheads="1"/>
            </p:cNvSpPr>
            <p:nvPr/>
          </p:nvSpPr>
          <p:spPr bwMode="auto">
            <a:xfrm>
              <a:off x="4654550" y="19621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Rectangle 42"/>
            <p:cNvSpPr>
              <a:spLocks noChangeArrowheads="1"/>
            </p:cNvSpPr>
            <p:nvPr/>
          </p:nvSpPr>
          <p:spPr bwMode="auto">
            <a:xfrm>
              <a:off x="4651375" y="23368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Text Box 43"/>
            <p:cNvSpPr txBox="1">
              <a:spLocks noChangeArrowheads="1"/>
            </p:cNvSpPr>
            <p:nvPr/>
          </p:nvSpPr>
          <p:spPr bwMode="auto">
            <a:xfrm>
              <a:off x="4868863" y="2298700"/>
              <a:ext cx="4048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39" name="Rectangle 44"/>
            <p:cNvSpPr>
              <a:spLocks noChangeArrowheads="1"/>
            </p:cNvSpPr>
            <p:nvPr/>
          </p:nvSpPr>
          <p:spPr bwMode="auto">
            <a:xfrm>
              <a:off x="4648200" y="27114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Text Box 45"/>
            <p:cNvSpPr txBox="1">
              <a:spLocks noChangeArrowheads="1"/>
            </p:cNvSpPr>
            <p:nvPr/>
          </p:nvSpPr>
          <p:spPr bwMode="auto">
            <a:xfrm>
              <a:off x="4876800" y="1905000"/>
              <a:ext cx="3540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4645025" y="30861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Text Box 47"/>
            <p:cNvSpPr txBox="1">
              <a:spLocks noChangeArrowheads="1"/>
            </p:cNvSpPr>
            <p:nvPr/>
          </p:nvSpPr>
          <p:spPr bwMode="auto">
            <a:xfrm>
              <a:off x="4876800" y="3048000"/>
              <a:ext cx="387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C</a:t>
              </a:r>
            </a:p>
          </p:txBody>
        </p:sp>
        <p:sp>
          <p:nvSpPr>
            <p:cNvPr id="43" name="Text Box 48"/>
            <p:cNvSpPr txBox="1">
              <a:spLocks noChangeArrowheads="1"/>
            </p:cNvSpPr>
            <p:nvPr/>
          </p:nvSpPr>
          <p:spPr bwMode="auto">
            <a:xfrm>
              <a:off x="4251325" y="1965325"/>
              <a:ext cx="338554" cy="19389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3366FF"/>
                  </a:solidFill>
                </a:rPr>
                <a:t>0</a:t>
              </a:r>
            </a:p>
            <a:p>
              <a:r>
                <a:rPr lang="en-US" sz="2400" dirty="0">
                  <a:solidFill>
                    <a:srgbClr val="3366FF"/>
                  </a:solidFill>
                </a:rPr>
                <a:t>1</a:t>
              </a:r>
            </a:p>
            <a:p>
              <a:r>
                <a:rPr lang="en-US" sz="2400" dirty="0">
                  <a:solidFill>
                    <a:srgbClr val="3366FF"/>
                  </a:solidFill>
                </a:rPr>
                <a:t>2</a:t>
              </a:r>
            </a:p>
            <a:p>
              <a:r>
                <a:rPr lang="en-US" sz="2400" dirty="0">
                  <a:solidFill>
                    <a:srgbClr val="3366FF"/>
                  </a:solidFill>
                </a:rPr>
                <a:t>3</a:t>
              </a:r>
            </a:p>
            <a:p>
              <a:endParaRPr lang="en-US" sz="2400" dirty="0">
                <a:solidFill>
                  <a:srgbClr val="3366FF"/>
                </a:solidFill>
              </a:endParaRPr>
            </a:p>
          </p:txBody>
        </p:sp>
        <p:sp>
          <p:nvSpPr>
            <p:cNvPr id="63" name="Text Box 77"/>
            <p:cNvSpPr txBox="1">
              <a:spLocks noChangeArrowheads="1"/>
            </p:cNvSpPr>
            <p:nvPr/>
          </p:nvSpPr>
          <p:spPr bwMode="auto">
            <a:xfrm>
              <a:off x="4343400" y="3733800"/>
              <a:ext cx="1107996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/>
                <a:t>Main</a:t>
              </a:r>
            </a:p>
            <a:p>
              <a:pPr algn="ctr"/>
              <a:r>
                <a:rPr lang="en-US" b="1" dirty="0"/>
                <a:t>Memory</a:t>
              </a:r>
              <a:endParaRPr lang="en-US" dirty="0"/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6324600" y="241300"/>
            <a:ext cx="2579688" cy="4191000"/>
            <a:chOff x="6324600" y="838200"/>
            <a:chExt cx="2579688" cy="4191000"/>
          </a:xfrm>
        </p:grpSpPr>
        <p:sp>
          <p:nvSpPr>
            <p:cNvPr id="44" name="Oval 49"/>
            <p:cNvSpPr>
              <a:spLocks noChangeArrowheads="1"/>
            </p:cNvSpPr>
            <p:nvPr/>
          </p:nvSpPr>
          <p:spPr bwMode="auto">
            <a:xfrm>
              <a:off x="6400800" y="838200"/>
              <a:ext cx="2362200" cy="685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50"/>
            <p:cNvSpPr>
              <a:spLocks noChangeArrowheads="1"/>
            </p:cNvSpPr>
            <p:nvPr/>
          </p:nvSpPr>
          <p:spPr bwMode="auto">
            <a:xfrm>
              <a:off x="6400800" y="3657600"/>
              <a:ext cx="2362200" cy="685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51"/>
            <p:cNvSpPr>
              <a:spLocks noChangeShapeType="1"/>
            </p:cNvSpPr>
            <p:nvPr/>
          </p:nvSpPr>
          <p:spPr bwMode="auto">
            <a:xfrm>
              <a:off x="6400800" y="1219200"/>
              <a:ext cx="0" cy="2819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52"/>
            <p:cNvSpPr>
              <a:spLocks noChangeShapeType="1"/>
            </p:cNvSpPr>
            <p:nvPr/>
          </p:nvSpPr>
          <p:spPr bwMode="auto">
            <a:xfrm>
              <a:off x="8763000" y="1219200"/>
              <a:ext cx="0" cy="274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Rectangle 53"/>
            <p:cNvSpPr>
              <a:spLocks noChangeArrowheads="1"/>
            </p:cNvSpPr>
            <p:nvPr/>
          </p:nvSpPr>
          <p:spPr bwMode="auto">
            <a:xfrm>
              <a:off x="6629400" y="1752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49" name="Rectangle 54"/>
            <p:cNvSpPr>
              <a:spLocks noChangeArrowheads="1"/>
            </p:cNvSpPr>
            <p:nvPr/>
          </p:nvSpPr>
          <p:spPr bwMode="auto">
            <a:xfrm>
              <a:off x="7391400" y="1752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Rectangle 55"/>
            <p:cNvSpPr>
              <a:spLocks noChangeArrowheads="1"/>
            </p:cNvSpPr>
            <p:nvPr/>
          </p:nvSpPr>
          <p:spPr bwMode="auto">
            <a:xfrm>
              <a:off x="8153400" y="1752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E</a:t>
              </a:r>
            </a:p>
          </p:txBody>
        </p:sp>
        <p:sp>
          <p:nvSpPr>
            <p:cNvPr id="51" name="Rectangle 56"/>
            <p:cNvSpPr>
              <a:spLocks noChangeArrowheads="1"/>
            </p:cNvSpPr>
            <p:nvPr/>
          </p:nvSpPr>
          <p:spPr bwMode="auto">
            <a:xfrm>
              <a:off x="6629400" y="23622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Rectangle 57"/>
            <p:cNvSpPr>
              <a:spLocks noChangeArrowheads="1"/>
            </p:cNvSpPr>
            <p:nvPr/>
          </p:nvSpPr>
          <p:spPr bwMode="auto">
            <a:xfrm>
              <a:off x="7391400" y="23622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53" name="Rectangle 58"/>
            <p:cNvSpPr>
              <a:spLocks noChangeArrowheads="1"/>
            </p:cNvSpPr>
            <p:nvPr/>
          </p:nvSpPr>
          <p:spPr bwMode="auto">
            <a:xfrm>
              <a:off x="8153400" y="23622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Rectangle 59"/>
            <p:cNvSpPr>
              <a:spLocks noChangeArrowheads="1"/>
            </p:cNvSpPr>
            <p:nvPr/>
          </p:nvSpPr>
          <p:spPr bwMode="auto">
            <a:xfrm>
              <a:off x="6629400" y="2971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55" name="Rectangle 60"/>
            <p:cNvSpPr>
              <a:spLocks noChangeArrowheads="1"/>
            </p:cNvSpPr>
            <p:nvPr/>
          </p:nvSpPr>
          <p:spPr bwMode="auto">
            <a:xfrm>
              <a:off x="7391400" y="2971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Rectangle 61"/>
            <p:cNvSpPr>
              <a:spLocks noChangeArrowheads="1"/>
            </p:cNvSpPr>
            <p:nvPr/>
          </p:nvSpPr>
          <p:spPr bwMode="auto">
            <a:xfrm>
              <a:off x="8153400" y="2971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57" name="Rectangle 62"/>
            <p:cNvSpPr>
              <a:spLocks noChangeArrowheads="1"/>
            </p:cNvSpPr>
            <p:nvPr/>
          </p:nvSpPr>
          <p:spPr bwMode="auto">
            <a:xfrm>
              <a:off x="6629400" y="3581400"/>
              <a:ext cx="3810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58" name="Rectangle 63"/>
            <p:cNvSpPr>
              <a:spLocks noChangeArrowheads="1"/>
            </p:cNvSpPr>
            <p:nvPr/>
          </p:nvSpPr>
          <p:spPr bwMode="auto">
            <a:xfrm>
              <a:off x="7391400" y="3581400"/>
              <a:ext cx="3810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Rectangle 64"/>
            <p:cNvSpPr>
              <a:spLocks noChangeArrowheads="1"/>
            </p:cNvSpPr>
            <p:nvPr/>
          </p:nvSpPr>
          <p:spPr bwMode="auto">
            <a:xfrm>
              <a:off x="8153400" y="3581400"/>
              <a:ext cx="3810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Text Box 73"/>
            <p:cNvSpPr txBox="1">
              <a:spLocks noChangeArrowheads="1"/>
            </p:cNvSpPr>
            <p:nvPr/>
          </p:nvSpPr>
          <p:spPr bwMode="auto">
            <a:xfrm>
              <a:off x="7451725" y="1676400"/>
              <a:ext cx="4048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D</a:t>
              </a:r>
            </a:p>
          </p:txBody>
        </p:sp>
        <p:sp>
          <p:nvSpPr>
            <p:cNvPr id="64" name="Text Box 79"/>
            <p:cNvSpPr txBox="1">
              <a:spLocks noChangeArrowheads="1"/>
            </p:cNvSpPr>
            <p:nvPr/>
          </p:nvSpPr>
          <p:spPr bwMode="auto">
            <a:xfrm>
              <a:off x="6324600" y="4572000"/>
              <a:ext cx="25796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/>
                <a:t>Secondary storage</a:t>
              </a:r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2225" y="1111250"/>
            <a:ext cx="1120775" cy="3189506"/>
            <a:chOff x="22225" y="1708150"/>
            <a:chExt cx="1120775" cy="3189506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301625" y="17462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519113" y="1708150"/>
              <a:ext cx="4048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98450" y="21209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515938" y="2082800"/>
              <a:ext cx="387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B</a:t>
              </a: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295275" y="24955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512763" y="2457450"/>
              <a:ext cx="387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292100" y="28702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509588" y="2832100"/>
              <a:ext cx="4048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D</a:t>
              </a:r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288925" y="32448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506413" y="3206750"/>
              <a:ext cx="36988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E</a:t>
              </a:r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285750" y="36195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503238" y="3581400"/>
              <a:ext cx="3540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61" name="Text Box 75"/>
            <p:cNvSpPr txBox="1">
              <a:spLocks noChangeArrowheads="1"/>
            </p:cNvSpPr>
            <p:nvPr/>
          </p:nvSpPr>
          <p:spPr bwMode="auto">
            <a:xfrm>
              <a:off x="138113" y="4251325"/>
              <a:ext cx="948509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/>
                <a:t>Logical</a:t>
              </a:r>
            </a:p>
            <a:p>
              <a:pPr algn="ctr"/>
              <a:r>
                <a:rPr lang="en-US" b="1" dirty="0"/>
                <a:t>Space</a:t>
              </a:r>
              <a:endParaRPr lang="en-US" dirty="0"/>
            </a:p>
          </p:txBody>
        </p:sp>
        <p:sp>
          <p:nvSpPr>
            <p:cNvPr id="65" name="Text Box 80"/>
            <p:cNvSpPr txBox="1">
              <a:spLocks noChangeArrowheads="1"/>
            </p:cNvSpPr>
            <p:nvPr/>
          </p:nvSpPr>
          <p:spPr bwMode="auto">
            <a:xfrm>
              <a:off x="22225" y="1730375"/>
              <a:ext cx="338554" cy="2308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/>
                <a:t>0</a:t>
              </a:r>
            </a:p>
            <a:p>
              <a:r>
                <a:rPr lang="en-US" sz="2400" dirty="0"/>
                <a:t>1</a:t>
              </a:r>
            </a:p>
            <a:p>
              <a:r>
                <a:rPr lang="en-US" sz="2400" dirty="0"/>
                <a:t>2</a:t>
              </a:r>
            </a:p>
            <a:p>
              <a:r>
                <a:rPr lang="en-US" sz="2400" dirty="0"/>
                <a:t>3</a:t>
              </a:r>
            </a:p>
            <a:p>
              <a:r>
                <a:rPr lang="en-US" sz="2400" dirty="0"/>
                <a:t>4</a:t>
              </a:r>
            </a:p>
            <a:p>
              <a:r>
                <a:rPr lang="en-US" sz="2400" dirty="0"/>
                <a:t>5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339850" y="1133475"/>
            <a:ext cx="1951038" cy="2825750"/>
            <a:chOff x="1339850" y="1730375"/>
            <a:chExt cx="1951038" cy="2825750"/>
          </a:xfrm>
        </p:grpSpPr>
        <p:sp>
          <p:nvSpPr>
            <p:cNvPr id="62" name="Text Box 76"/>
            <p:cNvSpPr txBox="1">
              <a:spLocks noChangeArrowheads="1"/>
            </p:cNvSpPr>
            <p:nvPr/>
          </p:nvSpPr>
          <p:spPr bwMode="auto">
            <a:xfrm>
              <a:off x="1660525" y="4098925"/>
              <a:ext cx="16303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/>
                <a:t>Page Table</a:t>
              </a:r>
              <a:endParaRPr lang="en-US"/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1673225" y="17526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1670050" y="21272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1666875" y="2511425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1673225" y="2892425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1673225" y="3273425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1673225" y="3654425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2514600" y="1755775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7" name="Rectangle 23"/>
            <p:cNvSpPr>
              <a:spLocks noChangeArrowheads="1"/>
            </p:cNvSpPr>
            <p:nvPr/>
          </p:nvSpPr>
          <p:spPr bwMode="auto">
            <a:xfrm>
              <a:off x="2514600" y="2130425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 dirty="0" err="1">
                  <a:solidFill>
                    <a:srgbClr val="FF0000"/>
                  </a:solidFill>
                </a:rPr>
                <a:t>i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8" name="Rectangle 24"/>
            <p:cNvSpPr>
              <a:spLocks noChangeArrowheads="1"/>
            </p:cNvSpPr>
            <p:nvPr/>
          </p:nvSpPr>
          <p:spPr bwMode="auto">
            <a:xfrm>
              <a:off x="2514600" y="25146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9" name="Rectangle 25"/>
            <p:cNvSpPr>
              <a:spLocks noChangeArrowheads="1"/>
            </p:cNvSpPr>
            <p:nvPr/>
          </p:nvSpPr>
          <p:spPr bwMode="auto">
            <a:xfrm>
              <a:off x="2514600" y="28956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auto">
            <a:xfrm>
              <a:off x="2514600" y="32766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31" name="Rectangle 27"/>
            <p:cNvSpPr>
              <a:spLocks noChangeArrowheads="1"/>
            </p:cNvSpPr>
            <p:nvPr/>
          </p:nvSpPr>
          <p:spPr bwMode="auto">
            <a:xfrm>
              <a:off x="2514600" y="36576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32" name="Text Box 28"/>
            <p:cNvSpPr txBox="1">
              <a:spLocks noChangeArrowheads="1"/>
            </p:cNvSpPr>
            <p:nvPr/>
          </p:nvSpPr>
          <p:spPr bwMode="auto">
            <a:xfrm>
              <a:off x="1965325" y="1752600"/>
              <a:ext cx="31203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1</a:t>
              </a:r>
            </a:p>
          </p:txBody>
        </p:sp>
        <p:sp>
          <p:nvSpPr>
            <p:cNvPr id="33" name="Text Box 29"/>
            <p:cNvSpPr txBox="1">
              <a:spLocks noChangeArrowheads="1"/>
            </p:cNvSpPr>
            <p:nvPr/>
          </p:nvSpPr>
          <p:spPr bwMode="auto">
            <a:xfrm>
              <a:off x="1965325" y="2514600"/>
              <a:ext cx="92619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3  </a:t>
              </a:r>
              <a:r>
                <a:rPr lang="en-US" dirty="0"/>
                <a:t>      v</a:t>
              </a:r>
            </a:p>
          </p:txBody>
        </p:sp>
        <p:sp>
          <p:nvSpPr>
            <p:cNvPr id="34" name="Text Box 30"/>
            <p:cNvSpPr txBox="1">
              <a:spLocks noChangeArrowheads="1"/>
            </p:cNvSpPr>
            <p:nvPr/>
          </p:nvSpPr>
          <p:spPr bwMode="auto">
            <a:xfrm>
              <a:off x="1981200" y="3657600"/>
              <a:ext cx="92619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0 </a:t>
              </a:r>
              <a:r>
                <a:rPr lang="en-US" dirty="0"/>
                <a:t>       v</a:t>
              </a:r>
            </a:p>
          </p:txBody>
        </p:sp>
        <p:sp>
          <p:nvSpPr>
            <p:cNvPr id="35" name="Text Box 31"/>
            <p:cNvSpPr txBox="1">
              <a:spLocks noChangeArrowheads="1"/>
            </p:cNvSpPr>
            <p:nvPr/>
          </p:nvSpPr>
          <p:spPr bwMode="auto">
            <a:xfrm>
              <a:off x="2117725" y="1736725"/>
              <a:ext cx="7346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       v</a:t>
              </a:r>
            </a:p>
          </p:txBody>
        </p:sp>
        <p:sp>
          <p:nvSpPr>
            <p:cNvPr id="66" name="Text Box 81"/>
            <p:cNvSpPr txBox="1">
              <a:spLocks noChangeArrowheads="1"/>
            </p:cNvSpPr>
            <p:nvPr/>
          </p:nvSpPr>
          <p:spPr bwMode="auto">
            <a:xfrm>
              <a:off x="1339850" y="1730375"/>
              <a:ext cx="338554" cy="26776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/>
                <a:t>0</a:t>
              </a:r>
            </a:p>
            <a:p>
              <a:r>
                <a:rPr lang="en-US" sz="2400" dirty="0"/>
                <a:t>1</a:t>
              </a:r>
            </a:p>
            <a:p>
              <a:r>
                <a:rPr lang="en-US" sz="2400" dirty="0"/>
                <a:t>2</a:t>
              </a:r>
            </a:p>
            <a:p>
              <a:r>
                <a:rPr lang="en-US" sz="2400" dirty="0"/>
                <a:t>3</a:t>
              </a:r>
            </a:p>
            <a:p>
              <a:r>
                <a:rPr lang="en-US" sz="2400" dirty="0"/>
                <a:t>4</a:t>
              </a:r>
            </a:p>
            <a:p>
              <a:r>
                <a:rPr lang="en-US" sz="2400" dirty="0"/>
                <a:t>5</a:t>
              </a:r>
            </a:p>
            <a:p>
              <a:endParaRPr lang="en-US" sz="2400" dirty="0"/>
            </a:p>
          </p:txBody>
        </p:sp>
      </p:grpSp>
      <p:sp>
        <p:nvSpPr>
          <p:cNvPr id="67" name="Rectangle 2"/>
          <p:cNvSpPr txBox="1">
            <a:spLocks noChangeArrowheads="1"/>
          </p:cNvSpPr>
          <p:nvPr/>
        </p:nvSpPr>
        <p:spPr>
          <a:xfrm>
            <a:off x="457200" y="274639"/>
            <a:ext cx="5334000" cy="61119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 spc="-45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Demand Paging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57200" y="5029200"/>
            <a:ext cx="8229600" cy="1096964"/>
          </a:xfrm>
          <a:prstGeom prst="rect">
            <a:avLst/>
          </a:prstGeom>
        </p:spPr>
        <p:txBody>
          <a:bodyPr/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1625" y="5461000"/>
            <a:ext cx="82381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What happens when we refer </a:t>
            </a:r>
            <a:r>
              <a:rPr lang="en-US" dirty="0">
                <a:solidFill>
                  <a:srgbClr val="3366FF"/>
                </a:solidFill>
              </a:rPr>
              <a:t>Page # 2</a:t>
            </a:r>
            <a:r>
              <a:rPr lang="en-US" dirty="0"/>
              <a:t>?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If the main memory was always sufficiently large  to accommodate the logical space </a:t>
            </a:r>
          </a:p>
          <a:p>
            <a:r>
              <a:rPr lang="en-US" dirty="0"/>
              <a:t> then we  would stop here</a:t>
            </a:r>
            <a:r>
              <a:rPr lang="is-IS" dirty="0"/>
              <a:t>….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What happens when we refer </a:t>
            </a:r>
            <a:r>
              <a:rPr lang="en-US" dirty="0">
                <a:solidFill>
                  <a:srgbClr val="3366FF"/>
                </a:solidFill>
              </a:rPr>
              <a:t>Page # 1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7554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9EC36C6-85C4-D34F-B2E9-111B240A0E49}" type="slidenum">
              <a:rPr lang="en-US">
                <a:solidFill>
                  <a:srgbClr val="7F7F7F"/>
                </a:solidFill>
              </a:rPr>
              <a:pPr algn="r"/>
              <a:t>15</a:t>
            </a:fld>
            <a:endParaRPr lang="en-US">
              <a:solidFill>
                <a:srgbClr val="7F7F7F"/>
              </a:solidFill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79400" y="228600"/>
            <a:ext cx="8407400" cy="546100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Handling a Memory reference ( with potential </a:t>
            </a:r>
            <a:r>
              <a:rPr lang="en-US" b="1" dirty="0">
                <a:solidFill>
                  <a:srgbClr val="FF0000"/>
                </a:solidFill>
              </a:rPr>
              <a:t>Page Fault</a:t>
            </a:r>
            <a:r>
              <a:rPr lang="en-US" dirty="0">
                <a:solidFill>
                  <a:srgbClr val="7F7F7F"/>
                </a:solidFill>
              </a:rPr>
              <a:t>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990600"/>
            <a:ext cx="7772400" cy="6858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7F7F7F"/>
                </a:solidFill>
              </a:rPr>
              <a:t>CPU generates a memory reference  for data or instruction</a:t>
            </a: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207963" y="1368425"/>
            <a:ext cx="794318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800100" lvl="1" indent="-342900">
              <a:buAutoNum type="arabicPeriod"/>
            </a:pPr>
            <a:r>
              <a:rPr lang="en-US" dirty="0">
                <a:solidFill>
                  <a:srgbClr val="7F7F7F"/>
                </a:solidFill>
              </a:rPr>
              <a:t>Check the process</a:t>
            </a:r>
            <a:r>
              <a:rPr lang="ja-JP" altLang="en-US" dirty="0">
                <a:solidFill>
                  <a:srgbClr val="7F7F7F"/>
                </a:solidFill>
                <a:latin typeface="Arial"/>
              </a:rPr>
              <a:t>’</a:t>
            </a:r>
            <a:r>
              <a:rPr lang="en-US" dirty="0">
                <a:solidFill>
                  <a:srgbClr val="7F7F7F"/>
                </a:solidFill>
              </a:rPr>
              <a:t> page table to see if the page is in main memory.</a:t>
            </a:r>
          </a:p>
          <a:p>
            <a:pPr marL="800100" lvl="1" indent="-342900">
              <a:buAutoNum type="arabicPeriod"/>
            </a:pPr>
            <a:r>
              <a:rPr lang="en-US" dirty="0">
                <a:solidFill>
                  <a:srgbClr val="7F7F7F"/>
                </a:solidFill>
              </a:rPr>
              <a:t>If it is in the main memory, access it as usual</a:t>
            </a:r>
          </a:p>
          <a:p>
            <a:pPr marL="800100" lvl="1" indent="-342900">
              <a:buAutoNum type="arabicPeriod"/>
            </a:pPr>
            <a:r>
              <a:rPr lang="en-US" dirty="0">
                <a:solidFill>
                  <a:srgbClr val="7F7F7F"/>
                </a:solidFill>
              </a:rPr>
              <a:t>If it is not,  a </a:t>
            </a:r>
            <a:r>
              <a:rPr lang="en-US" b="1" dirty="0">
                <a:solidFill>
                  <a:srgbClr val="3366FF"/>
                </a:solidFill>
              </a:rPr>
              <a:t>page fault </a:t>
            </a:r>
            <a:r>
              <a:rPr lang="en-US" dirty="0">
                <a:solidFill>
                  <a:srgbClr val="7F7F7F"/>
                </a:solidFill>
              </a:rPr>
              <a:t>occurs, interrupt to OS (trap)</a:t>
            </a:r>
          </a:p>
          <a:p>
            <a:pPr marL="800100" lvl="1" indent="-342900">
              <a:buAutoNum type="arabicPeriod"/>
            </a:pPr>
            <a:r>
              <a:rPr lang="en-US" dirty="0">
                <a:solidFill>
                  <a:srgbClr val="7F7F7F"/>
                </a:solidFill>
              </a:rPr>
              <a:t> a) Suspend (not block) the (offending) process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	b) Locate a free frame in memory (how?)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	c) Locate the missing page from disk.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5.  Bring in the missing page into memory (meanwhile, other 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	processes may use the CPU, </a:t>
            </a:r>
            <a:r>
              <a:rPr lang="en-US" b="1" dirty="0">
                <a:solidFill>
                  <a:srgbClr val="3366FF"/>
                </a:solidFill>
              </a:rPr>
              <a:t>How/Why/Who?</a:t>
            </a:r>
            <a:r>
              <a:rPr lang="en-US" dirty="0">
                <a:solidFill>
                  <a:srgbClr val="7F7F7F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6. Update page table</a:t>
            </a:r>
          </a:p>
          <a:p>
            <a:pPr marL="800100" lvl="1" indent="-342900">
              <a:buAutoNum type="arabicPeriod" startAt="7"/>
            </a:pPr>
            <a:r>
              <a:rPr lang="en-US" dirty="0">
                <a:solidFill>
                  <a:srgbClr val="7F7F7F"/>
                </a:solidFill>
              </a:rPr>
              <a:t>a) Reset the process</a:t>
            </a:r>
            <a:r>
              <a:rPr lang="ja-JP" altLang="en-US" dirty="0">
                <a:solidFill>
                  <a:srgbClr val="7F7F7F"/>
                </a:solidFill>
                <a:latin typeface="Arial"/>
              </a:rPr>
              <a:t>’</a:t>
            </a:r>
            <a:r>
              <a:rPr lang="en-US" dirty="0">
                <a:solidFill>
                  <a:srgbClr val="7F7F7F"/>
                </a:solidFill>
              </a:rPr>
              <a:t>s PC so that we restart with the offending  instruction.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     b) Change the status of process from </a:t>
            </a:r>
            <a:r>
              <a:rPr lang="ja-JP" altLang="en-US" dirty="0">
                <a:solidFill>
                  <a:srgbClr val="7F7F7F"/>
                </a:solidFill>
                <a:latin typeface="Arial"/>
              </a:rPr>
              <a:t>“</a:t>
            </a:r>
            <a:r>
              <a:rPr lang="en-US" dirty="0">
                <a:solidFill>
                  <a:srgbClr val="7F7F7F"/>
                </a:solidFill>
              </a:rPr>
              <a:t>suspended</a:t>
            </a:r>
            <a:r>
              <a:rPr lang="ja-JP" altLang="en-US" dirty="0">
                <a:solidFill>
                  <a:srgbClr val="7F7F7F"/>
                </a:solidFill>
                <a:latin typeface="Arial"/>
              </a:rPr>
              <a:t>”</a:t>
            </a:r>
            <a:r>
              <a:rPr lang="en-US" dirty="0">
                <a:solidFill>
                  <a:srgbClr val="7F7F7F"/>
                </a:solidFill>
              </a:rPr>
              <a:t> to </a:t>
            </a:r>
            <a:r>
              <a:rPr lang="ja-JP" altLang="en-US" dirty="0">
                <a:solidFill>
                  <a:srgbClr val="7F7F7F"/>
                </a:solidFill>
                <a:latin typeface="Arial"/>
              </a:rPr>
              <a:t>“</a:t>
            </a:r>
            <a:r>
              <a:rPr lang="en-US" dirty="0">
                <a:solidFill>
                  <a:srgbClr val="7F7F7F"/>
                </a:solidFill>
              </a:rPr>
              <a:t>ready</a:t>
            </a:r>
            <a:r>
              <a:rPr lang="ja-JP" altLang="en-US" dirty="0">
                <a:solidFill>
                  <a:srgbClr val="7F7F7F"/>
                </a:solidFill>
                <a:latin typeface="Arial"/>
              </a:rPr>
              <a:t>”</a:t>
            </a:r>
            <a:endParaRPr lang="en-US" dirty="0">
              <a:solidFill>
                <a:srgbClr val="7F7F7F"/>
              </a:solidFill>
            </a:endParaRPr>
          </a:p>
          <a:p>
            <a:pPr lvl="1"/>
            <a:endParaRPr lang="en-US" dirty="0">
              <a:solidFill>
                <a:srgbClr val="7F7F7F"/>
              </a:solidFill>
            </a:endParaRPr>
          </a:p>
          <a:p>
            <a:endParaRPr lang="en-US" dirty="0">
              <a:solidFill>
                <a:srgbClr val="7F7F7F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96057" y="1245395"/>
            <a:ext cx="489744" cy="1263650"/>
            <a:chOff x="196057" y="1245395"/>
            <a:chExt cx="489744" cy="1263650"/>
          </a:xfrm>
        </p:grpSpPr>
        <p:sp>
          <p:nvSpPr>
            <p:cNvPr id="7173" name="Text Box 5"/>
            <p:cNvSpPr txBox="1">
              <a:spLocks noChangeArrowheads="1"/>
            </p:cNvSpPr>
            <p:nvPr/>
          </p:nvSpPr>
          <p:spPr bwMode="auto">
            <a:xfrm rot="16200000">
              <a:off x="-250824" y="1692276"/>
              <a:ext cx="1263650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Hardware</a:t>
              </a:r>
              <a:endParaRPr lang="en-US" dirty="0">
                <a:solidFill>
                  <a:srgbClr val="3366FF"/>
                </a:solidFill>
              </a:endParaRPr>
            </a:p>
          </p:txBody>
        </p:sp>
        <p:sp>
          <p:nvSpPr>
            <p:cNvPr id="7175" name="Line 7"/>
            <p:cNvSpPr>
              <a:spLocks noChangeShapeType="1"/>
            </p:cNvSpPr>
            <p:nvPr/>
          </p:nvSpPr>
          <p:spPr bwMode="auto">
            <a:xfrm>
              <a:off x="533401" y="1416051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7176" name="Line 8"/>
            <p:cNvSpPr>
              <a:spLocks noChangeShapeType="1"/>
            </p:cNvSpPr>
            <p:nvPr/>
          </p:nvSpPr>
          <p:spPr bwMode="auto">
            <a:xfrm>
              <a:off x="533401" y="2254251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7177" name="Line 9"/>
            <p:cNvSpPr>
              <a:spLocks noChangeShapeType="1"/>
            </p:cNvSpPr>
            <p:nvPr/>
          </p:nvSpPr>
          <p:spPr bwMode="auto">
            <a:xfrm>
              <a:off x="533401" y="1416051"/>
              <a:ext cx="0" cy="8191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  <p:bldP spid="7178" grpId="0" build="p" bldLvl="3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4AEBBC2-DCC8-C344-BA4D-00044871FD59}" type="slidenum">
              <a:rPr lang="en-US">
                <a:solidFill>
                  <a:srgbClr val="7F7F7F"/>
                </a:solidFill>
              </a:rPr>
              <a:pPr algn="r"/>
              <a:t>16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Some Issues</a:t>
            </a:r>
            <a:r>
              <a:rPr lang="is-IS" dirty="0">
                <a:solidFill>
                  <a:srgbClr val="7F7F7F"/>
                </a:solidFill>
              </a:rPr>
              <a:t>…</a:t>
            </a:r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7F7F7F"/>
                </a:solidFill>
              </a:rPr>
              <a:t>Is this time efficient?</a:t>
            </a:r>
          </a:p>
          <a:p>
            <a:pPr marL="377190" lvl="1" indent="0">
              <a:buNone/>
            </a:pPr>
            <a:r>
              <a:rPr lang="en-US" sz="1700" dirty="0">
                <a:solidFill>
                  <a:srgbClr val="7F7F7F"/>
                </a:solidFill>
              </a:rPr>
              <a:t>- Here we go again, the system checks first in the main memory and may have to check in the secondary storage</a:t>
            </a:r>
            <a:r>
              <a:rPr lang="is-IS" sz="1700" dirty="0">
                <a:solidFill>
                  <a:srgbClr val="7F7F7F"/>
                </a:solidFill>
              </a:rPr>
              <a:t>…</a:t>
            </a:r>
          </a:p>
          <a:p>
            <a:r>
              <a:rPr lang="is-IS" sz="2000" dirty="0">
                <a:solidFill>
                  <a:srgbClr val="7F7F7F"/>
                </a:solidFill>
              </a:rPr>
              <a:t>How do we find a free frame in the main memory when none is left?</a:t>
            </a:r>
          </a:p>
          <a:p>
            <a:pPr marL="377190" lvl="1" indent="0">
              <a:buNone/>
            </a:pPr>
            <a:r>
              <a:rPr lang="is-IS" sz="1700" dirty="0">
                <a:solidFill>
                  <a:srgbClr val="7F7F7F"/>
                </a:solidFill>
              </a:rPr>
              <a:t>- We may have to swap out another page? How to select it (</a:t>
            </a:r>
            <a:r>
              <a:rPr lang="is-IS" sz="1700" b="1" dirty="0">
                <a:solidFill>
                  <a:srgbClr val="3366FF"/>
                </a:solidFill>
              </a:rPr>
              <a:t>victim</a:t>
            </a:r>
            <a:r>
              <a:rPr lang="is-IS" sz="1700" dirty="0">
                <a:solidFill>
                  <a:srgbClr val="7F7F7F"/>
                </a:solidFill>
              </a:rPr>
              <a:t>)?</a:t>
            </a:r>
            <a:endParaRPr lang="en-US" sz="1700" dirty="0">
              <a:solidFill>
                <a:srgbClr val="7F7F7F"/>
              </a:solidFill>
            </a:endParaRPr>
          </a:p>
          <a:p>
            <a:r>
              <a:rPr lang="en-US" sz="2000" dirty="0">
                <a:solidFill>
                  <a:srgbClr val="7F7F7F"/>
                </a:solidFill>
              </a:rPr>
              <a:t>How to restart a offending instruction that already modified other addresses?</a:t>
            </a:r>
          </a:p>
          <a:p>
            <a:pPr lvl="1"/>
            <a:r>
              <a:rPr lang="en-US" sz="1800" dirty="0">
                <a:solidFill>
                  <a:srgbClr val="7F7F7F"/>
                </a:solidFill>
              </a:rPr>
              <a:t>Some solutions:</a:t>
            </a:r>
          </a:p>
          <a:p>
            <a:pPr lvl="2"/>
            <a:r>
              <a:rPr lang="en-US" sz="1600" dirty="0">
                <a:solidFill>
                  <a:srgbClr val="7F7F7F"/>
                </a:solidFill>
              </a:rPr>
              <a:t>Determine if there would be a page fault before any modification occurs</a:t>
            </a:r>
          </a:p>
          <a:p>
            <a:pPr lvl="2"/>
            <a:r>
              <a:rPr lang="en-US" sz="1600" dirty="0">
                <a:solidFill>
                  <a:srgbClr val="7F7F7F"/>
                </a:solidFill>
              </a:rPr>
              <a:t>Hold results temporarily until it is certain there is no page fault. Then, proceed with modification.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bldLvl="3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6A8A8978-B292-834E-9B54-1821CD5DD736}" type="slidenum">
              <a:rPr lang="en-US">
                <a:solidFill>
                  <a:srgbClr val="7F7F7F"/>
                </a:solidFill>
              </a:rPr>
              <a:pPr algn="r"/>
              <a:t>17</a:t>
            </a:fld>
            <a:endParaRPr lang="en-US">
              <a:solidFill>
                <a:srgbClr val="7F7F7F"/>
              </a:solidFill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Time Performance of Demand Paging  </a:t>
            </a:r>
            <a:r>
              <a:rPr lang="en-US" sz="2400" dirty="0">
                <a:solidFill>
                  <a:srgbClr val="7F7F7F"/>
                </a:solidFill>
              </a:rPr>
              <a:t>(Effective Access Time)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68400"/>
            <a:ext cx="8839200" cy="3276600"/>
          </a:xfrm>
        </p:spPr>
        <p:txBody>
          <a:bodyPr/>
          <a:lstStyle/>
          <a:p>
            <a:r>
              <a:rPr lang="en-US" sz="2000" dirty="0">
                <a:solidFill>
                  <a:srgbClr val="7F7F7F"/>
                </a:solidFill>
              </a:rPr>
              <a:t>What is the effective (average) access time taken by a memory access ?</a:t>
            </a:r>
          </a:p>
          <a:p>
            <a:r>
              <a:rPr lang="en-US" sz="2000" dirty="0">
                <a:solidFill>
                  <a:srgbClr val="7F7F7F"/>
                </a:solidFill>
              </a:rPr>
              <a:t>Let us derive it:</a:t>
            </a:r>
          </a:p>
          <a:p>
            <a:pPr lvl="1"/>
            <a:r>
              <a:rPr lang="en-US" sz="2000" b="1" dirty="0">
                <a:solidFill>
                  <a:srgbClr val="3366FF"/>
                </a:solidFill>
              </a:rPr>
              <a:t>Ma</a:t>
            </a:r>
            <a:r>
              <a:rPr lang="en-US" sz="2000" dirty="0">
                <a:solidFill>
                  <a:srgbClr val="3366FF"/>
                </a:solidFill>
              </a:rPr>
              <a:t> </a:t>
            </a:r>
            <a:r>
              <a:rPr lang="en-US" sz="2000" dirty="0">
                <a:solidFill>
                  <a:srgbClr val="7F7F7F"/>
                </a:solidFill>
              </a:rPr>
              <a:t>: (average) time for a memory access without page fault (e.g. ma = </a:t>
            </a:r>
            <a:r>
              <a:rPr lang="en-US" sz="2000" dirty="0">
                <a:solidFill>
                  <a:srgbClr val="3366FF"/>
                </a:solidFill>
              </a:rPr>
              <a:t>100 ns</a:t>
            </a:r>
            <a:r>
              <a:rPr lang="en-US" sz="2000" dirty="0">
                <a:solidFill>
                  <a:srgbClr val="7F7F7F"/>
                </a:solidFill>
              </a:rPr>
              <a:t>)</a:t>
            </a:r>
          </a:p>
          <a:p>
            <a:pPr lvl="1"/>
            <a:r>
              <a:rPr lang="en-US" sz="2000" b="1" dirty="0">
                <a:solidFill>
                  <a:srgbClr val="7F7F7F"/>
                </a:solidFill>
              </a:rPr>
              <a:t>Page fault penalty time</a:t>
            </a:r>
            <a:r>
              <a:rPr lang="en-US" sz="2000" dirty="0">
                <a:solidFill>
                  <a:srgbClr val="7F7F7F"/>
                </a:solidFill>
              </a:rPr>
              <a:t>:(average) time taken by a page fault:</a:t>
            </a:r>
          </a:p>
          <a:p>
            <a:pPr lvl="2"/>
            <a:r>
              <a:rPr lang="en-US" sz="2000" dirty="0">
                <a:solidFill>
                  <a:srgbClr val="7F7F7F"/>
                </a:solidFill>
              </a:rPr>
              <a:t>O.S. service time when a page fault is detected </a:t>
            </a:r>
            <a:r>
              <a:rPr lang="en-US" sz="2000" dirty="0">
                <a:solidFill>
                  <a:srgbClr val="3366FF"/>
                </a:solidFill>
              </a:rPr>
              <a:t>100 </a:t>
            </a:r>
            <a:r>
              <a:rPr lang="en-US" sz="2000" dirty="0" err="1">
                <a:solidFill>
                  <a:srgbClr val="3366FF"/>
                </a:solidFill>
                <a:latin typeface="Symbol" charset="0"/>
              </a:rPr>
              <a:t>m</a:t>
            </a:r>
            <a:r>
              <a:rPr lang="en-US" sz="2000" dirty="0" err="1">
                <a:solidFill>
                  <a:srgbClr val="3366FF"/>
                </a:solidFill>
              </a:rPr>
              <a:t>s</a:t>
            </a:r>
            <a:endParaRPr lang="en-US" sz="2000" dirty="0">
              <a:solidFill>
                <a:srgbClr val="3366FF"/>
              </a:solidFill>
            </a:endParaRPr>
          </a:p>
          <a:p>
            <a:pPr lvl="2"/>
            <a:r>
              <a:rPr lang="en-US" sz="2000" dirty="0">
                <a:solidFill>
                  <a:srgbClr val="7F7F7F"/>
                </a:solidFill>
              </a:rPr>
              <a:t>Time by disk to read the page into memory </a:t>
            </a:r>
            <a:r>
              <a:rPr lang="en-US" sz="2000" dirty="0">
                <a:solidFill>
                  <a:srgbClr val="FF0000"/>
                </a:solidFill>
              </a:rPr>
              <a:t>25 milliseconds</a:t>
            </a:r>
          </a:p>
          <a:p>
            <a:pPr lvl="2"/>
            <a:r>
              <a:rPr lang="en-US" sz="2000" dirty="0">
                <a:solidFill>
                  <a:srgbClr val="7F7F7F"/>
                </a:solidFill>
              </a:rPr>
              <a:t>Time to restart the process (around </a:t>
            </a:r>
            <a:r>
              <a:rPr lang="en-US" sz="2000" dirty="0">
                <a:solidFill>
                  <a:srgbClr val="3366FF"/>
                </a:solidFill>
              </a:rPr>
              <a:t>100 </a:t>
            </a:r>
            <a:r>
              <a:rPr lang="en-US" sz="2000" dirty="0" err="1">
                <a:solidFill>
                  <a:srgbClr val="3366FF"/>
                </a:solidFill>
                <a:latin typeface="Symbol" charset="0"/>
              </a:rPr>
              <a:t>m</a:t>
            </a:r>
            <a:r>
              <a:rPr lang="en-US" sz="2000" dirty="0" err="1">
                <a:solidFill>
                  <a:srgbClr val="3366FF"/>
                </a:solidFill>
              </a:rPr>
              <a:t>s</a:t>
            </a:r>
            <a:r>
              <a:rPr lang="en-US" sz="2000" dirty="0">
                <a:solidFill>
                  <a:srgbClr val="7F7F7F"/>
                </a:solidFill>
              </a:rPr>
              <a:t>)</a:t>
            </a:r>
          </a:p>
          <a:p>
            <a:pPr lvl="2"/>
            <a:r>
              <a:rPr lang="en-US" sz="2000" dirty="0">
                <a:solidFill>
                  <a:srgbClr val="7F7F7F"/>
                </a:solidFill>
              </a:rPr>
              <a:t>We can approximate the total of page fault time as about  </a:t>
            </a:r>
            <a:r>
              <a:rPr lang="en-US" sz="2000" dirty="0">
                <a:solidFill>
                  <a:srgbClr val="3366FF"/>
                </a:solidFill>
              </a:rPr>
              <a:t>25,000,000 ns</a:t>
            </a:r>
          </a:p>
          <a:p>
            <a:pPr lvl="2"/>
            <a:endParaRPr lang="en-US" sz="2000" dirty="0">
              <a:solidFill>
                <a:srgbClr val="7F7F7F"/>
              </a:solidFill>
            </a:endParaRPr>
          </a:p>
          <a:p>
            <a:pPr lvl="2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57200" y="4200525"/>
            <a:ext cx="857296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F7F7F"/>
                </a:solidFill>
              </a:rPr>
              <a:t>Let </a:t>
            </a:r>
            <a:r>
              <a:rPr lang="en-US" b="1" dirty="0">
                <a:solidFill>
                  <a:srgbClr val="3366FF"/>
                </a:solidFill>
              </a:rPr>
              <a:t>p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rgbClr val="7F7F7F"/>
                </a:solidFill>
              </a:rPr>
              <a:t>be the page fault rate: probability that a page fault occurs when a memory reference</a:t>
            </a:r>
          </a:p>
          <a:p>
            <a:r>
              <a:rPr lang="en-US" dirty="0">
                <a:solidFill>
                  <a:srgbClr val="7F7F7F"/>
                </a:solidFill>
              </a:rPr>
              <a:t>     is made</a:t>
            </a:r>
          </a:p>
          <a:p>
            <a:endParaRPr lang="en-US" dirty="0">
              <a:solidFill>
                <a:srgbClr val="7F7F7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Effective Access Time </a:t>
            </a:r>
            <a:r>
              <a:rPr lang="en-US" dirty="0">
                <a:solidFill>
                  <a:srgbClr val="3366FF"/>
                </a:solidFill>
              </a:rPr>
              <a:t>= (1-p)*ma + p*page fault penalty time </a:t>
            </a:r>
          </a:p>
          <a:p>
            <a:r>
              <a:rPr lang="en-US" dirty="0">
                <a:solidFill>
                  <a:srgbClr val="7F7F7F"/>
                </a:solidFill>
              </a:rPr>
              <a:t>                               = ma – </a:t>
            </a:r>
            <a:r>
              <a:rPr lang="en-US" dirty="0" err="1">
                <a:solidFill>
                  <a:srgbClr val="7F7F7F"/>
                </a:solidFill>
              </a:rPr>
              <a:t>p.ma</a:t>
            </a:r>
            <a:r>
              <a:rPr lang="en-US" dirty="0">
                <a:solidFill>
                  <a:srgbClr val="7F7F7F"/>
                </a:solidFill>
              </a:rPr>
              <a:t> + p*page fault time </a:t>
            </a:r>
          </a:p>
          <a:p>
            <a:r>
              <a:rPr lang="en-US" dirty="0">
                <a:solidFill>
                  <a:srgbClr val="7F7F7F"/>
                </a:solidFill>
              </a:rPr>
              <a:t>			         = 0.100 – 0.1p + 25,000 p  (</a:t>
            </a:r>
            <a:r>
              <a:rPr lang="en-US" dirty="0" err="1">
                <a:solidFill>
                  <a:srgbClr val="7F7F7F"/>
                </a:solidFill>
                <a:latin typeface="Symbol" charset="0"/>
              </a:rPr>
              <a:t>m</a:t>
            </a:r>
            <a:r>
              <a:rPr lang="en-US" dirty="0" err="1">
                <a:solidFill>
                  <a:srgbClr val="7F7F7F"/>
                </a:solidFill>
              </a:rPr>
              <a:t>s</a:t>
            </a:r>
            <a:r>
              <a:rPr lang="en-US" dirty="0">
                <a:solidFill>
                  <a:srgbClr val="7F7F7F"/>
                </a:solidFill>
              </a:rPr>
              <a:t>) </a:t>
            </a:r>
          </a:p>
          <a:p>
            <a:r>
              <a:rPr lang="en-US" dirty="0">
                <a:solidFill>
                  <a:srgbClr val="7F7F7F"/>
                </a:solidFill>
              </a:rPr>
              <a:t>                              ≈ 0.100 + 25,000 p  (</a:t>
            </a:r>
            <a:r>
              <a:rPr lang="en-US" dirty="0" err="1">
                <a:solidFill>
                  <a:srgbClr val="7F7F7F"/>
                </a:solidFill>
                <a:latin typeface="Symbol" charset="0"/>
              </a:rPr>
              <a:t>m</a:t>
            </a:r>
            <a:r>
              <a:rPr lang="en-US" dirty="0" err="1">
                <a:solidFill>
                  <a:srgbClr val="7F7F7F"/>
                </a:solidFill>
              </a:rPr>
              <a:t>s</a:t>
            </a:r>
            <a:r>
              <a:rPr lang="en-US" dirty="0">
                <a:solidFill>
                  <a:srgbClr val="7F7F7F"/>
                </a:solidFill>
              </a:rPr>
              <a:t>)</a:t>
            </a:r>
          </a:p>
        </p:txBody>
      </p:sp>
      <p:sp>
        <p:nvSpPr>
          <p:cNvPr id="2" name="Oval 1"/>
          <p:cNvSpPr/>
          <p:nvPr/>
        </p:nvSpPr>
        <p:spPr>
          <a:xfrm>
            <a:off x="3213100" y="5563553"/>
            <a:ext cx="698500" cy="4191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bldLvl="3"/>
      <p:bldP spid="6" grpId="0" build="p" bldLvl="2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6A8A8978-B292-834E-9B54-1821CD5DD736}" type="slidenum">
              <a:rPr lang="en-US">
                <a:solidFill>
                  <a:srgbClr val="7F7F7F"/>
                </a:solidFill>
              </a:rPr>
              <a:pPr algn="r"/>
              <a:t>18</a:t>
            </a:fld>
            <a:endParaRPr lang="en-US">
              <a:solidFill>
                <a:srgbClr val="7F7F7F"/>
              </a:solidFill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Time Performance of Demand Paging  </a:t>
            </a:r>
            <a:r>
              <a:rPr lang="en-US" sz="2400" dirty="0">
                <a:solidFill>
                  <a:srgbClr val="7F7F7F"/>
                </a:solidFill>
              </a:rPr>
              <a:t>(Effective Access Time)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77900"/>
            <a:ext cx="8839200" cy="3276600"/>
          </a:xfrm>
        </p:spPr>
        <p:txBody>
          <a:bodyPr/>
          <a:lstStyle/>
          <a:p>
            <a:r>
              <a:rPr lang="en-US" dirty="0">
                <a:solidFill>
                  <a:srgbClr val="3366FF"/>
                </a:solidFill>
              </a:rPr>
              <a:t>Effective Access Time ≈ 0.100 + 25,000 p  (</a:t>
            </a:r>
            <a:r>
              <a:rPr lang="en-US" dirty="0" err="1">
                <a:solidFill>
                  <a:srgbClr val="3366FF"/>
                </a:solidFill>
                <a:latin typeface="Symbol" charset="0"/>
              </a:rPr>
              <a:t>m</a:t>
            </a:r>
            <a:r>
              <a:rPr lang="en-US" dirty="0" err="1">
                <a:solidFill>
                  <a:srgbClr val="3366FF"/>
                </a:solidFill>
              </a:rPr>
              <a:t>s</a:t>
            </a:r>
            <a:r>
              <a:rPr lang="en-US" dirty="0">
                <a:solidFill>
                  <a:srgbClr val="3366FF"/>
                </a:solidFill>
              </a:rPr>
              <a:t>)</a:t>
            </a:r>
          </a:p>
          <a:p>
            <a:r>
              <a:rPr lang="en-US" dirty="0">
                <a:solidFill>
                  <a:srgbClr val="7F7F7F"/>
                </a:solidFill>
              </a:rPr>
              <a:t>As </a:t>
            </a:r>
            <a:r>
              <a:rPr lang="en-US" dirty="0">
                <a:solidFill>
                  <a:srgbClr val="3366FF"/>
                </a:solidFill>
              </a:rPr>
              <a:t>software</a:t>
            </a:r>
            <a:r>
              <a:rPr lang="en-US" dirty="0">
                <a:solidFill>
                  <a:srgbClr val="7F7F7F"/>
                </a:solidFill>
              </a:rPr>
              <a:t> OS designers: what is our power to reduce the effective access time?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The 0.100 constant is the access time to the main memory (Can we do anything?)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The 25,000 comes from the access time to the disk</a:t>
            </a:r>
            <a:r>
              <a:rPr lang="is-IS" dirty="0">
                <a:solidFill>
                  <a:srgbClr val="7F7F7F"/>
                </a:solidFill>
              </a:rPr>
              <a:t>….</a:t>
            </a:r>
            <a:r>
              <a:rPr lang="en-US" dirty="0">
                <a:solidFill>
                  <a:srgbClr val="7F7F7F"/>
                </a:solidFill>
              </a:rPr>
              <a:t> (Can we do anything?)</a:t>
            </a:r>
            <a:endParaRPr lang="is-IS" dirty="0">
              <a:solidFill>
                <a:srgbClr val="7F7F7F"/>
              </a:solidFill>
            </a:endParaRPr>
          </a:p>
          <a:p>
            <a:r>
              <a:rPr lang="is-IS" b="1" dirty="0">
                <a:solidFill>
                  <a:srgbClr val="3366FF"/>
                </a:solidFill>
              </a:rPr>
              <a:t>Answer</a:t>
            </a:r>
            <a:r>
              <a:rPr lang="is-IS" dirty="0">
                <a:solidFill>
                  <a:srgbClr val="7F7F7F"/>
                </a:solidFill>
              </a:rPr>
              <a:t>: the only parameter in our reach isp: </a:t>
            </a:r>
            <a:r>
              <a:rPr lang="is-IS" b="1" dirty="0">
                <a:solidFill>
                  <a:srgbClr val="3366FF"/>
                </a:solidFill>
              </a:rPr>
              <a:t>the page fault rate p</a:t>
            </a:r>
            <a:r>
              <a:rPr lang="is-IS" dirty="0">
                <a:solidFill>
                  <a:srgbClr val="7F7F7F"/>
                </a:solidFill>
              </a:rPr>
              <a:t>.</a:t>
            </a:r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8" name="Line 3"/>
          <p:cNvSpPr>
            <a:spLocks noChangeShapeType="1"/>
          </p:cNvSpPr>
          <p:nvPr/>
        </p:nvSpPr>
        <p:spPr bwMode="auto">
          <a:xfrm flipV="1">
            <a:off x="723900" y="27432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7F7F7F"/>
              </a:solidFill>
            </a:endParaRPr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723900" y="57912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7F7F7F"/>
              </a:solidFill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60325" y="4297363"/>
            <a:ext cx="75385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7F7F7F"/>
                </a:solidFill>
              </a:rPr>
              <a:t>0.100</a:t>
            </a:r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3603625" y="5745163"/>
            <a:ext cx="554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7F7F7F"/>
                </a:solidFill>
              </a:rPr>
              <a:t>10</a:t>
            </a:r>
            <a:r>
              <a:rPr lang="en-US" sz="1600" baseline="30000" dirty="0">
                <a:solidFill>
                  <a:srgbClr val="7F7F7F"/>
                </a:solidFill>
              </a:rPr>
              <a:t>-6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6362700" y="5791200"/>
            <a:ext cx="554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7F7F7F"/>
                </a:solidFill>
              </a:rPr>
              <a:t>10</a:t>
            </a:r>
            <a:r>
              <a:rPr lang="en-US" sz="1600" baseline="30000" dirty="0">
                <a:solidFill>
                  <a:srgbClr val="7F7F7F"/>
                </a:solidFill>
              </a:rPr>
              <a:t>-3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63500" y="3517900"/>
            <a:ext cx="75385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7F7F7F"/>
                </a:solidFill>
              </a:rPr>
              <a:t>0.125</a:t>
            </a:r>
            <a:endParaRPr lang="en-US" sz="1600" baseline="30000" dirty="0">
              <a:solidFill>
                <a:srgbClr val="7F7F7F"/>
              </a:solidFill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190500" y="2895600"/>
            <a:ext cx="441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7F7F7F"/>
                </a:solidFill>
              </a:rPr>
              <a:t>25</a:t>
            </a:r>
            <a:endParaRPr lang="en-US" sz="1600" baseline="30000" dirty="0">
              <a:solidFill>
                <a:srgbClr val="7F7F7F"/>
              </a:solidFill>
            </a:endParaRPr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 flipV="1">
            <a:off x="723899" y="2743200"/>
            <a:ext cx="7680325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7F7F7F"/>
              </a:solidFill>
            </a:endParaRP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8404225" y="5775325"/>
            <a:ext cx="31924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98425" y="2422525"/>
            <a:ext cx="10116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3366FF"/>
                </a:solidFill>
              </a:rPr>
              <a:t>e.a.t</a:t>
            </a:r>
            <a:r>
              <a:rPr lang="en-US" dirty="0">
                <a:solidFill>
                  <a:srgbClr val="3366FF"/>
                </a:solidFill>
              </a:rPr>
              <a:t> (</a:t>
            </a:r>
            <a:r>
              <a:rPr lang="en-US" dirty="0" err="1">
                <a:solidFill>
                  <a:srgbClr val="3366FF"/>
                </a:solidFill>
                <a:latin typeface="Symbol" charset="0"/>
              </a:rPr>
              <a:t>m</a:t>
            </a:r>
            <a:r>
              <a:rPr lang="en-US" dirty="0" err="1">
                <a:solidFill>
                  <a:srgbClr val="3366FF"/>
                </a:solidFill>
              </a:rPr>
              <a:t>s</a:t>
            </a:r>
            <a:r>
              <a:rPr lang="en-US" dirty="0">
                <a:solidFill>
                  <a:srgbClr val="3366FF"/>
                </a:solidFill>
              </a:rPr>
              <a:t>)</a:t>
            </a:r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446880" y="5745163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7F7F7F"/>
                </a:solidFill>
              </a:rPr>
              <a:t>0</a:t>
            </a:r>
            <a:endParaRPr lang="en-US" sz="1600" baseline="30000" dirty="0">
              <a:solidFill>
                <a:srgbClr val="7F7F7F"/>
              </a:solidFill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628886" y="3125726"/>
            <a:ext cx="274993" cy="1319274"/>
          </a:xfrm>
          <a:custGeom>
            <a:avLst/>
            <a:gdLst>
              <a:gd name="connsiteX0" fmla="*/ 120414 w 274993"/>
              <a:gd name="connsiteY0" fmla="*/ 1319274 h 1319274"/>
              <a:gd name="connsiteX1" fmla="*/ 272814 w 274993"/>
              <a:gd name="connsiteY1" fmla="*/ 468374 h 1319274"/>
              <a:gd name="connsiteX2" fmla="*/ 18814 w 274993"/>
              <a:gd name="connsiteY2" fmla="*/ 36574 h 1319274"/>
              <a:gd name="connsiteX3" fmla="*/ 18814 w 274993"/>
              <a:gd name="connsiteY3" fmla="*/ 23874 h 1319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993" h="1319274">
                <a:moveTo>
                  <a:pt x="120414" y="1319274"/>
                </a:moveTo>
                <a:cubicBezTo>
                  <a:pt x="205080" y="1000715"/>
                  <a:pt x="289747" y="682157"/>
                  <a:pt x="272814" y="468374"/>
                </a:cubicBezTo>
                <a:cubicBezTo>
                  <a:pt x="255881" y="254591"/>
                  <a:pt x="61147" y="110657"/>
                  <a:pt x="18814" y="36574"/>
                </a:cubicBezTo>
                <a:cubicBezTo>
                  <a:pt x="-23519" y="-37509"/>
                  <a:pt x="18814" y="23874"/>
                  <a:pt x="18814" y="23874"/>
                </a:cubicBezTo>
              </a:path>
            </a:pathLst>
          </a:custGeom>
          <a:ln w="38100" cmpd="sng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03879" y="35179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250 slower</a:t>
            </a:r>
          </a:p>
        </p:txBody>
      </p:sp>
    </p:spTree>
    <p:extLst>
      <p:ext uri="{BB962C8B-B14F-4D97-AF65-F5344CB8AC3E}">
        <p14:creationId xmlns:p14="http://schemas.microsoft.com/office/powerpoint/2010/main" val="380374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bldLvl="2"/>
      <p:bldP spid="10" grpId="0" uiExpand="1"/>
      <p:bldP spid="11" grpId="0" uiExpand="1"/>
      <p:bldP spid="12" grpId="0" uiExpand="1"/>
      <p:bldP spid="13" grpId="0" uiExpand="1"/>
      <p:bldP spid="14" grpId="0" uiExpand="1"/>
      <p:bldP spid="16" grpId="0" uiExpand="1" animBg="1"/>
      <p:bldP spid="16" grpId="1" uiExpand="1" animBg="1"/>
      <p:bldP spid="17" grpId="0" uiExpand="1"/>
      <p:bldP spid="18" grpId="0" uiExpand="1"/>
      <p:bldP spid="19" grpId="0" uiExpand="1"/>
      <p:bldP spid="3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30ADE18-806A-EF4C-8AC3-39F05C8CEA77}" type="slidenum">
              <a:rPr lang="en-US">
                <a:solidFill>
                  <a:srgbClr val="7F7F7F"/>
                </a:solidFill>
              </a:rPr>
              <a:pPr algn="r"/>
              <a:t>19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Policies Affecting The Page Fault Rate p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Main Memory Management: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Memory allocation: How many frames to allocate to each process?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How do we manage the process pool of frames when a page fault occurs? In other words, </a:t>
            </a:r>
            <a:r>
              <a:rPr lang="en-US" dirty="0" err="1">
                <a:solidFill>
                  <a:srgbClr val="7F7F7F"/>
                </a:solidFill>
              </a:rPr>
              <a:t>hwo</a:t>
            </a:r>
            <a:r>
              <a:rPr lang="en-US" dirty="0">
                <a:solidFill>
                  <a:srgbClr val="7F7F7F"/>
                </a:solidFill>
              </a:rPr>
              <a:t> do we choose a page to swap out when a page fault occurs and we must bring in a page?</a:t>
            </a:r>
          </a:p>
          <a:p>
            <a:pPr lvl="2"/>
            <a:r>
              <a:rPr lang="en-US" dirty="0">
                <a:solidFill>
                  <a:srgbClr val="7F7F7F"/>
                </a:solidFill>
              </a:rPr>
              <a:t>This is called </a:t>
            </a:r>
            <a:r>
              <a:rPr lang="en-US" sz="1800" b="1" dirty="0">
                <a:solidFill>
                  <a:srgbClr val="3366FF"/>
                </a:solidFill>
              </a:rPr>
              <a:t>page replacement</a:t>
            </a:r>
            <a:r>
              <a:rPr lang="en-US" dirty="0">
                <a:solidFill>
                  <a:srgbClr val="7F7F7F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bldLvl="3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13051" y="972312"/>
            <a:ext cx="5898734" cy="3180588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is page replacement?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Page replacement policies: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First In First Out (FIFO)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Optimal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Least Recently Used (LRU)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LRU-approximation implementation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Read Section 8.4.1-8.4.3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Replacement Policies</a:t>
            </a:r>
          </a:p>
        </p:txBody>
      </p:sp>
    </p:spTree>
    <p:extLst>
      <p:ext uri="{BB962C8B-B14F-4D97-AF65-F5344CB8AC3E}">
        <p14:creationId xmlns:p14="http://schemas.microsoft.com/office/powerpoint/2010/main" val="3988878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30ADE18-806A-EF4C-8AC3-39F05C8CEA77}" type="slidenum">
              <a:rPr lang="en-US">
                <a:solidFill>
                  <a:srgbClr val="7F7F7F"/>
                </a:solidFill>
              </a:rPr>
              <a:pPr algn="r"/>
              <a:t>21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Page Replacement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Page replacement is the process to select a page to replace in order to free a frame.</a:t>
            </a:r>
          </a:p>
          <a:p>
            <a:endParaRPr lang="en-US" dirty="0">
              <a:solidFill>
                <a:srgbClr val="7F7F7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 After a page fault, the OS will locate a free frame as follows: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if a frame is available, then pick it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otherwise, find a page to swap out: page replacement consists of selecting a ‘</a:t>
            </a:r>
            <a:r>
              <a:rPr lang="en-US" dirty="0">
                <a:solidFill>
                  <a:srgbClr val="3366FF"/>
                </a:solidFill>
              </a:rPr>
              <a:t>victim</a:t>
            </a:r>
            <a:r>
              <a:rPr lang="en-US" dirty="0">
                <a:solidFill>
                  <a:srgbClr val="7F7F7F"/>
                </a:solidFill>
              </a:rPr>
              <a:t>’.</a:t>
            </a:r>
          </a:p>
          <a:p>
            <a:pPr lvl="1"/>
            <a:endParaRPr lang="en-US" dirty="0">
              <a:solidFill>
                <a:srgbClr val="7F7F7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Consequences: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If the victim is referenced just after being replaced, this makes the page fault worse</a:t>
            </a:r>
            <a:r>
              <a:rPr lang="is-IS" dirty="0">
                <a:solidFill>
                  <a:srgbClr val="7F7F7F"/>
                </a:solidFill>
              </a:rPr>
              <a:t>…</a:t>
            </a:r>
          </a:p>
          <a:p>
            <a:pPr lvl="1"/>
            <a:endParaRPr lang="is-IS" dirty="0">
              <a:solidFill>
                <a:srgbClr val="7F7F7F"/>
              </a:solidFill>
            </a:endParaRPr>
          </a:p>
          <a:p>
            <a:r>
              <a:rPr lang="is-IS" dirty="0">
                <a:solidFill>
                  <a:srgbClr val="7F7F7F"/>
                </a:solidFill>
              </a:rPr>
              <a:t>Replacement policies:</a:t>
            </a:r>
          </a:p>
          <a:p>
            <a:pPr lvl="1"/>
            <a:r>
              <a:rPr lang="is-IS" b="1" dirty="0">
                <a:solidFill>
                  <a:srgbClr val="3366FF"/>
                </a:solidFill>
              </a:rPr>
              <a:t>FIFO</a:t>
            </a:r>
            <a:r>
              <a:rPr lang="is-IS" dirty="0">
                <a:solidFill>
                  <a:srgbClr val="7F7F7F"/>
                </a:solidFill>
              </a:rPr>
              <a:t>: First In First Out</a:t>
            </a:r>
          </a:p>
          <a:p>
            <a:pPr lvl="1"/>
            <a:r>
              <a:rPr lang="is-IS" b="1" dirty="0">
                <a:solidFill>
                  <a:srgbClr val="3366FF"/>
                </a:solidFill>
              </a:rPr>
              <a:t>OPTIMAL</a:t>
            </a:r>
          </a:p>
          <a:p>
            <a:pPr lvl="1"/>
            <a:r>
              <a:rPr lang="is-IS" b="1" dirty="0">
                <a:solidFill>
                  <a:srgbClr val="3366FF"/>
                </a:solidFill>
              </a:rPr>
              <a:t>LRU</a:t>
            </a:r>
            <a:r>
              <a:rPr lang="is-IS" dirty="0">
                <a:solidFill>
                  <a:srgbClr val="7F7F7F"/>
                </a:solidFill>
              </a:rPr>
              <a:t>: Least Recently Used:</a:t>
            </a:r>
            <a:endParaRPr lang="en-US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052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bldLvl="3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pPr algn="r"/>
            <a:fld id="{8F2AF0C7-8B6C-FD41-A1EC-13080D0944B3}" type="slidenum">
              <a:rPr lang="en-US">
                <a:solidFill>
                  <a:srgbClr val="7F7F7F"/>
                </a:solidFill>
              </a:rPr>
              <a:pPr algn="r"/>
              <a:t>22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68300" y="254000"/>
            <a:ext cx="7772400" cy="584200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FIFO Page Replacement Policy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33400" y="10668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solidFill>
                  <a:srgbClr val="7F7F7F"/>
                </a:solidFill>
              </a:rPr>
              <a:t>FIFO (First In First Out)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solidFill>
                  <a:srgbClr val="7F7F7F"/>
                </a:solidFill>
              </a:rPr>
              <a:t>replace the page which came earliest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-92075" y="2232025"/>
            <a:ext cx="12427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F7F7F"/>
                </a:solidFill>
              </a:rPr>
              <a:t>Pages </a:t>
            </a:r>
          </a:p>
          <a:p>
            <a:r>
              <a:rPr lang="en-US" dirty="0">
                <a:solidFill>
                  <a:srgbClr val="7F7F7F"/>
                </a:solidFill>
              </a:rPr>
              <a:t>Referenced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-92075" y="3375025"/>
            <a:ext cx="98018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Memory</a:t>
            </a:r>
          </a:p>
          <a:p>
            <a:r>
              <a:rPr lang="en-US">
                <a:solidFill>
                  <a:srgbClr val="7F7F7F"/>
                </a:solidFill>
              </a:rPr>
              <a:t>State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-92075" y="4594225"/>
            <a:ext cx="7753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F7F7F"/>
                </a:solidFill>
              </a:rPr>
              <a:t>Page </a:t>
            </a:r>
          </a:p>
          <a:p>
            <a:r>
              <a:rPr lang="en-US" dirty="0">
                <a:solidFill>
                  <a:srgbClr val="7F7F7F"/>
                </a:solidFill>
              </a:rPr>
              <a:t>Fault ?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1668463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FF"/>
                </a:solidFill>
              </a:rPr>
              <a:t>7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600200" y="2959100"/>
            <a:ext cx="381000" cy="1893332"/>
            <a:chOff x="1600200" y="3733800"/>
            <a:chExt cx="381000" cy="1893332"/>
          </a:xfrm>
        </p:grpSpPr>
        <p:sp>
          <p:nvSpPr>
            <p:cNvPr id="13" name="Text Box 20"/>
            <p:cNvSpPr txBox="1">
              <a:spLocks noChangeArrowheads="1"/>
            </p:cNvSpPr>
            <p:nvPr/>
          </p:nvSpPr>
          <p:spPr bwMode="auto">
            <a:xfrm>
              <a:off x="1668463" y="52578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7F7F7F"/>
                  </a:solidFill>
                </a:rPr>
                <a:t>y</a:t>
              </a: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1600200" y="3733800"/>
              <a:ext cx="381000" cy="914400"/>
              <a:chOff x="1600200" y="3733800"/>
              <a:chExt cx="381000" cy="914400"/>
            </a:xfrm>
          </p:grpSpPr>
          <p:sp>
            <p:nvSpPr>
              <p:cNvPr id="15" name="Rectangle 143"/>
              <p:cNvSpPr>
                <a:spLocks noChangeArrowheads="1"/>
              </p:cNvSpPr>
              <p:nvPr/>
            </p:nvSpPr>
            <p:spPr bwMode="auto">
              <a:xfrm>
                <a:off x="1600200" y="3733800"/>
                <a:ext cx="381000" cy="3048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rgbClr val="7F7F7F"/>
                    </a:solidFill>
                  </a:rPr>
                  <a:t>7</a:t>
                </a:r>
              </a:p>
            </p:txBody>
          </p:sp>
          <p:sp>
            <p:nvSpPr>
              <p:cNvPr id="16" name="Rectangle 144"/>
              <p:cNvSpPr>
                <a:spLocks noChangeArrowheads="1"/>
              </p:cNvSpPr>
              <p:nvPr/>
            </p:nvSpPr>
            <p:spPr bwMode="auto">
              <a:xfrm>
                <a:off x="1600200" y="4038600"/>
                <a:ext cx="381000" cy="3048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rgbClr val="7F7F7F"/>
                    </a:solidFill>
                  </a:rPr>
                  <a:t>-</a:t>
                </a:r>
              </a:p>
            </p:txBody>
          </p:sp>
          <p:sp>
            <p:nvSpPr>
              <p:cNvPr id="17" name="Rectangle 145"/>
              <p:cNvSpPr>
                <a:spLocks noChangeArrowheads="1"/>
              </p:cNvSpPr>
              <p:nvPr/>
            </p:nvSpPr>
            <p:spPr bwMode="auto">
              <a:xfrm>
                <a:off x="1600200" y="4343400"/>
                <a:ext cx="381000" cy="3048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>
                    <a:solidFill>
                      <a:srgbClr val="7F7F7F"/>
                    </a:solidFill>
                  </a:rPr>
                  <a:t>-</a:t>
                </a:r>
              </a:p>
            </p:txBody>
          </p:sp>
        </p:grpSp>
      </p:grpSp>
      <p:sp>
        <p:nvSpPr>
          <p:cNvPr id="18" name="Text Box 151"/>
          <p:cNvSpPr txBox="1">
            <a:spLocks noChangeArrowheads="1"/>
          </p:cNvSpPr>
          <p:nvPr/>
        </p:nvSpPr>
        <p:spPr bwMode="auto">
          <a:xfrm>
            <a:off x="2406650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0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338388" y="2959100"/>
            <a:ext cx="381000" cy="1893332"/>
            <a:chOff x="2338388" y="3733800"/>
            <a:chExt cx="381000" cy="1893332"/>
          </a:xfrm>
        </p:grpSpPr>
        <p:sp>
          <p:nvSpPr>
            <p:cNvPr id="20" name="Text Box 152"/>
            <p:cNvSpPr txBox="1">
              <a:spLocks noChangeArrowheads="1"/>
            </p:cNvSpPr>
            <p:nvPr/>
          </p:nvSpPr>
          <p:spPr bwMode="auto">
            <a:xfrm>
              <a:off x="2406650" y="52578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2338388" y="3733800"/>
              <a:ext cx="381000" cy="914400"/>
              <a:chOff x="2338388" y="3733800"/>
              <a:chExt cx="381000" cy="914400"/>
            </a:xfrm>
          </p:grpSpPr>
          <p:sp>
            <p:nvSpPr>
              <p:cNvPr id="22" name="Rectangle 153"/>
              <p:cNvSpPr>
                <a:spLocks noChangeArrowheads="1"/>
              </p:cNvSpPr>
              <p:nvPr/>
            </p:nvSpPr>
            <p:spPr bwMode="auto">
              <a:xfrm>
                <a:off x="2338388" y="3733800"/>
                <a:ext cx="381000" cy="3048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rgbClr val="7F7F7F"/>
                    </a:solidFill>
                  </a:rPr>
                  <a:t>7</a:t>
                </a:r>
              </a:p>
            </p:txBody>
          </p:sp>
          <p:sp>
            <p:nvSpPr>
              <p:cNvPr id="23" name="Rectangle 154"/>
              <p:cNvSpPr>
                <a:spLocks noChangeArrowheads="1"/>
              </p:cNvSpPr>
              <p:nvPr/>
            </p:nvSpPr>
            <p:spPr bwMode="auto">
              <a:xfrm>
                <a:off x="2338388" y="4038600"/>
                <a:ext cx="381000" cy="3048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rgbClr val="7F7F7F"/>
                    </a:solidFill>
                  </a:rPr>
                  <a:t>0</a:t>
                </a:r>
              </a:p>
            </p:txBody>
          </p:sp>
          <p:sp>
            <p:nvSpPr>
              <p:cNvPr id="24" name="Rectangle 155"/>
              <p:cNvSpPr>
                <a:spLocks noChangeArrowheads="1"/>
              </p:cNvSpPr>
              <p:nvPr/>
            </p:nvSpPr>
            <p:spPr bwMode="auto">
              <a:xfrm>
                <a:off x="2338388" y="4343400"/>
                <a:ext cx="381000" cy="3048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>
                    <a:solidFill>
                      <a:srgbClr val="7F7F7F"/>
                    </a:solidFill>
                  </a:rPr>
                  <a:t>-</a:t>
                </a:r>
              </a:p>
            </p:txBody>
          </p:sp>
        </p:grpSp>
      </p:grpSp>
      <p:sp>
        <p:nvSpPr>
          <p:cNvPr id="25" name="Text Box 156"/>
          <p:cNvSpPr txBox="1">
            <a:spLocks noChangeArrowheads="1"/>
          </p:cNvSpPr>
          <p:nvPr/>
        </p:nvSpPr>
        <p:spPr bwMode="auto">
          <a:xfrm>
            <a:off x="3144838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1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3076575" y="2959100"/>
            <a:ext cx="381000" cy="1893332"/>
            <a:chOff x="3076575" y="3733800"/>
            <a:chExt cx="381000" cy="1893332"/>
          </a:xfrm>
        </p:grpSpPr>
        <p:sp>
          <p:nvSpPr>
            <p:cNvPr id="27" name="Text Box 157"/>
            <p:cNvSpPr txBox="1">
              <a:spLocks noChangeArrowheads="1"/>
            </p:cNvSpPr>
            <p:nvPr/>
          </p:nvSpPr>
          <p:spPr bwMode="auto">
            <a:xfrm>
              <a:off x="3144838" y="52578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28" name="Rectangle 158"/>
            <p:cNvSpPr>
              <a:spLocks noChangeArrowheads="1"/>
            </p:cNvSpPr>
            <p:nvPr/>
          </p:nvSpPr>
          <p:spPr bwMode="auto">
            <a:xfrm>
              <a:off x="3076575" y="3733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29" name="Rectangle 159"/>
            <p:cNvSpPr>
              <a:spLocks noChangeArrowheads="1"/>
            </p:cNvSpPr>
            <p:nvPr/>
          </p:nvSpPr>
          <p:spPr bwMode="auto">
            <a:xfrm>
              <a:off x="3076575" y="4038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30" name="Rectangle 160"/>
            <p:cNvSpPr>
              <a:spLocks noChangeArrowheads="1"/>
            </p:cNvSpPr>
            <p:nvPr/>
          </p:nvSpPr>
          <p:spPr bwMode="auto">
            <a:xfrm>
              <a:off x="3076575" y="43434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31" name="Text Box 161"/>
          <p:cNvSpPr txBox="1">
            <a:spLocks noChangeArrowheads="1"/>
          </p:cNvSpPr>
          <p:nvPr/>
        </p:nvSpPr>
        <p:spPr bwMode="auto">
          <a:xfrm>
            <a:off x="3883025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2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3814763" y="2959100"/>
            <a:ext cx="381000" cy="1893332"/>
            <a:chOff x="3814763" y="3733800"/>
            <a:chExt cx="381000" cy="1893332"/>
          </a:xfrm>
        </p:grpSpPr>
        <p:sp>
          <p:nvSpPr>
            <p:cNvPr id="33" name="Text Box 162"/>
            <p:cNvSpPr txBox="1">
              <a:spLocks noChangeArrowheads="1"/>
            </p:cNvSpPr>
            <p:nvPr/>
          </p:nvSpPr>
          <p:spPr bwMode="auto">
            <a:xfrm>
              <a:off x="3883025" y="52578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34" name="Rectangle 163"/>
            <p:cNvSpPr>
              <a:spLocks noChangeArrowheads="1"/>
            </p:cNvSpPr>
            <p:nvPr/>
          </p:nvSpPr>
          <p:spPr bwMode="auto">
            <a:xfrm>
              <a:off x="3814763" y="3733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35" name="Rectangle 164"/>
            <p:cNvSpPr>
              <a:spLocks noChangeArrowheads="1"/>
            </p:cNvSpPr>
            <p:nvPr/>
          </p:nvSpPr>
          <p:spPr bwMode="auto">
            <a:xfrm>
              <a:off x="3814763" y="4038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36" name="Rectangle 165"/>
            <p:cNvSpPr>
              <a:spLocks noChangeArrowheads="1"/>
            </p:cNvSpPr>
            <p:nvPr/>
          </p:nvSpPr>
          <p:spPr bwMode="auto">
            <a:xfrm>
              <a:off x="3814763" y="43434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37" name="Text Box 166"/>
          <p:cNvSpPr txBox="1">
            <a:spLocks noChangeArrowheads="1"/>
          </p:cNvSpPr>
          <p:nvPr/>
        </p:nvSpPr>
        <p:spPr bwMode="auto">
          <a:xfrm>
            <a:off x="4621213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0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4552950" y="2959100"/>
            <a:ext cx="381000" cy="1893332"/>
            <a:chOff x="4552950" y="3733800"/>
            <a:chExt cx="381000" cy="1893332"/>
          </a:xfrm>
        </p:grpSpPr>
        <p:sp>
          <p:nvSpPr>
            <p:cNvPr id="39" name="Text Box 167"/>
            <p:cNvSpPr txBox="1">
              <a:spLocks noChangeArrowheads="1"/>
            </p:cNvSpPr>
            <p:nvPr/>
          </p:nvSpPr>
          <p:spPr bwMode="auto">
            <a:xfrm>
              <a:off x="4621213" y="5257800"/>
              <a:ext cx="30008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n</a:t>
              </a:r>
            </a:p>
          </p:txBody>
        </p:sp>
        <p:sp>
          <p:nvSpPr>
            <p:cNvPr id="40" name="Rectangle 168"/>
            <p:cNvSpPr>
              <a:spLocks noChangeArrowheads="1"/>
            </p:cNvSpPr>
            <p:nvPr/>
          </p:nvSpPr>
          <p:spPr bwMode="auto">
            <a:xfrm>
              <a:off x="4552950" y="3733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41" name="Rectangle 169"/>
            <p:cNvSpPr>
              <a:spLocks noChangeArrowheads="1"/>
            </p:cNvSpPr>
            <p:nvPr/>
          </p:nvSpPr>
          <p:spPr bwMode="auto">
            <a:xfrm>
              <a:off x="4552950" y="4038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42" name="Rectangle 170"/>
            <p:cNvSpPr>
              <a:spLocks noChangeArrowheads="1"/>
            </p:cNvSpPr>
            <p:nvPr/>
          </p:nvSpPr>
          <p:spPr bwMode="auto">
            <a:xfrm>
              <a:off x="4552950" y="43434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43" name="Text Box 171"/>
          <p:cNvSpPr txBox="1">
            <a:spLocks noChangeArrowheads="1"/>
          </p:cNvSpPr>
          <p:nvPr/>
        </p:nvSpPr>
        <p:spPr bwMode="auto">
          <a:xfrm>
            <a:off x="5359400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3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5291138" y="2959100"/>
            <a:ext cx="381000" cy="1893332"/>
            <a:chOff x="5291138" y="3733800"/>
            <a:chExt cx="381000" cy="1893332"/>
          </a:xfrm>
        </p:grpSpPr>
        <p:sp>
          <p:nvSpPr>
            <p:cNvPr id="45" name="Text Box 172"/>
            <p:cNvSpPr txBox="1">
              <a:spLocks noChangeArrowheads="1"/>
            </p:cNvSpPr>
            <p:nvPr/>
          </p:nvSpPr>
          <p:spPr bwMode="auto">
            <a:xfrm>
              <a:off x="5359400" y="52578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46" name="Rectangle 173"/>
            <p:cNvSpPr>
              <a:spLocks noChangeArrowheads="1"/>
            </p:cNvSpPr>
            <p:nvPr/>
          </p:nvSpPr>
          <p:spPr bwMode="auto">
            <a:xfrm>
              <a:off x="5291138" y="3733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47" name="Rectangle 174"/>
            <p:cNvSpPr>
              <a:spLocks noChangeArrowheads="1"/>
            </p:cNvSpPr>
            <p:nvPr/>
          </p:nvSpPr>
          <p:spPr bwMode="auto">
            <a:xfrm>
              <a:off x="5291138" y="4038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48" name="Rectangle 175"/>
            <p:cNvSpPr>
              <a:spLocks noChangeArrowheads="1"/>
            </p:cNvSpPr>
            <p:nvPr/>
          </p:nvSpPr>
          <p:spPr bwMode="auto">
            <a:xfrm>
              <a:off x="5291138" y="43434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49" name="Text Box 176"/>
          <p:cNvSpPr txBox="1">
            <a:spLocks noChangeArrowheads="1"/>
          </p:cNvSpPr>
          <p:nvPr/>
        </p:nvSpPr>
        <p:spPr bwMode="auto">
          <a:xfrm>
            <a:off x="6097588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0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6029325" y="2959100"/>
            <a:ext cx="381000" cy="1893332"/>
            <a:chOff x="6029325" y="3733800"/>
            <a:chExt cx="381000" cy="1893332"/>
          </a:xfrm>
        </p:grpSpPr>
        <p:sp>
          <p:nvSpPr>
            <p:cNvPr id="51" name="Text Box 177"/>
            <p:cNvSpPr txBox="1">
              <a:spLocks noChangeArrowheads="1"/>
            </p:cNvSpPr>
            <p:nvPr/>
          </p:nvSpPr>
          <p:spPr bwMode="auto">
            <a:xfrm>
              <a:off x="6097588" y="52578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52" name="Rectangle 178"/>
            <p:cNvSpPr>
              <a:spLocks noChangeArrowheads="1"/>
            </p:cNvSpPr>
            <p:nvPr/>
          </p:nvSpPr>
          <p:spPr bwMode="auto">
            <a:xfrm>
              <a:off x="6029325" y="3733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53" name="Rectangle 179"/>
            <p:cNvSpPr>
              <a:spLocks noChangeArrowheads="1"/>
            </p:cNvSpPr>
            <p:nvPr/>
          </p:nvSpPr>
          <p:spPr bwMode="auto">
            <a:xfrm>
              <a:off x="6029325" y="4038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54" name="Rectangle 180"/>
            <p:cNvSpPr>
              <a:spLocks noChangeArrowheads="1"/>
            </p:cNvSpPr>
            <p:nvPr/>
          </p:nvSpPr>
          <p:spPr bwMode="auto">
            <a:xfrm>
              <a:off x="6029325" y="43434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</p:grpSp>
      <p:sp>
        <p:nvSpPr>
          <p:cNvPr id="55" name="Text Box 181"/>
          <p:cNvSpPr txBox="1">
            <a:spLocks noChangeArrowheads="1"/>
          </p:cNvSpPr>
          <p:nvPr/>
        </p:nvSpPr>
        <p:spPr bwMode="auto">
          <a:xfrm>
            <a:off x="6835775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4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6767513" y="2959100"/>
            <a:ext cx="381000" cy="1893332"/>
            <a:chOff x="6767513" y="3733800"/>
            <a:chExt cx="381000" cy="1893332"/>
          </a:xfrm>
        </p:grpSpPr>
        <p:sp>
          <p:nvSpPr>
            <p:cNvPr id="57" name="Text Box 182"/>
            <p:cNvSpPr txBox="1">
              <a:spLocks noChangeArrowheads="1"/>
            </p:cNvSpPr>
            <p:nvPr/>
          </p:nvSpPr>
          <p:spPr bwMode="auto">
            <a:xfrm>
              <a:off x="6835775" y="52578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58" name="Rectangle 183"/>
            <p:cNvSpPr>
              <a:spLocks noChangeArrowheads="1"/>
            </p:cNvSpPr>
            <p:nvPr/>
          </p:nvSpPr>
          <p:spPr bwMode="auto">
            <a:xfrm>
              <a:off x="6767513" y="3733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59" name="Rectangle 184"/>
            <p:cNvSpPr>
              <a:spLocks noChangeArrowheads="1"/>
            </p:cNvSpPr>
            <p:nvPr/>
          </p:nvSpPr>
          <p:spPr bwMode="auto">
            <a:xfrm>
              <a:off x="6767513" y="4038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60" name="Rectangle 185"/>
            <p:cNvSpPr>
              <a:spLocks noChangeArrowheads="1"/>
            </p:cNvSpPr>
            <p:nvPr/>
          </p:nvSpPr>
          <p:spPr bwMode="auto">
            <a:xfrm>
              <a:off x="6767513" y="43434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0</a:t>
              </a:r>
            </a:p>
          </p:txBody>
        </p:sp>
      </p:grpSp>
      <p:sp>
        <p:nvSpPr>
          <p:cNvPr id="61" name="Text Box 186"/>
          <p:cNvSpPr txBox="1">
            <a:spLocks noChangeArrowheads="1"/>
          </p:cNvSpPr>
          <p:nvPr/>
        </p:nvSpPr>
        <p:spPr bwMode="auto">
          <a:xfrm>
            <a:off x="7573963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2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7505700" y="2959100"/>
            <a:ext cx="381000" cy="1893332"/>
            <a:chOff x="7505700" y="3733800"/>
            <a:chExt cx="381000" cy="1893332"/>
          </a:xfrm>
        </p:grpSpPr>
        <p:sp>
          <p:nvSpPr>
            <p:cNvPr id="63" name="Text Box 187"/>
            <p:cNvSpPr txBox="1">
              <a:spLocks noChangeArrowheads="1"/>
            </p:cNvSpPr>
            <p:nvPr/>
          </p:nvSpPr>
          <p:spPr bwMode="auto">
            <a:xfrm>
              <a:off x="7573963" y="52578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64" name="Rectangle 188"/>
            <p:cNvSpPr>
              <a:spLocks noChangeArrowheads="1"/>
            </p:cNvSpPr>
            <p:nvPr/>
          </p:nvSpPr>
          <p:spPr bwMode="auto">
            <a:xfrm>
              <a:off x="7505700" y="3733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65" name="Rectangle 189"/>
            <p:cNvSpPr>
              <a:spLocks noChangeArrowheads="1"/>
            </p:cNvSpPr>
            <p:nvPr/>
          </p:nvSpPr>
          <p:spPr bwMode="auto">
            <a:xfrm>
              <a:off x="7505700" y="4038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66" name="Rectangle 190"/>
            <p:cNvSpPr>
              <a:spLocks noChangeArrowheads="1"/>
            </p:cNvSpPr>
            <p:nvPr/>
          </p:nvSpPr>
          <p:spPr bwMode="auto">
            <a:xfrm>
              <a:off x="7505700" y="43434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</p:grpSp>
      <p:sp>
        <p:nvSpPr>
          <p:cNvPr id="67" name="Text Box 191"/>
          <p:cNvSpPr txBox="1">
            <a:spLocks noChangeArrowheads="1"/>
          </p:cNvSpPr>
          <p:nvPr/>
        </p:nvSpPr>
        <p:spPr bwMode="auto">
          <a:xfrm>
            <a:off x="8312150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3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8243888" y="2959100"/>
            <a:ext cx="381000" cy="1893332"/>
            <a:chOff x="8243888" y="3733800"/>
            <a:chExt cx="381000" cy="1893332"/>
          </a:xfrm>
        </p:grpSpPr>
        <p:sp>
          <p:nvSpPr>
            <p:cNvPr id="69" name="Text Box 192"/>
            <p:cNvSpPr txBox="1">
              <a:spLocks noChangeArrowheads="1"/>
            </p:cNvSpPr>
            <p:nvPr/>
          </p:nvSpPr>
          <p:spPr bwMode="auto">
            <a:xfrm>
              <a:off x="8312150" y="52578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70" name="Rectangle 193"/>
            <p:cNvSpPr>
              <a:spLocks noChangeArrowheads="1"/>
            </p:cNvSpPr>
            <p:nvPr/>
          </p:nvSpPr>
          <p:spPr bwMode="auto">
            <a:xfrm>
              <a:off x="8243888" y="3733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71" name="Rectangle 194"/>
            <p:cNvSpPr>
              <a:spLocks noChangeArrowheads="1"/>
            </p:cNvSpPr>
            <p:nvPr/>
          </p:nvSpPr>
          <p:spPr bwMode="auto">
            <a:xfrm>
              <a:off x="8243888" y="4038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72" name="Rectangle 195"/>
            <p:cNvSpPr>
              <a:spLocks noChangeArrowheads="1"/>
            </p:cNvSpPr>
            <p:nvPr/>
          </p:nvSpPr>
          <p:spPr bwMode="auto">
            <a:xfrm>
              <a:off x="8243888" y="43434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</p:grpSp>
      <p:sp>
        <p:nvSpPr>
          <p:cNvPr id="73" name="Oval 72"/>
          <p:cNvSpPr/>
          <p:nvPr/>
        </p:nvSpPr>
        <p:spPr>
          <a:xfrm>
            <a:off x="1600200" y="29591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2336800" y="32766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3073400" y="35941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3835400" y="29591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5308600" y="32766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6045200" y="35814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6781800" y="29591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7518400" y="32893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8255000" y="35687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 Box 6"/>
          <p:cNvSpPr txBox="1">
            <a:spLocks noChangeArrowheads="1"/>
          </p:cNvSpPr>
          <p:nvPr/>
        </p:nvSpPr>
        <p:spPr bwMode="auto">
          <a:xfrm>
            <a:off x="34925" y="5240556"/>
            <a:ext cx="74484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F7F7F"/>
                </a:solidFill>
              </a:rPr>
              <a:t>Page  Fault  Rate = Number of page faults/Number of references = 9/10 = 0.9</a:t>
            </a:r>
          </a:p>
        </p:txBody>
      </p:sp>
      <p:sp>
        <p:nvSpPr>
          <p:cNvPr id="83" name="Oval 82"/>
          <p:cNvSpPr/>
          <p:nvPr/>
        </p:nvSpPr>
        <p:spPr>
          <a:xfrm>
            <a:off x="4578429" y="4556125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/>
          <p:cNvGrpSpPr/>
          <p:nvPr/>
        </p:nvGrpSpPr>
        <p:grpSpPr>
          <a:xfrm>
            <a:off x="1041400" y="2959100"/>
            <a:ext cx="381000" cy="914400"/>
            <a:chOff x="1600200" y="3733800"/>
            <a:chExt cx="381000" cy="914400"/>
          </a:xfrm>
        </p:grpSpPr>
        <p:sp>
          <p:nvSpPr>
            <p:cNvPr id="87" name="Rectangle 143"/>
            <p:cNvSpPr>
              <a:spLocks noChangeArrowheads="1"/>
            </p:cNvSpPr>
            <p:nvPr/>
          </p:nvSpPr>
          <p:spPr bwMode="auto">
            <a:xfrm>
              <a:off x="1600200" y="3733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88" name="Rectangle 144"/>
            <p:cNvSpPr>
              <a:spLocks noChangeArrowheads="1"/>
            </p:cNvSpPr>
            <p:nvPr/>
          </p:nvSpPr>
          <p:spPr bwMode="auto">
            <a:xfrm>
              <a:off x="1600200" y="4038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89" name="Rectangle 145"/>
            <p:cNvSpPr>
              <a:spLocks noChangeArrowheads="1"/>
            </p:cNvSpPr>
            <p:nvPr/>
          </p:nvSpPr>
          <p:spPr bwMode="auto">
            <a:xfrm>
              <a:off x="1600200" y="43434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156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/>
      <p:bldP spid="8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36ED36BC-37D2-1740-9B08-984DCAEEE611}" type="slidenum">
              <a:rPr lang="en-US">
                <a:solidFill>
                  <a:srgbClr val="7F7F7F"/>
                </a:solidFill>
              </a:rPr>
              <a:pPr algn="r"/>
              <a:t>23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7F7F7F"/>
                </a:solidFill>
              </a:rPr>
              <a:t>Optimal Page Replacement Algorithm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7F7F7F"/>
                </a:solidFill>
              </a:rPr>
              <a:t>FIFO does not work well:</a:t>
            </a:r>
          </a:p>
          <a:p>
            <a:pPr lvl="1"/>
            <a:r>
              <a:rPr lang="en-US" sz="2000" dirty="0">
                <a:solidFill>
                  <a:srgbClr val="7F7F7F"/>
                </a:solidFill>
              </a:rPr>
              <a:t>FIFO does not consider the pattern of the reference. FIFO is blind to the pattern access..</a:t>
            </a:r>
          </a:p>
          <a:p>
            <a:r>
              <a:rPr lang="en-US" sz="2000" dirty="0">
                <a:solidFill>
                  <a:srgbClr val="7F7F7F"/>
                </a:solidFill>
              </a:rPr>
              <a:t>The Optimal algorithm (OPT)</a:t>
            </a:r>
          </a:p>
          <a:p>
            <a:pPr lvl="1"/>
            <a:r>
              <a:rPr lang="en-US" sz="2000" dirty="0">
                <a:solidFill>
                  <a:srgbClr val="7F7F7F"/>
                </a:solidFill>
              </a:rPr>
              <a:t>Replace the page that </a:t>
            </a:r>
            <a:r>
              <a:rPr lang="en-US" sz="2000" u="sng" dirty="0">
                <a:solidFill>
                  <a:srgbClr val="7F7F7F"/>
                </a:solidFill>
              </a:rPr>
              <a:t>will</a:t>
            </a:r>
            <a:r>
              <a:rPr lang="en-US" sz="2000" dirty="0">
                <a:solidFill>
                  <a:srgbClr val="7F7F7F"/>
                </a:solidFill>
              </a:rPr>
              <a:t> not be used for the longest time (psychic !!!)</a:t>
            </a:r>
          </a:p>
          <a:p>
            <a:r>
              <a:rPr lang="en-US" sz="2000" dirty="0">
                <a:solidFill>
                  <a:srgbClr val="7F7F7F"/>
                </a:solidFill>
              </a:rPr>
              <a:t>OPT looks when  the page is to be used.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pPr algn="r"/>
            <a:fld id="{F8BE2734-D794-F14A-A08E-1CC54C74DB2E}" type="slidenum">
              <a:rPr lang="en-US">
                <a:solidFill>
                  <a:srgbClr val="7F7F7F"/>
                </a:solidFill>
              </a:rPr>
              <a:pPr algn="r"/>
              <a:t>24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lang="en-US">
                <a:solidFill>
                  <a:srgbClr val="7F7F7F"/>
                </a:solidFill>
              </a:rPr>
              <a:t>OPT vs FIFO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695450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7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670050" y="3213100"/>
            <a:ext cx="358775" cy="1232932"/>
            <a:chOff x="1670050" y="4800600"/>
            <a:chExt cx="358775" cy="1232932"/>
          </a:xfrm>
        </p:grpSpPr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1695450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1670050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1670050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1670050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</p:grp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2433638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0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408238" y="3213100"/>
            <a:ext cx="358775" cy="1232932"/>
            <a:chOff x="2408238" y="4800600"/>
            <a:chExt cx="358775" cy="1232932"/>
          </a:xfrm>
        </p:grpSpPr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2433638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2408238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2408238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2408238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</p:grp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3171825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1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146425" y="3213100"/>
            <a:ext cx="358775" cy="1232932"/>
            <a:chOff x="3146425" y="4800600"/>
            <a:chExt cx="358775" cy="1232932"/>
          </a:xfrm>
        </p:grpSpPr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3171825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3146425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23" name="Rectangle 16"/>
            <p:cNvSpPr>
              <a:spLocks noChangeArrowheads="1"/>
            </p:cNvSpPr>
            <p:nvPr/>
          </p:nvSpPr>
          <p:spPr bwMode="auto">
            <a:xfrm>
              <a:off x="3146425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24" name="Rectangle 17"/>
            <p:cNvSpPr>
              <a:spLocks noChangeArrowheads="1"/>
            </p:cNvSpPr>
            <p:nvPr/>
          </p:nvSpPr>
          <p:spPr bwMode="auto">
            <a:xfrm>
              <a:off x="3146425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3910013" y="26035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2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3884613" y="3213100"/>
            <a:ext cx="358775" cy="1232932"/>
            <a:chOff x="3884613" y="4800600"/>
            <a:chExt cx="358775" cy="1232932"/>
          </a:xfrm>
        </p:grpSpPr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>
              <a:off x="3910013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28" name="Rectangle 20"/>
            <p:cNvSpPr>
              <a:spLocks noChangeArrowheads="1"/>
            </p:cNvSpPr>
            <p:nvPr/>
          </p:nvSpPr>
          <p:spPr bwMode="auto">
            <a:xfrm>
              <a:off x="3884613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29" name="Rectangle 21"/>
            <p:cNvSpPr>
              <a:spLocks noChangeArrowheads="1"/>
            </p:cNvSpPr>
            <p:nvPr/>
          </p:nvSpPr>
          <p:spPr bwMode="auto">
            <a:xfrm>
              <a:off x="3884613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30" name="Rectangle 22"/>
            <p:cNvSpPr>
              <a:spLocks noChangeArrowheads="1"/>
            </p:cNvSpPr>
            <p:nvPr/>
          </p:nvSpPr>
          <p:spPr bwMode="auto">
            <a:xfrm>
              <a:off x="3884613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31" name="Text Box 23"/>
          <p:cNvSpPr txBox="1">
            <a:spLocks noChangeArrowheads="1"/>
          </p:cNvSpPr>
          <p:nvPr/>
        </p:nvSpPr>
        <p:spPr bwMode="auto">
          <a:xfrm>
            <a:off x="4648200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0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4622800" y="3213100"/>
            <a:ext cx="358775" cy="1232932"/>
            <a:chOff x="4622800" y="4800600"/>
            <a:chExt cx="358775" cy="1232932"/>
          </a:xfrm>
        </p:grpSpPr>
        <p:sp>
          <p:nvSpPr>
            <p:cNvPr id="33" name="Text Box 24"/>
            <p:cNvSpPr txBox="1">
              <a:spLocks noChangeArrowheads="1"/>
            </p:cNvSpPr>
            <p:nvPr/>
          </p:nvSpPr>
          <p:spPr bwMode="auto">
            <a:xfrm>
              <a:off x="4648200" y="5664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  <p:sp>
          <p:nvSpPr>
            <p:cNvPr id="34" name="Rectangle 25"/>
            <p:cNvSpPr>
              <a:spLocks noChangeArrowheads="1"/>
            </p:cNvSpPr>
            <p:nvPr/>
          </p:nvSpPr>
          <p:spPr bwMode="auto">
            <a:xfrm>
              <a:off x="4622800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35" name="Rectangle 26"/>
            <p:cNvSpPr>
              <a:spLocks noChangeArrowheads="1"/>
            </p:cNvSpPr>
            <p:nvPr/>
          </p:nvSpPr>
          <p:spPr bwMode="auto">
            <a:xfrm>
              <a:off x="4622800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36" name="Rectangle 27"/>
            <p:cNvSpPr>
              <a:spLocks noChangeArrowheads="1"/>
            </p:cNvSpPr>
            <p:nvPr/>
          </p:nvSpPr>
          <p:spPr bwMode="auto">
            <a:xfrm>
              <a:off x="4622800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37" name="Text Box 28"/>
          <p:cNvSpPr txBox="1">
            <a:spLocks noChangeArrowheads="1"/>
          </p:cNvSpPr>
          <p:nvPr/>
        </p:nvSpPr>
        <p:spPr bwMode="auto">
          <a:xfrm>
            <a:off x="5386388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3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5360988" y="3213100"/>
            <a:ext cx="358775" cy="1232932"/>
            <a:chOff x="5360988" y="4800600"/>
            <a:chExt cx="358775" cy="1232932"/>
          </a:xfrm>
        </p:grpSpPr>
        <p:sp>
          <p:nvSpPr>
            <p:cNvPr id="39" name="Text Box 29"/>
            <p:cNvSpPr txBox="1">
              <a:spLocks noChangeArrowheads="1"/>
            </p:cNvSpPr>
            <p:nvPr/>
          </p:nvSpPr>
          <p:spPr bwMode="auto">
            <a:xfrm>
              <a:off x="5386388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40" name="Rectangle 30"/>
            <p:cNvSpPr>
              <a:spLocks noChangeArrowheads="1"/>
            </p:cNvSpPr>
            <p:nvPr/>
          </p:nvSpPr>
          <p:spPr bwMode="auto">
            <a:xfrm>
              <a:off x="5360988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41" name="Rectangle 31"/>
            <p:cNvSpPr>
              <a:spLocks noChangeArrowheads="1"/>
            </p:cNvSpPr>
            <p:nvPr/>
          </p:nvSpPr>
          <p:spPr bwMode="auto">
            <a:xfrm>
              <a:off x="5360988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42" name="Rectangle 32"/>
            <p:cNvSpPr>
              <a:spLocks noChangeArrowheads="1"/>
            </p:cNvSpPr>
            <p:nvPr/>
          </p:nvSpPr>
          <p:spPr bwMode="auto">
            <a:xfrm>
              <a:off x="5360988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43" name="Text Box 33"/>
          <p:cNvSpPr txBox="1">
            <a:spLocks noChangeArrowheads="1"/>
          </p:cNvSpPr>
          <p:nvPr/>
        </p:nvSpPr>
        <p:spPr bwMode="auto">
          <a:xfrm>
            <a:off x="6124575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0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099175" y="3213100"/>
            <a:ext cx="358775" cy="1232932"/>
            <a:chOff x="6099175" y="4800600"/>
            <a:chExt cx="358775" cy="1232932"/>
          </a:xfrm>
        </p:grpSpPr>
        <p:sp>
          <p:nvSpPr>
            <p:cNvPr id="45" name="Text Box 34"/>
            <p:cNvSpPr txBox="1">
              <a:spLocks noChangeArrowheads="1"/>
            </p:cNvSpPr>
            <p:nvPr/>
          </p:nvSpPr>
          <p:spPr bwMode="auto">
            <a:xfrm>
              <a:off x="6124575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46" name="Rectangle 35"/>
            <p:cNvSpPr>
              <a:spLocks noChangeArrowheads="1"/>
            </p:cNvSpPr>
            <p:nvPr/>
          </p:nvSpPr>
          <p:spPr bwMode="auto">
            <a:xfrm>
              <a:off x="6099175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47" name="Rectangle 36"/>
            <p:cNvSpPr>
              <a:spLocks noChangeArrowheads="1"/>
            </p:cNvSpPr>
            <p:nvPr/>
          </p:nvSpPr>
          <p:spPr bwMode="auto">
            <a:xfrm>
              <a:off x="6099175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48" name="Rectangle 37"/>
            <p:cNvSpPr>
              <a:spLocks noChangeArrowheads="1"/>
            </p:cNvSpPr>
            <p:nvPr/>
          </p:nvSpPr>
          <p:spPr bwMode="auto">
            <a:xfrm>
              <a:off x="6099175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</p:grpSp>
      <p:sp>
        <p:nvSpPr>
          <p:cNvPr id="49" name="Text Box 38"/>
          <p:cNvSpPr txBox="1">
            <a:spLocks noChangeArrowheads="1"/>
          </p:cNvSpPr>
          <p:nvPr/>
        </p:nvSpPr>
        <p:spPr bwMode="auto">
          <a:xfrm>
            <a:off x="6862763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4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6837363" y="3213100"/>
            <a:ext cx="358775" cy="1232932"/>
            <a:chOff x="6837363" y="4800600"/>
            <a:chExt cx="358775" cy="1232932"/>
          </a:xfrm>
        </p:grpSpPr>
        <p:sp>
          <p:nvSpPr>
            <p:cNvPr id="51" name="Text Box 39"/>
            <p:cNvSpPr txBox="1">
              <a:spLocks noChangeArrowheads="1"/>
            </p:cNvSpPr>
            <p:nvPr/>
          </p:nvSpPr>
          <p:spPr bwMode="auto">
            <a:xfrm>
              <a:off x="6862763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52" name="Rectangle 40"/>
            <p:cNvSpPr>
              <a:spLocks noChangeArrowheads="1"/>
            </p:cNvSpPr>
            <p:nvPr/>
          </p:nvSpPr>
          <p:spPr bwMode="auto">
            <a:xfrm>
              <a:off x="6837363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53" name="Rectangle 41"/>
            <p:cNvSpPr>
              <a:spLocks noChangeArrowheads="1"/>
            </p:cNvSpPr>
            <p:nvPr/>
          </p:nvSpPr>
          <p:spPr bwMode="auto">
            <a:xfrm>
              <a:off x="6837363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54" name="Rectangle 42"/>
            <p:cNvSpPr>
              <a:spLocks noChangeArrowheads="1"/>
            </p:cNvSpPr>
            <p:nvPr/>
          </p:nvSpPr>
          <p:spPr bwMode="auto">
            <a:xfrm>
              <a:off x="6837363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0</a:t>
              </a:r>
            </a:p>
          </p:txBody>
        </p:sp>
      </p:grpSp>
      <p:sp>
        <p:nvSpPr>
          <p:cNvPr id="55" name="Text Box 43"/>
          <p:cNvSpPr txBox="1">
            <a:spLocks noChangeArrowheads="1"/>
          </p:cNvSpPr>
          <p:nvPr/>
        </p:nvSpPr>
        <p:spPr bwMode="auto">
          <a:xfrm>
            <a:off x="7600950" y="26035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2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7575550" y="3213100"/>
            <a:ext cx="358775" cy="1232932"/>
            <a:chOff x="7575550" y="4800600"/>
            <a:chExt cx="358775" cy="1232932"/>
          </a:xfrm>
        </p:grpSpPr>
        <p:sp>
          <p:nvSpPr>
            <p:cNvPr id="57" name="Text Box 44"/>
            <p:cNvSpPr txBox="1">
              <a:spLocks noChangeArrowheads="1"/>
            </p:cNvSpPr>
            <p:nvPr/>
          </p:nvSpPr>
          <p:spPr bwMode="auto">
            <a:xfrm>
              <a:off x="7600950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58" name="Rectangle 45"/>
            <p:cNvSpPr>
              <a:spLocks noChangeArrowheads="1"/>
            </p:cNvSpPr>
            <p:nvPr/>
          </p:nvSpPr>
          <p:spPr bwMode="auto">
            <a:xfrm>
              <a:off x="7575550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7575550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60" name="Rectangle 47"/>
            <p:cNvSpPr>
              <a:spLocks noChangeArrowheads="1"/>
            </p:cNvSpPr>
            <p:nvPr/>
          </p:nvSpPr>
          <p:spPr bwMode="auto">
            <a:xfrm>
              <a:off x="7575550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</p:grpSp>
      <p:sp>
        <p:nvSpPr>
          <p:cNvPr id="61" name="Text Box 48"/>
          <p:cNvSpPr txBox="1">
            <a:spLocks noChangeArrowheads="1"/>
          </p:cNvSpPr>
          <p:nvPr/>
        </p:nvSpPr>
        <p:spPr bwMode="auto">
          <a:xfrm>
            <a:off x="8339138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3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8313738" y="3213100"/>
            <a:ext cx="358775" cy="1232932"/>
            <a:chOff x="8313738" y="4800600"/>
            <a:chExt cx="358775" cy="1232932"/>
          </a:xfrm>
        </p:grpSpPr>
        <p:sp>
          <p:nvSpPr>
            <p:cNvPr id="63" name="Text Box 49"/>
            <p:cNvSpPr txBox="1">
              <a:spLocks noChangeArrowheads="1"/>
            </p:cNvSpPr>
            <p:nvPr/>
          </p:nvSpPr>
          <p:spPr bwMode="auto">
            <a:xfrm>
              <a:off x="8339138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64" name="Rectangle 50"/>
            <p:cNvSpPr>
              <a:spLocks noChangeArrowheads="1"/>
            </p:cNvSpPr>
            <p:nvPr/>
          </p:nvSpPr>
          <p:spPr bwMode="auto">
            <a:xfrm>
              <a:off x="8313738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65" name="Rectangle 51"/>
            <p:cNvSpPr>
              <a:spLocks noChangeArrowheads="1"/>
            </p:cNvSpPr>
            <p:nvPr/>
          </p:nvSpPr>
          <p:spPr bwMode="auto">
            <a:xfrm>
              <a:off x="8313738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66" name="Rectangle 52"/>
            <p:cNvSpPr>
              <a:spLocks noChangeArrowheads="1"/>
            </p:cNvSpPr>
            <p:nvPr/>
          </p:nvSpPr>
          <p:spPr bwMode="auto">
            <a:xfrm>
              <a:off x="8313738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</p:grpSp>
      <p:sp>
        <p:nvSpPr>
          <p:cNvPr id="67" name="Rectangle 93"/>
          <p:cNvSpPr>
            <a:spLocks noChangeArrowheads="1"/>
          </p:cNvSpPr>
          <p:nvPr/>
        </p:nvSpPr>
        <p:spPr bwMode="auto">
          <a:xfrm>
            <a:off x="1371600" y="1080532"/>
            <a:ext cx="7391400" cy="15229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7F7F7F"/>
              </a:solidFill>
            </a:endParaRPr>
          </a:p>
        </p:txBody>
      </p:sp>
      <p:sp>
        <p:nvSpPr>
          <p:cNvPr id="68" name="Rectangle 94"/>
          <p:cNvSpPr>
            <a:spLocks noChangeArrowheads="1"/>
          </p:cNvSpPr>
          <p:nvPr/>
        </p:nvSpPr>
        <p:spPr bwMode="auto">
          <a:xfrm>
            <a:off x="1371600" y="2603500"/>
            <a:ext cx="7391400" cy="195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7F7F7F"/>
              </a:solidFill>
            </a:endParaRPr>
          </a:p>
        </p:txBody>
      </p:sp>
      <p:sp>
        <p:nvSpPr>
          <p:cNvPr id="69" name="Text Box 95"/>
          <p:cNvSpPr txBox="1">
            <a:spLocks noChangeArrowheads="1"/>
          </p:cNvSpPr>
          <p:nvPr/>
        </p:nvSpPr>
        <p:spPr bwMode="auto">
          <a:xfrm>
            <a:off x="1101725" y="1635125"/>
            <a:ext cx="386644" cy="2862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7F7F7F"/>
                </a:solidFill>
              </a:rPr>
              <a:t>O</a:t>
            </a:r>
          </a:p>
          <a:p>
            <a:r>
              <a:rPr lang="en-US" b="1" dirty="0">
                <a:solidFill>
                  <a:srgbClr val="7F7F7F"/>
                </a:solidFill>
              </a:rPr>
              <a:t>P</a:t>
            </a:r>
          </a:p>
          <a:p>
            <a:r>
              <a:rPr lang="en-US" b="1" dirty="0">
                <a:solidFill>
                  <a:srgbClr val="7F7F7F"/>
                </a:solidFill>
              </a:rPr>
              <a:t>T</a:t>
            </a:r>
          </a:p>
          <a:p>
            <a:endParaRPr lang="en-US" b="1" dirty="0">
              <a:solidFill>
                <a:srgbClr val="7F7F7F"/>
              </a:solidFill>
            </a:endParaRPr>
          </a:p>
          <a:p>
            <a:endParaRPr lang="en-US" b="1" dirty="0">
              <a:solidFill>
                <a:srgbClr val="7F7F7F"/>
              </a:solidFill>
            </a:endParaRPr>
          </a:p>
          <a:p>
            <a:endParaRPr lang="en-US" b="1" dirty="0">
              <a:solidFill>
                <a:srgbClr val="7F7F7F"/>
              </a:solidFill>
            </a:endParaRPr>
          </a:p>
          <a:p>
            <a:r>
              <a:rPr lang="en-US" b="1" dirty="0">
                <a:solidFill>
                  <a:srgbClr val="7F7F7F"/>
                </a:solidFill>
              </a:rPr>
              <a:t>F</a:t>
            </a:r>
          </a:p>
          <a:p>
            <a:r>
              <a:rPr lang="en-US" b="1" dirty="0">
                <a:solidFill>
                  <a:srgbClr val="7F7F7F"/>
                </a:solidFill>
              </a:rPr>
              <a:t>I</a:t>
            </a:r>
          </a:p>
          <a:p>
            <a:r>
              <a:rPr lang="en-US" b="1" dirty="0">
                <a:solidFill>
                  <a:srgbClr val="7F7F7F"/>
                </a:solidFill>
              </a:rPr>
              <a:t>F</a:t>
            </a:r>
          </a:p>
          <a:p>
            <a:r>
              <a:rPr lang="en-US" b="1" dirty="0">
                <a:solidFill>
                  <a:srgbClr val="7F7F7F"/>
                </a:solidFill>
              </a:rPr>
              <a:t>O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1670050" y="1231900"/>
            <a:ext cx="358775" cy="1283732"/>
            <a:chOff x="1670050" y="2590800"/>
            <a:chExt cx="358775" cy="1283732"/>
          </a:xfrm>
        </p:grpSpPr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1670050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1670050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73" name="Rectangle 56"/>
            <p:cNvSpPr>
              <a:spLocks noChangeArrowheads="1"/>
            </p:cNvSpPr>
            <p:nvPr/>
          </p:nvSpPr>
          <p:spPr bwMode="auto">
            <a:xfrm>
              <a:off x="1670050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74" name="Text Box 96"/>
            <p:cNvSpPr txBox="1">
              <a:spLocks noChangeArrowheads="1"/>
            </p:cNvSpPr>
            <p:nvPr/>
          </p:nvSpPr>
          <p:spPr bwMode="auto">
            <a:xfrm>
              <a:off x="1700213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2408238" y="1231900"/>
            <a:ext cx="358775" cy="1283732"/>
            <a:chOff x="2408238" y="2590800"/>
            <a:chExt cx="358775" cy="1283732"/>
          </a:xfrm>
        </p:grpSpPr>
        <p:sp>
          <p:nvSpPr>
            <p:cNvPr id="76" name="Rectangle 58"/>
            <p:cNvSpPr>
              <a:spLocks noChangeArrowheads="1"/>
            </p:cNvSpPr>
            <p:nvPr/>
          </p:nvSpPr>
          <p:spPr bwMode="auto">
            <a:xfrm>
              <a:off x="2408238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77" name="Rectangle 59"/>
            <p:cNvSpPr>
              <a:spLocks noChangeArrowheads="1"/>
            </p:cNvSpPr>
            <p:nvPr/>
          </p:nvSpPr>
          <p:spPr bwMode="auto">
            <a:xfrm>
              <a:off x="2408238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78" name="Rectangle 60"/>
            <p:cNvSpPr>
              <a:spLocks noChangeArrowheads="1"/>
            </p:cNvSpPr>
            <p:nvPr/>
          </p:nvSpPr>
          <p:spPr bwMode="auto">
            <a:xfrm>
              <a:off x="2408238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79" name="Text Box 97"/>
            <p:cNvSpPr txBox="1">
              <a:spLocks noChangeArrowheads="1"/>
            </p:cNvSpPr>
            <p:nvPr/>
          </p:nvSpPr>
          <p:spPr bwMode="auto">
            <a:xfrm>
              <a:off x="2438400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3146425" y="1231900"/>
            <a:ext cx="358775" cy="1283732"/>
            <a:chOff x="3146425" y="2590800"/>
            <a:chExt cx="358775" cy="1283732"/>
          </a:xfrm>
        </p:grpSpPr>
        <p:sp>
          <p:nvSpPr>
            <p:cNvPr id="81" name="Rectangle 62"/>
            <p:cNvSpPr>
              <a:spLocks noChangeArrowheads="1"/>
            </p:cNvSpPr>
            <p:nvPr/>
          </p:nvSpPr>
          <p:spPr bwMode="auto">
            <a:xfrm>
              <a:off x="3146425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82" name="Rectangle 63"/>
            <p:cNvSpPr>
              <a:spLocks noChangeArrowheads="1"/>
            </p:cNvSpPr>
            <p:nvPr/>
          </p:nvSpPr>
          <p:spPr bwMode="auto">
            <a:xfrm>
              <a:off x="3146425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83" name="Rectangle 64"/>
            <p:cNvSpPr>
              <a:spLocks noChangeArrowheads="1"/>
            </p:cNvSpPr>
            <p:nvPr/>
          </p:nvSpPr>
          <p:spPr bwMode="auto">
            <a:xfrm>
              <a:off x="3146425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  <p:sp>
          <p:nvSpPr>
            <p:cNvPr id="84" name="Text Box 98"/>
            <p:cNvSpPr txBox="1">
              <a:spLocks noChangeArrowheads="1"/>
            </p:cNvSpPr>
            <p:nvPr/>
          </p:nvSpPr>
          <p:spPr bwMode="auto">
            <a:xfrm>
              <a:off x="3176588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3884613" y="1231900"/>
            <a:ext cx="358775" cy="1283732"/>
            <a:chOff x="3884613" y="2590800"/>
            <a:chExt cx="358775" cy="1283732"/>
          </a:xfrm>
        </p:grpSpPr>
        <p:sp>
          <p:nvSpPr>
            <p:cNvPr id="86" name="Rectangle 66"/>
            <p:cNvSpPr>
              <a:spLocks noChangeArrowheads="1"/>
            </p:cNvSpPr>
            <p:nvPr/>
          </p:nvSpPr>
          <p:spPr bwMode="auto">
            <a:xfrm>
              <a:off x="3884613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87" name="Rectangle 67"/>
            <p:cNvSpPr>
              <a:spLocks noChangeArrowheads="1"/>
            </p:cNvSpPr>
            <p:nvPr/>
          </p:nvSpPr>
          <p:spPr bwMode="auto">
            <a:xfrm>
              <a:off x="3884613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88" name="Rectangle 68"/>
            <p:cNvSpPr>
              <a:spLocks noChangeArrowheads="1"/>
            </p:cNvSpPr>
            <p:nvPr/>
          </p:nvSpPr>
          <p:spPr bwMode="auto">
            <a:xfrm>
              <a:off x="3884613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  <p:sp>
          <p:nvSpPr>
            <p:cNvPr id="89" name="Text Box 99"/>
            <p:cNvSpPr txBox="1">
              <a:spLocks noChangeArrowheads="1"/>
            </p:cNvSpPr>
            <p:nvPr/>
          </p:nvSpPr>
          <p:spPr bwMode="auto">
            <a:xfrm>
              <a:off x="3914775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4622800" y="1231900"/>
            <a:ext cx="358775" cy="1283732"/>
            <a:chOff x="4622800" y="2590800"/>
            <a:chExt cx="358775" cy="1283732"/>
          </a:xfrm>
        </p:grpSpPr>
        <p:sp>
          <p:nvSpPr>
            <p:cNvPr id="91" name="Rectangle 70"/>
            <p:cNvSpPr>
              <a:spLocks noChangeArrowheads="1"/>
            </p:cNvSpPr>
            <p:nvPr/>
          </p:nvSpPr>
          <p:spPr bwMode="auto">
            <a:xfrm>
              <a:off x="4622800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92" name="Rectangle 71"/>
            <p:cNvSpPr>
              <a:spLocks noChangeArrowheads="1"/>
            </p:cNvSpPr>
            <p:nvPr/>
          </p:nvSpPr>
          <p:spPr bwMode="auto">
            <a:xfrm>
              <a:off x="4622800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93" name="Rectangle 72"/>
            <p:cNvSpPr>
              <a:spLocks noChangeArrowheads="1"/>
            </p:cNvSpPr>
            <p:nvPr/>
          </p:nvSpPr>
          <p:spPr bwMode="auto">
            <a:xfrm>
              <a:off x="4622800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1</a:t>
              </a:r>
            </a:p>
          </p:txBody>
        </p:sp>
        <p:sp>
          <p:nvSpPr>
            <p:cNvPr id="94" name="Text Box 100"/>
            <p:cNvSpPr txBox="1">
              <a:spLocks noChangeArrowheads="1"/>
            </p:cNvSpPr>
            <p:nvPr/>
          </p:nvSpPr>
          <p:spPr bwMode="auto">
            <a:xfrm>
              <a:off x="4652963" y="3505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5360988" y="1231900"/>
            <a:ext cx="358775" cy="1283732"/>
            <a:chOff x="5360988" y="2590800"/>
            <a:chExt cx="358775" cy="1283732"/>
          </a:xfrm>
        </p:grpSpPr>
        <p:sp>
          <p:nvSpPr>
            <p:cNvPr id="96" name="Rectangle 74"/>
            <p:cNvSpPr>
              <a:spLocks noChangeArrowheads="1"/>
            </p:cNvSpPr>
            <p:nvPr/>
          </p:nvSpPr>
          <p:spPr bwMode="auto">
            <a:xfrm>
              <a:off x="5360988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97" name="Rectangle 75"/>
            <p:cNvSpPr>
              <a:spLocks noChangeArrowheads="1"/>
            </p:cNvSpPr>
            <p:nvPr/>
          </p:nvSpPr>
          <p:spPr bwMode="auto">
            <a:xfrm>
              <a:off x="5360988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98" name="Rectangle 76"/>
            <p:cNvSpPr>
              <a:spLocks noChangeArrowheads="1"/>
            </p:cNvSpPr>
            <p:nvPr/>
          </p:nvSpPr>
          <p:spPr bwMode="auto">
            <a:xfrm>
              <a:off x="5360988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99" name="Text Box 101"/>
            <p:cNvSpPr txBox="1">
              <a:spLocks noChangeArrowheads="1"/>
            </p:cNvSpPr>
            <p:nvPr/>
          </p:nvSpPr>
          <p:spPr bwMode="auto">
            <a:xfrm>
              <a:off x="5391150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6099175" y="1231900"/>
            <a:ext cx="358775" cy="1283732"/>
            <a:chOff x="6099175" y="2590800"/>
            <a:chExt cx="358775" cy="1283732"/>
          </a:xfrm>
        </p:grpSpPr>
        <p:sp>
          <p:nvSpPr>
            <p:cNvPr id="101" name="Rectangle 78"/>
            <p:cNvSpPr>
              <a:spLocks noChangeArrowheads="1"/>
            </p:cNvSpPr>
            <p:nvPr/>
          </p:nvSpPr>
          <p:spPr bwMode="auto">
            <a:xfrm>
              <a:off x="6099175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102" name="Rectangle 79"/>
            <p:cNvSpPr>
              <a:spLocks noChangeArrowheads="1"/>
            </p:cNvSpPr>
            <p:nvPr/>
          </p:nvSpPr>
          <p:spPr bwMode="auto">
            <a:xfrm>
              <a:off x="6099175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103" name="Rectangle 80"/>
            <p:cNvSpPr>
              <a:spLocks noChangeArrowheads="1"/>
            </p:cNvSpPr>
            <p:nvPr/>
          </p:nvSpPr>
          <p:spPr bwMode="auto">
            <a:xfrm>
              <a:off x="6099175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104" name="Text Box 102"/>
            <p:cNvSpPr txBox="1">
              <a:spLocks noChangeArrowheads="1"/>
            </p:cNvSpPr>
            <p:nvPr/>
          </p:nvSpPr>
          <p:spPr bwMode="auto">
            <a:xfrm>
              <a:off x="6129338" y="3505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6837363" y="1231900"/>
            <a:ext cx="358775" cy="1283732"/>
            <a:chOff x="6837363" y="2590800"/>
            <a:chExt cx="358775" cy="1283732"/>
          </a:xfrm>
        </p:grpSpPr>
        <p:sp>
          <p:nvSpPr>
            <p:cNvPr id="106" name="Rectangle 82"/>
            <p:cNvSpPr>
              <a:spLocks noChangeArrowheads="1"/>
            </p:cNvSpPr>
            <p:nvPr/>
          </p:nvSpPr>
          <p:spPr bwMode="auto">
            <a:xfrm>
              <a:off x="6837363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107" name="Rectangle 83"/>
            <p:cNvSpPr>
              <a:spLocks noChangeArrowheads="1"/>
            </p:cNvSpPr>
            <p:nvPr/>
          </p:nvSpPr>
          <p:spPr bwMode="auto">
            <a:xfrm>
              <a:off x="6837363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108" name="Rectangle 84"/>
            <p:cNvSpPr>
              <a:spLocks noChangeArrowheads="1"/>
            </p:cNvSpPr>
            <p:nvPr/>
          </p:nvSpPr>
          <p:spPr bwMode="auto">
            <a:xfrm>
              <a:off x="6837363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109" name="Text Box 103"/>
            <p:cNvSpPr txBox="1">
              <a:spLocks noChangeArrowheads="1"/>
            </p:cNvSpPr>
            <p:nvPr/>
          </p:nvSpPr>
          <p:spPr bwMode="auto">
            <a:xfrm>
              <a:off x="6867525" y="3505200"/>
              <a:ext cx="31290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y</a:t>
              </a:r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7575550" y="1231900"/>
            <a:ext cx="358775" cy="1283732"/>
            <a:chOff x="7575550" y="2590800"/>
            <a:chExt cx="358775" cy="1283732"/>
          </a:xfrm>
        </p:grpSpPr>
        <p:sp>
          <p:nvSpPr>
            <p:cNvPr id="111" name="Rectangle 86"/>
            <p:cNvSpPr>
              <a:spLocks noChangeArrowheads="1"/>
            </p:cNvSpPr>
            <p:nvPr/>
          </p:nvSpPr>
          <p:spPr bwMode="auto">
            <a:xfrm>
              <a:off x="7575550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112" name="Rectangle 87"/>
            <p:cNvSpPr>
              <a:spLocks noChangeArrowheads="1"/>
            </p:cNvSpPr>
            <p:nvPr/>
          </p:nvSpPr>
          <p:spPr bwMode="auto">
            <a:xfrm>
              <a:off x="7575550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113" name="Rectangle 88"/>
            <p:cNvSpPr>
              <a:spLocks noChangeArrowheads="1"/>
            </p:cNvSpPr>
            <p:nvPr/>
          </p:nvSpPr>
          <p:spPr bwMode="auto">
            <a:xfrm>
              <a:off x="7575550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114" name="Text Box 104"/>
            <p:cNvSpPr txBox="1">
              <a:spLocks noChangeArrowheads="1"/>
            </p:cNvSpPr>
            <p:nvPr/>
          </p:nvSpPr>
          <p:spPr bwMode="auto">
            <a:xfrm>
              <a:off x="7605713" y="3505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</p:grpSp>
      <p:grpSp>
        <p:nvGrpSpPr>
          <p:cNvPr id="115" name="Group 114"/>
          <p:cNvGrpSpPr/>
          <p:nvPr/>
        </p:nvGrpSpPr>
        <p:grpSpPr>
          <a:xfrm>
            <a:off x="8313738" y="1231900"/>
            <a:ext cx="358775" cy="1283732"/>
            <a:chOff x="8313738" y="2590800"/>
            <a:chExt cx="358775" cy="1283732"/>
          </a:xfrm>
        </p:grpSpPr>
        <p:sp>
          <p:nvSpPr>
            <p:cNvPr id="116" name="Rectangle 90"/>
            <p:cNvSpPr>
              <a:spLocks noChangeArrowheads="1"/>
            </p:cNvSpPr>
            <p:nvPr/>
          </p:nvSpPr>
          <p:spPr bwMode="auto">
            <a:xfrm>
              <a:off x="8313738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117" name="Rectangle 91"/>
            <p:cNvSpPr>
              <a:spLocks noChangeArrowheads="1"/>
            </p:cNvSpPr>
            <p:nvPr/>
          </p:nvSpPr>
          <p:spPr bwMode="auto">
            <a:xfrm>
              <a:off x="8313738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118" name="Rectangle 92"/>
            <p:cNvSpPr>
              <a:spLocks noChangeArrowheads="1"/>
            </p:cNvSpPr>
            <p:nvPr/>
          </p:nvSpPr>
          <p:spPr bwMode="auto">
            <a:xfrm>
              <a:off x="8313738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119" name="Text Box 105"/>
            <p:cNvSpPr txBox="1">
              <a:spLocks noChangeArrowheads="1"/>
            </p:cNvSpPr>
            <p:nvPr/>
          </p:nvSpPr>
          <p:spPr bwMode="auto">
            <a:xfrm>
              <a:off x="8343900" y="3505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</p:grpSp>
      <p:sp>
        <p:nvSpPr>
          <p:cNvPr id="120" name="Oval 119"/>
          <p:cNvSpPr/>
          <p:nvPr/>
        </p:nvSpPr>
        <p:spPr>
          <a:xfrm>
            <a:off x="1670050" y="32131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/>
          <p:nvPr/>
        </p:nvSpPr>
        <p:spPr>
          <a:xfrm>
            <a:off x="2393950" y="35306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/>
          <p:cNvSpPr/>
          <p:nvPr/>
        </p:nvSpPr>
        <p:spPr>
          <a:xfrm>
            <a:off x="3155950" y="38354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/>
          <p:nvPr/>
        </p:nvSpPr>
        <p:spPr>
          <a:xfrm>
            <a:off x="3879850" y="32258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5353050" y="35433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6089650" y="38354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6851650" y="32258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7575550" y="35433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8299450" y="38608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1657350" y="12446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2393950" y="15494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>
            <a:off x="3130550" y="18542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>
            <a:off x="3879850" y="12446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5353050" y="18415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/>
          <p:cNvSpPr/>
          <p:nvPr/>
        </p:nvSpPr>
        <p:spPr>
          <a:xfrm>
            <a:off x="6838950" y="15367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/>
          <p:cNvSpPr txBox="1"/>
          <p:nvPr/>
        </p:nvSpPr>
        <p:spPr>
          <a:xfrm>
            <a:off x="215900" y="1231900"/>
            <a:ext cx="1059192" cy="369332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3366FF"/>
                </a:solidFill>
              </a:rPr>
              <a:t>pfr</a:t>
            </a:r>
            <a:r>
              <a:rPr lang="en-US" dirty="0">
                <a:solidFill>
                  <a:srgbClr val="3366FF"/>
                </a:solidFill>
              </a:rPr>
              <a:t>= 6/10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8977" y="3784600"/>
            <a:ext cx="1059192" cy="369332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3366FF"/>
                </a:solidFill>
              </a:rPr>
              <a:t>pfr</a:t>
            </a:r>
            <a:r>
              <a:rPr lang="en-US" dirty="0">
                <a:solidFill>
                  <a:srgbClr val="3366FF"/>
                </a:solidFill>
              </a:rPr>
              <a:t>= 9/10</a:t>
            </a:r>
          </a:p>
        </p:txBody>
      </p:sp>
      <p:sp>
        <p:nvSpPr>
          <p:cNvPr id="137" name="Oval 136"/>
          <p:cNvSpPr/>
          <p:nvPr/>
        </p:nvSpPr>
        <p:spPr>
          <a:xfrm>
            <a:off x="4616529" y="4149725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4616529" y="2211864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6069136" y="2211864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7585243" y="2211864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8309143" y="2211864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/>
          <p:cNvSpPr txBox="1"/>
          <p:nvPr/>
        </p:nvSpPr>
        <p:spPr>
          <a:xfrm>
            <a:off x="63500" y="4775200"/>
            <a:ext cx="8917826" cy="17543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Optimal (OPT) delivers the minimal page fault rate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But,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OPTcannot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be implemented as </a:t>
            </a:r>
            <a:r>
              <a:rPr lang="en-US" b="1" dirty="0">
                <a:solidFill>
                  <a:srgbClr val="3366FF"/>
                </a:solidFill>
              </a:rPr>
              <a:t>future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references cannot be predicted with certainty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to do?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 the fact that programs, in general, exhibits a good temporal locality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Recall: temporal locality means that an item just referenced will referenced soon.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rule translates into: replace the </a:t>
            </a:r>
            <a:r>
              <a:rPr lang="en-US" dirty="0">
                <a:solidFill>
                  <a:srgbClr val="3366FF"/>
                </a:solidFill>
              </a:rPr>
              <a:t>Least Recently Used (</a:t>
            </a:r>
            <a:r>
              <a:rPr lang="en-US" b="1" dirty="0">
                <a:solidFill>
                  <a:srgbClr val="3366FF"/>
                </a:solidFill>
              </a:rPr>
              <a:t>LRU</a:t>
            </a:r>
            <a:r>
              <a:rPr lang="en-US" dirty="0">
                <a:solidFill>
                  <a:srgbClr val="3366FF"/>
                </a:solidFill>
              </a:rPr>
              <a:t>)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page in the </a:t>
            </a:r>
            <a:r>
              <a:rPr lang="en-US" b="1" dirty="0">
                <a:solidFill>
                  <a:srgbClr val="3366FF"/>
                </a:solidFill>
              </a:rPr>
              <a:t>past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cxnSp>
        <p:nvCxnSpPr>
          <p:cNvPr id="143" name="Straight Connector 142"/>
          <p:cNvCxnSpPr/>
          <p:nvPr/>
        </p:nvCxnSpPr>
        <p:spPr>
          <a:xfrm>
            <a:off x="1371600" y="2997200"/>
            <a:ext cx="7391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64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13051" y="972312"/>
            <a:ext cx="5898734" cy="3180588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is LRU?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LRU approximates OPTIMAL policy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Implementation of strict LRU is cumbersome</a:t>
            </a:r>
            <a:r>
              <a:rPr lang="mr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Look at approximate implementation of LRU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>
                <a:solidFill>
                  <a:srgbClr val="0000FF"/>
                </a:solidFill>
              </a:rPr>
              <a:t>Read Sections 8.4.4-8.4.5</a:t>
            </a:r>
            <a:endParaRPr lang="en-US" dirty="0">
              <a:solidFill>
                <a:srgbClr val="0000FF"/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Recently Used</a:t>
            </a:r>
          </a:p>
        </p:txBody>
      </p:sp>
    </p:spTree>
    <p:extLst>
      <p:ext uri="{BB962C8B-B14F-4D97-AF65-F5344CB8AC3E}">
        <p14:creationId xmlns:p14="http://schemas.microsoft.com/office/powerpoint/2010/main" val="273648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6DFD208C-B459-7541-9742-93653BC49048}" type="slidenum">
              <a:rPr lang="en-US">
                <a:solidFill>
                  <a:srgbClr val="7F7F7F"/>
                </a:solidFill>
              </a:rPr>
              <a:pPr algn="r"/>
              <a:t>26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0200" y="266700"/>
            <a:ext cx="7772400" cy="571500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Least Recently Used (LRU)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701800"/>
            <a:ext cx="7772400" cy="4114800"/>
          </a:xfrm>
        </p:spPr>
        <p:txBody>
          <a:bodyPr/>
          <a:lstStyle/>
          <a:p>
            <a:r>
              <a:rPr lang="en-US" sz="2000" dirty="0">
                <a:solidFill>
                  <a:srgbClr val="7F7F7F"/>
                </a:solidFill>
              </a:rPr>
              <a:t>OPT needs the knowledge of future references</a:t>
            </a:r>
          </a:p>
          <a:p>
            <a:endParaRPr lang="en-US" sz="2000" dirty="0">
              <a:solidFill>
                <a:srgbClr val="7F7F7F"/>
              </a:solidFill>
            </a:endParaRPr>
          </a:p>
          <a:p>
            <a:r>
              <a:rPr lang="en-US" sz="2000" dirty="0">
                <a:solidFill>
                  <a:srgbClr val="7F7F7F"/>
                </a:solidFill>
              </a:rPr>
              <a:t>Reasonable Assumption:</a:t>
            </a:r>
          </a:p>
          <a:p>
            <a:pPr lvl="1"/>
            <a:r>
              <a:rPr lang="en-US" sz="2000" dirty="0">
                <a:solidFill>
                  <a:srgbClr val="7F7F7F"/>
                </a:solidFill>
              </a:rPr>
              <a:t>If good temporal locality then  a page recently used  is likely to be used in the near future.</a:t>
            </a:r>
          </a:p>
          <a:p>
            <a:pPr lvl="1"/>
            <a:r>
              <a:rPr lang="en-US" sz="2000" dirty="0">
                <a:solidFill>
                  <a:srgbClr val="7F7F7F"/>
                </a:solidFill>
              </a:rPr>
              <a:t>A page unused recently is unlikely to be used in the near future.</a:t>
            </a:r>
          </a:p>
          <a:p>
            <a:pPr lvl="1"/>
            <a:endParaRPr lang="en-US" sz="2000" dirty="0">
              <a:solidFill>
                <a:srgbClr val="7F7F7F"/>
              </a:solidFill>
            </a:endParaRPr>
          </a:p>
          <a:p>
            <a:r>
              <a:rPr lang="en-US" sz="2300" dirty="0">
                <a:solidFill>
                  <a:srgbClr val="7F7F7F"/>
                </a:solidFill>
              </a:rPr>
              <a:t>This assumption leads to a good </a:t>
            </a:r>
            <a:r>
              <a:rPr lang="en-US" sz="2300" b="1" dirty="0">
                <a:solidFill>
                  <a:srgbClr val="3366FF"/>
                </a:solidFill>
              </a:rPr>
              <a:t>solution approximation</a:t>
            </a:r>
            <a:endParaRPr lang="en-US" sz="2300" dirty="0">
              <a:solidFill>
                <a:srgbClr val="7F7F7F"/>
              </a:solidFill>
            </a:endParaRPr>
          </a:p>
          <a:p>
            <a:endParaRPr lang="en-US" sz="2300" dirty="0">
              <a:solidFill>
                <a:srgbClr val="7F7F7F"/>
              </a:solidFill>
            </a:endParaRPr>
          </a:p>
          <a:p>
            <a:r>
              <a:rPr lang="en-US" sz="2000" dirty="0">
                <a:solidFill>
                  <a:srgbClr val="7F7F7F"/>
                </a:solidFill>
              </a:rPr>
              <a:t>The </a:t>
            </a:r>
            <a:r>
              <a:rPr lang="en-US" sz="2000" b="1" dirty="0">
                <a:solidFill>
                  <a:srgbClr val="3366FF"/>
                </a:solidFill>
              </a:rPr>
              <a:t>Least Recently Used Algorithm (LRU)</a:t>
            </a:r>
            <a:r>
              <a:rPr lang="en-US" sz="2000" dirty="0">
                <a:solidFill>
                  <a:srgbClr val="7F7F7F"/>
                </a:solidFill>
              </a:rPr>
              <a:t>:</a:t>
            </a:r>
          </a:p>
          <a:p>
            <a:pPr lvl="1"/>
            <a:r>
              <a:rPr lang="en-US" sz="2000" dirty="0">
                <a:solidFill>
                  <a:srgbClr val="7F7F7F"/>
                </a:solidFill>
              </a:rPr>
              <a:t>Replace the page that has not been used for the longest period.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bldLvl="2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pPr algn="r"/>
            <a:fld id="{F8BE2734-D794-F14A-A08E-1CC54C74DB2E}" type="slidenum">
              <a:rPr lang="en-US">
                <a:solidFill>
                  <a:srgbClr val="7F7F7F"/>
                </a:solidFill>
              </a:rPr>
              <a:pPr algn="r"/>
              <a:t>27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OPT versus LRU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695450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7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670050" y="3213100"/>
            <a:ext cx="358775" cy="1232932"/>
            <a:chOff x="1670050" y="4800600"/>
            <a:chExt cx="358775" cy="1232932"/>
          </a:xfrm>
        </p:grpSpPr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1695450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1670050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1670050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1670050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</p:grp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2433638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0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408238" y="3213100"/>
            <a:ext cx="358775" cy="1232932"/>
            <a:chOff x="2408238" y="4800600"/>
            <a:chExt cx="358775" cy="1232932"/>
          </a:xfrm>
        </p:grpSpPr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2433638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2408238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2408238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2408238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</p:grp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3171825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1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146425" y="3213100"/>
            <a:ext cx="358775" cy="1232932"/>
            <a:chOff x="3146425" y="4800600"/>
            <a:chExt cx="358775" cy="1232932"/>
          </a:xfrm>
        </p:grpSpPr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3171825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3146425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23" name="Rectangle 16"/>
            <p:cNvSpPr>
              <a:spLocks noChangeArrowheads="1"/>
            </p:cNvSpPr>
            <p:nvPr/>
          </p:nvSpPr>
          <p:spPr bwMode="auto">
            <a:xfrm>
              <a:off x="3146425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24" name="Rectangle 17"/>
            <p:cNvSpPr>
              <a:spLocks noChangeArrowheads="1"/>
            </p:cNvSpPr>
            <p:nvPr/>
          </p:nvSpPr>
          <p:spPr bwMode="auto">
            <a:xfrm>
              <a:off x="3146425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3910013" y="26035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2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3884613" y="3213100"/>
            <a:ext cx="358775" cy="1232932"/>
            <a:chOff x="3884613" y="4800600"/>
            <a:chExt cx="358775" cy="1232932"/>
          </a:xfrm>
        </p:grpSpPr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>
              <a:off x="3910013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28" name="Rectangle 20"/>
            <p:cNvSpPr>
              <a:spLocks noChangeArrowheads="1"/>
            </p:cNvSpPr>
            <p:nvPr/>
          </p:nvSpPr>
          <p:spPr bwMode="auto">
            <a:xfrm>
              <a:off x="3884613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29" name="Rectangle 21"/>
            <p:cNvSpPr>
              <a:spLocks noChangeArrowheads="1"/>
            </p:cNvSpPr>
            <p:nvPr/>
          </p:nvSpPr>
          <p:spPr bwMode="auto">
            <a:xfrm>
              <a:off x="3884613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30" name="Rectangle 22"/>
            <p:cNvSpPr>
              <a:spLocks noChangeArrowheads="1"/>
            </p:cNvSpPr>
            <p:nvPr/>
          </p:nvSpPr>
          <p:spPr bwMode="auto">
            <a:xfrm>
              <a:off x="3884613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31" name="Text Box 23"/>
          <p:cNvSpPr txBox="1">
            <a:spLocks noChangeArrowheads="1"/>
          </p:cNvSpPr>
          <p:nvPr/>
        </p:nvSpPr>
        <p:spPr bwMode="auto">
          <a:xfrm>
            <a:off x="4648200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0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4622800" y="3213100"/>
            <a:ext cx="358775" cy="1232932"/>
            <a:chOff x="4622800" y="4800600"/>
            <a:chExt cx="358775" cy="1232932"/>
          </a:xfrm>
        </p:grpSpPr>
        <p:sp>
          <p:nvSpPr>
            <p:cNvPr id="33" name="Text Box 24"/>
            <p:cNvSpPr txBox="1">
              <a:spLocks noChangeArrowheads="1"/>
            </p:cNvSpPr>
            <p:nvPr/>
          </p:nvSpPr>
          <p:spPr bwMode="auto">
            <a:xfrm>
              <a:off x="4648200" y="5664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  <p:sp>
          <p:nvSpPr>
            <p:cNvPr id="34" name="Rectangle 25"/>
            <p:cNvSpPr>
              <a:spLocks noChangeArrowheads="1"/>
            </p:cNvSpPr>
            <p:nvPr/>
          </p:nvSpPr>
          <p:spPr bwMode="auto">
            <a:xfrm>
              <a:off x="4622800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35" name="Rectangle 26"/>
            <p:cNvSpPr>
              <a:spLocks noChangeArrowheads="1"/>
            </p:cNvSpPr>
            <p:nvPr/>
          </p:nvSpPr>
          <p:spPr bwMode="auto">
            <a:xfrm>
              <a:off x="4622800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36" name="Rectangle 27"/>
            <p:cNvSpPr>
              <a:spLocks noChangeArrowheads="1"/>
            </p:cNvSpPr>
            <p:nvPr/>
          </p:nvSpPr>
          <p:spPr bwMode="auto">
            <a:xfrm>
              <a:off x="4622800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37" name="Text Box 28"/>
          <p:cNvSpPr txBox="1">
            <a:spLocks noChangeArrowheads="1"/>
          </p:cNvSpPr>
          <p:nvPr/>
        </p:nvSpPr>
        <p:spPr bwMode="auto">
          <a:xfrm>
            <a:off x="5386388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3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5360988" y="3213100"/>
            <a:ext cx="358775" cy="1232932"/>
            <a:chOff x="5360988" y="4800600"/>
            <a:chExt cx="358775" cy="1232932"/>
          </a:xfrm>
        </p:grpSpPr>
        <p:sp>
          <p:nvSpPr>
            <p:cNvPr id="39" name="Text Box 29"/>
            <p:cNvSpPr txBox="1">
              <a:spLocks noChangeArrowheads="1"/>
            </p:cNvSpPr>
            <p:nvPr/>
          </p:nvSpPr>
          <p:spPr bwMode="auto">
            <a:xfrm>
              <a:off x="5386388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40" name="Rectangle 30"/>
            <p:cNvSpPr>
              <a:spLocks noChangeArrowheads="1"/>
            </p:cNvSpPr>
            <p:nvPr/>
          </p:nvSpPr>
          <p:spPr bwMode="auto">
            <a:xfrm>
              <a:off x="5360988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41" name="Rectangle 31"/>
            <p:cNvSpPr>
              <a:spLocks noChangeArrowheads="1"/>
            </p:cNvSpPr>
            <p:nvPr/>
          </p:nvSpPr>
          <p:spPr bwMode="auto">
            <a:xfrm>
              <a:off x="5360988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42" name="Rectangle 32"/>
            <p:cNvSpPr>
              <a:spLocks noChangeArrowheads="1"/>
            </p:cNvSpPr>
            <p:nvPr/>
          </p:nvSpPr>
          <p:spPr bwMode="auto">
            <a:xfrm>
              <a:off x="5360988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3</a:t>
              </a:r>
            </a:p>
          </p:txBody>
        </p:sp>
      </p:grpSp>
      <p:sp>
        <p:nvSpPr>
          <p:cNvPr id="43" name="Text Box 33"/>
          <p:cNvSpPr txBox="1">
            <a:spLocks noChangeArrowheads="1"/>
          </p:cNvSpPr>
          <p:nvPr/>
        </p:nvSpPr>
        <p:spPr bwMode="auto">
          <a:xfrm>
            <a:off x="6124575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0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099175" y="3213100"/>
            <a:ext cx="358775" cy="1232932"/>
            <a:chOff x="6099175" y="4800600"/>
            <a:chExt cx="358775" cy="1232932"/>
          </a:xfrm>
        </p:grpSpPr>
        <p:sp>
          <p:nvSpPr>
            <p:cNvPr id="45" name="Text Box 34"/>
            <p:cNvSpPr txBox="1">
              <a:spLocks noChangeArrowheads="1"/>
            </p:cNvSpPr>
            <p:nvPr/>
          </p:nvSpPr>
          <p:spPr bwMode="auto">
            <a:xfrm>
              <a:off x="6124575" y="5664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  <p:sp>
          <p:nvSpPr>
            <p:cNvPr id="46" name="Rectangle 35"/>
            <p:cNvSpPr>
              <a:spLocks noChangeArrowheads="1"/>
            </p:cNvSpPr>
            <p:nvPr/>
          </p:nvSpPr>
          <p:spPr bwMode="auto">
            <a:xfrm>
              <a:off x="6099175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47" name="Rectangle 36"/>
            <p:cNvSpPr>
              <a:spLocks noChangeArrowheads="1"/>
            </p:cNvSpPr>
            <p:nvPr/>
          </p:nvSpPr>
          <p:spPr bwMode="auto">
            <a:xfrm>
              <a:off x="6099175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48" name="Rectangle 37"/>
            <p:cNvSpPr>
              <a:spLocks noChangeArrowheads="1"/>
            </p:cNvSpPr>
            <p:nvPr/>
          </p:nvSpPr>
          <p:spPr bwMode="auto">
            <a:xfrm>
              <a:off x="6099175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3</a:t>
              </a:r>
            </a:p>
          </p:txBody>
        </p:sp>
      </p:grpSp>
      <p:sp>
        <p:nvSpPr>
          <p:cNvPr id="49" name="Text Box 38"/>
          <p:cNvSpPr txBox="1">
            <a:spLocks noChangeArrowheads="1"/>
          </p:cNvSpPr>
          <p:nvPr/>
        </p:nvSpPr>
        <p:spPr bwMode="auto">
          <a:xfrm>
            <a:off x="6862763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4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6837363" y="3213100"/>
            <a:ext cx="358775" cy="1232932"/>
            <a:chOff x="6837363" y="4800600"/>
            <a:chExt cx="358775" cy="1232932"/>
          </a:xfrm>
        </p:grpSpPr>
        <p:sp>
          <p:nvSpPr>
            <p:cNvPr id="51" name="Text Box 39"/>
            <p:cNvSpPr txBox="1">
              <a:spLocks noChangeArrowheads="1"/>
            </p:cNvSpPr>
            <p:nvPr/>
          </p:nvSpPr>
          <p:spPr bwMode="auto">
            <a:xfrm>
              <a:off x="6862763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52" name="Rectangle 40"/>
            <p:cNvSpPr>
              <a:spLocks noChangeArrowheads="1"/>
            </p:cNvSpPr>
            <p:nvPr/>
          </p:nvSpPr>
          <p:spPr bwMode="auto">
            <a:xfrm>
              <a:off x="6837363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53" name="Rectangle 41"/>
            <p:cNvSpPr>
              <a:spLocks noChangeArrowheads="1"/>
            </p:cNvSpPr>
            <p:nvPr/>
          </p:nvSpPr>
          <p:spPr bwMode="auto">
            <a:xfrm>
              <a:off x="6837363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54" name="Rectangle 42"/>
            <p:cNvSpPr>
              <a:spLocks noChangeArrowheads="1"/>
            </p:cNvSpPr>
            <p:nvPr/>
          </p:nvSpPr>
          <p:spPr bwMode="auto">
            <a:xfrm>
              <a:off x="6837363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3</a:t>
              </a:r>
            </a:p>
          </p:txBody>
        </p:sp>
      </p:grpSp>
      <p:sp>
        <p:nvSpPr>
          <p:cNvPr id="55" name="Text Box 43"/>
          <p:cNvSpPr txBox="1">
            <a:spLocks noChangeArrowheads="1"/>
          </p:cNvSpPr>
          <p:nvPr/>
        </p:nvSpPr>
        <p:spPr bwMode="auto">
          <a:xfrm>
            <a:off x="7600950" y="26035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2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7575550" y="3213100"/>
            <a:ext cx="358775" cy="1232932"/>
            <a:chOff x="7575550" y="4800600"/>
            <a:chExt cx="358775" cy="1232932"/>
          </a:xfrm>
        </p:grpSpPr>
        <p:sp>
          <p:nvSpPr>
            <p:cNvPr id="57" name="Text Box 44"/>
            <p:cNvSpPr txBox="1">
              <a:spLocks noChangeArrowheads="1"/>
            </p:cNvSpPr>
            <p:nvPr/>
          </p:nvSpPr>
          <p:spPr bwMode="auto">
            <a:xfrm>
              <a:off x="7600950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58" name="Rectangle 45"/>
            <p:cNvSpPr>
              <a:spLocks noChangeArrowheads="1"/>
            </p:cNvSpPr>
            <p:nvPr/>
          </p:nvSpPr>
          <p:spPr bwMode="auto">
            <a:xfrm>
              <a:off x="7575550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7575550" y="51181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60" name="Rectangle 47"/>
            <p:cNvSpPr>
              <a:spLocks noChangeArrowheads="1"/>
            </p:cNvSpPr>
            <p:nvPr/>
          </p:nvSpPr>
          <p:spPr bwMode="auto">
            <a:xfrm>
              <a:off x="7575550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2</a:t>
              </a:r>
            </a:p>
          </p:txBody>
        </p:sp>
      </p:grpSp>
      <p:sp>
        <p:nvSpPr>
          <p:cNvPr id="61" name="Text Box 48"/>
          <p:cNvSpPr txBox="1">
            <a:spLocks noChangeArrowheads="1"/>
          </p:cNvSpPr>
          <p:nvPr/>
        </p:nvSpPr>
        <p:spPr bwMode="auto">
          <a:xfrm>
            <a:off x="8339138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3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8313738" y="3213100"/>
            <a:ext cx="358775" cy="1232932"/>
            <a:chOff x="8313738" y="4800600"/>
            <a:chExt cx="358775" cy="1232932"/>
          </a:xfrm>
        </p:grpSpPr>
        <p:sp>
          <p:nvSpPr>
            <p:cNvPr id="63" name="Text Box 49"/>
            <p:cNvSpPr txBox="1">
              <a:spLocks noChangeArrowheads="1"/>
            </p:cNvSpPr>
            <p:nvPr/>
          </p:nvSpPr>
          <p:spPr bwMode="auto">
            <a:xfrm>
              <a:off x="8339138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64" name="Rectangle 50"/>
            <p:cNvSpPr>
              <a:spLocks noChangeArrowheads="1"/>
            </p:cNvSpPr>
            <p:nvPr/>
          </p:nvSpPr>
          <p:spPr bwMode="auto">
            <a:xfrm>
              <a:off x="8313738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65" name="Rectangle 51"/>
            <p:cNvSpPr>
              <a:spLocks noChangeArrowheads="1"/>
            </p:cNvSpPr>
            <p:nvPr/>
          </p:nvSpPr>
          <p:spPr bwMode="auto">
            <a:xfrm>
              <a:off x="8313738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66" name="Rectangle 52"/>
            <p:cNvSpPr>
              <a:spLocks noChangeArrowheads="1"/>
            </p:cNvSpPr>
            <p:nvPr/>
          </p:nvSpPr>
          <p:spPr bwMode="auto">
            <a:xfrm>
              <a:off x="8313738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2</a:t>
              </a:r>
            </a:p>
          </p:txBody>
        </p:sp>
      </p:grpSp>
      <p:sp>
        <p:nvSpPr>
          <p:cNvPr id="67" name="Rectangle 93"/>
          <p:cNvSpPr>
            <a:spLocks noChangeArrowheads="1"/>
          </p:cNvSpPr>
          <p:nvPr/>
        </p:nvSpPr>
        <p:spPr bwMode="auto">
          <a:xfrm>
            <a:off x="1371600" y="1080532"/>
            <a:ext cx="7391400" cy="15229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7F7F7F"/>
              </a:solidFill>
            </a:endParaRPr>
          </a:p>
        </p:txBody>
      </p:sp>
      <p:sp>
        <p:nvSpPr>
          <p:cNvPr id="68" name="Rectangle 94"/>
          <p:cNvSpPr>
            <a:spLocks noChangeArrowheads="1"/>
          </p:cNvSpPr>
          <p:nvPr/>
        </p:nvSpPr>
        <p:spPr bwMode="auto">
          <a:xfrm>
            <a:off x="1371600" y="2603500"/>
            <a:ext cx="7391400" cy="195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7F7F7F"/>
              </a:solidFill>
            </a:endParaRPr>
          </a:p>
        </p:txBody>
      </p:sp>
      <p:sp>
        <p:nvSpPr>
          <p:cNvPr id="69" name="Text Box 95"/>
          <p:cNvSpPr txBox="1">
            <a:spLocks noChangeArrowheads="1"/>
          </p:cNvSpPr>
          <p:nvPr/>
        </p:nvSpPr>
        <p:spPr bwMode="auto">
          <a:xfrm>
            <a:off x="1101725" y="1635125"/>
            <a:ext cx="38664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7F7F7F"/>
                </a:solidFill>
              </a:rPr>
              <a:t>O</a:t>
            </a:r>
          </a:p>
          <a:p>
            <a:r>
              <a:rPr lang="en-US" b="1" dirty="0">
                <a:solidFill>
                  <a:srgbClr val="7F7F7F"/>
                </a:solidFill>
              </a:rPr>
              <a:t>P</a:t>
            </a:r>
          </a:p>
          <a:p>
            <a:r>
              <a:rPr lang="en-US" b="1" dirty="0">
                <a:solidFill>
                  <a:srgbClr val="7F7F7F"/>
                </a:solidFill>
              </a:rPr>
              <a:t>T</a:t>
            </a:r>
          </a:p>
          <a:p>
            <a:endParaRPr lang="en-US" b="1" dirty="0">
              <a:solidFill>
                <a:srgbClr val="7F7F7F"/>
              </a:solidFill>
            </a:endParaRPr>
          </a:p>
          <a:p>
            <a:endParaRPr lang="en-US" b="1" dirty="0">
              <a:solidFill>
                <a:srgbClr val="7F7F7F"/>
              </a:solidFill>
            </a:endParaRPr>
          </a:p>
          <a:p>
            <a:endParaRPr lang="en-US" b="1" dirty="0">
              <a:solidFill>
                <a:srgbClr val="7F7F7F"/>
              </a:solidFill>
            </a:endParaRPr>
          </a:p>
          <a:p>
            <a:r>
              <a:rPr lang="en-US" b="1" dirty="0">
                <a:solidFill>
                  <a:srgbClr val="7F7F7F"/>
                </a:solidFill>
              </a:rPr>
              <a:t>L</a:t>
            </a:r>
          </a:p>
          <a:p>
            <a:r>
              <a:rPr lang="en-US" b="1" dirty="0">
                <a:solidFill>
                  <a:srgbClr val="7F7F7F"/>
                </a:solidFill>
              </a:rPr>
              <a:t>R</a:t>
            </a:r>
          </a:p>
          <a:p>
            <a:r>
              <a:rPr lang="en-US" b="1" dirty="0">
                <a:solidFill>
                  <a:srgbClr val="7F7F7F"/>
                </a:solidFill>
              </a:rPr>
              <a:t>U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1670050" y="1231900"/>
            <a:ext cx="358775" cy="1283732"/>
            <a:chOff x="1670050" y="2590800"/>
            <a:chExt cx="358775" cy="1283732"/>
          </a:xfrm>
        </p:grpSpPr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1670050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1670050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73" name="Rectangle 56"/>
            <p:cNvSpPr>
              <a:spLocks noChangeArrowheads="1"/>
            </p:cNvSpPr>
            <p:nvPr/>
          </p:nvSpPr>
          <p:spPr bwMode="auto">
            <a:xfrm>
              <a:off x="1670050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74" name="Text Box 96"/>
            <p:cNvSpPr txBox="1">
              <a:spLocks noChangeArrowheads="1"/>
            </p:cNvSpPr>
            <p:nvPr/>
          </p:nvSpPr>
          <p:spPr bwMode="auto">
            <a:xfrm>
              <a:off x="1700213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2408238" y="1231900"/>
            <a:ext cx="358775" cy="1283732"/>
            <a:chOff x="2408238" y="2590800"/>
            <a:chExt cx="358775" cy="1283732"/>
          </a:xfrm>
        </p:grpSpPr>
        <p:sp>
          <p:nvSpPr>
            <p:cNvPr id="76" name="Rectangle 58"/>
            <p:cNvSpPr>
              <a:spLocks noChangeArrowheads="1"/>
            </p:cNvSpPr>
            <p:nvPr/>
          </p:nvSpPr>
          <p:spPr bwMode="auto">
            <a:xfrm>
              <a:off x="2408238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77" name="Rectangle 59"/>
            <p:cNvSpPr>
              <a:spLocks noChangeArrowheads="1"/>
            </p:cNvSpPr>
            <p:nvPr/>
          </p:nvSpPr>
          <p:spPr bwMode="auto">
            <a:xfrm>
              <a:off x="2408238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78" name="Rectangle 60"/>
            <p:cNvSpPr>
              <a:spLocks noChangeArrowheads="1"/>
            </p:cNvSpPr>
            <p:nvPr/>
          </p:nvSpPr>
          <p:spPr bwMode="auto">
            <a:xfrm>
              <a:off x="2408238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79" name="Text Box 97"/>
            <p:cNvSpPr txBox="1">
              <a:spLocks noChangeArrowheads="1"/>
            </p:cNvSpPr>
            <p:nvPr/>
          </p:nvSpPr>
          <p:spPr bwMode="auto">
            <a:xfrm>
              <a:off x="2438400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3146425" y="1231900"/>
            <a:ext cx="358775" cy="1283732"/>
            <a:chOff x="3146425" y="2590800"/>
            <a:chExt cx="358775" cy="1283732"/>
          </a:xfrm>
        </p:grpSpPr>
        <p:sp>
          <p:nvSpPr>
            <p:cNvPr id="81" name="Rectangle 62"/>
            <p:cNvSpPr>
              <a:spLocks noChangeArrowheads="1"/>
            </p:cNvSpPr>
            <p:nvPr/>
          </p:nvSpPr>
          <p:spPr bwMode="auto">
            <a:xfrm>
              <a:off x="3146425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82" name="Rectangle 63"/>
            <p:cNvSpPr>
              <a:spLocks noChangeArrowheads="1"/>
            </p:cNvSpPr>
            <p:nvPr/>
          </p:nvSpPr>
          <p:spPr bwMode="auto">
            <a:xfrm>
              <a:off x="3146425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83" name="Rectangle 64"/>
            <p:cNvSpPr>
              <a:spLocks noChangeArrowheads="1"/>
            </p:cNvSpPr>
            <p:nvPr/>
          </p:nvSpPr>
          <p:spPr bwMode="auto">
            <a:xfrm>
              <a:off x="3146425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  <p:sp>
          <p:nvSpPr>
            <p:cNvPr id="84" name="Text Box 98"/>
            <p:cNvSpPr txBox="1">
              <a:spLocks noChangeArrowheads="1"/>
            </p:cNvSpPr>
            <p:nvPr/>
          </p:nvSpPr>
          <p:spPr bwMode="auto">
            <a:xfrm>
              <a:off x="3176588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3884613" y="1231900"/>
            <a:ext cx="358775" cy="1283732"/>
            <a:chOff x="3884613" y="2590800"/>
            <a:chExt cx="358775" cy="1283732"/>
          </a:xfrm>
        </p:grpSpPr>
        <p:sp>
          <p:nvSpPr>
            <p:cNvPr id="86" name="Rectangle 66"/>
            <p:cNvSpPr>
              <a:spLocks noChangeArrowheads="1"/>
            </p:cNvSpPr>
            <p:nvPr/>
          </p:nvSpPr>
          <p:spPr bwMode="auto">
            <a:xfrm>
              <a:off x="3884613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87" name="Rectangle 67"/>
            <p:cNvSpPr>
              <a:spLocks noChangeArrowheads="1"/>
            </p:cNvSpPr>
            <p:nvPr/>
          </p:nvSpPr>
          <p:spPr bwMode="auto">
            <a:xfrm>
              <a:off x="3884613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88" name="Rectangle 68"/>
            <p:cNvSpPr>
              <a:spLocks noChangeArrowheads="1"/>
            </p:cNvSpPr>
            <p:nvPr/>
          </p:nvSpPr>
          <p:spPr bwMode="auto">
            <a:xfrm>
              <a:off x="3884613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  <p:sp>
          <p:nvSpPr>
            <p:cNvPr id="89" name="Text Box 99"/>
            <p:cNvSpPr txBox="1">
              <a:spLocks noChangeArrowheads="1"/>
            </p:cNvSpPr>
            <p:nvPr/>
          </p:nvSpPr>
          <p:spPr bwMode="auto">
            <a:xfrm>
              <a:off x="3914775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4622800" y="1231900"/>
            <a:ext cx="358775" cy="1283732"/>
            <a:chOff x="4622800" y="2590800"/>
            <a:chExt cx="358775" cy="1283732"/>
          </a:xfrm>
        </p:grpSpPr>
        <p:sp>
          <p:nvSpPr>
            <p:cNvPr id="91" name="Rectangle 70"/>
            <p:cNvSpPr>
              <a:spLocks noChangeArrowheads="1"/>
            </p:cNvSpPr>
            <p:nvPr/>
          </p:nvSpPr>
          <p:spPr bwMode="auto">
            <a:xfrm>
              <a:off x="4622800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92" name="Rectangle 71"/>
            <p:cNvSpPr>
              <a:spLocks noChangeArrowheads="1"/>
            </p:cNvSpPr>
            <p:nvPr/>
          </p:nvSpPr>
          <p:spPr bwMode="auto">
            <a:xfrm>
              <a:off x="4622800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93" name="Rectangle 72"/>
            <p:cNvSpPr>
              <a:spLocks noChangeArrowheads="1"/>
            </p:cNvSpPr>
            <p:nvPr/>
          </p:nvSpPr>
          <p:spPr bwMode="auto">
            <a:xfrm>
              <a:off x="4622800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1</a:t>
              </a:r>
            </a:p>
          </p:txBody>
        </p:sp>
        <p:sp>
          <p:nvSpPr>
            <p:cNvPr id="94" name="Text Box 100"/>
            <p:cNvSpPr txBox="1">
              <a:spLocks noChangeArrowheads="1"/>
            </p:cNvSpPr>
            <p:nvPr/>
          </p:nvSpPr>
          <p:spPr bwMode="auto">
            <a:xfrm>
              <a:off x="4652963" y="3505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5360988" y="1231900"/>
            <a:ext cx="358775" cy="1283732"/>
            <a:chOff x="5360988" y="2590800"/>
            <a:chExt cx="358775" cy="1283732"/>
          </a:xfrm>
        </p:grpSpPr>
        <p:sp>
          <p:nvSpPr>
            <p:cNvPr id="96" name="Rectangle 74"/>
            <p:cNvSpPr>
              <a:spLocks noChangeArrowheads="1"/>
            </p:cNvSpPr>
            <p:nvPr/>
          </p:nvSpPr>
          <p:spPr bwMode="auto">
            <a:xfrm>
              <a:off x="5360988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97" name="Rectangle 75"/>
            <p:cNvSpPr>
              <a:spLocks noChangeArrowheads="1"/>
            </p:cNvSpPr>
            <p:nvPr/>
          </p:nvSpPr>
          <p:spPr bwMode="auto">
            <a:xfrm>
              <a:off x="5360988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98" name="Rectangle 76"/>
            <p:cNvSpPr>
              <a:spLocks noChangeArrowheads="1"/>
            </p:cNvSpPr>
            <p:nvPr/>
          </p:nvSpPr>
          <p:spPr bwMode="auto">
            <a:xfrm>
              <a:off x="5360988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99" name="Text Box 101"/>
            <p:cNvSpPr txBox="1">
              <a:spLocks noChangeArrowheads="1"/>
            </p:cNvSpPr>
            <p:nvPr/>
          </p:nvSpPr>
          <p:spPr bwMode="auto">
            <a:xfrm>
              <a:off x="5391150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6099175" y="1231900"/>
            <a:ext cx="358775" cy="1283732"/>
            <a:chOff x="6099175" y="2590800"/>
            <a:chExt cx="358775" cy="1283732"/>
          </a:xfrm>
        </p:grpSpPr>
        <p:sp>
          <p:nvSpPr>
            <p:cNvPr id="101" name="Rectangle 78"/>
            <p:cNvSpPr>
              <a:spLocks noChangeArrowheads="1"/>
            </p:cNvSpPr>
            <p:nvPr/>
          </p:nvSpPr>
          <p:spPr bwMode="auto">
            <a:xfrm>
              <a:off x="6099175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102" name="Rectangle 79"/>
            <p:cNvSpPr>
              <a:spLocks noChangeArrowheads="1"/>
            </p:cNvSpPr>
            <p:nvPr/>
          </p:nvSpPr>
          <p:spPr bwMode="auto">
            <a:xfrm>
              <a:off x="6099175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103" name="Rectangle 80"/>
            <p:cNvSpPr>
              <a:spLocks noChangeArrowheads="1"/>
            </p:cNvSpPr>
            <p:nvPr/>
          </p:nvSpPr>
          <p:spPr bwMode="auto">
            <a:xfrm>
              <a:off x="6099175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104" name="Text Box 102"/>
            <p:cNvSpPr txBox="1">
              <a:spLocks noChangeArrowheads="1"/>
            </p:cNvSpPr>
            <p:nvPr/>
          </p:nvSpPr>
          <p:spPr bwMode="auto">
            <a:xfrm>
              <a:off x="6129338" y="3505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6837363" y="1231900"/>
            <a:ext cx="358775" cy="1283732"/>
            <a:chOff x="6837363" y="2590800"/>
            <a:chExt cx="358775" cy="1283732"/>
          </a:xfrm>
        </p:grpSpPr>
        <p:sp>
          <p:nvSpPr>
            <p:cNvPr id="106" name="Rectangle 82"/>
            <p:cNvSpPr>
              <a:spLocks noChangeArrowheads="1"/>
            </p:cNvSpPr>
            <p:nvPr/>
          </p:nvSpPr>
          <p:spPr bwMode="auto">
            <a:xfrm>
              <a:off x="6837363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107" name="Rectangle 83"/>
            <p:cNvSpPr>
              <a:spLocks noChangeArrowheads="1"/>
            </p:cNvSpPr>
            <p:nvPr/>
          </p:nvSpPr>
          <p:spPr bwMode="auto">
            <a:xfrm>
              <a:off x="6837363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108" name="Rectangle 84"/>
            <p:cNvSpPr>
              <a:spLocks noChangeArrowheads="1"/>
            </p:cNvSpPr>
            <p:nvPr/>
          </p:nvSpPr>
          <p:spPr bwMode="auto">
            <a:xfrm>
              <a:off x="6837363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109" name="Text Box 103"/>
            <p:cNvSpPr txBox="1">
              <a:spLocks noChangeArrowheads="1"/>
            </p:cNvSpPr>
            <p:nvPr/>
          </p:nvSpPr>
          <p:spPr bwMode="auto">
            <a:xfrm>
              <a:off x="6867525" y="3505200"/>
              <a:ext cx="31290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y</a:t>
              </a:r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7575550" y="1231900"/>
            <a:ext cx="358775" cy="1283732"/>
            <a:chOff x="7575550" y="2590800"/>
            <a:chExt cx="358775" cy="1283732"/>
          </a:xfrm>
        </p:grpSpPr>
        <p:sp>
          <p:nvSpPr>
            <p:cNvPr id="111" name="Rectangle 86"/>
            <p:cNvSpPr>
              <a:spLocks noChangeArrowheads="1"/>
            </p:cNvSpPr>
            <p:nvPr/>
          </p:nvSpPr>
          <p:spPr bwMode="auto">
            <a:xfrm>
              <a:off x="7575550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112" name="Rectangle 87"/>
            <p:cNvSpPr>
              <a:spLocks noChangeArrowheads="1"/>
            </p:cNvSpPr>
            <p:nvPr/>
          </p:nvSpPr>
          <p:spPr bwMode="auto">
            <a:xfrm>
              <a:off x="7575550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113" name="Rectangle 88"/>
            <p:cNvSpPr>
              <a:spLocks noChangeArrowheads="1"/>
            </p:cNvSpPr>
            <p:nvPr/>
          </p:nvSpPr>
          <p:spPr bwMode="auto">
            <a:xfrm>
              <a:off x="7575550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114" name="Text Box 104"/>
            <p:cNvSpPr txBox="1">
              <a:spLocks noChangeArrowheads="1"/>
            </p:cNvSpPr>
            <p:nvPr/>
          </p:nvSpPr>
          <p:spPr bwMode="auto">
            <a:xfrm>
              <a:off x="7605713" y="3505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</p:grpSp>
      <p:grpSp>
        <p:nvGrpSpPr>
          <p:cNvPr id="115" name="Group 114"/>
          <p:cNvGrpSpPr/>
          <p:nvPr/>
        </p:nvGrpSpPr>
        <p:grpSpPr>
          <a:xfrm>
            <a:off x="8313738" y="1231900"/>
            <a:ext cx="358775" cy="1283732"/>
            <a:chOff x="8313738" y="2590800"/>
            <a:chExt cx="358775" cy="1283732"/>
          </a:xfrm>
        </p:grpSpPr>
        <p:sp>
          <p:nvSpPr>
            <p:cNvPr id="116" name="Rectangle 90"/>
            <p:cNvSpPr>
              <a:spLocks noChangeArrowheads="1"/>
            </p:cNvSpPr>
            <p:nvPr/>
          </p:nvSpPr>
          <p:spPr bwMode="auto">
            <a:xfrm>
              <a:off x="8313738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117" name="Rectangle 91"/>
            <p:cNvSpPr>
              <a:spLocks noChangeArrowheads="1"/>
            </p:cNvSpPr>
            <p:nvPr/>
          </p:nvSpPr>
          <p:spPr bwMode="auto">
            <a:xfrm>
              <a:off x="8313738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118" name="Rectangle 92"/>
            <p:cNvSpPr>
              <a:spLocks noChangeArrowheads="1"/>
            </p:cNvSpPr>
            <p:nvPr/>
          </p:nvSpPr>
          <p:spPr bwMode="auto">
            <a:xfrm>
              <a:off x="8313738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119" name="Text Box 105"/>
            <p:cNvSpPr txBox="1">
              <a:spLocks noChangeArrowheads="1"/>
            </p:cNvSpPr>
            <p:nvPr/>
          </p:nvSpPr>
          <p:spPr bwMode="auto">
            <a:xfrm>
              <a:off x="8343900" y="3505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</p:grpSp>
      <p:sp>
        <p:nvSpPr>
          <p:cNvPr id="120" name="Oval 119"/>
          <p:cNvSpPr/>
          <p:nvPr/>
        </p:nvSpPr>
        <p:spPr>
          <a:xfrm>
            <a:off x="1670050" y="32131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/>
          <p:nvPr/>
        </p:nvSpPr>
        <p:spPr>
          <a:xfrm>
            <a:off x="2393950" y="35306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/>
          <p:cNvSpPr/>
          <p:nvPr/>
        </p:nvSpPr>
        <p:spPr>
          <a:xfrm>
            <a:off x="3155950" y="38354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/>
          <p:nvPr/>
        </p:nvSpPr>
        <p:spPr>
          <a:xfrm>
            <a:off x="3879850" y="32258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5353050" y="38481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6851650" y="32258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7575550" y="38481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8299450" y="35052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1657350" y="12446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2393950" y="15494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3130550" y="18542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>
            <a:off x="3879850" y="12446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>
            <a:off x="5353050" y="18415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6838950" y="15367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/>
          <p:cNvSpPr txBox="1"/>
          <p:nvPr/>
        </p:nvSpPr>
        <p:spPr>
          <a:xfrm>
            <a:off x="215900" y="1231900"/>
            <a:ext cx="1059192" cy="369332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3366FF"/>
                </a:solidFill>
              </a:rPr>
              <a:t>pfr</a:t>
            </a:r>
            <a:r>
              <a:rPr lang="en-US" dirty="0">
                <a:solidFill>
                  <a:srgbClr val="3366FF"/>
                </a:solidFill>
              </a:rPr>
              <a:t>= 6/10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49777" y="3784600"/>
            <a:ext cx="1059192" cy="369332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3366FF"/>
                </a:solidFill>
              </a:rPr>
              <a:t>pfr</a:t>
            </a:r>
            <a:r>
              <a:rPr lang="en-US" dirty="0">
                <a:solidFill>
                  <a:srgbClr val="3366FF"/>
                </a:solidFill>
              </a:rPr>
              <a:t>= 8/10</a:t>
            </a:r>
          </a:p>
        </p:txBody>
      </p:sp>
      <p:sp>
        <p:nvSpPr>
          <p:cNvPr id="136" name="Oval 135"/>
          <p:cNvSpPr/>
          <p:nvPr/>
        </p:nvSpPr>
        <p:spPr>
          <a:xfrm>
            <a:off x="4616529" y="4149725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4616529" y="2211864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6069136" y="2211864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7585243" y="2211864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8309143" y="2211864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/>
          <p:cNvSpPr txBox="1"/>
          <p:nvPr/>
        </p:nvSpPr>
        <p:spPr>
          <a:xfrm>
            <a:off x="63500" y="4775200"/>
            <a:ext cx="8917826" cy="17543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Optimal (OPT) delivers the minimal page fault rate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But,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OPTcannot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be implemented as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future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references cannot be predicted with certainty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to do?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 the fact that programs, in general, exhibits a good temporal locality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Recall: temporal locality means that an item just referenced will referenced soon.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rule translates into: replace the </a:t>
            </a:r>
            <a:r>
              <a:rPr lang="en-US" dirty="0">
                <a:solidFill>
                  <a:srgbClr val="3366FF"/>
                </a:solidFill>
              </a:rPr>
              <a:t>Least Recently Used (</a:t>
            </a:r>
            <a:r>
              <a:rPr lang="en-US" b="1" dirty="0">
                <a:solidFill>
                  <a:srgbClr val="3366FF"/>
                </a:solidFill>
              </a:rPr>
              <a:t>LRU</a:t>
            </a:r>
            <a:r>
              <a:rPr lang="en-US" dirty="0">
                <a:solidFill>
                  <a:srgbClr val="3366FF"/>
                </a:solidFill>
              </a:rPr>
              <a:t>)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page in the </a:t>
            </a:r>
            <a:r>
              <a:rPr lang="en-US" b="1" dirty="0">
                <a:solidFill>
                  <a:srgbClr val="3366FF"/>
                </a:solidFill>
              </a:rPr>
              <a:t>past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cxnSp>
        <p:nvCxnSpPr>
          <p:cNvPr id="142" name="Straight Connector 141"/>
          <p:cNvCxnSpPr/>
          <p:nvPr/>
        </p:nvCxnSpPr>
        <p:spPr>
          <a:xfrm>
            <a:off x="1371600" y="2997200"/>
            <a:ext cx="7391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/>
          <p:cNvSpPr/>
          <p:nvPr/>
        </p:nvSpPr>
        <p:spPr>
          <a:xfrm>
            <a:off x="6088297" y="4165600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2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34" grpId="0" animBg="1"/>
      <p:bldP spid="135" grpId="0" animBg="1"/>
      <p:bldP spid="136" grpId="0" animBg="1"/>
      <p:bldP spid="141" grpId="0" build="p"/>
      <p:bldP spid="14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algn="r"/>
            <a:fld id="{99C1B127-7EEC-B04D-9235-355488475B91}" type="slidenum">
              <a:rPr lang="en-US">
                <a:solidFill>
                  <a:srgbClr val="7F7F7F"/>
                </a:solidFill>
              </a:rPr>
              <a:pPr algn="r"/>
              <a:t>28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82575" y="304800"/>
            <a:ext cx="7772400" cy="609600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Implementations of LRU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15900" y="1130300"/>
            <a:ext cx="8199854" cy="4889500"/>
          </a:xfrm>
          <a:prstGeom prst="rect">
            <a:avLst/>
          </a:prstGeom>
        </p:spPr>
        <p:txBody>
          <a:bodyPr/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arenR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Implementation I: </a:t>
            </a:r>
            <a:r>
              <a:rPr lang="en-US" b="1" dirty="0">
                <a:solidFill>
                  <a:srgbClr val="3366FF"/>
                </a:solidFill>
              </a:rPr>
              <a:t>Time-of-use </a:t>
            </a:r>
            <a:r>
              <a:rPr lang="en-US" dirty="0">
                <a:solidFill>
                  <a:srgbClr val="7F7F7F"/>
                </a:solidFill>
              </a:rPr>
              <a:t>register in every entry of </a:t>
            </a:r>
            <a:r>
              <a:rPr lang="en-US" b="1" dirty="0">
                <a:solidFill>
                  <a:srgbClr val="3366FF"/>
                </a:solidFill>
              </a:rPr>
              <a:t>page table</a:t>
            </a:r>
            <a:r>
              <a:rPr lang="en-US" dirty="0">
                <a:solidFill>
                  <a:srgbClr val="7F7F7F"/>
                </a:solidFill>
              </a:rPr>
              <a:t>.</a:t>
            </a:r>
          </a:p>
          <a:p>
            <a:pPr marL="342900" indent="-342900">
              <a:buAutoNum type="arabicParenR"/>
            </a:pPr>
            <a:endParaRPr lang="en-US" dirty="0">
              <a:solidFill>
                <a:srgbClr val="7F7F7F"/>
              </a:solidFill>
            </a:endParaRPr>
          </a:p>
          <a:p>
            <a:pPr marL="342900" indent="-342900">
              <a:buAutoNum type="arabicParenR"/>
            </a:pPr>
            <a:endParaRPr lang="en-US" dirty="0">
              <a:solidFill>
                <a:srgbClr val="7F7F7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F7F7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F7F7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F7F7F"/>
              </a:solidFill>
            </a:endParaRPr>
          </a:p>
          <a:p>
            <a:pPr marL="342900" indent="-342900">
              <a:buFont typeface="Wingdings 2" pitchFamily="18" charset="2"/>
              <a:buAutoNum type="arabicParenR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Implementation II: </a:t>
            </a:r>
            <a:r>
              <a:rPr lang="en-US" b="1" dirty="0">
                <a:solidFill>
                  <a:srgbClr val="3366FF"/>
                </a:solidFill>
              </a:rPr>
              <a:t>Stack</a:t>
            </a:r>
            <a:r>
              <a:rPr lang="en-US" dirty="0">
                <a:solidFill>
                  <a:srgbClr val="7F7F7F"/>
                </a:solidFill>
              </a:rPr>
              <a:t> of page numbers</a:t>
            </a:r>
          </a:p>
          <a:p>
            <a:pPr marL="0" indent="0">
              <a:buNone/>
            </a:pPr>
            <a:r>
              <a:rPr lang="en-US" dirty="0">
                <a:solidFill>
                  <a:srgbClr val="7F7F7F"/>
                </a:solidFill>
              </a:rPr>
              <a:t>Reference string :</a:t>
            </a:r>
          </a:p>
          <a:p>
            <a:pPr marL="342900" indent="-342900">
              <a:buAutoNum type="arabicPlain" startAt="4"/>
            </a:pPr>
            <a:r>
              <a:rPr lang="cs-CZ" b="1" dirty="0">
                <a:solidFill>
                  <a:srgbClr val="FF00FF"/>
                </a:solidFill>
              </a:rPr>
              <a:t>7     0      7      1      0       1       2       1        2                     7            1       2</a:t>
            </a:r>
          </a:p>
          <a:p>
            <a:pPr marL="342900" indent="-342900">
              <a:buAutoNum type="arabicPlain" startAt="4"/>
            </a:pPr>
            <a:endParaRPr lang="cs-CZ" b="1" dirty="0">
              <a:solidFill>
                <a:srgbClr val="FF00FF"/>
              </a:solidFill>
            </a:endParaRPr>
          </a:p>
          <a:p>
            <a:pPr marL="0" indent="0">
              <a:buNone/>
            </a:pPr>
            <a:r>
              <a:rPr lang="cs-CZ" b="1" dirty="0">
                <a:solidFill>
                  <a:srgbClr val="3366FF"/>
                </a:solidFill>
              </a:rPr>
              <a:t>These </a:t>
            </a:r>
            <a:r>
              <a:rPr lang="cs-CZ" b="1" dirty="0" err="1">
                <a:solidFill>
                  <a:srgbClr val="3366FF"/>
                </a:solidFill>
              </a:rPr>
              <a:t>two</a:t>
            </a:r>
            <a:r>
              <a:rPr lang="cs-CZ" b="1" dirty="0">
                <a:solidFill>
                  <a:srgbClr val="3366FF"/>
                </a:solidFill>
              </a:rPr>
              <a:t> </a:t>
            </a:r>
            <a:r>
              <a:rPr lang="cs-CZ" b="1" dirty="0" err="1">
                <a:solidFill>
                  <a:srgbClr val="3366FF"/>
                </a:solidFill>
              </a:rPr>
              <a:t>implementations</a:t>
            </a:r>
            <a:r>
              <a:rPr lang="cs-CZ" b="1" dirty="0">
                <a:solidFill>
                  <a:srgbClr val="3366FF"/>
                </a:solidFill>
              </a:rPr>
              <a:t> are not </a:t>
            </a:r>
            <a:r>
              <a:rPr lang="cs-CZ" b="1" dirty="0" err="1">
                <a:solidFill>
                  <a:srgbClr val="3366FF"/>
                </a:solidFill>
              </a:rPr>
              <a:t>easy</a:t>
            </a:r>
            <a:r>
              <a:rPr lang="cs-CZ" b="1" dirty="0">
                <a:solidFill>
                  <a:srgbClr val="3366FF"/>
                </a:solidFill>
              </a:rPr>
              <a:t> in hardware</a:t>
            </a:r>
          </a:p>
          <a:p>
            <a:pPr marL="0" indent="0">
              <a:buNone/>
            </a:pPr>
            <a:r>
              <a:rPr lang="cs-CZ" b="1" dirty="0" err="1">
                <a:solidFill>
                  <a:srgbClr val="3366FF"/>
                </a:solidFill>
              </a:rPr>
              <a:t>What</a:t>
            </a:r>
            <a:r>
              <a:rPr lang="cs-CZ" b="1" dirty="0">
                <a:solidFill>
                  <a:srgbClr val="3366FF"/>
                </a:solidFill>
              </a:rPr>
              <a:t> to do?</a:t>
            </a:r>
          </a:p>
          <a:p>
            <a:pPr marL="0" indent="0">
              <a:buNone/>
            </a:pPr>
            <a:r>
              <a:rPr lang="cs-CZ" b="1" dirty="0" err="1">
                <a:solidFill>
                  <a:srgbClr val="3366FF"/>
                </a:solidFill>
              </a:rPr>
              <a:t>Approximate</a:t>
            </a:r>
            <a:r>
              <a:rPr lang="cs-CZ" b="1" dirty="0">
                <a:solidFill>
                  <a:srgbClr val="3366FF"/>
                </a:solidFill>
              </a:rPr>
              <a:t>!</a:t>
            </a:r>
            <a:endParaRPr lang="en-US" b="1" dirty="0">
              <a:solidFill>
                <a:srgbClr val="3366F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3366FF"/>
              </a:solidFill>
            </a:endParaRPr>
          </a:p>
          <a:p>
            <a:pPr marL="342900" indent="-342900">
              <a:buAutoNum type="arabicParenR"/>
            </a:pPr>
            <a:endParaRPr lang="en-US" dirty="0">
              <a:solidFill>
                <a:srgbClr val="7F7F7F"/>
              </a:solidFill>
            </a:endParaRPr>
          </a:p>
          <a:p>
            <a:pPr marL="342900" indent="-342900">
              <a:buAutoNum type="arabicParenR"/>
            </a:pPr>
            <a:endParaRPr lang="en-US" dirty="0">
              <a:solidFill>
                <a:srgbClr val="7F7F7F"/>
              </a:solidFill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3416300" y="1463675"/>
            <a:ext cx="5334000" cy="1752600"/>
            <a:chOff x="3416300" y="1565275"/>
            <a:chExt cx="5334000" cy="1752600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4483100" y="1565275"/>
              <a:ext cx="4267200" cy="1752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4483100" y="2187575"/>
              <a:ext cx="24384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Frame base address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6921500" y="2187575"/>
              <a:ext cx="1828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6981825" y="2095500"/>
              <a:ext cx="131234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3366FF"/>
                  </a:solidFill>
                </a:rPr>
                <a:t>Time-of-use</a:t>
              </a: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3416300" y="2174875"/>
              <a:ext cx="936625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Page i</a:t>
              </a:r>
            </a:p>
            <a:p>
              <a:endParaRPr lang="en-US">
                <a:solidFill>
                  <a:srgbClr val="7F7F7F"/>
                </a:solidFill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045200" y="4555004"/>
            <a:ext cx="381000" cy="1938992"/>
            <a:chOff x="6616700" y="3717925"/>
            <a:chExt cx="381000" cy="1938992"/>
          </a:xfrm>
        </p:grpSpPr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6638925" y="3717925"/>
              <a:ext cx="338554" cy="19389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7F7F7F"/>
                  </a:solidFill>
                </a:rPr>
                <a:t>2</a:t>
              </a:r>
            </a:p>
            <a:p>
              <a:r>
                <a:rPr lang="en-US" sz="2400" dirty="0">
                  <a:solidFill>
                    <a:srgbClr val="7F7F7F"/>
                  </a:solidFill>
                </a:rPr>
                <a:t>1</a:t>
              </a:r>
            </a:p>
            <a:p>
              <a:r>
                <a:rPr lang="en-US" sz="2400" dirty="0">
                  <a:solidFill>
                    <a:srgbClr val="7F7F7F"/>
                  </a:solidFill>
                </a:rPr>
                <a:t>0</a:t>
              </a:r>
            </a:p>
            <a:p>
              <a:r>
                <a:rPr lang="en-US" sz="2400" dirty="0">
                  <a:solidFill>
                    <a:srgbClr val="7F7F7F"/>
                  </a:solidFill>
                </a:rPr>
                <a:t>7</a:t>
              </a:r>
            </a:p>
            <a:p>
              <a:r>
                <a:rPr lang="en-US" sz="2400" dirty="0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6616700" y="37338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6616700" y="41148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6616700" y="44958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6616700" y="48768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6616700" y="52578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985000" y="4547721"/>
            <a:ext cx="381000" cy="1920875"/>
            <a:chOff x="8054975" y="3733800"/>
            <a:chExt cx="381000" cy="1920875"/>
          </a:xfrm>
        </p:grpSpPr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8077200" y="3733800"/>
              <a:ext cx="338554" cy="18466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7F7F7F"/>
                  </a:solidFill>
                </a:rPr>
                <a:t>7</a:t>
              </a:r>
            </a:p>
            <a:p>
              <a:r>
                <a:rPr lang="en-US" sz="2400" dirty="0">
                  <a:solidFill>
                    <a:srgbClr val="7F7F7F"/>
                  </a:solidFill>
                </a:rPr>
                <a:t>2</a:t>
              </a:r>
            </a:p>
            <a:p>
              <a:r>
                <a:rPr lang="en-US" sz="2400" dirty="0">
                  <a:solidFill>
                    <a:srgbClr val="7F7F7F"/>
                  </a:solidFill>
                </a:rPr>
                <a:t>1</a:t>
              </a:r>
            </a:p>
            <a:p>
              <a:r>
                <a:rPr lang="en-US" sz="2400" dirty="0">
                  <a:solidFill>
                    <a:srgbClr val="7F7F7F"/>
                  </a:solidFill>
                </a:rPr>
                <a:t>0</a:t>
              </a:r>
            </a:p>
            <a:p>
              <a:r>
                <a:rPr lang="en-US" dirty="0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8054975" y="3749675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8054975" y="4130675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8054975" y="4511675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8054975" y="4892675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8054975" y="5273675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</p:grpSp>
      <p:cxnSp>
        <p:nvCxnSpPr>
          <p:cNvPr id="31" name="Straight Arrow Connector 30"/>
          <p:cNvCxnSpPr/>
          <p:nvPr/>
        </p:nvCxnSpPr>
        <p:spPr>
          <a:xfrm>
            <a:off x="6172200" y="3657600"/>
            <a:ext cx="12700" cy="774700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7162800" y="3632200"/>
            <a:ext cx="12700" cy="774700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6426200" y="4864100"/>
            <a:ext cx="469900" cy="1041400"/>
          </a:xfrm>
          <a:custGeom>
            <a:avLst/>
            <a:gdLst>
              <a:gd name="connsiteX0" fmla="*/ 0 w 469900"/>
              <a:gd name="connsiteY0" fmla="*/ 1041400 h 1041400"/>
              <a:gd name="connsiteX1" fmla="*/ 254000 w 469900"/>
              <a:gd name="connsiteY1" fmla="*/ 622300 h 1041400"/>
              <a:gd name="connsiteX2" fmla="*/ 292100 w 469900"/>
              <a:gd name="connsiteY2" fmla="*/ 228600 h 1041400"/>
              <a:gd name="connsiteX3" fmla="*/ 469900 w 469900"/>
              <a:gd name="connsiteY3" fmla="*/ 0 h 1041400"/>
              <a:gd name="connsiteX4" fmla="*/ 469900 w 469900"/>
              <a:gd name="connsiteY4" fmla="*/ 0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9900" h="1041400">
                <a:moveTo>
                  <a:pt x="0" y="1041400"/>
                </a:moveTo>
                <a:cubicBezTo>
                  <a:pt x="102658" y="899583"/>
                  <a:pt x="205317" y="757767"/>
                  <a:pt x="254000" y="622300"/>
                </a:cubicBezTo>
                <a:cubicBezTo>
                  <a:pt x="302683" y="486833"/>
                  <a:pt x="256117" y="332317"/>
                  <a:pt x="292100" y="228600"/>
                </a:cubicBezTo>
                <a:cubicBezTo>
                  <a:pt x="328083" y="124883"/>
                  <a:pt x="469900" y="0"/>
                  <a:pt x="469900" y="0"/>
                </a:cubicBezTo>
                <a:lnTo>
                  <a:pt x="469900" y="0"/>
                </a:lnTo>
              </a:path>
            </a:pathLst>
          </a:custGeom>
          <a:ln w="28575" cmpd="sng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5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2"/>
      <p:bldP spid="3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12AC191-11CF-884F-9D72-950ACE316A86}" type="slidenum">
              <a:rPr lang="en-US">
                <a:solidFill>
                  <a:srgbClr val="7F7F7F"/>
                </a:solidFill>
              </a:rPr>
              <a:pPr algn="r"/>
              <a:t>29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Approximating LRU</a:t>
            </a:r>
          </a:p>
        </p:txBody>
      </p:sp>
      <p:pic>
        <p:nvPicPr>
          <p:cNvPr id="2" name="Picture 1" descr="second-chancealgorith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0" y="3086100"/>
            <a:ext cx="3835400" cy="3454400"/>
          </a:xfrm>
          <a:prstGeom prst="rect">
            <a:avLst/>
          </a:prstGeom>
        </p:spPr>
      </p:pic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1181101"/>
            <a:ext cx="8229600" cy="4525963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Second-chance (clock) algorithm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Each entry in page table has a reference bit.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Whenever a page is referenced, the reference bit is set.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Whenever a page is selected as a victim, we use this:</a:t>
            </a:r>
          </a:p>
          <a:p>
            <a:pPr marL="720090" lvl="2" indent="0">
              <a:buNone/>
            </a:pPr>
            <a:r>
              <a:rPr lang="en-US" dirty="0">
                <a:solidFill>
                  <a:srgbClr val="7F7F7F"/>
                </a:solidFill>
              </a:rPr>
              <a:t>if reference bit == 1 </a:t>
            </a:r>
          </a:p>
          <a:p>
            <a:pPr marL="720090" lvl="2" indent="0">
              <a:buNone/>
            </a:pPr>
            <a:r>
              <a:rPr lang="en-US" dirty="0">
                <a:solidFill>
                  <a:srgbClr val="7F7F7F"/>
                </a:solidFill>
              </a:rPr>
              <a:t>      then  set reference bit to 0 and pointe to next as a potential victim</a:t>
            </a:r>
          </a:p>
          <a:p>
            <a:pPr marL="720090" lvl="2" indent="0">
              <a:buNone/>
            </a:pPr>
            <a:r>
              <a:rPr lang="en-US" dirty="0">
                <a:solidFill>
                  <a:srgbClr val="7F7F7F"/>
                </a:solidFill>
              </a:rPr>
              <a:t>      else replace page and pointe to the next page as a potential victim</a:t>
            </a:r>
          </a:p>
          <a:p>
            <a:pPr marL="720090" lvl="2" indent="0">
              <a:buNone/>
            </a:pPr>
            <a:endParaRPr lang="en-US" dirty="0">
              <a:solidFill>
                <a:srgbClr val="7F7F7F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4813300" y="4991100"/>
            <a:ext cx="1193800" cy="1270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8933" y="4806434"/>
            <a:ext cx="116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Replaced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bldLvl="3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13051" y="972312"/>
            <a:ext cx="5898734" cy="3180588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many frames should be allocated to a process?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Minimum and maximum allocation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Warning: </a:t>
            </a:r>
            <a:r>
              <a:rPr lang="en-US" b="1" dirty="0" err="1">
                <a:solidFill>
                  <a:srgbClr val="3366FF"/>
                </a:solidFill>
              </a:rPr>
              <a:t>Belady’s</a:t>
            </a:r>
            <a:r>
              <a:rPr lang="en-US" b="1" dirty="0">
                <a:solidFill>
                  <a:srgbClr val="3366FF"/>
                </a:solidFill>
              </a:rPr>
              <a:t> Anomaly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Static allocation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is the optimal degree of multiprogramming?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Trashing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Dynamic Allocation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Read Sections 8.5 and 8.6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Policies</a:t>
            </a:r>
          </a:p>
        </p:txBody>
      </p:sp>
    </p:spTree>
    <p:extLst>
      <p:ext uri="{BB962C8B-B14F-4D97-AF65-F5344CB8AC3E}">
        <p14:creationId xmlns:p14="http://schemas.microsoft.com/office/powerpoint/2010/main" val="273648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BE54D47-E340-B643-9C21-4D5F7C9D4456}" type="slidenum">
              <a:rPr lang="en-US">
                <a:solidFill>
                  <a:srgbClr val="7F7F7F"/>
                </a:solidFill>
              </a:rPr>
              <a:pPr algn="r"/>
              <a:t>31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03200"/>
            <a:ext cx="7772400" cy="533400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Allocation Algorithms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14400"/>
            <a:ext cx="7772400" cy="4114800"/>
          </a:xfrm>
        </p:spPr>
        <p:txBody>
          <a:bodyPr/>
          <a:lstStyle/>
          <a:p>
            <a:r>
              <a:rPr lang="en-US" b="1" dirty="0">
                <a:solidFill>
                  <a:srgbClr val="3366FF"/>
                </a:solidFill>
              </a:rPr>
              <a:t>Problem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rgbClr val="7F7F7F"/>
                </a:solidFill>
              </a:rPr>
              <a:t>: determine how many frames to allocate to a process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Let M =total number of frames in the physical memory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Di = the number of frames allocated to Process Pi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Si = the number of pages in the virtual memory of Pi</a:t>
            </a:r>
          </a:p>
          <a:p>
            <a:r>
              <a:rPr lang="en-US" b="1" dirty="0">
                <a:solidFill>
                  <a:srgbClr val="3366FF"/>
                </a:solidFill>
              </a:rPr>
              <a:t>Minimum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rgbClr val="7F7F7F"/>
                </a:solidFill>
              </a:rPr>
              <a:t>number of frames: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Di : maximum number of frames involved in an instruction. (CPU dependent)</a:t>
            </a:r>
          </a:p>
          <a:p>
            <a:r>
              <a:rPr lang="en-US" b="1" dirty="0">
                <a:solidFill>
                  <a:srgbClr val="3366FF"/>
                </a:solidFill>
              </a:rPr>
              <a:t>Maximum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rgbClr val="7F7F7F"/>
                </a:solidFill>
              </a:rPr>
              <a:t>number of frames: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Di ≤ min(M, Si)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bldLvl="2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pPr algn="r"/>
            <a:fld id="{E8A6D1E3-F209-0447-93B6-2D7DF5F2B510}" type="slidenum">
              <a:rPr lang="en-US">
                <a:solidFill>
                  <a:srgbClr val="7F7F7F"/>
                </a:solidFill>
              </a:rPr>
              <a:pPr algn="r"/>
              <a:t>32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296863" y="190500"/>
            <a:ext cx="7772400" cy="635000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Comparing Allocating 3 versus 4 frames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53206" y="10668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solidFill>
                  <a:srgbClr val="7F7F7F"/>
                </a:solidFill>
              </a:rPr>
              <a:t>FIFO : </a:t>
            </a:r>
            <a:r>
              <a:rPr lang="en-US" sz="2800" dirty="0">
                <a:solidFill>
                  <a:srgbClr val="7F7F7F"/>
                </a:solidFill>
              </a:rPr>
              <a:t>replace the page which comes earliest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rgbClr val="7F7F7F"/>
                </a:solidFill>
              </a:rPr>
              <a:t>pages allocated to a process </a:t>
            </a:r>
            <a:r>
              <a:rPr lang="en-US" sz="2800" b="1" dirty="0">
                <a:solidFill>
                  <a:srgbClr val="3366FF"/>
                </a:solidFill>
              </a:rPr>
              <a:t>=</a:t>
            </a:r>
            <a:r>
              <a:rPr lang="en-US" sz="4400" b="1" dirty="0">
                <a:solidFill>
                  <a:srgbClr val="3366FF"/>
                </a:solidFill>
              </a:rPr>
              <a:t>3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0" y="2066925"/>
            <a:ext cx="6099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Page </a:t>
            </a:r>
          </a:p>
          <a:p>
            <a:r>
              <a:rPr lang="en-US">
                <a:solidFill>
                  <a:srgbClr val="7F7F7F"/>
                </a:solidFill>
              </a:rPr>
              <a:t>Ref.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0" y="3209925"/>
            <a:ext cx="65320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Me.</a:t>
            </a:r>
          </a:p>
          <a:p>
            <a:r>
              <a:rPr lang="en-US">
                <a:solidFill>
                  <a:srgbClr val="7F7F7F"/>
                </a:solidFill>
              </a:rPr>
              <a:t>State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0" y="4429125"/>
            <a:ext cx="7753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Page </a:t>
            </a:r>
          </a:p>
          <a:p>
            <a:r>
              <a:rPr lang="en-US">
                <a:solidFill>
                  <a:srgbClr val="7F7F7F"/>
                </a:solidFill>
              </a:rPr>
              <a:t>Fault ?</a:t>
            </a: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754063" y="23622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1</a:t>
            </a: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754063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685800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685800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-</a:t>
            </a: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685800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-</a:t>
            </a:r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1492250" y="2362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2</a:t>
            </a:r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1492250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1423988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1423988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1423988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-</a:t>
            </a:r>
          </a:p>
        </p:txBody>
      </p:sp>
      <p:sp>
        <p:nvSpPr>
          <p:cNvPr id="23" name="Text Box 17"/>
          <p:cNvSpPr txBox="1">
            <a:spLocks noChangeArrowheads="1"/>
          </p:cNvSpPr>
          <p:nvPr/>
        </p:nvSpPr>
        <p:spPr bwMode="auto">
          <a:xfrm>
            <a:off x="2230438" y="23622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3</a:t>
            </a: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2230438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25" name="Rectangle 19"/>
          <p:cNvSpPr>
            <a:spLocks noChangeArrowheads="1"/>
          </p:cNvSpPr>
          <p:nvPr/>
        </p:nvSpPr>
        <p:spPr bwMode="auto">
          <a:xfrm>
            <a:off x="2162175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26" name="Rectangle 20"/>
          <p:cNvSpPr>
            <a:spLocks noChangeArrowheads="1"/>
          </p:cNvSpPr>
          <p:nvPr/>
        </p:nvSpPr>
        <p:spPr bwMode="auto">
          <a:xfrm>
            <a:off x="2162175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27" name="Rectangle 21"/>
          <p:cNvSpPr>
            <a:spLocks noChangeArrowheads="1"/>
          </p:cNvSpPr>
          <p:nvPr/>
        </p:nvSpPr>
        <p:spPr bwMode="auto">
          <a:xfrm>
            <a:off x="2162175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28" name="Text Box 22"/>
          <p:cNvSpPr txBox="1">
            <a:spLocks noChangeArrowheads="1"/>
          </p:cNvSpPr>
          <p:nvPr/>
        </p:nvSpPr>
        <p:spPr bwMode="auto">
          <a:xfrm>
            <a:off x="2968625" y="23622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4</a:t>
            </a:r>
          </a:p>
        </p:txBody>
      </p:sp>
      <p:sp>
        <p:nvSpPr>
          <p:cNvPr id="29" name="Text Box 23"/>
          <p:cNvSpPr txBox="1">
            <a:spLocks noChangeArrowheads="1"/>
          </p:cNvSpPr>
          <p:nvPr/>
        </p:nvSpPr>
        <p:spPr bwMode="auto">
          <a:xfrm>
            <a:off x="2968625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30" name="Rectangle 24"/>
          <p:cNvSpPr>
            <a:spLocks noChangeArrowheads="1"/>
          </p:cNvSpPr>
          <p:nvPr/>
        </p:nvSpPr>
        <p:spPr bwMode="auto">
          <a:xfrm>
            <a:off x="2900363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31" name="Rectangle 25"/>
          <p:cNvSpPr>
            <a:spLocks noChangeArrowheads="1"/>
          </p:cNvSpPr>
          <p:nvPr/>
        </p:nvSpPr>
        <p:spPr bwMode="auto">
          <a:xfrm>
            <a:off x="2900363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32" name="Rectangle 26"/>
          <p:cNvSpPr>
            <a:spLocks noChangeArrowheads="1"/>
          </p:cNvSpPr>
          <p:nvPr/>
        </p:nvSpPr>
        <p:spPr bwMode="auto">
          <a:xfrm>
            <a:off x="2900363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33" name="Text Box 27"/>
          <p:cNvSpPr txBox="1">
            <a:spLocks noChangeArrowheads="1"/>
          </p:cNvSpPr>
          <p:nvPr/>
        </p:nvSpPr>
        <p:spPr bwMode="auto">
          <a:xfrm>
            <a:off x="3706813" y="23622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1</a:t>
            </a:r>
          </a:p>
        </p:txBody>
      </p:sp>
      <p:sp>
        <p:nvSpPr>
          <p:cNvPr id="34" name="Text Box 28"/>
          <p:cNvSpPr txBox="1">
            <a:spLocks noChangeArrowheads="1"/>
          </p:cNvSpPr>
          <p:nvPr/>
        </p:nvSpPr>
        <p:spPr bwMode="auto">
          <a:xfrm>
            <a:off x="3706813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35" name="Rectangle 29"/>
          <p:cNvSpPr>
            <a:spLocks noChangeArrowheads="1"/>
          </p:cNvSpPr>
          <p:nvPr/>
        </p:nvSpPr>
        <p:spPr bwMode="auto">
          <a:xfrm>
            <a:off x="3638550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36" name="Rectangle 30"/>
          <p:cNvSpPr>
            <a:spLocks noChangeArrowheads="1"/>
          </p:cNvSpPr>
          <p:nvPr/>
        </p:nvSpPr>
        <p:spPr bwMode="auto">
          <a:xfrm>
            <a:off x="3638550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37" name="Rectangle 31"/>
          <p:cNvSpPr>
            <a:spLocks noChangeArrowheads="1"/>
          </p:cNvSpPr>
          <p:nvPr/>
        </p:nvSpPr>
        <p:spPr bwMode="auto">
          <a:xfrm>
            <a:off x="3638550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38" name="Text Box 32"/>
          <p:cNvSpPr txBox="1">
            <a:spLocks noChangeArrowheads="1"/>
          </p:cNvSpPr>
          <p:nvPr/>
        </p:nvSpPr>
        <p:spPr bwMode="auto">
          <a:xfrm>
            <a:off x="4445000" y="2362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2</a:t>
            </a:r>
          </a:p>
        </p:txBody>
      </p:sp>
      <p:sp>
        <p:nvSpPr>
          <p:cNvPr id="39" name="Text Box 33"/>
          <p:cNvSpPr txBox="1">
            <a:spLocks noChangeArrowheads="1"/>
          </p:cNvSpPr>
          <p:nvPr/>
        </p:nvSpPr>
        <p:spPr bwMode="auto">
          <a:xfrm>
            <a:off x="4445000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40" name="Rectangle 34"/>
          <p:cNvSpPr>
            <a:spLocks noChangeArrowheads="1"/>
          </p:cNvSpPr>
          <p:nvPr/>
        </p:nvSpPr>
        <p:spPr bwMode="auto">
          <a:xfrm>
            <a:off x="4376738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41" name="Rectangle 35"/>
          <p:cNvSpPr>
            <a:spLocks noChangeArrowheads="1"/>
          </p:cNvSpPr>
          <p:nvPr/>
        </p:nvSpPr>
        <p:spPr bwMode="auto">
          <a:xfrm>
            <a:off x="4376738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42" name="Rectangle 36"/>
          <p:cNvSpPr>
            <a:spLocks noChangeArrowheads="1"/>
          </p:cNvSpPr>
          <p:nvPr/>
        </p:nvSpPr>
        <p:spPr bwMode="auto">
          <a:xfrm>
            <a:off x="4376738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43" name="Text Box 37"/>
          <p:cNvSpPr txBox="1">
            <a:spLocks noChangeArrowheads="1"/>
          </p:cNvSpPr>
          <p:nvPr/>
        </p:nvSpPr>
        <p:spPr bwMode="auto">
          <a:xfrm>
            <a:off x="5183188" y="23622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5</a:t>
            </a:r>
          </a:p>
        </p:txBody>
      </p:sp>
      <p:sp>
        <p:nvSpPr>
          <p:cNvPr id="44" name="Text Box 38"/>
          <p:cNvSpPr txBox="1">
            <a:spLocks noChangeArrowheads="1"/>
          </p:cNvSpPr>
          <p:nvPr/>
        </p:nvSpPr>
        <p:spPr bwMode="auto">
          <a:xfrm>
            <a:off x="5183188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45" name="Rectangle 39"/>
          <p:cNvSpPr>
            <a:spLocks noChangeArrowheads="1"/>
          </p:cNvSpPr>
          <p:nvPr/>
        </p:nvSpPr>
        <p:spPr bwMode="auto">
          <a:xfrm>
            <a:off x="5114925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46" name="Rectangle 40"/>
          <p:cNvSpPr>
            <a:spLocks noChangeArrowheads="1"/>
          </p:cNvSpPr>
          <p:nvPr/>
        </p:nvSpPr>
        <p:spPr bwMode="auto">
          <a:xfrm>
            <a:off x="5114925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47" name="Rectangle 41"/>
          <p:cNvSpPr>
            <a:spLocks noChangeArrowheads="1"/>
          </p:cNvSpPr>
          <p:nvPr/>
        </p:nvSpPr>
        <p:spPr bwMode="auto">
          <a:xfrm>
            <a:off x="5114925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48" name="Text Box 42"/>
          <p:cNvSpPr txBox="1">
            <a:spLocks noChangeArrowheads="1"/>
          </p:cNvSpPr>
          <p:nvPr/>
        </p:nvSpPr>
        <p:spPr bwMode="auto">
          <a:xfrm>
            <a:off x="5921375" y="23622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1</a:t>
            </a:r>
          </a:p>
        </p:txBody>
      </p:sp>
      <p:sp>
        <p:nvSpPr>
          <p:cNvPr id="49" name="Text Box 43"/>
          <p:cNvSpPr txBox="1">
            <a:spLocks noChangeArrowheads="1"/>
          </p:cNvSpPr>
          <p:nvPr/>
        </p:nvSpPr>
        <p:spPr bwMode="auto">
          <a:xfrm>
            <a:off x="5921375" y="4521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n</a:t>
            </a:r>
          </a:p>
        </p:txBody>
      </p:sp>
      <p:sp>
        <p:nvSpPr>
          <p:cNvPr id="50" name="Rectangle 44"/>
          <p:cNvSpPr>
            <a:spLocks noChangeArrowheads="1"/>
          </p:cNvSpPr>
          <p:nvPr/>
        </p:nvSpPr>
        <p:spPr bwMode="auto">
          <a:xfrm>
            <a:off x="5853113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51" name="Rectangle 45"/>
          <p:cNvSpPr>
            <a:spLocks noChangeArrowheads="1"/>
          </p:cNvSpPr>
          <p:nvPr/>
        </p:nvSpPr>
        <p:spPr bwMode="auto">
          <a:xfrm>
            <a:off x="5853113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52" name="Rectangle 46"/>
          <p:cNvSpPr>
            <a:spLocks noChangeArrowheads="1"/>
          </p:cNvSpPr>
          <p:nvPr/>
        </p:nvSpPr>
        <p:spPr bwMode="auto">
          <a:xfrm>
            <a:off x="5853113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53" name="Text Box 47"/>
          <p:cNvSpPr txBox="1">
            <a:spLocks noChangeArrowheads="1"/>
          </p:cNvSpPr>
          <p:nvPr/>
        </p:nvSpPr>
        <p:spPr bwMode="auto">
          <a:xfrm>
            <a:off x="6659563" y="2362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2</a:t>
            </a:r>
          </a:p>
        </p:txBody>
      </p:sp>
      <p:sp>
        <p:nvSpPr>
          <p:cNvPr id="54" name="Text Box 48"/>
          <p:cNvSpPr txBox="1">
            <a:spLocks noChangeArrowheads="1"/>
          </p:cNvSpPr>
          <p:nvPr/>
        </p:nvSpPr>
        <p:spPr bwMode="auto">
          <a:xfrm>
            <a:off x="6659563" y="4521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n</a:t>
            </a:r>
          </a:p>
        </p:txBody>
      </p:sp>
      <p:sp>
        <p:nvSpPr>
          <p:cNvPr id="55" name="Rectangle 49"/>
          <p:cNvSpPr>
            <a:spLocks noChangeArrowheads="1"/>
          </p:cNvSpPr>
          <p:nvPr/>
        </p:nvSpPr>
        <p:spPr bwMode="auto">
          <a:xfrm>
            <a:off x="6591300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56" name="Rectangle 50"/>
          <p:cNvSpPr>
            <a:spLocks noChangeArrowheads="1"/>
          </p:cNvSpPr>
          <p:nvPr/>
        </p:nvSpPr>
        <p:spPr bwMode="auto">
          <a:xfrm>
            <a:off x="6591300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57" name="Rectangle 51"/>
          <p:cNvSpPr>
            <a:spLocks noChangeArrowheads="1"/>
          </p:cNvSpPr>
          <p:nvPr/>
        </p:nvSpPr>
        <p:spPr bwMode="auto">
          <a:xfrm>
            <a:off x="6591300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58" name="Text Box 52"/>
          <p:cNvSpPr txBox="1">
            <a:spLocks noChangeArrowheads="1"/>
          </p:cNvSpPr>
          <p:nvPr/>
        </p:nvSpPr>
        <p:spPr bwMode="auto">
          <a:xfrm>
            <a:off x="7397750" y="23622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3</a:t>
            </a:r>
          </a:p>
        </p:txBody>
      </p:sp>
      <p:sp>
        <p:nvSpPr>
          <p:cNvPr id="59" name="Text Box 53"/>
          <p:cNvSpPr txBox="1">
            <a:spLocks noChangeArrowheads="1"/>
          </p:cNvSpPr>
          <p:nvPr/>
        </p:nvSpPr>
        <p:spPr bwMode="auto">
          <a:xfrm>
            <a:off x="7397750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60" name="Rectangle 54"/>
          <p:cNvSpPr>
            <a:spLocks noChangeArrowheads="1"/>
          </p:cNvSpPr>
          <p:nvPr/>
        </p:nvSpPr>
        <p:spPr bwMode="auto">
          <a:xfrm>
            <a:off x="7329488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61" name="Rectangle 55"/>
          <p:cNvSpPr>
            <a:spLocks noChangeArrowheads="1"/>
          </p:cNvSpPr>
          <p:nvPr/>
        </p:nvSpPr>
        <p:spPr bwMode="auto">
          <a:xfrm>
            <a:off x="7329488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62" name="Rectangle 56"/>
          <p:cNvSpPr>
            <a:spLocks noChangeArrowheads="1"/>
          </p:cNvSpPr>
          <p:nvPr/>
        </p:nvSpPr>
        <p:spPr bwMode="auto">
          <a:xfrm>
            <a:off x="7329488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63" name="Text Box 57"/>
          <p:cNvSpPr txBox="1">
            <a:spLocks noChangeArrowheads="1"/>
          </p:cNvSpPr>
          <p:nvPr/>
        </p:nvSpPr>
        <p:spPr bwMode="auto">
          <a:xfrm>
            <a:off x="1518030" y="5546725"/>
            <a:ext cx="218878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Page fault rate = 9/12</a:t>
            </a:r>
          </a:p>
        </p:txBody>
      </p:sp>
      <p:sp>
        <p:nvSpPr>
          <p:cNvPr id="64" name="Text Box 58"/>
          <p:cNvSpPr txBox="1">
            <a:spLocks noChangeArrowheads="1"/>
          </p:cNvSpPr>
          <p:nvPr/>
        </p:nvSpPr>
        <p:spPr bwMode="auto">
          <a:xfrm>
            <a:off x="8069263" y="23622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4</a:t>
            </a:r>
          </a:p>
        </p:txBody>
      </p:sp>
      <p:sp>
        <p:nvSpPr>
          <p:cNvPr id="65" name="Text Box 59"/>
          <p:cNvSpPr txBox="1">
            <a:spLocks noChangeArrowheads="1"/>
          </p:cNvSpPr>
          <p:nvPr/>
        </p:nvSpPr>
        <p:spPr bwMode="auto">
          <a:xfrm>
            <a:off x="8069263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66" name="Rectangle 60"/>
          <p:cNvSpPr>
            <a:spLocks noChangeArrowheads="1"/>
          </p:cNvSpPr>
          <p:nvPr/>
        </p:nvSpPr>
        <p:spPr bwMode="auto">
          <a:xfrm>
            <a:off x="8001000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67" name="Rectangle 61"/>
          <p:cNvSpPr>
            <a:spLocks noChangeArrowheads="1"/>
          </p:cNvSpPr>
          <p:nvPr/>
        </p:nvSpPr>
        <p:spPr bwMode="auto">
          <a:xfrm>
            <a:off x="8001000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68" name="Rectangle 62"/>
          <p:cNvSpPr>
            <a:spLocks noChangeArrowheads="1"/>
          </p:cNvSpPr>
          <p:nvPr/>
        </p:nvSpPr>
        <p:spPr bwMode="auto">
          <a:xfrm>
            <a:off x="8001000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69" name="Text Box 63"/>
          <p:cNvSpPr txBox="1">
            <a:spLocks noChangeArrowheads="1"/>
          </p:cNvSpPr>
          <p:nvPr/>
        </p:nvSpPr>
        <p:spPr bwMode="auto">
          <a:xfrm>
            <a:off x="8807450" y="23622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5</a:t>
            </a:r>
          </a:p>
        </p:txBody>
      </p:sp>
      <p:sp>
        <p:nvSpPr>
          <p:cNvPr id="70" name="Text Box 64"/>
          <p:cNvSpPr txBox="1">
            <a:spLocks noChangeArrowheads="1"/>
          </p:cNvSpPr>
          <p:nvPr/>
        </p:nvSpPr>
        <p:spPr bwMode="auto">
          <a:xfrm>
            <a:off x="8807450" y="4521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n</a:t>
            </a:r>
          </a:p>
        </p:txBody>
      </p:sp>
      <p:sp>
        <p:nvSpPr>
          <p:cNvPr id="71" name="Rectangle 65"/>
          <p:cNvSpPr>
            <a:spLocks noChangeArrowheads="1"/>
          </p:cNvSpPr>
          <p:nvPr/>
        </p:nvSpPr>
        <p:spPr bwMode="auto">
          <a:xfrm>
            <a:off x="8739188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72" name="Rectangle 66"/>
          <p:cNvSpPr>
            <a:spLocks noChangeArrowheads="1"/>
          </p:cNvSpPr>
          <p:nvPr/>
        </p:nvSpPr>
        <p:spPr bwMode="auto">
          <a:xfrm>
            <a:off x="8739188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73" name="Rectangle 67"/>
          <p:cNvSpPr>
            <a:spLocks noChangeArrowheads="1"/>
          </p:cNvSpPr>
          <p:nvPr/>
        </p:nvSpPr>
        <p:spPr bwMode="auto">
          <a:xfrm>
            <a:off x="8739188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049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pPr algn="r"/>
            <a:fld id="{1725B95B-ACDD-8E45-9616-685F8F834E6F}" type="slidenum">
              <a:rPr lang="en-US">
                <a:solidFill>
                  <a:srgbClr val="7F7F7F"/>
                </a:solidFill>
              </a:rPr>
              <a:pPr algn="r"/>
              <a:t>33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>
                <a:solidFill>
                  <a:srgbClr val="7F7F7F"/>
                </a:solidFill>
              </a:rPr>
              <a:t>Page Replacement Algorithms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33400" y="10668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solidFill>
                  <a:srgbClr val="7F7F7F"/>
                </a:solidFill>
              </a:rPr>
              <a:t>FIFO : </a:t>
            </a:r>
            <a:r>
              <a:rPr lang="en-US" sz="2800" dirty="0">
                <a:solidFill>
                  <a:srgbClr val="7F7F7F"/>
                </a:solidFill>
              </a:rPr>
              <a:t>replace the page which comes earliest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rgbClr val="7F7F7F"/>
                </a:solidFill>
              </a:rPr>
              <a:t>pages allocated to a process </a:t>
            </a:r>
            <a:r>
              <a:rPr lang="en-US" sz="2800" b="1" dirty="0">
                <a:solidFill>
                  <a:srgbClr val="3366FF"/>
                </a:solidFill>
              </a:rPr>
              <a:t>=</a:t>
            </a:r>
            <a:r>
              <a:rPr lang="en-US" sz="4400" b="1" dirty="0">
                <a:solidFill>
                  <a:srgbClr val="3366FF"/>
                </a:solidFill>
              </a:rPr>
              <a:t>4</a:t>
            </a:r>
            <a:endParaRPr lang="en-US" sz="2800" dirty="0">
              <a:solidFill>
                <a:srgbClr val="7F7F7F"/>
              </a:solidFill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0" y="2066925"/>
            <a:ext cx="6099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Page </a:t>
            </a:r>
          </a:p>
          <a:p>
            <a:r>
              <a:rPr lang="en-US">
                <a:solidFill>
                  <a:srgbClr val="7F7F7F"/>
                </a:solidFill>
              </a:rPr>
              <a:t>Ref.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0" y="3209925"/>
            <a:ext cx="65320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Me.</a:t>
            </a:r>
          </a:p>
          <a:p>
            <a:r>
              <a:rPr lang="en-US">
                <a:solidFill>
                  <a:srgbClr val="7F7F7F"/>
                </a:solidFill>
              </a:rPr>
              <a:t>State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0" y="4429125"/>
            <a:ext cx="7753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Page </a:t>
            </a:r>
          </a:p>
          <a:p>
            <a:r>
              <a:rPr lang="en-US">
                <a:solidFill>
                  <a:srgbClr val="7F7F7F"/>
                </a:solidFill>
              </a:rPr>
              <a:t>Fault ?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754063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754063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85800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85800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-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85800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-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1492250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1492250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23988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423988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423988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-</a:t>
            </a: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2230438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2230438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162175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2162175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2162175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2968625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24" name="Text Box 23"/>
          <p:cNvSpPr txBox="1">
            <a:spLocks noChangeArrowheads="1"/>
          </p:cNvSpPr>
          <p:nvPr/>
        </p:nvSpPr>
        <p:spPr bwMode="auto">
          <a:xfrm>
            <a:off x="2968625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2900363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2900363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2900363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3706813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29" name="Text Box 28"/>
          <p:cNvSpPr txBox="1">
            <a:spLocks noChangeArrowheads="1"/>
          </p:cNvSpPr>
          <p:nvPr/>
        </p:nvSpPr>
        <p:spPr bwMode="auto">
          <a:xfrm>
            <a:off x="3706813" y="4521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n</a:t>
            </a: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3638550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3638550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3638550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33" name="Text Box 32"/>
          <p:cNvSpPr txBox="1">
            <a:spLocks noChangeArrowheads="1"/>
          </p:cNvSpPr>
          <p:nvPr/>
        </p:nvSpPr>
        <p:spPr bwMode="auto">
          <a:xfrm>
            <a:off x="4445000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34" name="Text Box 33"/>
          <p:cNvSpPr txBox="1">
            <a:spLocks noChangeArrowheads="1"/>
          </p:cNvSpPr>
          <p:nvPr/>
        </p:nvSpPr>
        <p:spPr bwMode="auto">
          <a:xfrm>
            <a:off x="4445000" y="4521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n</a:t>
            </a: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4376738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4376738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4376738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5183188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39" name="Text Box 38"/>
          <p:cNvSpPr txBox="1">
            <a:spLocks noChangeArrowheads="1"/>
          </p:cNvSpPr>
          <p:nvPr/>
        </p:nvSpPr>
        <p:spPr bwMode="auto">
          <a:xfrm>
            <a:off x="5183188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5114925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5114925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5114925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43" name="Text Box 42"/>
          <p:cNvSpPr txBox="1">
            <a:spLocks noChangeArrowheads="1"/>
          </p:cNvSpPr>
          <p:nvPr/>
        </p:nvSpPr>
        <p:spPr bwMode="auto">
          <a:xfrm>
            <a:off x="5921375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44" name="Text Box 43"/>
          <p:cNvSpPr txBox="1">
            <a:spLocks noChangeArrowheads="1"/>
          </p:cNvSpPr>
          <p:nvPr/>
        </p:nvSpPr>
        <p:spPr bwMode="auto">
          <a:xfrm>
            <a:off x="5921375" y="4521200"/>
            <a:ext cx="4651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trike="sngStrike" dirty="0">
                <a:solidFill>
                  <a:srgbClr val="7F7F7F"/>
                </a:solidFill>
              </a:rPr>
              <a:t>n</a:t>
            </a:r>
            <a:r>
              <a:rPr lang="en-US" dirty="0">
                <a:solidFill>
                  <a:srgbClr val="7F7F7F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5853113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5853113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5853113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48" name="Text Box 47"/>
          <p:cNvSpPr txBox="1">
            <a:spLocks noChangeArrowheads="1"/>
          </p:cNvSpPr>
          <p:nvPr/>
        </p:nvSpPr>
        <p:spPr bwMode="auto">
          <a:xfrm>
            <a:off x="6659563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49" name="Text Box 48"/>
          <p:cNvSpPr txBox="1">
            <a:spLocks noChangeArrowheads="1"/>
          </p:cNvSpPr>
          <p:nvPr/>
        </p:nvSpPr>
        <p:spPr bwMode="auto">
          <a:xfrm>
            <a:off x="6659563" y="4521200"/>
            <a:ext cx="4651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trike="sngStrike" dirty="0">
                <a:solidFill>
                  <a:srgbClr val="7F7F7F"/>
                </a:solidFill>
              </a:rPr>
              <a:t>n</a:t>
            </a:r>
            <a:r>
              <a:rPr lang="en-US" dirty="0">
                <a:solidFill>
                  <a:srgbClr val="7F7F7F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y</a:t>
            </a:r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6591300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6591300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6591300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53" name="Text Box 52"/>
          <p:cNvSpPr txBox="1">
            <a:spLocks noChangeArrowheads="1"/>
          </p:cNvSpPr>
          <p:nvPr/>
        </p:nvSpPr>
        <p:spPr bwMode="auto">
          <a:xfrm>
            <a:off x="7397750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54" name="Text Box 53"/>
          <p:cNvSpPr txBox="1">
            <a:spLocks noChangeArrowheads="1"/>
          </p:cNvSpPr>
          <p:nvPr/>
        </p:nvSpPr>
        <p:spPr bwMode="auto">
          <a:xfrm>
            <a:off x="7397750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7329488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7329488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7329488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58" name="Text Box 57"/>
          <p:cNvSpPr txBox="1">
            <a:spLocks noChangeArrowheads="1"/>
          </p:cNvSpPr>
          <p:nvPr/>
        </p:nvSpPr>
        <p:spPr bwMode="auto">
          <a:xfrm>
            <a:off x="429176" y="5381625"/>
            <a:ext cx="72824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Page fault rate = 10/12 !!!  </a:t>
            </a:r>
            <a:r>
              <a:rPr lang="en-US" dirty="0">
                <a:solidFill>
                  <a:srgbClr val="7F7F7F"/>
                </a:solidFill>
              </a:rPr>
              <a:t>While the number of pages increased, the </a:t>
            </a:r>
            <a:r>
              <a:rPr lang="en-US" dirty="0" err="1">
                <a:solidFill>
                  <a:srgbClr val="7F7F7F"/>
                </a:solidFill>
              </a:rPr>
              <a:t>p.f.r</a:t>
            </a:r>
            <a:endParaRPr lang="en-US" dirty="0">
              <a:solidFill>
                <a:srgbClr val="7F7F7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 increases as well ! This is called </a:t>
            </a:r>
            <a:r>
              <a:rPr lang="en-US" b="1" dirty="0" err="1">
                <a:solidFill>
                  <a:srgbClr val="3366FF"/>
                </a:solidFill>
              </a:rPr>
              <a:t>Belady</a:t>
            </a:r>
            <a:r>
              <a:rPr lang="ja-JP" altLang="en-US" b="1" dirty="0">
                <a:solidFill>
                  <a:srgbClr val="3366FF"/>
                </a:solidFill>
                <a:latin typeface="Arial"/>
              </a:rPr>
              <a:t>’</a:t>
            </a:r>
            <a:r>
              <a:rPr lang="en-US" b="1" dirty="0">
                <a:solidFill>
                  <a:srgbClr val="3366FF"/>
                </a:solidFill>
              </a:rPr>
              <a:t>s anomaly </a:t>
            </a:r>
            <a:r>
              <a:rPr lang="en-US" dirty="0">
                <a:solidFill>
                  <a:srgbClr val="7F7F7F"/>
                </a:solidFill>
              </a:rPr>
              <a:t>!</a:t>
            </a:r>
          </a:p>
        </p:txBody>
      </p:sp>
      <p:sp>
        <p:nvSpPr>
          <p:cNvPr id="59" name="Text Box 58"/>
          <p:cNvSpPr txBox="1">
            <a:spLocks noChangeArrowheads="1"/>
          </p:cNvSpPr>
          <p:nvPr/>
        </p:nvSpPr>
        <p:spPr bwMode="auto">
          <a:xfrm>
            <a:off x="8069263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60" name="Text Box 59"/>
          <p:cNvSpPr txBox="1">
            <a:spLocks noChangeArrowheads="1"/>
          </p:cNvSpPr>
          <p:nvPr/>
        </p:nvSpPr>
        <p:spPr bwMode="auto">
          <a:xfrm>
            <a:off x="8069263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8001000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8001000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63" name="Rectangle 62"/>
          <p:cNvSpPr>
            <a:spLocks noChangeArrowheads="1"/>
          </p:cNvSpPr>
          <p:nvPr/>
        </p:nvSpPr>
        <p:spPr bwMode="auto">
          <a:xfrm>
            <a:off x="8001000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64" name="Text Box 63"/>
          <p:cNvSpPr txBox="1">
            <a:spLocks noChangeArrowheads="1"/>
          </p:cNvSpPr>
          <p:nvPr/>
        </p:nvSpPr>
        <p:spPr bwMode="auto">
          <a:xfrm>
            <a:off x="8807450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65" name="Text Box 64"/>
          <p:cNvSpPr txBox="1">
            <a:spLocks noChangeArrowheads="1"/>
          </p:cNvSpPr>
          <p:nvPr/>
        </p:nvSpPr>
        <p:spPr bwMode="auto">
          <a:xfrm>
            <a:off x="8807450" y="4521200"/>
            <a:ext cx="4651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trike="sngStrike" dirty="0">
                <a:solidFill>
                  <a:srgbClr val="7F7F7F"/>
                </a:solidFill>
              </a:rPr>
              <a:t>n</a:t>
            </a:r>
            <a:r>
              <a:rPr lang="en-US" dirty="0">
                <a:solidFill>
                  <a:srgbClr val="7F7F7F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y</a:t>
            </a:r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66" name="Rectangle 65"/>
          <p:cNvSpPr>
            <a:spLocks noChangeArrowheads="1"/>
          </p:cNvSpPr>
          <p:nvPr/>
        </p:nvSpPr>
        <p:spPr bwMode="auto">
          <a:xfrm>
            <a:off x="8739188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67" name="Rectangle 66"/>
          <p:cNvSpPr>
            <a:spLocks noChangeArrowheads="1"/>
          </p:cNvSpPr>
          <p:nvPr/>
        </p:nvSpPr>
        <p:spPr bwMode="auto">
          <a:xfrm>
            <a:off x="8739188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68" name="Rectangle 67"/>
          <p:cNvSpPr>
            <a:spLocks noChangeArrowheads="1"/>
          </p:cNvSpPr>
          <p:nvPr/>
        </p:nvSpPr>
        <p:spPr bwMode="auto">
          <a:xfrm>
            <a:off x="8739188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69" name="Rectangle 68"/>
          <p:cNvSpPr>
            <a:spLocks noChangeArrowheads="1"/>
          </p:cNvSpPr>
          <p:nvPr/>
        </p:nvSpPr>
        <p:spPr bwMode="auto">
          <a:xfrm>
            <a:off x="687388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-</a:t>
            </a:r>
          </a:p>
        </p:txBody>
      </p:sp>
      <p:sp>
        <p:nvSpPr>
          <p:cNvPr id="70" name="Rectangle 69"/>
          <p:cNvSpPr>
            <a:spLocks noChangeArrowheads="1"/>
          </p:cNvSpPr>
          <p:nvPr/>
        </p:nvSpPr>
        <p:spPr bwMode="auto">
          <a:xfrm>
            <a:off x="1425575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-</a:t>
            </a:r>
          </a:p>
        </p:txBody>
      </p: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2163763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-</a:t>
            </a: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2901950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73" name="Rectangle 72"/>
          <p:cNvSpPr>
            <a:spLocks noChangeArrowheads="1"/>
          </p:cNvSpPr>
          <p:nvPr/>
        </p:nvSpPr>
        <p:spPr bwMode="auto">
          <a:xfrm>
            <a:off x="3640138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74" name="Rectangle 73"/>
          <p:cNvSpPr>
            <a:spLocks noChangeArrowheads="1"/>
          </p:cNvSpPr>
          <p:nvPr/>
        </p:nvSpPr>
        <p:spPr bwMode="auto">
          <a:xfrm>
            <a:off x="4378325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75" name="Rectangle 74"/>
          <p:cNvSpPr>
            <a:spLocks noChangeArrowheads="1"/>
          </p:cNvSpPr>
          <p:nvPr/>
        </p:nvSpPr>
        <p:spPr bwMode="auto">
          <a:xfrm>
            <a:off x="5116513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76" name="Rectangle 75"/>
          <p:cNvSpPr>
            <a:spLocks noChangeArrowheads="1"/>
          </p:cNvSpPr>
          <p:nvPr/>
        </p:nvSpPr>
        <p:spPr bwMode="auto">
          <a:xfrm>
            <a:off x="5854700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77" name="Rectangle 76"/>
          <p:cNvSpPr>
            <a:spLocks noChangeArrowheads="1"/>
          </p:cNvSpPr>
          <p:nvPr/>
        </p:nvSpPr>
        <p:spPr bwMode="auto">
          <a:xfrm>
            <a:off x="6592888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78" name="Rectangle 77"/>
          <p:cNvSpPr>
            <a:spLocks noChangeArrowheads="1"/>
          </p:cNvSpPr>
          <p:nvPr/>
        </p:nvSpPr>
        <p:spPr bwMode="auto">
          <a:xfrm>
            <a:off x="7331075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79" name="Rectangle 78"/>
          <p:cNvSpPr>
            <a:spLocks noChangeArrowheads="1"/>
          </p:cNvSpPr>
          <p:nvPr/>
        </p:nvSpPr>
        <p:spPr bwMode="auto">
          <a:xfrm>
            <a:off x="8002588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80" name="Rectangle 79"/>
          <p:cNvSpPr>
            <a:spLocks noChangeArrowheads="1"/>
          </p:cNvSpPr>
          <p:nvPr/>
        </p:nvSpPr>
        <p:spPr bwMode="auto">
          <a:xfrm>
            <a:off x="8740775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397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13051" y="972312"/>
            <a:ext cx="5898734" cy="3180588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Static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allocation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is the optimal degree of multiprogramming?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Trashing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Dynamic Allocation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Read Sections 8.5 and 8.6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and Dynamic Allocation Policies</a:t>
            </a:r>
          </a:p>
        </p:txBody>
      </p:sp>
    </p:spTree>
    <p:extLst>
      <p:ext uri="{BB962C8B-B14F-4D97-AF65-F5344CB8AC3E}">
        <p14:creationId xmlns:p14="http://schemas.microsoft.com/office/powerpoint/2010/main" val="160224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325EBF4-5070-1340-B591-342D2A79717D}" type="slidenum">
              <a:rPr lang="en-US">
                <a:solidFill>
                  <a:srgbClr val="7F7F7F"/>
                </a:solidFill>
              </a:rPr>
              <a:pPr algn="r"/>
              <a:t>35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Static Allocation Algorithm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Equal algorithm : Di = M/n where n is the number of processes.</a:t>
            </a:r>
          </a:p>
          <a:p>
            <a:endParaRPr lang="en-US"/>
          </a:p>
          <a:p>
            <a:r>
              <a:rPr lang="en-US"/>
              <a:t>Proportional algorithm</a:t>
            </a:r>
          </a:p>
          <a:p>
            <a:pPr lvl="1"/>
            <a:r>
              <a:rPr lang="en-US"/>
              <a:t>Di = M *Si/S, where S = Sum Si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31093F5-4282-A543-9936-66C1D6A191AE}" type="slidenum">
              <a:rPr lang="en-US">
                <a:solidFill>
                  <a:srgbClr val="7F7F7F"/>
                </a:solidFill>
              </a:rPr>
              <a:pPr algn="r"/>
              <a:t>36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152400"/>
            <a:ext cx="7772400" cy="647700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Determining the Degree of Multiprogramming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168400"/>
            <a:ext cx="7772400" cy="5295900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Monitoring the CPU utilization</a:t>
            </a:r>
          </a:p>
          <a:p>
            <a:r>
              <a:rPr lang="en-US" dirty="0">
                <a:solidFill>
                  <a:srgbClr val="7F7F7F"/>
                </a:solidFill>
              </a:rPr>
              <a:t>If CPU utilization is too low, increase n (</a:t>
            </a:r>
            <a:r>
              <a:rPr lang="en-US" b="1" dirty="0">
                <a:solidFill>
                  <a:srgbClr val="3366FF"/>
                </a:solidFill>
              </a:rPr>
              <a:t>degree of </a:t>
            </a:r>
            <a:r>
              <a:rPr lang="en-US" b="1" dirty="0" err="1">
                <a:solidFill>
                  <a:srgbClr val="3366FF"/>
                </a:solidFill>
              </a:rPr>
              <a:t>multiprograming</a:t>
            </a:r>
            <a:r>
              <a:rPr lang="en-US" dirty="0">
                <a:solidFill>
                  <a:srgbClr val="7F7F7F"/>
                </a:solidFill>
              </a:rPr>
              <a:t>)</a:t>
            </a:r>
          </a:p>
          <a:p>
            <a:r>
              <a:rPr lang="en-US" dirty="0">
                <a:solidFill>
                  <a:srgbClr val="7F7F7F"/>
                </a:solidFill>
              </a:rPr>
              <a:t>If CPU utilization is too high, reduce n.</a:t>
            </a:r>
            <a:r>
              <a:rPr lang="ja-JP" altLang="en-US" dirty="0">
                <a:solidFill>
                  <a:srgbClr val="7F7F7F"/>
                </a:solidFill>
                <a:latin typeface="Arial"/>
              </a:rPr>
              <a:t>’</a:t>
            </a:r>
            <a:endParaRPr lang="en-US" dirty="0">
              <a:solidFill>
                <a:srgbClr val="7F7F7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Problem ?</a:t>
            </a:r>
          </a:p>
          <a:p>
            <a:r>
              <a:rPr lang="en-US" dirty="0">
                <a:solidFill>
                  <a:srgbClr val="7F7F7F"/>
                </a:solidFill>
              </a:rPr>
              <a:t>Will increasing n always result in increasing CPU utilization ? </a:t>
            </a:r>
          </a:p>
          <a:p>
            <a:endParaRPr lang="en-US" dirty="0">
              <a:solidFill>
                <a:srgbClr val="7F7F7F"/>
              </a:solidFill>
            </a:endParaRPr>
          </a:p>
          <a:p>
            <a:endParaRPr lang="en-US" dirty="0">
              <a:solidFill>
                <a:srgbClr val="7F7F7F"/>
              </a:solidFill>
            </a:endParaRPr>
          </a:p>
          <a:p>
            <a:endParaRPr lang="en-US" dirty="0">
              <a:solidFill>
                <a:srgbClr val="7F7F7F"/>
              </a:solidFill>
            </a:endParaRPr>
          </a:p>
          <a:p>
            <a:endParaRPr lang="en-US" dirty="0">
              <a:solidFill>
                <a:srgbClr val="7F7F7F"/>
              </a:solidFill>
            </a:endParaRPr>
          </a:p>
          <a:p>
            <a:endParaRPr lang="en-US" dirty="0">
              <a:solidFill>
                <a:srgbClr val="7F7F7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F7F7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A process is </a:t>
            </a:r>
            <a:r>
              <a:rPr lang="en-US" b="1" dirty="0">
                <a:solidFill>
                  <a:srgbClr val="3366FF"/>
                </a:solidFill>
              </a:rPr>
              <a:t>trashing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rgbClr val="7F7F7F"/>
                </a:solidFill>
              </a:rPr>
              <a:t>if it is spending more time paging than executing</a:t>
            </a:r>
          </a:p>
          <a:p>
            <a:endParaRPr lang="en-US" dirty="0">
              <a:solidFill>
                <a:srgbClr val="7F7F7F"/>
              </a:solidFill>
            </a:endParaRPr>
          </a:p>
          <a:p>
            <a:r>
              <a:rPr lang="en-US" b="1" dirty="0">
                <a:solidFill>
                  <a:srgbClr val="3366FF"/>
                </a:solidFill>
              </a:rPr>
              <a:t>A system is trashing </a:t>
            </a:r>
            <a:r>
              <a:rPr lang="en-US" dirty="0">
                <a:solidFill>
                  <a:srgbClr val="7F7F7F"/>
                </a:solidFill>
              </a:rPr>
              <a:t>if increasing the degree of multi-programming reduces CPU utilization.</a:t>
            </a:r>
          </a:p>
          <a:p>
            <a:endParaRPr lang="en-US" dirty="0">
              <a:solidFill>
                <a:srgbClr val="7F7F7F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90500" y="3066534"/>
            <a:ext cx="8474075" cy="1512332"/>
            <a:chOff x="190500" y="3578225"/>
            <a:chExt cx="8474075" cy="1512332"/>
          </a:xfrm>
        </p:grpSpPr>
        <p:sp>
          <p:nvSpPr>
            <p:cNvPr id="24580" name="Line 4"/>
            <p:cNvSpPr>
              <a:spLocks noChangeShapeType="1"/>
            </p:cNvSpPr>
            <p:nvPr/>
          </p:nvSpPr>
          <p:spPr bwMode="auto">
            <a:xfrm flipV="1">
              <a:off x="1273175" y="3746500"/>
              <a:ext cx="1588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4581" name="Line 5"/>
            <p:cNvSpPr>
              <a:spLocks noChangeShapeType="1"/>
            </p:cNvSpPr>
            <p:nvPr/>
          </p:nvSpPr>
          <p:spPr bwMode="auto">
            <a:xfrm>
              <a:off x="1273175" y="4737100"/>
              <a:ext cx="73914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4582" name="Text Box 6"/>
            <p:cNvSpPr txBox="1">
              <a:spLocks noChangeArrowheads="1"/>
            </p:cNvSpPr>
            <p:nvPr/>
          </p:nvSpPr>
          <p:spPr bwMode="auto">
            <a:xfrm>
              <a:off x="190500" y="3578225"/>
              <a:ext cx="629199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CPU</a:t>
              </a:r>
            </a:p>
            <a:p>
              <a:r>
                <a:rPr lang="en-US">
                  <a:solidFill>
                    <a:srgbClr val="7F7F7F"/>
                  </a:solidFill>
                </a:rPr>
                <a:t>Use</a:t>
              </a:r>
            </a:p>
          </p:txBody>
        </p:sp>
        <p:sp>
          <p:nvSpPr>
            <p:cNvPr id="24586" name="Arc 10"/>
            <p:cNvSpPr>
              <a:spLocks/>
            </p:cNvSpPr>
            <p:nvPr/>
          </p:nvSpPr>
          <p:spPr bwMode="auto">
            <a:xfrm rot="5400000" flipV="1">
              <a:off x="3536950" y="3251201"/>
              <a:ext cx="884237" cy="2055812"/>
            </a:xfrm>
            <a:custGeom>
              <a:avLst/>
              <a:gdLst>
                <a:gd name="G0" fmla="+- 0 0 0"/>
                <a:gd name="G1" fmla="+- 21592 0 0"/>
                <a:gd name="G2" fmla="+- 21600 0 0"/>
                <a:gd name="T0" fmla="*/ 576 w 21573"/>
                <a:gd name="T1" fmla="*/ 0 h 21592"/>
                <a:gd name="T2" fmla="*/ 21573 w 21573"/>
                <a:gd name="T3" fmla="*/ 20521 h 21592"/>
                <a:gd name="T4" fmla="*/ 0 w 21573"/>
                <a:gd name="T5" fmla="*/ 21592 h 21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73" h="21592" fill="none" extrusionOk="0">
                  <a:moveTo>
                    <a:pt x="576" y="-1"/>
                  </a:moveTo>
                  <a:cubicBezTo>
                    <a:pt x="11862" y="300"/>
                    <a:pt x="21013" y="9243"/>
                    <a:pt x="21573" y="20520"/>
                  </a:cubicBezTo>
                </a:path>
                <a:path w="21573" h="21592" stroke="0" extrusionOk="0">
                  <a:moveTo>
                    <a:pt x="576" y="-1"/>
                  </a:moveTo>
                  <a:cubicBezTo>
                    <a:pt x="11862" y="300"/>
                    <a:pt x="21013" y="9243"/>
                    <a:pt x="21573" y="20520"/>
                  </a:cubicBezTo>
                  <a:lnTo>
                    <a:pt x="0" y="2159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4587" name="Arc 11"/>
            <p:cNvSpPr>
              <a:spLocks/>
            </p:cNvSpPr>
            <p:nvPr/>
          </p:nvSpPr>
          <p:spPr bwMode="auto">
            <a:xfrm rot="-5400000">
              <a:off x="1676400" y="3479800"/>
              <a:ext cx="914400" cy="16002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4588" name="Text Box 12"/>
            <p:cNvSpPr txBox="1">
              <a:spLocks noChangeArrowheads="1"/>
            </p:cNvSpPr>
            <p:nvPr/>
          </p:nvSpPr>
          <p:spPr bwMode="auto">
            <a:xfrm>
              <a:off x="2536825" y="4721225"/>
              <a:ext cx="298030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Degree of Multi-Programming</a:t>
              </a:r>
            </a:p>
          </p:txBody>
        </p:sp>
        <p:sp>
          <p:nvSpPr>
            <p:cNvPr id="24589" name="Line 13"/>
            <p:cNvSpPr>
              <a:spLocks noChangeShapeType="1"/>
            </p:cNvSpPr>
            <p:nvPr/>
          </p:nvSpPr>
          <p:spPr bwMode="auto">
            <a:xfrm>
              <a:off x="3238500" y="4051300"/>
              <a:ext cx="1066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4590" name="Text Box 14"/>
            <p:cNvSpPr txBox="1">
              <a:spLocks noChangeArrowheads="1"/>
            </p:cNvSpPr>
            <p:nvPr/>
          </p:nvSpPr>
          <p:spPr bwMode="auto">
            <a:xfrm>
              <a:off x="4365625" y="3883025"/>
              <a:ext cx="120571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Trashing !!!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CE98DB8-F311-884C-812B-6F849FF38F5F}" type="slidenum">
              <a:rPr lang="en-US">
                <a:solidFill>
                  <a:srgbClr val="7F7F7F"/>
                </a:solidFill>
              </a:rPr>
              <a:pPr algn="r"/>
              <a:t>37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7F7F7F"/>
                </a:solidFill>
              </a:rPr>
              <a:t>Prevention of Trashing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Allocate sufficient number of frames to each process in memory.</a:t>
            </a:r>
          </a:p>
          <a:p>
            <a:endParaRPr lang="en-US" dirty="0">
              <a:solidFill>
                <a:srgbClr val="7F7F7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Increasing the degree of multi-programming only if the current processes have had enough frames and CPU utilization is still low.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89DBA6E2-DDEA-504B-A390-7F503D02D392}" type="slidenum">
              <a:rPr lang="en-US">
                <a:solidFill>
                  <a:srgbClr val="7F7F7F"/>
                </a:solidFill>
              </a:rPr>
              <a:pPr algn="r"/>
              <a:t>38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7F7F7F"/>
                </a:solidFill>
              </a:rPr>
              <a:t>How many frames are enough to a process ?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259080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Working set </a:t>
            </a:r>
            <a:r>
              <a:rPr lang="en-US" b="1" dirty="0">
                <a:solidFill>
                  <a:srgbClr val="3366FF"/>
                </a:solidFill>
              </a:rPr>
              <a:t>rationale</a:t>
            </a:r>
            <a:r>
              <a:rPr lang="en-US" dirty="0">
                <a:solidFill>
                  <a:srgbClr val="7F7F7F"/>
                </a:solidFill>
              </a:rPr>
              <a:t>: based on temporal locality : the most recent accessed frames will be used again</a:t>
            </a:r>
          </a:p>
          <a:p>
            <a:r>
              <a:rPr lang="en-US" dirty="0">
                <a:solidFill>
                  <a:srgbClr val="7F7F7F"/>
                </a:solidFill>
              </a:rPr>
              <a:t>Working set </a:t>
            </a:r>
            <a:r>
              <a:rPr lang="en-US" b="1" dirty="0">
                <a:solidFill>
                  <a:srgbClr val="3366FF"/>
                </a:solidFill>
              </a:rPr>
              <a:t>definition</a:t>
            </a:r>
            <a:r>
              <a:rPr lang="en-US" dirty="0">
                <a:solidFill>
                  <a:srgbClr val="7F7F7F"/>
                </a:solidFill>
              </a:rPr>
              <a:t>: The working set of a process is the </a:t>
            </a:r>
            <a:r>
              <a:rPr lang="en-US" dirty="0">
                <a:solidFill>
                  <a:srgbClr val="3366FF"/>
                </a:solidFill>
              </a:rPr>
              <a:t>set</a:t>
            </a:r>
            <a:r>
              <a:rPr lang="en-US" dirty="0">
                <a:solidFill>
                  <a:srgbClr val="7F7F7F"/>
                </a:solidFill>
              </a:rPr>
              <a:t> of most recent </a:t>
            </a:r>
            <a:r>
              <a:rPr lang="en-US" dirty="0">
                <a:solidFill>
                  <a:srgbClr val="7F7F7F"/>
                </a:solidFill>
                <a:latin typeface="Symbol" charset="0"/>
              </a:rPr>
              <a:t>D</a:t>
            </a:r>
            <a:r>
              <a:rPr lang="en-US" dirty="0">
                <a:solidFill>
                  <a:srgbClr val="7F7F7F"/>
                </a:solidFill>
              </a:rPr>
              <a:t> page references. It varies as the process executes.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914400" y="3336925"/>
            <a:ext cx="67762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F7F7F"/>
                </a:solidFill>
              </a:rPr>
              <a:t>….2 6 1 5 7 7 7 7 5 1 6 2 3 4 1 2 3 4 4 4 4 3 4 3 4 4 4 1 3 2 3 4 4 4 3..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838200" y="3810000"/>
            <a:ext cx="2739151" cy="1039257"/>
            <a:chOff x="838200" y="3810000"/>
            <a:chExt cx="2739151" cy="1039257"/>
          </a:xfrm>
        </p:grpSpPr>
        <p:sp>
          <p:nvSpPr>
            <p:cNvPr id="27653" name="Line 5"/>
            <p:cNvSpPr>
              <a:spLocks noChangeShapeType="1"/>
            </p:cNvSpPr>
            <p:nvPr/>
          </p:nvSpPr>
          <p:spPr bwMode="auto">
            <a:xfrm>
              <a:off x="1387475" y="4038600"/>
              <a:ext cx="2057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7654" name="Line 6"/>
            <p:cNvSpPr>
              <a:spLocks noChangeShapeType="1"/>
            </p:cNvSpPr>
            <p:nvPr/>
          </p:nvSpPr>
          <p:spPr bwMode="auto">
            <a:xfrm flipV="1">
              <a:off x="3521075" y="38100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7655" name="Text Box 7"/>
            <p:cNvSpPr txBox="1">
              <a:spLocks noChangeArrowheads="1"/>
            </p:cNvSpPr>
            <p:nvPr/>
          </p:nvSpPr>
          <p:spPr bwMode="auto">
            <a:xfrm>
              <a:off x="2225675" y="4114800"/>
              <a:ext cx="32589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  <a:latin typeface="Symbol" charset="0"/>
                </a:rPr>
                <a:t>D</a:t>
              </a:r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7656" name="Text Box 8"/>
            <p:cNvSpPr txBox="1">
              <a:spLocks noChangeArrowheads="1"/>
            </p:cNvSpPr>
            <p:nvPr/>
          </p:nvSpPr>
          <p:spPr bwMode="auto">
            <a:xfrm>
              <a:off x="3200400" y="4327525"/>
              <a:ext cx="37695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t1</a:t>
              </a:r>
            </a:p>
          </p:txBody>
        </p:sp>
        <p:sp>
          <p:nvSpPr>
            <p:cNvPr id="27663" name="Text Box 15"/>
            <p:cNvSpPr txBox="1">
              <a:spLocks noChangeArrowheads="1"/>
            </p:cNvSpPr>
            <p:nvPr/>
          </p:nvSpPr>
          <p:spPr bwMode="auto">
            <a:xfrm>
              <a:off x="838200" y="4479925"/>
              <a:ext cx="22621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WS(t1) ={1,2,5,6,7}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994150" y="3794125"/>
            <a:ext cx="3200916" cy="1071007"/>
            <a:chOff x="3994150" y="3794125"/>
            <a:chExt cx="3200916" cy="1071007"/>
          </a:xfrm>
        </p:grpSpPr>
        <p:sp>
          <p:nvSpPr>
            <p:cNvPr id="27657" name="Line 9"/>
            <p:cNvSpPr>
              <a:spLocks noChangeShapeType="1"/>
            </p:cNvSpPr>
            <p:nvPr/>
          </p:nvSpPr>
          <p:spPr bwMode="auto">
            <a:xfrm>
              <a:off x="3994150" y="4070350"/>
              <a:ext cx="2057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7658" name="Line 10"/>
            <p:cNvSpPr>
              <a:spLocks noChangeShapeType="1"/>
            </p:cNvSpPr>
            <p:nvPr/>
          </p:nvSpPr>
          <p:spPr bwMode="auto">
            <a:xfrm flipV="1">
              <a:off x="6127750" y="384175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7659" name="Text Box 11"/>
            <p:cNvSpPr txBox="1">
              <a:spLocks noChangeArrowheads="1"/>
            </p:cNvSpPr>
            <p:nvPr/>
          </p:nvSpPr>
          <p:spPr bwMode="auto">
            <a:xfrm>
              <a:off x="4832350" y="4146550"/>
              <a:ext cx="32589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  <a:latin typeface="Symbol" charset="0"/>
                </a:rPr>
                <a:t>D</a:t>
              </a:r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7660" name="Text Box 12"/>
            <p:cNvSpPr txBox="1">
              <a:spLocks noChangeArrowheads="1"/>
            </p:cNvSpPr>
            <p:nvPr/>
          </p:nvSpPr>
          <p:spPr bwMode="auto">
            <a:xfrm>
              <a:off x="5807075" y="4191000"/>
              <a:ext cx="37702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t2</a:t>
              </a:r>
            </a:p>
          </p:txBody>
        </p:sp>
        <p:sp>
          <p:nvSpPr>
            <p:cNvPr id="27662" name="Text Box 14"/>
            <p:cNvSpPr txBox="1">
              <a:spLocks noChangeArrowheads="1"/>
            </p:cNvSpPr>
            <p:nvPr/>
          </p:nvSpPr>
          <p:spPr bwMode="auto">
            <a:xfrm>
              <a:off x="7010400" y="3794125"/>
              <a:ext cx="18466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7664" name="Text Box 16"/>
            <p:cNvSpPr txBox="1">
              <a:spLocks noChangeArrowheads="1"/>
            </p:cNvSpPr>
            <p:nvPr/>
          </p:nvSpPr>
          <p:spPr bwMode="auto">
            <a:xfrm>
              <a:off x="4343400" y="4495800"/>
              <a:ext cx="162184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WS(t2)={3,4}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  <p:bldP spid="2765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178F7D58-EFF6-D04C-90E2-21EC393ECA92}" type="slidenum">
              <a:rPr lang="en-US">
                <a:solidFill>
                  <a:srgbClr val="7F7F7F"/>
                </a:solidFill>
              </a:rPr>
              <a:pPr algn="r"/>
              <a:t>39</a:t>
            </a:fld>
            <a:endParaRPr lang="en-US">
              <a:solidFill>
                <a:srgbClr val="7F7F7F"/>
              </a:solidFill>
            </a:endParaRP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7F7F7F"/>
                </a:solidFill>
              </a:rPr>
              <a:t>Dynamic Allocation Algorithm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Di = </a:t>
            </a:r>
            <a:r>
              <a:rPr lang="en-US" dirty="0" err="1">
                <a:solidFill>
                  <a:srgbClr val="7F7F7F"/>
                </a:solidFill>
              </a:rPr>
              <a:t>Wsi</a:t>
            </a:r>
            <a:r>
              <a:rPr lang="en-US" dirty="0">
                <a:solidFill>
                  <a:srgbClr val="7F7F7F"/>
                </a:solidFill>
              </a:rPr>
              <a:t>(t, )</a:t>
            </a:r>
          </a:p>
          <a:p>
            <a:endParaRPr lang="en-US" dirty="0">
              <a:solidFill>
                <a:srgbClr val="7F7F7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If we can select </a:t>
            </a:r>
            <a:r>
              <a:rPr lang="en-US" dirty="0">
                <a:solidFill>
                  <a:srgbClr val="7F7F7F"/>
                </a:solidFill>
                <a:latin typeface="Symbol" charset="0"/>
              </a:rPr>
              <a:t>D</a:t>
            </a:r>
            <a:r>
              <a:rPr lang="en-US" dirty="0">
                <a:solidFill>
                  <a:srgbClr val="7F7F7F"/>
                </a:solidFill>
              </a:rPr>
              <a:t> properly and the process has locality behavior, then keeping </a:t>
            </a:r>
            <a:r>
              <a:rPr lang="en-US" dirty="0" err="1">
                <a:solidFill>
                  <a:srgbClr val="7F7F7F"/>
                </a:solidFill>
              </a:rPr>
              <a:t>Wsi</a:t>
            </a:r>
            <a:r>
              <a:rPr lang="en-US" dirty="0">
                <a:solidFill>
                  <a:srgbClr val="7F7F7F"/>
                </a:solidFill>
              </a:rPr>
              <a:t> pages for the process will prevent its trashing.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r>
              <a:rPr lang="en-US" dirty="0"/>
              <a:t>Review the </a:t>
            </a:r>
            <a:r>
              <a:rPr lang="en-US" dirty="0">
                <a:solidFill>
                  <a:srgbClr val="FF6600"/>
                </a:solidFill>
              </a:rPr>
              <a:t>objectives, constraints, and “helpers” of </a:t>
            </a:r>
            <a:r>
              <a:rPr lang="en-US" dirty="0"/>
              <a:t> </a:t>
            </a:r>
            <a:r>
              <a:rPr lang="en-US" dirty="0">
                <a:solidFill>
                  <a:srgbClr val="FF6600"/>
                </a:solidFill>
              </a:rPr>
              <a:t>Memory Management</a:t>
            </a:r>
            <a:r>
              <a:rPr lang="en-US" dirty="0"/>
              <a:t>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Learn and understand the </a:t>
            </a:r>
            <a:r>
              <a:rPr lang="en-US" dirty="0">
                <a:solidFill>
                  <a:srgbClr val="FF6600"/>
                </a:solidFill>
              </a:rPr>
              <a:t>design</a:t>
            </a:r>
            <a:r>
              <a:rPr lang="en-US" dirty="0"/>
              <a:t> </a:t>
            </a:r>
            <a:r>
              <a:rPr lang="en-US" dirty="0">
                <a:solidFill>
                  <a:srgbClr val="FF6600"/>
                </a:solidFill>
              </a:rPr>
              <a:t>guiding principles </a:t>
            </a:r>
            <a:r>
              <a:rPr lang="en-US" dirty="0"/>
              <a:t>to hierarchical memory.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Describe, discuss and evaluate </a:t>
            </a:r>
            <a:r>
              <a:rPr lang="en-US" dirty="0">
                <a:solidFill>
                  <a:srgbClr val="FF6600"/>
                </a:solidFill>
              </a:rPr>
              <a:t>the virtual memory (Demand Paging)</a:t>
            </a:r>
            <a:r>
              <a:rPr lang="en-US" dirty="0"/>
              <a:t>.</a:t>
            </a:r>
          </a:p>
          <a:p>
            <a:r>
              <a:rPr lang="en-US" dirty="0"/>
              <a:t>Learn and understand </a:t>
            </a:r>
            <a:r>
              <a:rPr lang="en-US" dirty="0">
                <a:solidFill>
                  <a:srgbClr val="FF6600"/>
                </a:solidFill>
              </a:rPr>
              <a:t>Page Replacement</a:t>
            </a:r>
            <a:r>
              <a:rPr lang="en-US" dirty="0"/>
              <a:t> Policies.</a:t>
            </a:r>
          </a:p>
          <a:p>
            <a:r>
              <a:rPr lang="en-US" dirty="0"/>
              <a:t>Learn and Understand </a:t>
            </a:r>
            <a:r>
              <a:rPr lang="en-US" dirty="0">
                <a:solidFill>
                  <a:srgbClr val="FF6600"/>
                </a:solidFill>
              </a:rPr>
              <a:t>Frame Allocation</a:t>
            </a:r>
            <a:r>
              <a:rPr lang="en-US" dirty="0"/>
              <a:t> Policies.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Responsible for reading Sections 1.8.3,  8.1 through 8.6.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 Up</a:t>
            </a:r>
          </a:p>
        </p:txBody>
      </p:sp>
    </p:spTree>
    <p:extLst>
      <p:ext uri="{BB962C8B-B14F-4D97-AF65-F5344CB8AC3E}">
        <p14:creationId xmlns:p14="http://schemas.microsoft.com/office/powerpoint/2010/main" val="55148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WM_SlideTemplateA_Template">
  <a:themeElements>
    <a:clrScheme name="Custom 1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004065"/>
      </a:accent1>
      <a:accent2>
        <a:srgbClr val="9593B9"/>
      </a:accent2>
      <a:accent3>
        <a:srgbClr val="DEC258"/>
      </a:accent3>
      <a:accent4>
        <a:srgbClr val="96CBB2"/>
      </a:accent4>
      <a:accent5>
        <a:srgbClr val="88A8C2"/>
      </a:accent5>
      <a:accent6>
        <a:srgbClr val="E2BBA2"/>
      </a:accent6>
      <a:hlink>
        <a:srgbClr val="6A938A"/>
      </a:hlink>
      <a:folHlink>
        <a:srgbClr val="B2B2B2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uburn_ExampleSlides_OptionA_Demo_ML" id="{4F358B03-E485-B847-841D-66421C1D2BD5}" vid="{44E32B64-2C70-EB4E-B445-56D689BF2F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Auburn_ExampleSlides_OptionA_Template</Template>
  <TotalTime>43474</TotalTime>
  <Words>3179</Words>
  <Application>Microsoft Macintosh PowerPoint</Application>
  <PresentationFormat>On-screen Show (4:3)</PresentationFormat>
  <Paragraphs>954</Paragraphs>
  <Slides>40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4" baseType="lpstr">
      <vt:lpstr>HGｺﾞｼｯｸE</vt:lpstr>
      <vt:lpstr>ＭＳ Ｐゴシック</vt:lpstr>
      <vt:lpstr>Apple Braille</vt:lpstr>
      <vt:lpstr>Arial</vt:lpstr>
      <vt:lpstr>Calibri</vt:lpstr>
      <vt:lpstr>Century Gothic</vt:lpstr>
      <vt:lpstr>Gill Sans MT</vt:lpstr>
      <vt:lpstr>Helvetica</vt:lpstr>
      <vt:lpstr>Questrial</vt:lpstr>
      <vt:lpstr>Symbol</vt:lpstr>
      <vt:lpstr>Verdana</vt:lpstr>
      <vt:lpstr>Wingdings</vt:lpstr>
      <vt:lpstr>Wingdings 2</vt:lpstr>
      <vt:lpstr>WM_SlideTemplateA_Template</vt:lpstr>
      <vt:lpstr> Virtual Memory</vt:lpstr>
      <vt:lpstr>PowerPoint Presentation</vt:lpstr>
      <vt:lpstr>Memory Management Objectives, Constraints, and “Helpers”</vt:lpstr>
      <vt:lpstr>Objectives</vt:lpstr>
      <vt:lpstr>Constraints : Faster Costs More</vt:lpstr>
      <vt:lpstr>Helpers</vt:lpstr>
      <vt:lpstr>Hierarchical Memory</vt:lpstr>
      <vt:lpstr>Hierarchical Memory</vt:lpstr>
      <vt:lpstr>Memory System Hierarchy</vt:lpstr>
      <vt:lpstr>Performance of Various Levels of Storage</vt:lpstr>
      <vt:lpstr>Objective of  Virtual Memory</vt:lpstr>
      <vt:lpstr>Demand Paging</vt:lpstr>
      <vt:lpstr>PowerPoint Presentation</vt:lpstr>
      <vt:lpstr>PowerPoint Presentation</vt:lpstr>
      <vt:lpstr>Handling a Memory reference ( with potential Page Fault)</vt:lpstr>
      <vt:lpstr>Some Issues…</vt:lpstr>
      <vt:lpstr>Time Performance of Demand Paging  (Effective Access Time)</vt:lpstr>
      <vt:lpstr>Time Performance of Demand Paging  (Effective Access Time)</vt:lpstr>
      <vt:lpstr>Policies Affecting The Page Fault Rate p</vt:lpstr>
      <vt:lpstr>Page Replacement Policies</vt:lpstr>
      <vt:lpstr>Page Replacement</vt:lpstr>
      <vt:lpstr>FIFO Page Replacement Policy</vt:lpstr>
      <vt:lpstr>Optimal Page Replacement Algorithm</vt:lpstr>
      <vt:lpstr>OPT vs FIFO</vt:lpstr>
      <vt:lpstr>Least Recently Used</vt:lpstr>
      <vt:lpstr>Least Recently Used (LRU)</vt:lpstr>
      <vt:lpstr>OPT versus LRU</vt:lpstr>
      <vt:lpstr>Implementations of LRU</vt:lpstr>
      <vt:lpstr>Approximating LRU</vt:lpstr>
      <vt:lpstr>Allocation Policies</vt:lpstr>
      <vt:lpstr>Allocation Algorithms</vt:lpstr>
      <vt:lpstr>Comparing Allocating 3 versus 4 frames</vt:lpstr>
      <vt:lpstr>Page Replacement Algorithms</vt:lpstr>
      <vt:lpstr>Static and Dynamic Allocation Policies</vt:lpstr>
      <vt:lpstr>Static Allocation Algorithm</vt:lpstr>
      <vt:lpstr>Determining the Degree of Multiprogramming</vt:lpstr>
      <vt:lpstr>Prevention of Trashing</vt:lpstr>
      <vt:lpstr>How many frames are enough to a process ?</vt:lpstr>
      <vt:lpstr>Dynamic Allocation Algorithm</vt:lpstr>
      <vt:lpstr>Wrap Up</vt:lpstr>
    </vt:vector>
  </TitlesOfParts>
  <Company>Auburn University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 Basics: Understanding the Computer’s Language 0s and 1s  </dc:title>
  <dc:creator>Saad Biaz</dc:creator>
  <cp:lastModifiedBy>Saad Biaz</cp:lastModifiedBy>
  <cp:revision>1261</cp:revision>
  <cp:lastPrinted>2018-05-18T14:00:12Z</cp:lastPrinted>
  <dcterms:created xsi:type="dcterms:W3CDTF">2017-11-05T19:40:43Z</dcterms:created>
  <dcterms:modified xsi:type="dcterms:W3CDTF">2023-06-21T14:34:19Z</dcterms:modified>
</cp:coreProperties>
</file>