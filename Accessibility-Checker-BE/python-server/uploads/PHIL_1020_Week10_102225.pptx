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38"/>
  </p:notesMasterIdLst>
  <p:sldIdLst>
    <p:sldId id="257" r:id="rId5"/>
    <p:sldId id="294" r:id="rId6"/>
    <p:sldId id="276" r:id="rId7"/>
    <p:sldId id="296" r:id="rId8"/>
    <p:sldId id="322" r:id="rId9"/>
    <p:sldId id="295" r:id="rId10"/>
    <p:sldId id="318" r:id="rId11"/>
    <p:sldId id="303" r:id="rId12"/>
    <p:sldId id="270" r:id="rId13"/>
    <p:sldId id="271" r:id="rId14"/>
    <p:sldId id="302" r:id="rId15"/>
    <p:sldId id="272" r:id="rId16"/>
    <p:sldId id="273" r:id="rId17"/>
    <p:sldId id="274" r:id="rId18"/>
    <p:sldId id="297" r:id="rId19"/>
    <p:sldId id="298" r:id="rId20"/>
    <p:sldId id="301" r:id="rId21"/>
    <p:sldId id="275" r:id="rId22"/>
    <p:sldId id="323" r:id="rId23"/>
    <p:sldId id="317" r:id="rId24"/>
    <p:sldId id="300" r:id="rId25"/>
    <p:sldId id="308" r:id="rId26"/>
    <p:sldId id="310" r:id="rId27"/>
    <p:sldId id="304" r:id="rId28"/>
    <p:sldId id="305" r:id="rId29"/>
    <p:sldId id="311" r:id="rId30"/>
    <p:sldId id="312" r:id="rId31"/>
    <p:sldId id="313" r:id="rId32"/>
    <p:sldId id="315" r:id="rId33"/>
    <p:sldId id="335" r:id="rId34"/>
    <p:sldId id="337" r:id="rId35"/>
    <p:sldId id="338" r:id="rId36"/>
    <p:sldId id="336"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634" autoAdjust="0"/>
  </p:normalViewPr>
  <p:slideViewPr>
    <p:cSldViewPr snapToGrid="0">
      <p:cViewPr varScale="1">
        <p:scale>
          <a:sx n="77" d="100"/>
          <a:sy n="77" d="100"/>
        </p:scale>
        <p:origin x="2640"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970528-7715-48AC-8D89-11B694DCC05E}" type="datetimeFigureOut">
              <a:rPr lang="en-SG" smtClean="0"/>
              <a:t>29/10/2025</a:t>
            </a:fld>
            <a:endParaRPr lang="en-S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E1A0DB-35D7-4E49-89B6-F31AEF2A93A0}" type="slidenum">
              <a:rPr lang="en-SG" smtClean="0"/>
              <a:t>‹#›</a:t>
            </a:fld>
            <a:endParaRPr lang="en-SG"/>
          </a:p>
        </p:txBody>
      </p:sp>
    </p:spTree>
    <p:extLst>
      <p:ext uri="{BB962C8B-B14F-4D97-AF65-F5344CB8AC3E}">
        <p14:creationId xmlns:p14="http://schemas.microsoft.com/office/powerpoint/2010/main" val="18589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b="1" dirty="0"/>
              <a:t>Image source: </a:t>
            </a:r>
            <a:r>
              <a:rPr lang="en-SG" b="0" dirty="0"/>
              <a:t>https://www.vecteezy.com/free-vector/pregnant-silhouette</a:t>
            </a:r>
          </a:p>
          <a:p>
            <a:endParaRPr lang="en-SG" dirty="0"/>
          </a:p>
        </p:txBody>
      </p:sp>
      <p:sp>
        <p:nvSpPr>
          <p:cNvPr id="4" name="Slide Number Placeholder 3"/>
          <p:cNvSpPr>
            <a:spLocks noGrp="1"/>
          </p:cNvSpPr>
          <p:nvPr>
            <p:ph type="sldNum" sz="quarter" idx="5"/>
          </p:nvPr>
        </p:nvSpPr>
        <p:spPr/>
        <p:txBody>
          <a:bodyPr/>
          <a:lstStyle/>
          <a:p>
            <a:fld id="{53E1A0DB-35D7-4E49-89B6-F31AEF2A93A0}" type="slidenum">
              <a:rPr lang="en-SG" smtClean="0"/>
              <a:t>1</a:t>
            </a:fld>
            <a:endParaRPr lang="en-SG"/>
          </a:p>
        </p:txBody>
      </p:sp>
    </p:spTree>
    <p:extLst>
      <p:ext uri="{BB962C8B-B14F-4D97-AF65-F5344CB8AC3E}">
        <p14:creationId xmlns:p14="http://schemas.microsoft.com/office/powerpoint/2010/main" val="872541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0" dirty="0"/>
          </a:p>
        </p:txBody>
      </p:sp>
      <p:sp>
        <p:nvSpPr>
          <p:cNvPr id="4" name="Slide Number Placeholder 3"/>
          <p:cNvSpPr>
            <a:spLocks noGrp="1"/>
          </p:cNvSpPr>
          <p:nvPr>
            <p:ph type="sldNum" sz="quarter" idx="5"/>
          </p:nvPr>
        </p:nvSpPr>
        <p:spPr/>
        <p:txBody>
          <a:bodyPr/>
          <a:lstStyle/>
          <a:p>
            <a:fld id="{53E1A0DB-35D7-4E49-89B6-F31AEF2A93A0}" type="slidenum">
              <a:rPr lang="en-SG" smtClean="0"/>
              <a:t>2</a:t>
            </a:fld>
            <a:endParaRPr lang="en-SG"/>
          </a:p>
        </p:txBody>
      </p:sp>
    </p:spTree>
    <p:extLst>
      <p:ext uri="{BB962C8B-B14F-4D97-AF65-F5344CB8AC3E}">
        <p14:creationId xmlns:p14="http://schemas.microsoft.com/office/powerpoint/2010/main" val="2634915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G" b="1"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b="1" i="0" dirty="0"/>
              <a:t>Reference: </a:t>
            </a:r>
            <a:r>
              <a:rPr lang="en-SG" b="0" i="0" dirty="0"/>
              <a:t>Mary Anne Warren, “On the Moral and Legal Status of Abortion,” in </a:t>
            </a:r>
            <a:r>
              <a:rPr lang="en-SG" b="0" i="1" dirty="0"/>
              <a:t>Ethics in Practice</a:t>
            </a:r>
            <a:r>
              <a:rPr lang="en-SG" b="0" i="0" dirty="0"/>
              <a:t>, Third Edition, edited by Hugh LaFollette (Blackwell Publishing, 2007). </a:t>
            </a:r>
          </a:p>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3</a:t>
            </a:fld>
            <a:endParaRPr lang="en-SG"/>
          </a:p>
        </p:txBody>
      </p:sp>
    </p:spTree>
    <p:extLst>
      <p:ext uri="{BB962C8B-B14F-4D97-AF65-F5344CB8AC3E}">
        <p14:creationId xmlns:p14="http://schemas.microsoft.com/office/powerpoint/2010/main" val="1316669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B9F98-3679-5821-D261-FDE490D39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6C03D-1458-B14B-14FE-8506D5499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AD9486-4D89-753F-B321-17A19AE8B78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b="1" i="0" dirty="0"/>
              <a:t>References: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b="0" i="0" dirty="0"/>
              <a:t>Russ Shafer-Landau, </a:t>
            </a:r>
            <a:r>
              <a:rPr lang="en-SG" b="0" i="1" dirty="0"/>
              <a:t>Living Ethics: An Introduction with Readings</a:t>
            </a:r>
            <a:r>
              <a:rPr lang="en-SG" b="0" i="0" dirty="0"/>
              <a:t>, Third Edition (Oxford University Press, 2024).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b="0" i="0" dirty="0"/>
              <a:t>Mary Anne Warren, “On the Moral and Legal Status of Abortion,” in </a:t>
            </a:r>
            <a:r>
              <a:rPr lang="en-SG" b="0" i="1" dirty="0"/>
              <a:t>Ethics in Practice</a:t>
            </a:r>
            <a:r>
              <a:rPr lang="en-SG" b="0" i="0" dirty="0"/>
              <a:t>, Third Edition, edited by Hugh LaFollette (Blackwell Publishing, 2007). </a:t>
            </a:r>
          </a:p>
          <a:p>
            <a:endParaRPr lang="en-SG" b="1" dirty="0"/>
          </a:p>
        </p:txBody>
      </p:sp>
      <p:sp>
        <p:nvSpPr>
          <p:cNvPr id="4" name="Slide Number Placeholder 3">
            <a:extLst>
              <a:ext uri="{FF2B5EF4-FFF2-40B4-BE49-F238E27FC236}">
                <a16:creationId xmlns:a16="http://schemas.microsoft.com/office/drawing/2014/main" id="{59FF98B6-E25A-6D07-3BB4-38095FBF7B1F}"/>
              </a:ext>
            </a:extLst>
          </p:cNvPr>
          <p:cNvSpPr>
            <a:spLocks noGrp="1"/>
          </p:cNvSpPr>
          <p:nvPr>
            <p:ph type="sldNum" sz="quarter" idx="5"/>
          </p:nvPr>
        </p:nvSpPr>
        <p:spPr/>
        <p:txBody>
          <a:bodyPr/>
          <a:lstStyle/>
          <a:p>
            <a:fld id="{53E1A0DB-35D7-4E49-89B6-F31AEF2A93A0}" type="slidenum">
              <a:rPr lang="en-SG" smtClean="0"/>
              <a:t>4</a:t>
            </a:fld>
            <a:endParaRPr lang="en-SG"/>
          </a:p>
        </p:txBody>
      </p:sp>
    </p:spTree>
    <p:extLst>
      <p:ext uri="{BB962C8B-B14F-4D97-AF65-F5344CB8AC3E}">
        <p14:creationId xmlns:p14="http://schemas.microsoft.com/office/powerpoint/2010/main" val="2167454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80B01-B1A4-9DD6-ECAC-DCF5412FD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FFEF8-DFA9-2B36-1976-66937F082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3EAEA5-3A1E-1738-11F0-F9162E7C82C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b="0" i="0" dirty="0"/>
              <a:t>A “trimester” is a 3-month period in a typical 9-month-long human pregnancy.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b="1"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b="1" i="0" dirty="0"/>
              <a:t>Reference: </a:t>
            </a:r>
            <a:r>
              <a:rPr lang="en-SG" b="0" i="0" dirty="0"/>
              <a:t>Mary Anne Warren, “On the Moral and Legal Status of Abortion,” in </a:t>
            </a:r>
            <a:r>
              <a:rPr lang="en-SG" b="0" i="1" dirty="0"/>
              <a:t>Ethics in Practice</a:t>
            </a:r>
            <a:r>
              <a:rPr lang="en-SG" b="0" i="0" dirty="0"/>
              <a:t>, Third Edition, edited by Hugh LaFollette (Blackwell Publishing, 2007). </a:t>
            </a:r>
          </a:p>
          <a:p>
            <a:endParaRPr lang="en-SG" b="1" dirty="0"/>
          </a:p>
        </p:txBody>
      </p:sp>
      <p:sp>
        <p:nvSpPr>
          <p:cNvPr id="4" name="Slide Number Placeholder 3">
            <a:extLst>
              <a:ext uri="{FF2B5EF4-FFF2-40B4-BE49-F238E27FC236}">
                <a16:creationId xmlns:a16="http://schemas.microsoft.com/office/drawing/2014/main" id="{54384103-7AE4-1BAF-EB2E-66245EC2EEBE}"/>
              </a:ext>
            </a:extLst>
          </p:cNvPr>
          <p:cNvSpPr>
            <a:spLocks noGrp="1"/>
          </p:cNvSpPr>
          <p:nvPr>
            <p:ph type="sldNum" sz="quarter" idx="5"/>
          </p:nvPr>
        </p:nvSpPr>
        <p:spPr/>
        <p:txBody>
          <a:bodyPr/>
          <a:lstStyle/>
          <a:p>
            <a:fld id="{53E1A0DB-35D7-4E49-89B6-F31AEF2A93A0}" type="slidenum">
              <a:rPr lang="en-SG" smtClean="0"/>
              <a:t>5</a:t>
            </a:fld>
            <a:endParaRPr lang="en-SG"/>
          </a:p>
        </p:txBody>
      </p:sp>
    </p:spTree>
    <p:extLst>
      <p:ext uri="{BB962C8B-B14F-4D97-AF65-F5344CB8AC3E}">
        <p14:creationId xmlns:p14="http://schemas.microsoft.com/office/powerpoint/2010/main" val="4133257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5EFC5-157C-1CF1-AF6C-006F16D71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F2785-9718-2B17-C7A4-2F5D8CBA9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317B04-88CB-9E60-9D0F-B69007EF791B}"/>
              </a:ext>
            </a:extLst>
          </p:cNvPr>
          <p:cNvSpPr>
            <a:spLocks noGrp="1"/>
          </p:cNvSpPr>
          <p:nvPr>
            <p:ph type="body" idx="1"/>
          </p:nvPr>
        </p:nvSpPr>
        <p:spPr/>
        <p:txBody>
          <a:bodyPr/>
          <a:lstStyle/>
          <a:p>
            <a:endParaRPr lang="en-SG" b="1" dirty="0"/>
          </a:p>
        </p:txBody>
      </p:sp>
      <p:sp>
        <p:nvSpPr>
          <p:cNvPr id="4" name="Slide Number Placeholder 3">
            <a:extLst>
              <a:ext uri="{FF2B5EF4-FFF2-40B4-BE49-F238E27FC236}">
                <a16:creationId xmlns:a16="http://schemas.microsoft.com/office/drawing/2014/main" id="{5A2E3242-4FD5-39CF-23DB-EEE966953E71}"/>
              </a:ext>
            </a:extLst>
          </p:cNvPr>
          <p:cNvSpPr>
            <a:spLocks noGrp="1"/>
          </p:cNvSpPr>
          <p:nvPr>
            <p:ph type="sldNum" sz="quarter" idx="5"/>
          </p:nvPr>
        </p:nvSpPr>
        <p:spPr/>
        <p:txBody>
          <a:bodyPr/>
          <a:lstStyle/>
          <a:p>
            <a:fld id="{53E1A0DB-35D7-4E49-89B6-F31AEF2A93A0}" type="slidenum">
              <a:rPr lang="en-SG" smtClean="0"/>
              <a:t>6</a:t>
            </a:fld>
            <a:endParaRPr lang="en-SG"/>
          </a:p>
        </p:txBody>
      </p:sp>
    </p:spTree>
    <p:extLst>
      <p:ext uri="{BB962C8B-B14F-4D97-AF65-F5344CB8AC3E}">
        <p14:creationId xmlns:p14="http://schemas.microsoft.com/office/powerpoint/2010/main" val="518860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5EFC5-157C-1CF1-AF6C-006F16D71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F2785-9718-2B17-C7A4-2F5D8CBA9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317B04-88CB-9E60-9D0F-B69007EF791B}"/>
              </a:ext>
            </a:extLst>
          </p:cNvPr>
          <p:cNvSpPr>
            <a:spLocks noGrp="1"/>
          </p:cNvSpPr>
          <p:nvPr>
            <p:ph type="body" idx="1"/>
          </p:nvPr>
        </p:nvSpPr>
        <p:spPr/>
        <p:txBody>
          <a:bodyPr/>
          <a:lstStyle/>
          <a:p>
            <a:endParaRPr lang="en-SG" b="1" dirty="0"/>
          </a:p>
        </p:txBody>
      </p:sp>
      <p:sp>
        <p:nvSpPr>
          <p:cNvPr id="4" name="Slide Number Placeholder 3">
            <a:extLst>
              <a:ext uri="{FF2B5EF4-FFF2-40B4-BE49-F238E27FC236}">
                <a16:creationId xmlns:a16="http://schemas.microsoft.com/office/drawing/2014/main" id="{5A2E3242-4FD5-39CF-23DB-EEE966953E71}"/>
              </a:ext>
            </a:extLst>
          </p:cNvPr>
          <p:cNvSpPr>
            <a:spLocks noGrp="1"/>
          </p:cNvSpPr>
          <p:nvPr>
            <p:ph type="sldNum" sz="quarter" idx="5"/>
          </p:nvPr>
        </p:nvSpPr>
        <p:spPr/>
        <p:txBody>
          <a:bodyPr/>
          <a:lstStyle/>
          <a:p>
            <a:fld id="{53E1A0DB-35D7-4E49-89B6-F31AEF2A93A0}" type="slidenum">
              <a:rPr lang="en-SG" smtClean="0"/>
              <a:t>7</a:t>
            </a:fld>
            <a:endParaRPr lang="en-SG"/>
          </a:p>
        </p:txBody>
      </p:sp>
    </p:spTree>
    <p:extLst>
      <p:ext uri="{BB962C8B-B14F-4D97-AF65-F5344CB8AC3E}">
        <p14:creationId xmlns:p14="http://schemas.microsoft.com/office/powerpoint/2010/main" val="2505713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D122E-FADD-4CBE-F52C-AA0D4A964B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6E6DB-1A5A-43E8-DBE3-A583EF48E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7DB92-6B16-1A97-6158-20DB17EAEB4E}"/>
              </a:ext>
            </a:extLst>
          </p:cNvPr>
          <p:cNvSpPr>
            <a:spLocks noGrp="1"/>
          </p:cNvSpPr>
          <p:nvPr>
            <p:ph type="body" idx="1"/>
          </p:nvPr>
        </p:nvSpPr>
        <p:spPr/>
        <p:txBody>
          <a:bodyPr/>
          <a:lstStyle/>
          <a:p>
            <a:endParaRPr lang="en-SG" b="0" i="0" dirty="0"/>
          </a:p>
          <a:p>
            <a:endParaRPr lang="en-SG" b="1" dirty="0"/>
          </a:p>
        </p:txBody>
      </p:sp>
      <p:sp>
        <p:nvSpPr>
          <p:cNvPr id="4" name="Slide Number Placeholder 3">
            <a:extLst>
              <a:ext uri="{FF2B5EF4-FFF2-40B4-BE49-F238E27FC236}">
                <a16:creationId xmlns:a16="http://schemas.microsoft.com/office/drawing/2014/main" id="{7D90906A-D012-94CA-9D98-16A1D0B26A09}"/>
              </a:ext>
            </a:extLst>
          </p:cNvPr>
          <p:cNvSpPr>
            <a:spLocks noGrp="1"/>
          </p:cNvSpPr>
          <p:nvPr>
            <p:ph type="sldNum" sz="quarter" idx="5"/>
          </p:nvPr>
        </p:nvSpPr>
        <p:spPr/>
        <p:txBody>
          <a:bodyPr/>
          <a:lstStyle/>
          <a:p>
            <a:fld id="{53E1A0DB-35D7-4E49-89B6-F31AEF2A93A0}" type="slidenum">
              <a:rPr lang="en-SG" smtClean="0"/>
              <a:t>8</a:t>
            </a:fld>
            <a:endParaRPr lang="en-SG"/>
          </a:p>
        </p:txBody>
      </p:sp>
    </p:spTree>
    <p:extLst>
      <p:ext uri="{BB962C8B-B14F-4D97-AF65-F5344CB8AC3E}">
        <p14:creationId xmlns:p14="http://schemas.microsoft.com/office/powerpoint/2010/main" val="3490718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0" i="0" dirty="0"/>
          </a:p>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9</a:t>
            </a:fld>
            <a:endParaRPr lang="en-SG"/>
          </a:p>
        </p:txBody>
      </p:sp>
    </p:spTree>
    <p:extLst>
      <p:ext uri="{BB962C8B-B14F-4D97-AF65-F5344CB8AC3E}">
        <p14:creationId xmlns:p14="http://schemas.microsoft.com/office/powerpoint/2010/main" val="704974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b="1" i="0" dirty="0"/>
              <a:t>Reference: </a:t>
            </a:r>
            <a:r>
              <a:rPr lang="en-SG" b="0" i="0" dirty="0"/>
              <a:t>Mary Anne Warren, “On the Moral and Legal Status of Abortion,” in </a:t>
            </a:r>
            <a:r>
              <a:rPr lang="en-SG" b="0" i="1" dirty="0"/>
              <a:t>Ethics in Practice</a:t>
            </a:r>
            <a:r>
              <a:rPr lang="en-SG" b="0" i="0" dirty="0"/>
              <a:t>, Third Edition, edited by Hugh Lafollette (Blackwell Publishing, 2007). </a:t>
            </a:r>
          </a:p>
        </p:txBody>
      </p:sp>
      <p:sp>
        <p:nvSpPr>
          <p:cNvPr id="4" name="Slide Number Placeholder 3"/>
          <p:cNvSpPr>
            <a:spLocks noGrp="1"/>
          </p:cNvSpPr>
          <p:nvPr>
            <p:ph type="sldNum" sz="quarter" idx="5"/>
          </p:nvPr>
        </p:nvSpPr>
        <p:spPr/>
        <p:txBody>
          <a:bodyPr/>
          <a:lstStyle/>
          <a:p>
            <a:fld id="{53E1A0DB-35D7-4E49-89B6-F31AEF2A93A0}" type="slidenum">
              <a:rPr lang="en-SG" smtClean="0"/>
              <a:t>10</a:t>
            </a:fld>
            <a:endParaRPr lang="en-SG"/>
          </a:p>
        </p:txBody>
      </p:sp>
    </p:spTree>
    <p:extLst>
      <p:ext uri="{BB962C8B-B14F-4D97-AF65-F5344CB8AC3E}">
        <p14:creationId xmlns:p14="http://schemas.microsoft.com/office/powerpoint/2010/main" val="2088837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98037-F14C-27E7-302A-657520DE01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0365C-7D7A-9EFA-59A1-67026C56CA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1C3148-07AA-D417-38E9-2410A59962FA}"/>
              </a:ext>
            </a:extLst>
          </p:cNvPr>
          <p:cNvSpPr>
            <a:spLocks noGrp="1"/>
          </p:cNvSpPr>
          <p:nvPr>
            <p:ph type="body" idx="1"/>
          </p:nvPr>
        </p:nvSpPr>
        <p:spPr/>
        <p:txBody>
          <a:bodyPr/>
          <a:lstStyle/>
          <a:p>
            <a:endParaRPr lang="en-SG" b="0" i="0" dirty="0"/>
          </a:p>
          <a:p>
            <a:endParaRPr lang="en-SG" b="1" dirty="0"/>
          </a:p>
        </p:txBody>
      </p:sp>
      <p:sp>
        <p:nvSpPr>
          <p:cNvPr id="4" name="Slide Number Placeholder 3">
            <a:extLst>
              <a:ext uri="{FF2B5EF4-FFF2-40B4-BE49-F238E27FC236}">
                <a16:creationId xmlns:a16="http://schemas.microsoft.com/office/drawing/2014/main" id="{4CC7F69B-DDD1-1416-3B1D-4ACD39CBF938}"/>
              </a:ext>
            </a:extLst>
          </p:cNvPr>
          <p:cNvSpPr>
            <a:spLocks noGrp="1"/>
          </p:cNvSpPr>
          <p:nvPr>
            <p:ph type="sldNum" sz="quarter" idx="5"/>
          </p:nvPr>
        </p:nvSpPr>
        <p:spPr/>
        <p:txBody>
          <a:bodyPr/>
          <a:lstStyle/>
          <a:p>
            <a:fld id="{53E1A0DB-35D7-4E49-89B6-F31AEF2A93A0}" type="slidenum">
              <a:rPr lang="en-SG" smtClean="0"/>
              <a:t>11</a:t>
            </a:fld>
            <a:endParaRPr lang="en-SG"/>
          </a:p>
        </p:txBody>
      </p:sp>
    </p:spTree>
    <p:extLst>
      <p:ext uri="{BB962C8B-B14F-4D97-AF65-F5344CB8AC3E}">
        <p14:creationId xmlns:p14="http://schemas.microsoft.com/office/powerpoint/2010/main" val="772179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0" i="0" dirty="0"/>
          </a:p>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12</a:t>
            </a:fld>
            <a:endParaRPr lang="en-SG"/>
          </a:p>
        </p:txBody>
      </p:sp>
    </p:spTree>
    <p:extLst>
      <p:ext uri="{BB962C8B-B14F-4D97-AF65-F5344CB8AC3E}">
        <p14:creationId xmlns:p14="http://schemas.microsoft.com/office/powerpoint/2010/main" val="2586489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0" i="0" dirty="0"/>
          </a:p>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13</a:t>
            </a:fld>
            <a:endParaRPr lang="en-SG"/>
          </a:p>
        </p:txBody>
      </p:sp>
    </p:spTree>
    <p:extLst>
      <p:ext uri="{BB962C8B-B14F-4D97-AF65-F5344CB8AC3E}">
        <p14:creationId xmlns:p14="http://schemas.microsoft.com/office/powerpoint/2010/main" val="4022050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t>References:</a:t>
            </a:r>
          </a:p>
          <a:p>
            <a:pPr marL="171450" indent="-171450">
              <a:buFont typeface="Arial" panose="020B0604020202020204" pitchFamily="34" charset="0"/>
              <a:buChar char="•"/>
            </a:pPr>
            <a:r>
              <a:rPr lang="en-SG" b="0" i="0" dirty="0"/>
              <a:t>Christof Koch, “When Does Consciousness Arise in Babies,” </a:t>
            </a:r>
            <a:r>
              <a:rPr lang="en-SG" b="0" i="1" dirty="0"/>
              <a:t>Scientific American</a:t>
            </a:r>
            <a:r>
              <a:rPr lang="en-SG" b="0" i="0" dirty="0"/>
              <a:t> (September 1, 2009). https://www.scientificamerican.com/article/when-does-consciousness-arise/</a:t>
            </a:r>
          </a:p>
          <a:p>
            <a:pPr marL="171450" indent="-171450">
              <a:buFont typeface="Arial" panose="020B0604020202020204" pitchFamily="34" charset="0"/>
              <a:buChar char="•"/>
            </a:pPr>
            <a:r>
              <a:rPr lang="en-SG" b="0" i="0" dirty="0"/>
              <a:t>Royal College of Obstetricians &amp; Gynaecologists, “</a:t>
            </a:r>
            <a:r>
              <a:rPr lang="en-US" b="0" i="0" dirty="0"/>
              <a:t>Fetal Awareness: Updated review of Research and Recommendations for Practice” (December 2022).  </a:t>
            </a:r>
            <a:endParaRPr lang="en-SG" b="0" i="0" dirty="0"/>
          </a:p>
          <a:p>
            <a:endParaRPr lang="en-SG" b="0" i="0" dirty="0"/>
          </a:p>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14</a:t>
            </a:fld>
            <a:endParaRPr lang="en-SG"/>
          </a:p>
        </p:txBody>
      </p:sp>
    </p:spTree>
    <p:extLst>
      <p:ext uri="{BB962C8B-B14F-4D97-AF65-F5344CB8AC3E}">
        <p14:creationId xmlns:p14="http://schemas.microsoft.com/office/powerpoint/2010/main" val="24294235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8B520-724A-744B-FBDB-1CDB8BA290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FF9390-4696-EBFF-5298-DBA5EB4F5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B623C-FDB3-BAF3-6748-A153C8CFF8AB}"/>
              </a:ext>
            </a:extLst>
          </p:cNvPr>
          <p:cNvSpPr>
            <a:spLocks noGrp="1"/>
          </p:cNvSpPr>
          <p:nvPr>
            <p:ph type="body" idx="1"/>
          </p:nvPr>
        </p:nvSpPr>
        <p:spPr/>
        <p:txBody>
          <a:bodyPr/>
          <a:lstStyle/>
          <a:p>
            <a:r>
              <a:rPr lang="en-SG" b="0" i="0" dirty="0"/>
              <a:t>Warren’s full passage on late-term </a:t>
            </a:r>
            <a:r>
              <a:rPr lang="en-SG" b="0" i="0" dirty="0" err="1"/>
              <a:t>fetuses</a:t>
            </a:r>
            <a:r>
              <a:rPr lang="en-SG" b="0" i="0" dirty="0"/>
              <a:t>:</a:t>
            </a:r>
          </a:p>
          <a:p>
            <a:endParaRPr lang="en-US" sz="1700" dirty="0"/>
          </a:p>
          <a:p>
            <a:pPr marL="445500" lvl="2" indent="0">
              <a:buNone/>
            </a:pPr>
            <a:r>
              <a:rPr lang="en-US" sz="1700" dirty="0"/>
              <a:t>“A seven-month fetus can apparently feel pain, and can respond to such stimuli as light and sound. Thus, it may have a rudimentary form of consciousness. Nevertheless, it is probably not as conscious, or as capable of emotion, as even a very young infant is; and it has as yet little or no capacity to reason, sophisticated intentional communication, or self-awareness. In these respects, even a late-term fetus is arguably less like a person than are many nonhuman animals. Many animals (e.g., large-brained mammals such as elephants, cetaceans, or apes) are not only sentient, but clearly possessed of a degree of reason, and perhaps even self-awareness. Thus…even a late-term fetus can have no more right to life than do these animals.” (Warren, in LaFollette 2007: 132-133)</a:t>
            </a:r>
          </a:p>
          <a:p>
            <a:endParaRPr lang="en-SG" b="0" i="0" dirty="0"/>
          </a:p>
        </p:txBody>
      </p:sp>
      <p:sp>
        <p:nvSpPr>
          <p:cNvPr id="4" name="Slide Number Placeholder 3">
            <a:extLst>
              <a:ext uri="{FF2B5EF4-FFF2-40B4-BE49-F238E27FC236}">
                <a16:creationId xmlns:a16="http://schemas.microsoft.com/office/drawing/2014/main" id="{FC05474C-8E97-B27E-0119-385699291547}"/>
              </a:ext>
            </a:extLst>
          </p:cNvPr>
          <p:cNvSpPr>
            <a:spLocks noGrp="1"/>
          </p:cNvSpPr>
          <p:nvPr>
            <p:ph type="sldNum" sz="quarter" idx="5"/>
          </p:nvPr>
        </p:nvSpPr>
        <p:spPr/>
        <p:txBody>
          <a:bodyPr/>
          <a:lstStyle/>
          <a:p>
            <a:fld id="{53E1A0DB-35D7-4E49-89B6-F31AEF2A93A0}" type="slidenum">
              <a:rPr lang="en-SG" smtClean="0"/>
              <a:t>15</a:t>
            </a:fld>
            <a:endParaRPr lang="en-SG"/>
          </a:p>
        </p:txBody>
      </p:sp>
    </p:spTree>
    <p:extLst>
      <p:ext uri="{BB962C8B-B14F-4D97-AF65-F5344CB8AC3E}">
        <p14:creationId xmlns:p14="http://schemas.microsoft.com/office/powerpoint/2010/main" val="4285426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0BE67-65D4-590E-1E63-9264CCED4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04229-517A-3EE2-15C1-7A9E95121B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2F494-6245-BF59-17F6-2D0F54FED4CF}"/>
              </a:ext>
            </a:extLst>
          </p:cNvPr>
          <p:cNvSpPr>
            <a:spLocks noGrp="1"/>
          </p:cNvSpPr>
          <p:nvPr>
            <p:ph type="body" idx="1"/>
          </p:nvPr>
        </p:nvSpPr>
        <p:spPr/>
        <p:txBody>
          <a:bodyPr/>
          <a:lstStyle/>
          <a:p>
            <a:endParaRPr lang="en-SG" b="0" i="0" dirty="0"/>
          </a:p>
          <a:p>
            <a:endParaRPr lang="en-SG" b="1" dirty="0"/>
          </a:p>
        </p:txBody>
      </p:sp>
      <p:sp>
        <p:nvSpPr>
          <p:cNvPr id="4" name="Slide Number Placeholder 3">
            <a:extLst>
              <a:ext uri="{FF2B5EF4-FFF2-40B4-BE49-F238E27FC236}">
                <a16:creationId xmlns:a16="http://schemas.microsoft.com/office/drawing/2014/main" id="{345FCA7E-7CB5-9D24-3718-747542E43B3A}"/>
              </a:ext>
            </a:extLst>
          </p:cNvPr>
          <p:cNvSpPr>
            <a:spLocks noGrp="1"/>
          </p:cNvSpPr>
          <p:nvPr>
            <p:ph type="sldNum" sz="quarter" idx="5"/>
          </p:nvPr>
        </p:nvSpPr>
        <p:spPr/>
        <p:txBody>
          <a:bodyPr/>
          <a:lstStyle/>
          <a:p>
            <a:fld id="{53E1A0DB-35D7-4E49-89B6-F31AEF2A93A0}" type="slidenum">
              <a:rPr lang="en-SG" smtClean="0"/>
              <a:t>16</a:t>
            </a:fld>
            <a:endParaRPr lang="en-SG"/>
          </a:p>
        </p:txBody>
      </p:sp>
    </p:spTree>
    <p:extLst>
      <p:ext uri="{BB962C8B-B14F-4D97-AF65-F5344CB8AC3E}">
        <p14:creationId xmlns:p14="http://schemas.microsoft.com/office/powerpoint/2010/main" val="2111605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A60EC-1650-DE4C-CCD0-3103BAEB8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D6BB2-43DD-A16E-DF2F-F6D86AE7D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7E228-359C-D59D-3C9C-8DB8644CB430}"/>
              </a:ext>
            </a:extLst>
          </p:cNvPr>
          <p:cNvSpPr>
            <a:spLocks noGrp="1"/>
          </p:cNvSpPr>
          <p:nvPr>
            <p:ph type="body" idx="1"/>
          </p:nvPr>
        </p:nvSpPr>
        <p:spPr/>
        <p:txBody>
          <a:bodyPr/>
          <a:lstStyle/>
          <a:p>
            <a:r>
              <a:rPr lang="en-SG" b="0" i="0" dirty="0"/>
              <a:t>References:</a:t>
            </a:r>
          </a:p>
          <a:p>
            <a:pPr marL="171450" indent="-171450">
              <a:buFont typeface="Arial" panose="020B0604020202020204" pitchFamily="34" charset="0"/>
              <a:buChar char="•"/>
            </a:pPr>
            <a:r>
              <a:rPr lang="en-SG" b="0" i="0" dirty="0">
                <a:solidFill>
                  <a:srgbClr val="1B1B1B"/>
                </a:solidFill>
                <a:effectLst/>
                <a:latin typeface="Roboto Mono Web"/>
              </a:rPr>
              <a:t>Townsend KG. Defending an inclusive right to genital and bodily integrity for children. Int J Impot Res. 2023 Feb;35(1):27-30. </a:t>
            </a:r>
            <a:r>
              <a:rPr lang="en-SG" b="0" i="0" dirty="0" err="1">
                <a:solidFill>
                  <a:srgbClr val="1B1B1B"/>
                </a:solidFill>
                <a:effectLst/>
                <a:latin typeface="Roboto Mono Web"/>
              </a:rPr>
              <a:t>doi</a:t>
            </a:r>
            <a:r>
              <a:rPr lang="en-SG" b="0" i="0" dirty="0">
                <a:solidFill>
                  <a:srgbClr val="1B1B1B"/>
                </a:solidFill>
                <a:effectLst/>
                <a:latin typeface="Roboto Mono Web"/>
              </a:rPr>
              <a:t>: 10.1038/s41443-021-00503-x. </a:t>
            </a:r>
            <a:r>
              <a:rPr lang="en-SG" b="0" i="0" dirty="0" err="1">
                <a:solidFill>
                  <a:srgbClr val="1B1B1B"/>
                </a:solidFill>
                <a:effectLst/>
                <a:latin typeface="Roboto Mono Web"/>
              </a:rPr>
              <a:t>Epub</a:t>
            </a:r>
            <a:r>
              <a:rPr lang="en-SG" b="0" i="0" dirty="0">
                <a:solidFill>
                  <a:srgbClr val="1B1B1B"/>
                </a:solidFill>
                <a:effectLst/>
                <a:latin typeface="Roboto Mono Web"/>
              </a:rPr>
              <a:t> 2021 Dec 2. Erratum in: Int J Impot Res. 2023 Aug;35(5):500. </a:t>
            </a:r>
            <a:r>
              <a:rPr lang="en-SG" b="0" i="0" dirty="0" err="1">
                <a:solidFill>
                  <a:srgbClr val="1B1B1B"/>
                </a:solidFill>
                <a:effectLst/>
                <a:latin typeface="Roboto Mono Web"/>
              </a:rPr>
              <a:t>doi</a:t>
            </a:r>
            <a:r>
              <a:rPr lang="en-SG" b="0" i="0" dirty="0">
                <a:solidFill>
                  <a:srgbClr val="1B1B1B"/>
                </a:solidFill>
                <a:effectLst/>
                <a:latin typeface="Roboto Mono Web"/>
              </a:rPr>
              <a:t>: 10.1038/s41443-022-00545-9. PMID: 34857914; PMCID: PMC9935385.</a:t>
            </a:r>
            <a:endParaRPr lang="en-SG" dirty="0"/>
          </a:p>
          <a:p>
            <a:endParaRPr lang="en-SG" b="1" dirty="0"/>
          </a:p>
        </p:txBody>
      </p:sp>
      <p:sp>
        <p:nvSpPr>
          <p:cNvPr id="4" name="Slide Number Placeholder 3">
            <a:extLst>
              <a:ext uri="{FF2B5EF4-FFF2-40B4-BE49-F238E27FC236}">
                <a16:creationId xmlns:a16="http://schemas.microsoft.com/office/drawing/2014/main" id="{E8F60D7F-A549-2F68-5B76-6F2C6F5DECEF}"/>
              </a:ext>
            </a:extLst>
          </p:cNvPr>
          <p:cNvSpPr>
            <a:spLocks noGrp="1"/>
          </p:cNvSpPr>
          <p:nvPr>
            <p:ph type="sldNum" sz="quarter" idx="5"/>
          </p:nvPr>
        </p:nvSpPr>
        <p:spPr/>
        <p:txBody>
          <a:bodyPr/>
          <a:lstStyle/>
          <a:p>
            <a:fld id="{53E1A0DB-35D7-4E49-89B6-F31AEF2A93A0}" type="slidenum">
              <a:rPr lang="en-SG" smtClean="0"/>
              <a:t>17</a:t>
            </a:fld>
            <a:endParaRPr lang="en-SG"/>
          </a:p>
        </p:txBody>
      </p:sp>
    </p:spTree>
    <p:extLst>
      <p:ext uri="{BB962C8B-B14F-4D97-AF65-F5344CB8AC3E}">
        <p14:creationId xmlns:p14="http://schemas.microsoft.com/office/powerpoint/2010/main" val="6203071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0" i="0" dirty="0"/>
          </a:p>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18</a:t>
            </a:fld>
            <a:endParaRPr lang="en-SG"/>
          </a:p>
        </p:txBody>
      </p:sp>
    </p:spTree>
    <p:extLst>
      <p:ext uri="{BB962C8B-B14F-4D97-AF65-F5344CB8AC3E}">
        <p14:creationId xmlns:p14="http://schemas.microsoft.com/office/powerpoint/2010/main" val="35045579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48398-2E75-8802-7465-C84D7C7580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D3996-B8B6-DB7E-38FE-8CDD6A1468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DC381-240A-9839-BB2B-92EA1E124CCE}"/>
              </a:ext>
            </a:extLst>
          </p:cNvPr>
          <p:cNvSpPr>
            <a:spLocks noGrp="1"/>
          </p:cNvSpPr>
          <p:nvPr>
            <p:ph type="body" idx="1"/>
          </p:nvPr>
        </p:nvSpPr>
        <p:spPr/>
        <p:txBody>
          <a:bodyPr/>
          <a:lstStyle/>
          <a:p>
            <a:pPr marL="0" lvl="0" indent="-214200" defTabSz="685800">
              <a:lnSpc>
                <a:spcPct val="94000"/>
              </a:lnSpc>
              <a:spcBef>
                <a:spcPts val="750"/>
              </a:spcBef>
              <a:spcAft>
                <a:spcPts val="150"/>
              </a:spcAft>
              <a:buClrTx/>
              <a:buSzTx/>
              <a:buFont typeface="Wingdings" panose="05000000000000000000" pitchFamily="2" charset="2"/>
              <a:buNone/>
              <a:defRPr/>
            </a:pPr>
            <a:r>
              <a:rPr lang="en-US" sz="1200" dirty="0">
                <a:solidFill>
                  <a:srgbClr val="FF0000"/>
                </a:solidFill>
                <a:latin typeface="Franklin Gothic Book" panose="020B0503020102020204"/>
                <a:ea typeface="SimSun" panose="02010600030101010101" pitchFamily="2" charset="-122"/>
              </a:rPr>
              <a:t>A common objection to Warren’s position is that it absurdly implies that it would be morally permissible to kill a temporarily unconscious adult. </a:t>
            </a:r>
          </a:p>
          <a:p>
            <a:pPr marL="0" lvl="0" indent="-214200" defTabSz="685800">
              <a:lnSpc>
                <a:spcPct val="94000"/>
              </a:lnSpc>
              <a:spcBef>
                <a:spcPts val="750"/>
              </a:spcBef>
              <a:spcAft>
                <a:spcPts val="150"/>
              </a:spcAft>
              <a:buClrTx/>
              <a:buSzTx/>
              <a:buFont typeface="Wingdings" panose="05000000000000000000" pitchFamily="2" charset="2"/>
              <a:buNone/>
              <a:defRPr/>
            </a:pPr>
            <a:endParaRPr lang="en-US" sz="1200" dirty="0">
              <a:solidFill>
                <a:srgbClr val="FF0000"/>
              </a:solidFill>
              <a:latin typeface="Franklin Gothic Book" panose="020B0503020102020204"/>
              <a:ea typeface="SimSun" panose="02010600030101010101" pitchFamily="2" charset="-122"/>
            </a:endParaRPr>
          </a:p>
          <a:p>
            <a:pPr marL="0" lvl="0" indent="-214200" defTabSz="685800">
              <a:lnSpc>
                <a:spcPct val="94000"/>
              </a:lnSpc>
              <a:spcBef>
                <a:spcPts val="750"/>
              </a:spcBef>
              <a:spcAft>
                <a:spcPts val="150"/>
              </a:spcAft>
              <a:buClrTx/>
              <a:buSzTx/>
              <a:buFont typeface="Wingdings" panose="05000000000000000000" pitchFamily="2" charset="2"/>
              <a:buNone/>
              <a:defRPr/>
            </a:pPr>
            <a:r>
              <a:rPr lang="en-US" sz="1200" dirty="0">
                <a:solidFill>
                  <a:srgbClr val="FF0000"/>
                </a:solidFill>
                <a:latin typeface="Franklin Gothic Book" panose="020B0503020102020204"/>
                <a:ea typeface="SimSun" panose="02010600030101010101" pitchFamily="2" charset="-122"/>
              </a:rPr>
              <a:t>After all, a temporarily unconscious adult lacks the ability to reason, the capacity to communicate, self-awareness, and so on. </a:t>
            </a:r>
          </a:p>
          <a:p>
            <a:pPr marL="0" lvl="0" indent="-214200" defTabSz="685800">
              <a:lnSpc>
                <a:spcPct val="94000"/>
              </a:lnSpc>
              <a:spcBef>
                <a:spcPts val="750"/>
              </a:spcBef>
              <a:spcAft>
                <a:spcPts val="150"/>
              </a:spcAft>
              <a:buClrTx/>
              <a:buSzTx/>
              <a:buFont typeface="Wingdings" panose="05000000000000000000" pitchFamily="2" charset="2"/>
              <a:buNone/>
              <a:defRPr/>
            </a:pPr>
            <a:endParaRPr lang="en-US" sz="1200" dirty="0">
              <a:solidFill>
                <a:srgbClr val="FF0000"/>
              </a:solidFill>
              <a:latin typeface="Franklin Gothic Book" panose="020B0503020102020204"/>
              <a:ea typeface="SimSun" panose="02010600030101010101" pitchFamily="2" charset="-122"/>
            </a:endParaRPr>
          </a:p>
          <a:p>
            <a:pPr marL="0" lvl="0" indent="-214200" defTabSz="685800">
              <a:lnSpc>
                <a:spcPct val="94000"/>
              </a:lnSpc>
              <a:spcBef>
                <a:spcPts val="750"/>
              </a:spcBef>
              <a:spcAft>
                <a:spcPts val="150"/>
              </a:spcAft>
              <a:buClrTx/>
              <a:buSzTx/>
              <a:buFont typeface="Wingdings" panose="05000000000000000000" pitchFamily="2" charset="2"/>
              <a:buNone/>
              <a:defRPr/>
            </a:pPr>
            <a:r>
              <a:rPr lang="en-US" sz="1200" dirty="0">
                <a:solidFill>
                  <a:srgbClr val="FF0000"/>
                </a:solidFill>
                <a:latin typeface="Franklin Gothic Book" panose="020B0503020102020204"/>
                <a:ea typeface="SimSun" panose="02010600030101010101" pitchFamily="2" charset="-122"/>
              </a:rPr>
              <a:t>Even so, it would surely be wrong to kill an adult who is temporarily unconscious, because a temporarily unconscious person </a:t>
            </a:r>
            <a:r>
              <a:rPr lang="en-US" sz="1200" i="1" dirty="0">
                <a:solidFill>
                  <a:srgbClr val="FF0000"/>
                </a:solidFill>
                <a:latin typeface="Franklin Gothic Book" panose="020B0503020102020204"/>
                <a:ea typeface="SimSun" panose="02010600030101010101" pitchFamily="2" charset="-122"/>
              </a:rPr>
              <a:t>will</a:t>
            </a:r>
            <a:r>
              <a:rPr lang="en-US" sz="1200" dirty="0">
                <a:solidFill>
                  <a:srgbClr val="FF0000"/>
                </a:solidFill>
                <a:latin typeface="Franklin Gothic Book" panose="020B0503020102020204"/>
                <a:ea typeface="SimSun" panose="02010600030101010101" pitchFamily="2" charset="-122"/>
              </a:rPr>
              <a:t> eventually recover these abilities. </a:t>
            </a:r>
          </a:p>
          <a:p>
            <a:pPr marL="0" lvl="0" indent="-214200" defTabSz="685800">
              <a:lnSpc>
                <a:spcPct val="94000"/>
              </a:lnSpc>
              <a:spcBef>
                <a:spcPts val="750"/>
              </a:spcBef>
              <a:spcAft>
                <a:spcPts val="150"/>
              </a:spcAft>
              <a:buClrTx/>
              <a:buSzTx/>
              <a:buFont typeface="Wingdings" panose="05000000000000000000" pitchFamily="2" charset="2"/>
              <a:buNone/>
              <a:defRPr/>
            </a:pPr>
            <a:endParaRPr lang="en-US" sz="1200" dirty="0">
              <a:solidFill>
                <a:srgbClr val="FF0000"/>
              </a:solidFill>
              <a:latin typeface="Franklin Gothic Book" panose="020B0503020102020204"/>
              <a:ea typeface="SimSun" panose="02010600030101010101" pitchFamily="2" charset="-122"/>
            </a:endParaRPr>
          </a:p>
          <a:p>
            <a:pPr marL="0" lvl="0" indent="-214200" defTabSz="685800">
              <a:lnSpc>
                <a:spcPct val="94000"/>
              </a:lnSpc>
              <a:spcBef>
                <a:spcPts val="750"/>
              </a:spcBef>
              <a:spcAft>
                <a:spcPts val="150"/>
              </a:spcAft>
              <a:buClrTx/>
              <a:buSzTx/>
              <a:buFont typeface="Wingdings" panose="05000000000000000000" pitchFamily="2" charset="2"/>
              <a:buNone/>
              <a:defRPr/>
            </a:pPr>
            <a:r>
              <a:rPr lang="en-US" sz="1200" dirty="0">
                <a:solidFill>
                  <a:srgbClr val="FF0000"/>
                </a:solidFill>
                <a:latin typeface="Franklin Gothic Book" panose="020B0503020102020204"/>
                <a:ea typeface="SimSun" panose="02010600030101010101" pitchFamily="2" charset="-122"/>
              </a:rPr>
              <a:t>But one could say the same thing of an early fetus: even though the early fetus doesn’t </a:t>
            </a:r>
            <a:r>
              <a:rPr lang="en-US" sz="1200" i="1" dirty="0">
                <a:solidFill>
                  <a:srgbClr val="FF0000"/>
                </a:solidFill>
                <a:latin typeface="Franklin Gothic Book" panose="020B0503020102020204"/>
                <a:ea typeface="SimSun" panose="02010600030101010101" pitchFamily="2" charset="-122"/>
              </a:rPr>
              <a:t>currently</a:t>
            </a:r>
            <a:r>
              <a:rPr lang="en-US" sz="1200" dirty="0">
                <a:solidFill>
                  <a:srgbClr val="FF0000"/>
                </a:solidFill>
                <a:latin typeface="Franklin Gothic Book" panose="020B0503020102020204"/>
                <a:ea typeface="SimSun" panose="02010600030101010101" pitchFamily="2" charset="-122"/>
              </a:rPr>
              <a:t> have the ability to reason, the capacity to communicate, self-awareness, etc., it </a:t>
            </a:r>
            <a:r>
              <a:rPr lang="en-US" sz="1200" i="1" dirty="0">
                <a:solidFill>
                  <a:srgbClr val="FF0000"/>
                </a:solidFill>
                <a:latin typeface="Franklin Gothic Book" panose="020B0503020102020204"/>
                <a:ea typeface="SimSun" panose="02010600030101010101" pitchFamily="2" charset="-122"/>
              </a:rPr>
              <a:t>will </a:t>
            </a:r>
            <a:r>
              <a:rPr lang="en-US" sz="1200" dirty="0">
                <a:solidFill>
                  <a:srgbClr val="FF0000"/>
                </a:solidFill>
                <a:latin typeface="Franklin Gothic Book" panose="020B0503020102020204"/>
                <a:ea typeface="SimSun" panose="02010600030101010101" pitchFamily="2" charset="-122"/>
              </a:rPr>
              <a:t>acquire those abilities in the near future. So, if it’s wrong to kill a temporarily unconscious adult, then it must also be wrong to abort a fetus. </a:t>
            </a:r>
          </a:p>
          <a:p>
            <a:pPr marL="73836" lvl="0" indent="-288036" defTabSz="685800">
              <a:lnSpc>
                <a:spcPct val="94000"/>
              </a:lnSpc>
              <a:spcBef>
                <a:spcPts val="750"/>
              </a:spcBef>
              <a:spcAft>
                <a:spcPts val="150"/>
              </a:spcAft>
              <a:buClrTx/>
              <a:buSzTx/>
              <a:buFont typeface="Wingdings" panose="05000000000000000000" pitchFamily="2" charset="2"/>
              <a:buChar char="§"/>
              <a:defRPr/>
            </a:pPr>
            <a:endParaRPr lang="en-US" sz="1200" dirty="0">
              <a:solidFill>
                <a:srgbClr val="FF0000"/>
              </a:solidFill>
              <a:latin typeface="Franklin Gothic Book" panose="020B0503020102020204"/>
              <a:ea typeface="SimSun" panose="02010600030101010101" pitchFamily="2" charset="-122"/>
            </a:endParaRPr>
          </a:p>
          <a:p>
            <a:pPr marL="0" lvl="0" indent="-214200" defTabSz="685800">
              <a:lnSpc>
                <a:spcPct val="94000"/>
              </a:lnSpc>
              <a:spcBef>
                <a:spcPts val="750"/>
              </a:spcBef>
              <a:spcAft>
                <a:spcPts val="150"/>
              </a:spcAft>
              <a:buClrTx/>
              <a:buSzTx/>
              <a:buFont typeface="Wingdings" panose="05000000000000000000" pitchFamily="2" charset="2"/>
              <a:buNone/>
              <a:defRPr/>
            </a:pPr>
            <a:r>
              <a:rPr lang="en-US" sz="1200" dirty="0">
                <a:solidFill>
                  <a:srgbClr val="FF0000"/>
                </a:solidFill>
                <a:latin typeface="Franklin Gothic Book" panose="020B0503020102020204"/>
                <a:ea typeface="SimSun" panose="02010600030101010101" pitchFamily="2" charset="-122"/>
              </a:rPr>
              <a:t>Do you think there is any way that Warren can explain why it would be wrong to kill a temporarily unconscious adult, but </a:t>
            </a:r>
            <a:r>
              <a:rPr lang="en-US" sz="1200" i="1" dirty="0">
                <a:solidFill>
                  <a:srgbClr val="FF0000"/>
                </a:solidFill>
                <a:latin typeface="Franklin Gothic Book" panose="020B0503020102020204"/>
                <a:ea typeface="SimSun" panose="02010600030101010101" pitchFamily="2" charset="-122"/>
              </a:rPr>
              <a:t>morally acceptable</a:t>
            </a:r>
            <a:r>
              <a:rPr lang="en-US" sz="1200" dirty="0">
                <a:solidFill>
                  <a:srgbClr val="FF0000"/>
                </a:solidFill>
                <a:latin typeface="Franklin Gothic Book" panose="020B0503020102020204"/>
                <a:ea typeface="SimSun" panose="02010600030101010101" pitchFamily="2" charset="-122"/>
              </a:rPr>
              <a:t> to abort a fetus? How would that explanation go? Warren herself offers an explanation in her essay when she contrasts the moral rights of early fetuses with the rights of people who have become </a:t>
            </a:r>
            <a:r>
              <a:rPr lang="en-US" sz="1200" i="1" dirty="0">
                <a:solidFill>
                  <a:srgbClr val="FF0000"/>
                </a:solidFill>
                <a:latin typeface="Franklin Gothic Book" panose="020B0503020102020204"/>
                <a:ea typeface="SimSun" panose="02010600030101010101" pitchFamily="2" charset="-122"/>
              </a:rPr>
              <a:t>permanently</a:t>
            </a:r>
            <a:r>
              <a:rPr lang="en-US" sz="1200" i="0" dirty="0">
                <a:solidFill>
                  <a:srgbClr val="FF0000"/>
                </a:solidFill>
                <a:latin typeface="Franklin Gothic Book" panose="020B0503020102020204"/>
                <a:ea typeface="SimSun" panose="02010600030101010101" pitchFamily="2" charset="-122"/>
              </a:rPr>
              <a:t> unconscious</a:t>
            </a:r>
            <a:r>
              <a:rPr lang="en-US" sz="1200" dirty="0">
                <a:solidFill>
                  <a:srgbClr val="FF0000"/>
                </a:solidFill>
                <a:latin typeface="Franklin Gothic Book" panose="020B0503020102020204"/>
                <a:ea typeface="SimSun" panose="02010600030101010101" pitchFamily="2" charset="-122"/>
              </a:rPr>
              <a:t> (Warren, in </a:t>
            </a:r>
            <a:r>
              <a:rPr lang="en-US" sz="1200" dirty="0" err="1">
                <a:solidFill>
                  <a:srgbClr val="FF0000"/>
                </a:solidFill>
                <a:latin typeface="Franklin Gothic Book" panose="020B0503020102020204"/>
                <a:ea typeface="SimSun" panose="02010600030101010101" pitchFamily="2" charset="-122"/>
              </a:rPr>
              <a:t>LaFollete</a:t>
            </a:r>
            <a:r>
              <a:rPr lang="en-US" sz="1200" dirty="0">
                <a:solidFill>
                  <a:srgbClr val="FF0000"/>
                </a:solidFill>
                <a:latin typeface="Franklin Gothic Book" panose="020B0503020102020204"/>
                <a:ea typeface="SimSun" panose="02010600030101010101" pitchFamily="2" charset="-122"/>
              </a:rPr>
              <a:t> 2007: 131).</a:t>
            </a:r>
            <a:endParaRPr lang="en-US" b="0" i="0" dirty="0"/>
          </a:p>
          <a:p>
            <a:endParaRPr lang="en-SG" b="1" dirty="0"/>
          </a:p>
        </p:txBody>
      </p:sp>
      <p:sp>
        <p:nvSpPr>
          <p:cNvPr id="4" name="Slide Number Placeholder 3">
            <a:extLst>
              <a:ext uri="{FF2B5EF4-FFF2-40B4-BE49-F238E27FC236}">
                <a16:creationId xmlns:a16="http://schemas.microsoft.com/office/drawing/2014/main" id="{3D7C5A10-91AC-10C3-6596-2F495AAB6890}"/>
              </a:ext>
            </a:extLst>
          </p:cNvPr>
          <p:cNvSpPr>
            <a:spLocks noGrp="1"/>
          </p:cNvSpPr>
          <p:nvPr>
            <p:ph type="sldNum" sz="quarter" idx="5"/>
          </p:nvPr>
        </p:nvSpPr>
        <p:spPr/>
        <p:txBody>
          <a:bodyPr/>
          <a:lstStyle/>
          <a:p>
            <a:fld id="{53E1A0DB-35D7-4E49-89B6-F31AEF2A93A0}" type="slidenum">
              <a:rPr lang="en-SG" smtClean="0"/>
              <a:t>19</a:t>
            </a:fld>
            <a:endParaRPr lang="en-SG"/>
          </a:p>
        </p:txBody>
      </p:sp>
    </p:spTree>
    <p:extLst>
      <p:ext uri="{BB962C8B-B14F-4D97-AF65-F5344CB8AC3E}">
        <p14:creationId xmlns:p14="http://schemas.microsoft.com/office/powerpoint/2010/main" val="39261715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A60EC-1650-DE4C-CCD0-3103BAEB8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D6BB2-43DD-A16E-DF2F-F6D86AE7D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7E228-359C-D59D-3C9C-8DB8644CB430}"/>
              </a:ext>
            </a:extLst>
          </p:cNvPr>
          <p:cNvSpPr>
            <a:spLocks noGrp="1"/>
          </p:cNvSpPr>
          <p:nvPr>
            <p:ph type="body" idx="1"/>
          </p:nvPr>
        </p:nvSpPr>
        <p:spPr/>
        <p:txBody>
          <a:bodyPr/>
          <a:lstStyle/>
          <a:p>
            <a:endParaRPr lang="en-SG" b="0" i="0" dirty="0"/>
          </a:p>
          <a:p>
            <a:endParaRPr lang="en-SG" b="1" dirty="0"/>
          </a:p>
        </p:txBody>
      </p:sp>
      <p:sp>
        <p:nvSpPr>
          <p:cNvPr id="4" name="Slide Number Placeholder 3">
            <a:extLst>
              <a:ext uri="{FF2B5EF4-FFF2-40B4-BE49-F238E27FC236}">
                <a16:creationId xmlns:a16="http://schemas.microsoft.com/office/drawing/2014/main" id="{E8F60D7F-A549-2F68-5B76-6F2C6F5DECEF}"/>
              </a:ext>
            </a:extLst>
          </p:cNvPr>
          <p:cNvSpPr>
            <a:spLocks noGrp="1"/>
          </p:cNvSpPr>
          <p:nvPr>
            <p:ph type="sldNum" sz="quarter" idx="5"/>
          </p:nvPr>
        </p:nvSpPr>
        <p:spPr/>
        <p:txBody>
          <a:bodyPr/>
          <a:lstStyle/>
          <a:p>
            <a:fld id="{53E1A0DB-35D7-4E49-89B6-F31AEF2A93A0}" type="slidenum">
              <a:rPr lang="en-SG" smtClean="0"/>
              <a:t>20</a:t>
            </a:fld>
            <a:endParaRPr lang="en-SG"/>
          </a:p>
        </p:txBody>
      </p:sp>
    </p:spTree>
    <p:extLst>
      <p:ext uri="{BB962C8B-B14F-4D97-AF65-F5344CB8AC3E}">
        <p14:creationId xmlns:p14="http://schemas.microsoft.com/office/powerpoint/2010/main" val="26238140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4C42D-424F-B5B1-F3E3-FF607EAE0F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8B955-4A3B-43C8-BE6E-AF2961331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B474E-D3DA-93B7-1B37-77DFE098F50B}"/>
              </a:ext>
            </a:extLst>
          </p:cNvPr>
          <p:cNvSpPr>
            <a:spLocks noGrp="1"/>
          </p:cNvSpPr>
          <p:nvPr>
            <p:ph type="body" idx="1"/>
          </p:nvPr>
        </p:nvSpPr>
        <p:spPr/>
        <p:txBody>
          <a:bodyPr/>
          <a:lstStyle/>
          <a:p>
            <a:endParaRPr lang="en-SG" b="0" i="0" dirty="0"/>
          </a:p>
          <a:p>
            <a:endParaRPr lang="en-SG" b="1" dirty="0"/>
          </a:p>
        </p:txBody>
      </p:sp>
      <p:sp>
        <p:nvSpPr>
          <p:cNvPr id="4" name="Slide Number Placeholder 3">
            <a:extLst>
              <a:ext uri="{FF2B5EF4-FFF2-40B4-BE49-F238E27FC236}">
                <a16:creationId xmlns:a16="http://schemas.microsoft.com/office/drawing/2014/main" id="{A34B8C55-FB50-8EF8-A9BE-8C6FCB33FF92}"/>
              </a:ext>
            </a:extLst>
          </p:cNvPr>
          <p:cNvSpPr>
            <a:spLocks noGrp="1"/>
          </p:cNvSpPr>
          <p:nvPr>
            <p:ph type="sldNum" sz="quarter" idx="5"/>
          </p:nvPr>
        </p:nvSpPr>
        <p:spPr/>
        <p:txBody>
          <a:bodyPr/>
          <a:lstStyle/>
          <a:p>
            <a:fld id="{53E1A0DB-35D7-4E49-89B6-F31AEF2A93A0}" type="slidenum">
              <a:rPr lang="en-SG" smtClean="0"/>
              <a:t>21</a:t>
            </a:fld>
            <a:endParaRPr lang="en-SG"/>
          </a:p>
        </p:txBody>
      </p:sp>
    </p:spTree>
    <p:extLst>
      <p:ext uri="{BB962C8B-B14F-4D97-AF65-F5344CB8AC3E}">
        <p14:creationId xmlns:p14="http://schemas.microsoft.com/office/powerpoint/2010/main" val="31791379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41C4D-8252-0322-A117-20F58AE159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DF23A2-81B0-90D0-191F-3C11E19EDC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2ABB07-BF43-F7A1-3F6E-4D15A649F577}"/>
              </a:ext>
            </a:extLst>
          </p:cNvPr>
          <p:cNvSpPr>
            <a:spLocks noGrp="1"/>
          </p:cNvSpPr>
          <p:nvPr>
            <p:ph type="body" idx="1"/>
          </p:nvPr>
        </p:nvSpPr>
        <p:spPr/>
        <p:txBody>
          <a:bodyPr/>
          <a:lstStyle/>
          <a:p>
            <a:endParaRPr lang="en-SG" b="0" i="0" dirty="0"/>
          </a:p>
          <a:p>
            <a:endParaRPr lang="en-SG" b="1" dirty="0"/>
          </a:p>
        </p:txBody>
      </p:sp>
      <p:sp>
        <p:nvSpPr>
          <p:cNvPr id="4" name="Slide Number Placeholder 3">
            <a:extLst>
              <a:ext uri="{FF2B5EF4-FFF2-40B4-BE49-F238E27FC236}">
                <a16:creationId xmlns:a16="http://schemas.microsoft.com/office/drawing/2014/main" id="{9C727EE9-34B1-7970-8662-6D6B506B9D40}"/>
              </a:ext>
            </a:extLst>
          </p:cNvPr>
          <p:cNvSpPr>
            <a:spLocks noGrp="1"/>
          </p:cNvSpPr>
          <p:nvPr>
            <p:ph type="sldNum" sz="quarter" idx="5"/>
          </p:nvPr>
        </p:nvSpPr>
        <p:spPr/>
        <p:txBody>
          <a:bodyPr/>
          <a:lstStyle/>
          <a:p>
            <a:fld id="{53E1A0DB-35D7-4E49-89B6-F31AEF2A93A0}" type="slidenum">
              <a:rPr lang="en-SG" smtClean="0"/>
              <a:t>22</a:t>
            </a:fld>
            <a:endParaRPr lang="en-SG"/>
          </a:p>
        </p:txBody>
      </p:sp>
    </p:spTree>
    <p:extLst>
      <p:ext uri="{BB962C8B-B14F-4D97-AF65-F5344CB8AC3E}">
        <p14:creationId xmlns:p14="http://schemas.microsoft.com/office/powerpoint/2010/main" val="2314079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CA782-8F20-61B7-6F09-9F308BA5B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5C9BF-78D7-3D4B-4C54-0269E02C56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4BEEB7-8663-A065-1792-7BEDBFFD7E14}"/>
              </a:ext>
            </a:extLst>
          </p:cNvPr>
          <p:cNvSpPr>
            <a:spLocks noGrp="1"/>
          </p:cNvSpPr>
          <p:nvPr>
            <p:ph type="body" idx="1"/>
          </p:nvPr>
        </p:nvSpPr>
        <p:spPr/>
        <p:txBody>
          <a:bodyPr/>
          <a:lstStyle/>
          <a:p>
            <a:endParaRPr lang="en-SG" b="0" i="0" dirty="0"/>
          </a:p>
          <a:p>
            <a:endParaRPr lang="en-SG" b="1" dirty="0"/>
          </a:p>
        </p:txBody>
      </p:sp>
      <p:sp>
        <p:nvSpPr>
          <p:cNvPr id="4" name="Slide Number Placeholder 3">
            <a:extLst>
              <a:ext uri="{FF2B5EF4-FFF2-40B4-BE49-F238E27FC236}">
                <a16:creationId xmlns:a16="http://schemas.microsoft.com/office/drawing/2014/main" id="{2EF97C43-8851-A838-BA9B-541659DD38EE}"/>
              </a:ext>
            </a:extLst>
          </p:cNvPr>
          <p:cNvSpPr>
            <a:spLocks noGrp="1"/>
          </p:cNvSpPr>
          <p:nvPr>
            <p:ph type="sldNum" sz="quarter" idx="5"/>
          </p:nvPr>
        </p:nvSpPr>
        <p:spPr/>
        <p:txBody>
          <a:bodyPr/>
          <a:lstStyle/>
          <a:p>
            <a:fld id="{53E1A0DB-35D7-4E49-89B6-F31AEF2A93A0}" type="slidenum">
              <a:rPr lang="en-SG" smtClean="0"/>
              <a:t>23</a:t>
            </a:fld>
            <a:endParaRPr lang="en-SG"/>
          </a:p>
        </p:txBody>
      </p:sp>
    </p:spTree>
    <p:extLst>
      <p:ext uri="{BB962C8B-B14F-4D97-AF65-F5344CB8AC3E}">
        <p14:creationId xmlns:p14="http://schemas.microsoft.com/office/powerpoint/2010/main" val="8726580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98309-E46C-E51F-7CF8-6BDB23A83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B52D6-46EB-0A6A-1DC8-D2CFD1B431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A56B9-9CAC-1E20-F1F6-C45338A605F6}"/>
              </a:ext>
            </a:extLst>
          </p:cNvPr>
          <p:cNvSpPr>
            <a:spLocks noGrp="1"/>
          </p:cNvSpPr>
          <p:nvPr>
            <p:ph type="body" idx="1"/>
          </p:nvPr>
        </p:nvSpPr>
        <p:spPr/>
        <p:txBody>
          <a:bodyPr/>
          <a:lstStyle/>
          <a:p>
            <a:endParaRPr lang="en-SG" b="0" i="0" dirty="0"/>
          </a:p>
          <a:p>
            <a:endParaRPr lang="en-SG" b="1" dirty="0"/>
          </a:p>
        </p:txBody>
      </p:sp>
      <p:sp>
        <p:nvSpPr>
          <p:cNvPr id="4" name="Slide Number Placeholder 3">
            <a:extLst>
              <a:ext uri="{FF2B5EF4-FFF2-40B4-BE49-F238E27FC236}">
                <a16:creationId xmlns:a16="http://schemas.microsoft.com/office/drawing/2014/main" id="{A3C727B5-2CCA-4CCC-B854-19CA311E9C0A}"/>
              </a:ext>
            </a:extLst>
          </p:cNvPr>
          <p:cNvSpPr>
            <a:spLocks noGrp="1"/>
          </p:cNvSpPr>
          <p:nvPr>
            <p:ph type="sldNum" sz="quarter" idx="5"/>
          </p:nvPr>
        </p:nvSpPr>
        <p:spPr/>
        <p:txBody>
          <a:bodyPr/>
          <a:lstStyle/>
          <a:p>
            <a:fld id="{53E1A0DB-35D7-4E49-89B6-F31AEF2A93A0}" type="slidenum">
              <a:rPr lang="en-SG" smtClean="0"/>
              <a:t>24</a:t>
            </a:fld>
            <a:endParaRPr lang="en-SG"/>
          </a:p>
        </p:txBody>
      </p:sp>
    </p:spTree>
    <p:extLst>
      <p:ext uri="{BB962C8B-B14F-4D97-AF65-F5344CB8AC3E}">
        <p14:creationId xmlns:p14="http://schemas.microsoft.com/office/powerpoint/2010/main" val="15508994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F71E-8FD1-AA70-B62E-6950B328C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60044-9057-E246-5F2A-9A6C2436F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C3A68B-2F91-F7D9-1EF3-0CAAECEECE53}"/>
              </a:ext>
            </a:extLst>
          </p:cNvPr>
          <p:cNvSpPr>
            <a:spLocks noGrp="1"/>
          </p:cNvSpPr>
          <p:nvPr>
            <p:ph type="body" idx="1"/>
          </p:nvPr>
        </p:nvSpPr>
        <p:spPr/>
        <p:txBody>
          <a:bodyPr/>
          <a:lstStyle/>
          <a:p>
            <a:endParaRPr lang="en-SG" b="0" i="0" dirty="0"/>
          </a:p>
          <a:p>
            <a:endParaRPr lang="en-SG" b="1" dirty="0"/>
          </a:p>
        </p:txBody>
      </p:sp>
      <p:sp>
        <p:nvSpPr>
          <p:cNvPr id="4" name="Slide Number Placeholder 3">
            <a:extLst>
              <a:ext uri="{FF2B5EF4-FFF2-40B4-BE49-F238E27FC236}">
                <a16:creationId xmlns:a16="http://schemas.microsoft.com/office/drawing/2014/main" id="{407DDF0A-EF25-05AA-7A63-B96A7CF2F81A}"/>
              </a:ext>
            </a:extLst>
          </p:cNvPr>
          <p:cNvSpPr>
            <a:spLocks noGrp="1"/>
          </p:cNvSpPr>
          <p:nvPr>
            <p:ph type="sldNum" sz="quarter" idx="5"/>
          </p:nvPr>
        </p:nvSpPr>
        <p:spPr/>
        <p:txBody>
          <a:bodyPr/>
          <a:lstStyle/>
          <a:p>
            <a:fld id="{53E1A0DB-35D7-4E49-89B6-F31AEF2A93A0}" type="slidenum">
              <a:rPr lang="en-SG" smtClean="0"/>
              <a:t>25</a:t>
            </a:fld>
            <a:endParaRPr lang="en-SG"/>
          </a:p>
        </p:txBody>
      </p:sp>
    </p:spTree>
    <p:extLst>
      <p:ext uri="{BB962C8B-B14F-4D97-AF65-F5344CB8AC3E}">
        <p14:creationId xmlns:p14="http://schemas.microsoft.com/office/powerpoint/2010/main" val="36260251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87BB8-5CE8-1CE8-7583-D2A6EE33A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ECFA8-13FC-5008-A94D-74CABF060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73AF4A-83D5-0862-4DAD-FF985D6D81CD}"/>
              </a:ext>
            </a:extLst>
          </p:cNvPr>
          <p:cNvSpPr>
            <a:spLocks noGrp="1"/>
          </p:cNvSpPr>
          <p:nvPr>
            <p:ph type="body" idx="1"/>
          </p:nvPr>
        </p:nvSpPr>
        <p:spPr/>
        <p:txBody>
          <a:bodyPr/>
          <a:lstStyle/>
          <a:p>
            <a:r>
              <a:rPr lang="en-SG" b="0" i="0" dirty="0"/>
              <a:t>The complete Argument from Potential is reproduced below:</a:t>
            </a:r>
          </a:p>
          <a:p>
            <a:endParaRPr lang="en-SG" b="0" i="0" dirty="0"/>
          </a:p>
          <a:p>
            <a:pPr marL="0" indent="0">
              <a:buNone/>
            </a:pPr>
            <a:r>
              <a:rPr lang="en-US" sz="1200" b="1" u="sng" dirty="0"/>
              <a:t>The Argument from Potential</a:t>
            </a:r>
            <a:endParaRPr lang="en-US" sz="1200" dirty="0"/>
          </a:p>
          <a:p>
            <a:pPr marL="457200" indent="-457200">
              <a:buFont typeface="+mj-lt"/>
              <a:buAutoNum type="arabicPeriod"/>
            </a:pPr>
            <a:r>
              <a:rPr lang="en-US" sz="1200" dirty="0"/>
              <a:t>If a fetus has the potential to be a person, then it has the same moral status as a person.</a:t>
            </a:r>
          </a:p>
          <a:p>
            <a:pPr marL="457200" indent="-457200">
              <a:buFont typeface="+mj-lt"/>
              <a:buAutoNum type="arabicPeriod"/>
            </a:pPr>
            <a:r>
              <a:rPr lang="en-US" sz="1200" dirty="0"/>
              <a:t>Most fetuses have the potential to be a person.</a:t>
            </a:r>
          </a:p>
          <a:p>
            <a:pPr marL="457200" indent="-457200">
              <a:buFont typeface="+mj-lt"/>
              <a:buAutoNum type="arabicPeriod"/>
            </a:pPr>
            <a:r>
              <a:rPr lang="en-US" sz="1200" b="1" dirty="0"/>
              <a:t>(</a:t>
            </a:r>
            <a:r>
              <a:rPr lang="en-US" sz="1200" b="1" dirty="0" err="1"/>
              <a:t>Subconclusion</a:t>
            </a:r>
            <a:r>
              <a:rPr lang="en-US" sz="1200" b="1" dirty="0"/>
              <a:t> 1) </a:t>
            </a:r>
            <a:r>
              <a:rPr lang="en-US" sz="1200" dirty="0"/>
              <a:t>Therefore, most fetuses have the same moral status as a person.</a:t>
            </a:r>
          </a:p>
          <a:p>
            <a:pPr marL="457200" indent="-457200">
              <a:buFont typeface="+mj-lt"/>
              <a:buAutoNum type="arabicPeriod"/>
            </a:pPr>
            <a:r>
              <a:rPr lang="en-US" sz="1200" dirty="0"/>
              <a:t>A person’s moral status includes having a broad set of fundamental rights—including the right to life (the right not to be killed).</a:t>
            </a:r>
          </a:p>
          <a:p>
            <a:pPr marL="457200" indent="-457200">
              <a:buFont typeface="+mj-lt"/>
              <a:buAutoNum type="arabicPeriod"/>
            </a:pPr>
            <a:r>
              <a:rPr lang="en-US" sz="1200" b="1" dirty="0"/>
              <a:t>(</a:t>
            </a:r>
            <a:r>
              <a:rPr lang="en-US" sz="1200" b="1" dirty="0" err="1"/>
              <a:t>Subconclusion</a:t>
            </a:r>
            <a:r>
              <a:rPr lang="en-US" sz="1200" b="1" dirty="0"/>
              <a:t> 2) </a:t>
            </a:r>
            <a:r>
              <a:rPr lang="en-US" sz="1200" dirty="0"/>
              <a:t>Therefore, most fetuses have a broad set of fundamental rights—including the right to life.</a:t>
            </a:r>
          </a:p>
          <a:p>
            <a:pPr marL="457200" indent="-457200">
              <a:buFont typeface="+mj-lt"/>
              <a:buAutoNum type="arabicPeriod"/>
            </a:pPr>
            <a:r>
              <a:rPr lang="en-US" sz="1200" dirty="0"/>
              <a:t>If a fetus has a right to life, then aborting it is immoral.</a:t>
            </a:r>
          </a:p>
          <a:p>
            <a:pPr marL="457200" indent="-457200">
              <a:buFont typeface="+mj-lt"/>
              <a:buAutoNum type="arabicPeriod"/>
            </a:pPr>
            <a:r>
              <a:rPr lang="en-US" sz="1200" b="1" dirty="0"/>
              <a:t>(Conclusion) </a:t>
            </a:r>
            <a:r>
              <a:rPr lang="en-US" sz="1200" dirty="0"/>
              <a:t>Therefore, in most cases, abortion is immoral.</a:t>
            </a:r>
          </a:p>
          <a:p>
            <a:endParaRPr lang="en-SG" b="0" i="0" dirty="0"/>
          </a:p>
          <a:p>
            <a:endParaRPr lang="en-SG" b="1" dirty="0"/>
          </a:p>
        </p:txBody>
      </p:sp>
      <p:sp>
        <p:nvSpPr>
          <p:cNvPr id="4" name="Slide Number Placeholder 3">
            <a:extLst>
              <a:ext uri="{FF2B5EF4-FFF2-40B4-BE49-F238E27FC236}">
                <a16:creationId xmlns:a16="http://schemas.microsoft.com/office/drawing/2014/main" id="{17E9992F-D99D-30BD-56A6-237F7FA1A75B}"/>
              </a:ext>
            </a:extLst>
          </p:cNvPr>
          <p:cNvSpPr>
            <a:spLocks noGrp="1"/>
          </p:cNvSpPr>
          <p:nvPr>
            <p:ph type="sldNum" sz="quarter" idx="5"/>
          </p:nvPr>
        </p:nvSpPr>
        <p:spPr/>
        <p:txBody>
          <a:bodyPr/>
          <a:lstStyle/>
          <a:p>
            <a:fld id="{53E1A0DB-35D7-4E49-89B6-F31AEF2A93A0}" type="slidenum">
              <a:rPr lang="en-SG" smtClean="0"/>
              <a:t>26</a:t>
            </a:fld>
            <a:endParaRPr lang="en-SG"/>
          </a:p>
        </p:txBody>
      </p:sp>
    </p:spTree>
    <p:extLst>
      <p:ext uri="{BB962C8B-B14F-4D97-AF65-F5344CB8AC3E}">
        <p14:creationId xmlns:p14="http://schemas.microsoft.com/office/powerpoint/2010/main" val="30415153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F6B58-0C12-D9AA-6BC1-6C2CD6503E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E08623-F483-DE6A-53BE-AFBA4D6B9C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4E4B1-63F4-FA79-8AAD-6D5AA4FBAB04}"/>
              </a:ext>
            </a:extLst>
          </p:cNvPr>
          <p:cNvSpPr>
            <a:spLocks noGrp="1"/>
          </p:cNvSpPr>
          <p:nvPr>
            <p:ph type="body" idx="1"/>
          </p:nvPr>
        </p:nvSpPr>
        <p:spPr/>
        <p:txBody>
          <a:bodyPr/>
          <a:lstStyle/>
          <a:p>
            <a:endParaRPr lang="en-SG" b="1" dirty="0"/>
          </a:p>
        </p:txBody>
      </p:sp>
      <p:sp>
        <p:nvSpPr>
          <p:cNvPr id="4" name="Slide Number Placeholder 3">
            <a:extLst>
              <a:ext uri="{FF2B5EF4-FFF2-40B4-BE49-F238E27FC236}">
                <a16:creationId xmlns:a16="http://schemas.microsoft.com/office/drawing/2014/main" id="{66347E34-563F-78F2-9CB5-F78517287D9A}"/>
              </a:ext>
            </a:extLst>
          </p:cNvPr>
          <p:cNvSpPr>
            <a:spLocks noGrp="1"/>
          </p:cNvSpPr>
          <p:nvPr>
            <p:ph type="sldNum" sz="quarter" idx="5"/>
          </p:nvPr>
        </p:nvSpPr>
        <p:spPr/>
        <p:txBody>
          <a:bodyPr/>
          <a:lstStyle/>
          <a:p>
            <a:fld id="{53E1A0DB-35D7-4E49-89B6-F31AEF2A93A0}" type="slidenum">
              <a:rPr lang="en-SG" smtClean="0"/>
              <a:t>27</a:t>
            </a:fld>
            <a:endParaRPr lang="en-SG"/>
          </a:p>
        </p:txBody>
      </p:sp>
    </p:spTree>
    <p:extLst>
      <p:ext uri="{BB962C8B-B14F-4D97-AF65-F5344CB8AC3E}">
        <p14:creationId xmlns:p14="http://schemas.microsoft.com/office/powerpoint/2010/main" val="30457515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DEB8E-7515-BD27-73D8-063D2A80AA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15B8F7-C1C4-EAC2-1192-9ADDA90F5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1D20F0-38D2-0F8B-275F-9F2902606454}"/>
              </a:ext>
            </a:extLst>
          </p:cNvPr>
          <p:cNvSpPr>
            <a:spLocks noGrp="1"/>
          </p:cNvSpPr>
          <p:nvPr>
            <p:ph type="body" idx="1"/>
          </p:nvPr>
        </p:nvSpPr>
        <p:spPr/>
        <p:txBody>
          <a:bodyPr/>
          <a:lstStyle/>
          <a:p>
            <a:endParaRPr lang="en-SG" b="1" dirty="0"/>
          </a:p>
        </p:txBody>
      </p:sp>
      <p:sp>
        <p:nvSpPr>
          <p:cNvPr id="4" name="Slide Number Placeholder 3">
            <a:extLst>
              <a:ext uri="{FF2B5EF4-FFF2-40B4-BE49-F238E27FC236}">
                <a16:creationId xmlns:a16="http://schemas.microsoft.com/office/drawing/2014/main" id="{CE2500D7-1B7C-09B4-8978-94DB12F1C01D}"/>
              </a:ext>
            </a:extLst>
          </p:cNvPr>
          <p:cNvSpPr>
            <a:spLocks noGrp="1"/>
          </p:cNvSpPr>
          <p:nvPr>
            <p:ph type="sldNum" sz="quarter" idx="5"/>
          </p:nvPr>
        </p:nvSpPr>
        <p:spPr/>
        <p:txBody>
          <a:bodyPr/>
          <a:lstStyle/>
          <a:p>
            <a:fld id="{53E1A0DB-35D7-4E49-89B6-F31AEF2A93A0}" type="slidenum">
              <a:rPr lang="en-SG" smtClean="0"/>
              <a:t>28</a:t>
            </a:fld>
            <a:endParaRPr lang="en-SG"/>
          </a:p>
        </p:txBody>
      </p:sp>
    </p:spTree>
    <p:extLst>
      <p:ext uri="{BB962C8B-B14F-4D97-AF65-F5344CB8AC3E}">
        <p14:creationId xmlns:p14="http://schemas.microsoft.com/office/powerpoint/2010/main" val="14914081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1B4CC-EDD3-B489-D4FC-D339ADF85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FC4EB-957E-A2BD-09A1-1D247F1C45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52942-8926-41F8-F970-CA0FB913E2A0}"/>
              </a:ext>
            </a:extLst>
          </p:cNvPr>
          <p:cNvSpPr>
            <a:spLocks noGrp="1"/>
          </p:cNvSpPr>
          <p:nvPr>
            <p:ph type="body" idx="1"/>
          </p:nvPr>
        </p:nvSpPr>
        <p:spPr/>
        <p:txBody>
          <a:bodyPr/>
          <a:lstStyle/>
          <a:p>
            <a:endParaRPr lang="en-SG" b="1" dirty="0"/>
          </a:p>
        </p:txBody>
      </p:sp>
      <p:sp>
        <p:nvSpPr>
          <p:cNvPr id="4" name="Slide Number Placeholder 3">
            <a:extLst>
              <a:ext uri="{FF2B5EF4-FFF2-40B4-BE49-F238E27FC236}">
                <a16:creationId xmlns:a16="http://schemas.microsoft.com/office/drawing/2014/main" id="{9D7CB6A1-FE27-DA8C-FC01-DE84DF4F1A59}"/>
              </a:ext>
            </a:extLst>
          </p:cNvPr>
          <p:cNvSpPr>
            <a:spLocks noGrp="1"/>
          </p:cNvSpPr>
          <p:nvPr>
            <p:ph type="sldNum" sz="quarter" idx="5"/>
          </p:nvPr>
        </p:nvSpPr>
        <p:spPr/>
        <p:txBody>
          <a:bodyPr/>
          <a:lstStyle/>
          <a:p>
            <a:fld id="{53E1A0DB-35D7-4E49-89B6-F31AEF2A93A0}" type="slidenum">
              <a:rPr lang="en-SG" smtClean="0"/>
              <a:t>29</a:t>
            </a:fld>
            <a:endParaRPr lang="en-SG"/>
          </a:p>
        </p:txBody>
      </p:sp>
    </p:spTree>
    <p:extLst>
      <p:ext uri="{BB962C8B-B14F-4D97-AF65-F5344CB8AC3E}">
        <p14:creationId xmlns:p14="http://schemas.microsoft.com/office/powerpoint/2010/main" val="3346710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878FA-D824-834A-A712-57E560B70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203C8-9B19-3C81-9765-4EEAD0865A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52975-857D-4112-8BA3-F1F5EAEA2746}"/>
              </a:ext>
            </a:extLst>
          </p:cNvPr>
          <p:cNvSpPr>
            <a:spLocks noGrp="1"/>
          </p:cNvSpPr>
          <p:nvPr>
            <p:ph type="body" idx="1"/>
          </p:nvPr>
        </p:nvSpPr>
        <p:spPr/>
        <p:txBody>
          <a:bodyPr/>
          <a:lstStyle/>
          <a:p>
            <a:r>
              <a:rPr lang="en-US" sz="2000" b="1" dirty="0"/>
              <a:t>References:</a:t>
            </a:r>
          </a:p>
          <a:p>
            <a:pPr marL="171450" indent="-171450">
              <a:buFont typeface="Arial" panose="020B0604020202020204" pitchFamily="34" charset="0"/>
              <a:buChar char="•"/>
            </a:pPr>
            <a:r>
              <a:rPr lang="en-SG" sz="2000" b="0" dirty="0"/>
              <a:t>Mayo Clinic, “In vitro fertilization (IVF),” https://www.mayoclinic.org/tests-procedures/in-vitro-fertilization/about/pac-20384716</a:t>
            </a:r>
          </a:p>
          <a:p>
            <a:pPr marL="171450" indent="-171450">
              <a:buFont typeface="Arial" panose="020B0604020202020204" pitchFamily="34" charset="0"/>
              <a:buChar char="•"/>
            </a:pPr>
            <a:r>
              <a:rPr lang="en-SG" sz="2000" b="0" dirty="0"/>
              <a:t>Maria Godoy, “</a:t>
            </a:r>
            <a:r>
              <a:rPr lang="en-US" sz="2000" b="0" dirty="0"/>
              <a:t>The science of IVF: What to know about Alabama's 'extrauterine children' ruling,” </a:t>
            </a:r>
            <a:r>
              <a:rPr lang="en-US" sz="2000" b="0" i="1" dirty="0"/>
              <a:t>NPR </a:t>
            </a:r>
            <a:r>
              <a:rPr lang="en-US" sz="2000" b="0" i="0" dirty="0"/>
              <a:t>(February 23, 2024). https://www.npr.org/sections/health-shots/2024/02/23/1233023637/ivf-alabama-frozen-embryo-personhood-abortion-supreme-court</a:t>
            </a:r>
            <a:endParaRPr lang="en-SG" sz="2000" b="0" dirty="0"/>
          </a:p>
          <a:p>
            <a:pPr marL="171450" indent="-171450">
              <a:buFont typeface="Arial" panose="020B0604020202020204" pitchFamily="34" charset="0"/>
              <a:buChar char="•"/>
            </a:pPr>
            <a:r>
              <a:rPr lang="en-US" sz="2000" b="0" i="0" dirty="0"/>
              <a:t>Ailsa Chang, Alejandra Marquez Janse, and Justine Kenin, “How Alabama's ruling that frozen embryos are 'children' could impact IVF,” </a:t>
            </a:r>
            <a:r>
              <a:rPr lang="en-US" sz="2000" b="0" i="1" dirty="0"/>
              <a:t>NPR</a:t>
            </a:r>
            <a:r>
              <a:rPr lang="en-US" sz="2000" b="0" i="0" dirty="0"/>
              <a:t> (February 21, 2024). https://www.npr.org/2024/02/21/1232742485/alabama-supreme-court-frozen-embryos-ivf-in-vitro-fertilization</a:t>
            </a:r>
            <a:endParaRPr lang="en-SG" sz="2000" b="0" dirty="0"/>
          </a:p>
          <a:p>
            <a:pPr lvl="0">
              <a:buFont typeface="Wingdings" panose="05000000000000000000" pitchFamily="2" charset="2"/>
              <a:buNone/>
            </a:pPr>
            <a:endParaRPr lang="en-US" sz="2000" dirty="0">
              <a:ea typeface="SimSun" panose="02010600030101010101" pitchFamily="2" charset="-122"/>
            </a:endParaRPr>
          </a:p>
          <a:p>
            <a:endParaRPr lang="en-SG" b="1" dirty="0"/>
          </a:p>
        </p:txBody>
      </p:sp>
      <p:sp>
        <p:nvSpPr>
          <p:cNvPr id="4" name="Slide Number Placeholder 3">
            <a:extLst>
              <a:ext uri="{FF2B5EF4-FFF2-40B4-BE49-F238E27FC236}">
                <a16:creationId xmlns:a16="http://schemas.microsoft.com/office/drawing/2014/main" id="{16A4F7FB-A9EF-3A66-219D-FFF67713535C}"/>
              </a:ext>
            </a:extLst>
          </p:cNvPr>
          <p:cNvSpPr>
            <a:spLocks noGrp="1"/>
          </p:cNvSpPr>
          <p:nvPr>
            <p:ph type="sldNum" sz="quarter" idx="5"/>
          </p:nvPr>
        </p:nvSpPr>
        <p:spPr/>
        <p:txBody>
          <a:bodyPr/>
          <a:lstStyle/>
          <a:p>
            <a:fld id="{53E1A0DB-35D7-4E49-89B6-F31AEF2A93A0}" type="slidenum">
              <a:rPr lang="en-SG" smtClean="0"/>
              <a:t>30</a:t>
            </a:fld>
            <a:endParaRPr lang="en-SG"/>
          </a:p>
        </p:txBody>
      </p:sp>
    </p:spTree>
    <p:extLst>
      <p:ext uri="{BB962C8B-B14F-4D97-AF65-F5344CB8AC3E}">
        <p14:creationId xmlns:p14="http://schemas.microsoft.com/office/powerpoint/2010/main" val="3366047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64A64-0847-4724-F672-EFFDE97EB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5998B8-E230-8DD4-6B97-1BCE728243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7C038-80ED-EECA-E2B4-B3A7C6DBDFCD}"/>
              </a:ext>
            </a:extLst>
          </p:cNvPr>
          <p:cNvSpPr>
            <a:spLocks noGrp="1"/>
          </p:cNvSpPr>
          <p:nvPr>
            <p:ph type="body" idx="1"/>
          </p:nvPr>
        </p:nvSpPr>
        <p:spPr/>
        <p:txBody>
          <a:bodyPr/>
          <a:lstStyle/>
          <a:p>
            <a:r>
              <a:rPr lang="en-US" sz="2000" b="1" dirty="0"/>
              <a:t>References:</a:t>
            </a:r>
          </a:p>
          <a:p>
            <a:pPr marL="171450" indent="-171450">
              <a:buFont typeface="Arial" panose="020B0604020202020204" pitchFamily="34" charset="0"/>
              <a:buChar char="•"/>
            </a:pPr>
            <a:r>
              <a:rPr lang="en-SG" sz="2000" b="0" dirty="0"/>
              <a:t>Joshua Sharfstein, “</a:t>
            </a:r>
            <a:r>
              <a:rPr lang="en-US" sz="2000" b="0" dirty="0"/>
              <a:t>The Alabama Supreme Court’s Ruling on Frozen Embryos,” Johns Hopkins Bloomberg School of Public Health (February 27, 2024). https://publichealth.jhu.edu/2024/the-alabama-supreme-courts-ruling-on-frozen-embryos</a:t>
            </a:r>
          </a:p>
          <a:p>
            <a:pPr marL="171450" indent="-171450">
              <a:buFont typeface="Arial" panose="020B0604020202020204" pitchFamily="34" charset="0"/>
              <a:buChar char="•"/>
            </a:pPr>
            <a:r>
              <a:rPr lang="en-SG" sz="2000" b="0" dirty="0"/>
              <a:t>Adam Edelman, “</a:t>
            </a:r>
            <a:r>
              <a:rPr lang="en-US" sz="2000" b="0" dirty="0"/>
              <a:t>Alabama governor signs bill to protect IVF treatments into law,” </a:t>
            </a:r>
            <a:r>
              <a:rPr lang="en-US" sz="2000" b="0" i="1" dirty="0"/>
              <a:t>NBC News </a:t>
            </a:r>
            <a:r>
              <a:rPr lang="en-US" sz="2000" b="0" i="0" dirty="0"/>
              <a:t>(March 6, 2024). https://www.nbcnews.com/politics/alabama-lawmakers-ivf-protection-bill-vote-rcna141710</a:t>
            </a:r>
          </a:p>
          <a:p>
            <a:pPr marL="171450" indent="-171450">
              <a:buFont typeface="Arial" panose="020B0604020202020204" pitchFamily="34" charset="0"/>
              <a:buChar char="•"/>
            </a:pPr>
            <a:r>
              <a:rPr lang="en-US" sz="2000" b="0" i="0" dirty="0"/>
              <a:t>Ailsa Chang, Alejandra Marquez </a:t>
            </a:r>
            <a:r>
              <a:rPr lang="en-US" sz="2000" b="0" i="0" dirty="0" err="1"/>
              <a:t>Janse</a:t>
            </a:r>
            <a:r>
              <a:rPr lang="en-US" sz="2000" b="0" i="0" dirty="0"/>
              <a:t>, and Justine </a:t>
            </a:r>
            <a:r>
              <a:rPr lang="en-US" sz="2000" b="0" i="0" dirty="0" err="1"/>
              <a:t>Kenin</a:t>
            </a:r>
            <a:r>
              <a:rPr lang="en-US" sz="2000" b="0" i="0" dirty="0"/>
              <a:t>, “How Alabama's ruling that frozen embryos are 'children' could impact IVF,” </a:t>
            </a:r>
            <a:r>
              <a:rPr lang="en-US" sz="2000" b="0" i="1" dirty="0"/>
              <a:t>NPR</a:t>
            </a:r>
            <a:r>
              <a:rPr lang="en-US" sz="2000" b="0" i="0" dirty="0"/>
              <a:t> (February 21, 2024). https://www.npr.org/2024/02/21/1232742485/alabama-supreme-court-frozen-embryos-ivf-in-vitro-fertilization</a:t>
            </a:r>
            <a:endParaRPr lang="en-SG" sz="2000" b="0" dirty="0"/>
          </a:p>
          <a:p>
            <a:pPr lvl="0">
              <a:buFont typeface="Wingdings" panose="05000000000000000000" pitchFamily="2" charset="2"/>
              <a:buNone/>
            </a:pPr>
            <a:endParaRPr lang="en-US" sz="2000" dirty="0">
              <a:ea typeface="SimSun" panose="02010600030101010101" pitchFamily="2" charset="-122"/>
            </a:endParaRPr>
          </a:p>
          <a:p>
            <a:endParaRPr lang="en-SG" b="1" dirty="0"/>
          </a:p>
        </p:txBody>
      </p:sp>
      <p:sp>
        <p:nvSpPr>
          <p:cNvPr id="4" name="Slide Number Placeholder 3">
            <a:extLst>
              <a:ext uri="{FF2B5EF4-FFF2-40B4-BE49-F238E27FC236}">
                <a16:creationId xmlns:a16="http://schemas.microsoft.com/office/drawing/2014/main" id="{BDE9EEEA-1E62-02EE-DEDB-22C47AE26B27}"/>
              </a:ext>
            </a:extLst>
          </p:cNvPr>
          <p:cNvSpPr>
            <a:spLocks noGrp="1"/>
          </p:cNvSpPr>
          <p:nvPr>
            <p:ph type="sldNum" sz="quarter" idx="5"/>
          </p:nvPr>
        </p:nvSpPr>
        <p:spPr/>
        <p:txBody>
          <a:bodyPr/>
          <a:lstStyle/>
          <a:p>
            <a:fld id="{53E1A0DB-35D7-4E49-89B6-F31AEF2A93A0}" type="slidenum">
              <a:rPr lang="en-SG" smtClean="0"/>
              <a:t>31</a:t>
            </a:fld>
            <a:endParaRPr lang="en-SG"/>
          </a:p>
        </p:txBody>
      </p:sp>
    </p:spTree>
    <p:extLst>
      <p:ext uri="{BB962C8B-B14F-4D97-AF65-F5344CB8AC3E}">
        <p14:creationId xmlns:p14="http://schemas.microsoft.com/office/powerpoint/2010/main" val="14731445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4566D-A2E2-94D3-4309-0EB502972A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D8D3DC-825B-CE56-C5AD-CF04A80BAA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1B4EFD-2567-92FA-C275-743C32C2AC5D}"/>
              </a:ext>
            </a:extLst>
          </p:cNvPr>
          <p:cNvSpPr>
            <a:spLocks noGrp="1"/>
          </p:cNvSpPr>
          <p:nvPr>
            <p:ph type="body" idx="1"/>
          </p:nvPr>
        </p:nvSpPr>
        <p:spPr/>
        <p:txBody>
          <a:bodyPr/>
          <a:lstStyle/>
          <a:p>
            <a:r>
              <a:rPr lang="en-US" sz="2000" b="1" dirty="0"/>
              <a:t>References:</a:t>
            </a:r>
          </a:p>
          <a:p>
            <a:pPr marL="171450" indent="-171450">
              <a:buFont typeface="Arial" panose="020B0604020202020204" pitchFamily="34" charset="0"/>
              <a:buChar char="•"/>
            </a:pPr>
            <a:r>
              <a:rPr lang="en-SG" sz="2000" b="0" dirty="0"/>
              <a:t>Joshua Sharfstein, “</a:t>
            </a:r>
            <a:r>
              <a:rPr lang="en-US" sz="2000" b="0" dirty="0"/>
              <a:t>The Alabama Supreme Court’s Ruling on Frozen Embryos,” Johns Hopkins Bloomberg School of Public Health (February 27, 2024). https://publichealth.jhu.edu/2024/the-alabama-supreme-courts-ruling-on-frozen-embryos</a:t>
            </a:r>
          </a:p>
          <a:p>
            <a:pPr marL="171450" indent="-171450">
              <a:buFont typeface="Arial" panose="020B0604020202020204" pitchFamily="34" charset="0"/>
              <a:buChar char="•"/>
            </a:pPr>
            <a:r>
              <a:rPr lang="en-SG" sz="2000" b="0" dirty="0"/>
              <a:t>Adam Edelman, “</a:t>
            </a:r>
            <a:r>
              <a:rPr lang="en-US" sz="2000" b="0" dirty="0"/>
              <a:t>Alabama governor signs bill to protect IVF treatments into law,” </a:t>
            </a:r>
            <a:r>
              <a:rPr lang="en-US" sz="2000" b="0" i="1" dirty="0"/>
              <a:t>NBC News </a:t>
            </a:r>
            <a:r>
              <a:rPr lang="en-US" sz="2000" b="0" i="0" dirty="0"/>
              <a:t>(March 6, 2024). https://www.nbcnews.com/politics/alabama-lawmakers-ivf-protection-bill-vote-rcna141710</a:t>
            </a:r>
          </a:p>
          <a:p>
            <a:pPr marL="171450" indent="-171450">
              <a:buFont typeface="Arial" panose="020B0604020202020204" pitchFamily="34" charset="0"/>
              <a:buChar char="•"/>
            </a:pPr>
            <a:r>
              <a:rPr lang="en-US" sz="2000" b="0" i="0" dirty="0"/>
              <a:t>Ailsa Chang, Alejandra Marquez </a:t>
            </a:r>
            <a:r>
              <a:rPr lang="en-US" sz="2000" b="0" i="0" dirty="0" err="1"/>
              <a:t>Janse</a:t>
            </a:r>
            <a:r>
              <a:rPr lang="en-US" sz="2000" b="0" i="0" dirty="0"/>
              <a:t>, and Justine </a:t>
            </a:r>
            <a:r>
              <a:rPr lang="en-US" sz="2000" b="0" i="0" dirty="0" err="1"/>
              <a:t>Kenin</a:t>
            </a:r>
            <a:r>
              <a:rPr lang="en-US" sz="2000" b="0" i="0" dirty="0"/>
              <a:t>, “How Alabama's ruling that frozen embryos are 'children' could impact IVF,” </a:t>
            </a:r>
            <a:r>
              <a:rPr lang="en-US" sz="2000" b="0" i="1" dirty="0"/>
              <a:t>NPR</a:t>
            </a:r>
            <a:r>
              <a:rPr lang="en-US" sz="2000" b="0" i="0" dirty="0"/>
              <a:t> (February 21, 2024). https://www.npr.org/2024/02/21/1232742485/alabama-supreme-court-frozen-embryos-ivf-in-vitro-fertilization</a:t>
            </a:r>
            <a:endParaRPr lang="en-SG" sz="2000" b="0" dirty="0"/>
          </a:p>
          <a:p>
            <a:pPr lvl="0">
              <a:buFont typeface="Wingdings" panose="05000000000000000000" pitchFamily="2" charset="2"/>
              <a:buNone/>
            </a:pPr>
            <a:endParaRPr lang="en-US" sz="2000" dirty="0">
              <a:ea typeface="SimSun" panose="02010600030101010101" pitchFamily="2" charset="-122"/>
            </a:endParaRPr>
          </a:p>
          <a:p>
            <a:endParaRPr lang="en-SG" b="1" dirty="0"/>
          </a:p>
        </p:txBody>
      </p:sp>
      <p:sp>
        <p:nvSpPr>
          <p:cNvPr id="4" name="Slide Number Placeholder 3">
            <a:extLst>
              <a:ext uri="{FF2B5EF4-FFF2-40B4-BE49-F238E27FC236}">
                <a16:creationId xmlns:a16="http://schemas.microsoft.com/office/drawing/2014/main" id="{BA9EED9B-D492-7C77-1040-53A7FEF5C662}"/>
              </a:ext>
            </a:extLst>
          </p:cNvPr>
          <p:cNvSpPr>
            <a:spLocks noGrp="1"/>
          </p:cNvSpPr>
          <p:nvPr>
            <p:ph type="sldNum" sz="quarter" idx="5"/>
          </p:nvPr>
        </p:nvSpPr>
        <p:spPr/>
        <p:txBody>
          <a:bodyPr/>
          <a:lstStyle/>
          <a:p>
            <a:fld id="{53E1A0DB-35D7-4E49-89B6-F31AEF2A93A0}" type="slidenum">
              <a:rPr lang="en-SG" smtClean="0"/>
              <a:t>32</a:t>
            </a:fld>
            <a:endParaRPr lang="en-SG"/>
          </a:p>
        </p:txBody>
      </p:sp>
    </p:spTree>
    <p:extLst>
      <p:ext uri="{BB962C8B-B14F-4D97-AF65-F5344CB8AC3E}">
        <p14:creationId xmlns:p14="http://schemas.microsoft.com/office/powerpoint/2010/main" val="9650091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878FA-D824-834A-A712-57E560B70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203C8-9B19-3C81-9765-4EEAD0865A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B52975-857D-4112-8BA3-F1F5EAEA2746}"/>
              </a:ext>
            </a:extLst>
          </p:cNvPr>
          <p:cNvSpPr>
            <a:spLocks noGrp="1"/>
          </p:cNvSpPr>
          <p:nvPr>
            <p:ph type="body" idx="1"/>
          </p:nvPr>
        </p:nvSpPr>
        <p:spPr/>
        <p:txBody>
          <a:bodyPr/>
          <a:lstStyle/>
          <a:p>
            <a:pPr lvl="0"/>
            <a:r>
              <a:rPr lang="en-US" sz="1800" dirty="0"/>
              <a:t>For a recent opinion poll on the ethics of IVF, see Jeffrey M. Jones, “Americans Back IVF; Divide on Morality of Destroying Embryos,” </a:t>
            </a:r>
            <a:r>
              <a:rPr lang="en-US" sz="1800" i="1" dirty="0"/>
              <a:t>Gallup</a:t>
            </a:r>
            <a:r>
              <a:rPr lang="en-US" sz="1800" i="0" dirty="0"/>
              <a:t> (June 13, 2024). https://news.gallup.com/poll/646025/americans-back-ivf-divide-morality-destroying-embryos.aspx</a:t>
            </a:r>
            <a:endParaRPr lang="en-US" sz="1800" dirty="0"/>
          </a:p>
        </p:txBody>
      </p:sp>
      <p:sp>
        <p:nvSpPr>
          <p:cNvPr id="4" name="Slide Number Placeholder 3">
            <a:extLst>
              <a:ext uri="{FF2B5EF4-FFF2-40B4-BE49-F238E27FC236}">
                <a16:creationId xmlns:a16="http://schemas.microsoft.com/office/drawing/2014/main" id="{16A4F7FB-A9EF-3A66-219D-FFF67713535C}"/>
              </a:ext>
            </a:extLst>
          </p:cNvPr>
          <p:cNvSpPr>
            <a:spLocks noGrp="1"/>
          </p:cNvSpPr>
          <p:nvPr>
            <p:ph type="sldNum" sz="quarter" idx="5"/>
          </p:nvPr>
        </p:nvSpPr>
        <p:spPr/>
        <p:txBody>
          <a:bodyPr/>
          <a:lstStyle/>
          <a:p>
            <a:fld id="{53E1A0DB-35D7-4E49-89B6-F31AEF2A93A0}" type="slidenum">
              <a:rPr lang="en-SG" smtClean="0"/>
              <a:t>33</a:t>
            </a:fld>
            <a:endParaRPr lang="en-SG"/>
          </a:p>
        </p:txBody>
      </p:sp>
    </p:spTree>
    <p:extLst>
      <p:ext uri="{BB962C8B-B14F-4D97-AF65-F5344CB8AC3E}">
        <p14:creationId xmlns:p14="http://schemas.microsoft.com/office/powerpoint/2010/main" val="1292712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1" y="3085765"/>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435894" y="1020431"/>
            <a:ext cx="8245162" cy="1475013"/>
          </a:xfrm>
          <a:effectLst/>
        </p:spPr>
        <p:txBody>
          <a:bodyPr anchor="b">
            <a:normAutofit/>
          </a:bodyPr>
          <a:lstStyle>
            <a:lvl1pPr>
              <a:defRPr sz="27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35895" y="2495446"/>
            <a:ext cx="8245160" cy="590321"/>
          </a:xfrm>
        </p:spPr>
        <p:txBody>
          <a:bodyPr anchor="t">
            <a:normAutofit/>
          </a:bodyPr>
          <a:lstStyle>
            <a:lvl1pPr marL="0" indent="0" algn="l">
              <a:buNone/>
              <a:defRPr sz="1200" cap="all">
                <a:solidFill>
                  <a:schemeClr val="accent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D6F929F0-D3E3-48C0-9EA8-5D8FC740713B}" type="datetime1">
              <a:rPr lang="en-US" smtClean="0"/>
              <a:t>10/29/2025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r>
              <a:rPr lang="en-US"/>
              <a:t>Luco - PHIL 1020 - Fall 2025</a:t>
            </a:r>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4" y="702156"/>
            <a:ext cx="8272212"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2340864"/>
            <a:ext cx="8272211"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C929489-D28E-47D5-8F9D-AF7193594F15}" type="datetime1">
              <a:rPr lang="en-US" smtClean="0"/>
              <a:t>10/29/2025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r>
              <a:rPr lang="en-US"/>
              <a:t>Luco - PHIL 1020 - Fall 2025</a:t>
            </a:r>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5141975"/>
            <a:ext cx="8468145"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2393951"/>
            <a:ext cx="8272211" cy="2147467"/>
          </a:xfrm>
        </p:spPr>
        <p:txBody>
          <a:bodyPr anchor="b">
            <a:normAutofit/>
          </a:bodyPr>
          <a:lstStyle>
            <a:lvl1pPr algn="l">
              <a:defRPr sz="27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4541417"/>
            <a:ext cx="8272211" cy="600556"/>
          </a:xfrm>
        </p:spPr>
        <p:txBody>
          <a:bodyPr anchor="t">
            <a:normAutofit/>
          </a:bodyPr>
          <a:lstStyle>
            <a:lvl1pPr marL="0" indent="0" algn="l">
              <a:buNone/>
              <a:defRPr sz="1350" cap="all">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9AD0F478-7B30-4079-AFFA-98C9350B0282}" type="datetime1">
              <a:rPr lang="en-US" smtClean="0"/>
              <a:t>10/29/2025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r>
              <a:rPr lang="en-US"/>
              <a:t>Luco - PHIL 1020 - Fall 2025</a:t>
            </a:r>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29658"/>
            <a:ext cx="8272212"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5" y="2228004"/>
            <a:ext cx="3896075"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2030" y="2228004"/>
            <a:ext cx="389607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CEE93A-0350-40B9-9C42-9CD1C28EF1C0}" type="datetime1">
              <a:rPr lang="en-US" smtClean="0"/>
              <a:t>10/29/2025</a:t>
            </a:fld>
            <a:endParaRPr lang="en-US" dirty="0"/>
          </a:p>
        </p:txBody>
      </p:sp>
      <p:sp>
        <p:nvSpPr>
          <p:cNvPr id="6" name="Footer Placeholder 5"/>
          <p:cNvSpPr>
            <a:spLocks noGrp="1"/>
          </p:cNvSpPr>
          <p:nvPr>
            <p:ph type="ftr" sz="quarter" idx="11"/>
          </p:nvPr>
        </p:nvSpPr>
        <p:spPr/>
        <p:txBody>
          <a:bodyPr/>
          <a:lstStyle/>
          <a:p>
            <a:r>
              <a:rPr lang="en-US"/>
              <a:t>Luco - PHIL 1020 - Fall 2025</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435895" y="729658"/>
            <a:ext cx="8272212"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35894" y="2250891"/>
            <a:ext cx="3896077" cy="557784"/>
          </a:xfrm>
        </p:spPr>
        <p:txBody>
          <a:bodyPr anchor="ctr">
            <a:noAutofit/>
          </a:bodyPr>
          <a:lstStyle>
            <a:lvl1pPr marL="0" indent="0">
              <a:buNone/>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5" y="2926053"/>
            <a:ext cx="3896075"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12029" y="2250893"/>
            <a:ext cx="3896078" cy="553373"/>
          </a:xfrm>
        </p:spPr>
        <p:txBody>
          <a:bodyPr anchor="ctr">
            <a:noAutofit/>
          </a:bodyPr>
          <a:lstStyle>
            <a:lvl1pPr marL="0" marR="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marR="0" lvl="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812028" y="2926053"/>
            <a:ext cx="3896078"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D71792-D4CD-4FA1-98B7-5D60F11448A1}" type="datetime1">
              <a:rPr lang="en-US" smtClean="0"/>
              <a:t>10/29/2025</a:t>
            </a:fld>
            <a:endParaRPr lang="en-US" dirty="0"/>
          </a:p>
        </p:txBody>
      </p:sp>
      <p:sp>
        <p:nvSpPr>
          <p:cNvPr id="8" name="Footer Placeholder 7"/>
          <p:cNvSpPr>
            <a:spLocks noGrp="1"/>
          </p:cNvSpPr>
          <p:nvPr>
            <p:ph type="ftr" sz="quarter" idx="11"/>
          </p:nvPr>
        </p:nvSpPr>
        <p:spPr/>
        <p:txBody>
          <a:bodyPr/>
          <a:lstStyle/>
          <a:p>
            <a:r>
              <a:rPr lang="en-US"/>
              <a:t>Luco - PHIL 1020 - Fall 2025</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31921" y="729658"/>
            <a:ext cx="8272212"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A6C998D-F1B2-4276-B498-4CE84D733359}" type="datetime1">
              <a:rPr lang="en-US" smtClean="0"/>
              <a:t>10/29/2025</a:t>
            </a:fld>
            <a:endParaRPr lang="en-US" dirty="0"/>
          </a:p>
        </p:txBody>
      </p:sp>
      <p:sp>
        <p:nvSpPr>
          <p:cNvPr id="4" name="Footer Placeholder 3"/>
          <p:cNvSpPr>
            <a:spLocks noGrp="1"/>
          </p:cNvSpPr>
          <p:nvPr>
            <p:ph type="ftr" sz="quarter" idx="11"/>
          </p:nvPr>
        </p:nvSpPr>
        <p:spPr/>
        <p:txBody>
          <a:bodyPr/>
          <a:lstStyle/>
          <a:p>
            <a:r>
              <a:rPr lang="en-US"/>
              <a:t>Luco - PHIL 1020 - Fall 2025</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505724-7AD0-41AE-8A36-BF07A06A8452}" type="datetime1">
              <a:rPr lang="en-US" smtClean="0"/>
              <a:t>10/29/2025</a:t>
            </a:fld>
            <a:endParaRPr lang="en-US" dirty="0"/>
          </a:p>
        </p:txBody>
      </p:sp>
      <p:sp>
        <p:nvSpPr>
          <p:cNvPr id="3" name="Footer Placeholder 2"/>
          <p:cNvSpPr>
            <a:spLocks noGrp="1"/>
          </p:cNvSpPr>
          <p:nvPr>
            <p:ph type="ftr" sz="quarter" idx="11"/>
          </p:nvPr>
        </p:nvSpPr>
        <p:spPr/>
        <p:txBody>
          <a:bodyPr/>
          <a:lstStyle/>
          <a:p>
            <a:r>
              <a:rPr lang="en-US"/>
              <a:t>Luco - PHIL 1020 - Fall 2025</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601201"/>
            <a:ext cx="2762042"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75893" y="933451"/>
            <a:ext cx="2273889" cy="1722419"/>
          </a:xfrm>
        </p:spPr>
        <p:txBody>
          <a:bodyPr anchor="b">
            <a:normAutofit/>
          </a:bodyPr>
          <a:lstStyle>
            <a:lvl1pPr algn="l">
              <a:defRPr sz="1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75697" y="1179829"/>
            <a:ext cx="4988243" cy="4658216"/>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5893" y="2836654"/>
            <a:ext cx="2273889" cy="3001392"/>
          </a:xfrm>
        </p:spPr>
        <p:txBody>
          <a:bodyPr anchor="t">
            <a:normAutofit/>
          </a:bodyPr>
          <a:lstStyle>
            <a:lvl1pPr marL="0" indent="0" algn="l">
              <a:buNone/>
              <a:defRPr sz="1200">
                <a:solidFill>
                  <a:srgbClr val="FFFFFF"/>
                </a:solidFill>
              </a:defRPr>
            </a:lvl1pPr>
            <a:lvl2pPr marL="342900" indent="0">
              <a:buNone/>
              <a:defRPr sz="825"/>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704464" y="6456917"/>
            <a:ext cx="2133599" cy="365125"/>
          </a:xfrm>
        </p:spPr>
        <p:txBody>
          <a:bodyPr/>
          <a:lstStyle/>
          <a:p>
            <a:fld id="{37BD914D-DAA8-441D-B6B1-D853665B8D77}" type="datetime1">
              <a:rPr lang="en-US" smtClean="0"/>
              <a:t>10/29/2025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435894" y="6452591"/>
            <a:ext cx="5187908" cy="365125"/>
          </a:xfrm>
        </p:spPr>
        <p:txBody>
          <a:bodyPr/>
          <a:lstStyle/>
          <a:p>
            <a:r>
              <a:rPr lang="en-US"/>
              <a:t>Luco - PHIL 1020 - Fall 2025</a:t>
            </a:r>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5" y="6456917"/>
            <a:ext cx="789383"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4693389"/>
            <a:ext cx="8272212" cy="566738"/>
          </a:xfrm>
        </p:spPr>
        <p:txBody>
          <a:bodyPr anchor="b">
            <a:normAutofit/>
          </a:bodyPr>
          <a:lstStyle>
            <a:lvl1pPr algn="l">
              <a:defRPr sz="18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3" y="641351"/>
            <a:ext cx="8468144" cy="365124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4" y="5260127"/>
            <a:ext cx="8272213" cy="998148"/>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86E70EE5-1A53-4EC7-B610-3DFD5E8EB566}" type="datetime1">
              <a:rPr lang="en-US" smtClean="0"/>
              <a:t>10/29/2025</a:t>
            </a:fld>
            <a:endParaRPr lang="en-US" dirty="0"/>
          </a:p>
        </p:txBody>
      </p:sp>
      <p:sp>
        <p:nvSpPr>
          <p:cNvPr id="6" name="Footer Placeholder 5"/>
          <p:cNvSpPr>
            <a:spLocks noGrp="1"/>
          </p:cNvSpPr>
          <p:nvPr>
            <p:ph type="ftr" sz="quarter" idx="11"/>
          </p:nvPr>
        </p:nvSpPr>
        <p:spPr/>
        <p:txBody>
          <a:bodyPr/>
          <a:lstStyle/>
          <a:p>
            <a:pPr algn="l"/>
            <a:r>
              <a:rPr lang="en-US"/>
              <a:t>Luco - PHIL 1020 - Fall 2025</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435894" y="702156"/>
            <a:ext cx="8272212"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FD77CA-FE45-4433-B7CD-7F59224F0F10}" type="datetime1">
              <a:rPr lang="en-US" smtClean="0"/>
              <a:t>10/29/2025</a:t>
            </a:fld>
            <a:endParaRPr lang="en-US" dirty="0"/>
          </a:p>
        </p:txBody>
      </p:sp>
      <p:sp>
        <p:nvSpPr>
          <p:cNvPr id="5" name="Footer Placeholder 4"/>
          <p:cNvSpPr>
            <a:spLocks noGrp="1"/>
          </p:cNvSpPr>
          <p:nvPr>
            <p:ph type="ftr" sz="quarter" idx="11"/>
          </p:nvPr>
        </p:nvSpPr>
        <p:spPr/>
        <p:txBody>
          <a:bodyPr/>
          <a:lstStyle/>
          <a:p>
            <a:r>
              <a:rPr lang="en-US"/>
              <a:t>Luco - PHIL 1020 - Fall 2025</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043613" y="599725"/>
            <a:ext cx="2765487"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53150" y="863600"/>
            <a:ext cx="234315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81193" y="863600"/>
            <a:ext cx="5371219"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6031610" y="453643"/>
            <a:ext cx="277749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FCF2488F-F5B2-452A-BBD6-274EC374D16C}" type="datetime1">
              <a:rPr lang="en-US" smtClean="0"/>
              <a:t>10/29/2025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r>
              <a:rPr lang="en-US"/>
              <a:t>Luco - PHIL 1020 - Fall 2025</a:t>
            </a:r>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4" y="705124"/>
            <a:ext cx="8272212"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4" y="2336003"/>
            <a:ext cx="8272212"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6423915"/>
            <a:ext cx="2133599"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fld id="{3AC96B09-C4DC-4246-9386-C1A10C914E07}" type="datetime1">
              <a:rPr lang="en-US" smtClean="0"/>
              <a:t>10/29/2025</a:t>
            </a:fld>
            <a:endParaRPr lang="en-US" dirty="0"/>
          </a:p>
        </p:txBody>
      </p:sp>
      <p:sp>
        <p:nvSpPr>
          <p:cNvPr id="5" name="Footer Placeholder 4"/>
          <p:cNvSpPr>
            <a:spLocks noGrp="1"/>
          </p:cNvSpPr>
          <p:nvPr>
            <p:ph type="ftr" sz="quarter" idx="3"/>
          </p:nvPr>
        </p:nvSpPr>
        <p:spPr>
          <a:xfrm>
            <a:off x="435894" y="6423915"/>
            <a:ext cx="5187908" cy="365125"/>
          </a:xfrm>
          <a:prstGeom prst="rect">
            <a:avLst/>
          </a:prstGeom>
        </p:spPr>
        <p:txBody>
          <a:bodyPr vert="horz" lIns="91440" tIns="45720" rIns="91440" bIns="45720" rtlCol="0" anchor="ctr"/>
          <a:lstStyle>
            <a:lvl1pPr algn="l">
              <a:defRPr sz="675" cap="all">
                <a:solidFill>
                  <a:schemeClr val="tx1">
                    <a:lumMod val="75000"/>
                    <a:lumOff val="25000"/>
                  </a:schemeClr>
                </a:solidFill>
              </a:defRPr>
            </a:lvl1pPr>
          </a:lstStyle>
          <a:p>
            <a:r>
              <a:rPr lang="en-US"/>
              <a:t>Luco - PHIL 1020 - Fall 2025</a:t>
            </a:r>
            <a:endParaRPr lang="en-US" dirty="0"/>
          </a:p>
        </p:txBody>
      </p:sp>
      <p:sp>
        <p:nvSpPr>
          <p:cNvPr id="6" name="Slide Number Placeholder 5"/>
          <p:cNvSpPr>
            <a:spLocks noGrp="1"/>
          </p:cNvSpPr>
          <p:nvPr>
            <p:ph type="sldNum" sz="quarter" idx="4"/>
          </p:nvPr>
        </p:nvSpPr>
        <p:spPr>
          <a:xfrm>
            <a:off x="7918725" y="6423915"/>
            <a:ext cx="789383"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34901"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6031610" y="453643"/>
            <a:ext cx="277749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hdr="0" dt="0"/>
  <p:txStyles>
    <p:titleStyle>
      <a:lvl1pPr algn="l" defTabSz="342900"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500" indent="-229500" algn="l" defTabSz="342900" rtl="0" eaLnBrk="1" latinLnBrk="0" hangingPunct="1">
        <a:lnSpc>
          <a:spcPct val="110000"/>
        </a:lnSpc>
        <a:spcBef>
          <a:spcPct val="20000"/>
        </a:spcBef>
        <a:spcAft>
          <a:spcPts val="450"/>
        </a:spcAft>
        <a:buClr>
          <a:schemeClr val="accent1"/>
        </a:buClr>
        <a:buSzPct val="92000"/>
        <a:buFont typeface="Wingdings 2" panose="05020102010507070707" pitchFamily="18" charset="2"/>
        <a:buChar char=""/>
        <a:defRPr sz="1275" kern="1200">
          <a:solidFill>
            <a:schemeClr val="tx1">
              <a:lumMod val="75000"/>
              <a:lumOff val="25000"/>
            </a:schemeClr>
          </a:solidFill>
          <a:latin typeface="+mn-lt"/>
          <a:ea typeface="+mn-ea"/>
          <a:cs typeface="+mn-cs"/>
        </a:defRPr>
      </a:lvl1pPr>
      <a:lvl2pPr marL="472500" indent="-229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1050" kern="1200">
          <a:solidFill>
            <a:schemeClr val="tx1">
              <a:lumMod val="75000"/>
              <a:lumOff val="25000"/>
            </a:schemeClr>
          </a:solidFill>
          <a:latin typeface="+mn-lt"/>
          <a:ea typeface="+mn-ea"/>
          <a:cs typeface="+mn-cs"/>
        </a:defRPr>
      </a:lvl2pPr>
      <a:lvl3pPr marL="675000" indent="-202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975" kern="1200">
          <a:solidFill>
            <a:schemeClr val="tx1">
              <a:lumMod val="75000"/>
              <a:lumOff val="25000"/>
            </a:schemeClr>
          </a:solidFill>
          <a:latin typeface="+mn-lt"/>
          <a:ea typeface="+mn-ea"/>
          <a:cs typeface="+mn-cs"/>
        </a:defRPr>
      </a:lvl3pPr>
      <a:lvl4pPr marL="931500" indent="-175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825" kern="1200">
          <a:solidFill>
            <a:schemeClr val="tx1">
              <a:lumMod val="75000"/>
              <a:lumOff val="25000"/>
            </a:schemeClr>
          </a:solidFill>
          <a:latin typeface="+mn-lt"/>
          <a:ea typeface="+mn-ea"/>
          <a:cs typeface="+mn-cs"/>
        </a:defRPr>
      </a:lvl4pPr>
      <a:lvl5pPr marL="1201500" indent="-175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825" kern="1200">
          <a:solidFill>
            <a:schemeClr val="tx1">
              <a:lumMod val="75000"/>
              <a:lumOff val="25000"/>
            </a:schemeClr>
          </a:solidFill>
          <a:latin typeface="+mn-lt"/>
          <a:ea typeface="+mn-ea"/>
          <a:cs typeface="+mn-cs"/>
        </a:defRPr>
      </a:lvl5pPr>
      <a:lvl6pPr marL="142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5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10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scientificamerican.com/article/when-does-consciousness-arise/"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www.rcog.org.uk/guidance/browse-all-guidance/other-guidelines-and-reports/fetal-awareness-updated-review-of-research-and-recommendations-for-practice/"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pmc.ncbi.nlm.nih.gov/articles/PMC9935385/#Sec3"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mayoclinic.org/tests-procedures/in-vitro-fertilization/about/pac-20384716"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hyperlink" Target="https://www.npr.org/2024/02/21/1232742485/alabama-supreme-court-frozen-embryos-ivf-in-vitro-fertilization" TargetMode="External"/><Relationship Id="rId4" Type="http://schemas.openxmlformats.org/officeDocument/2006/relationships/hyperlink" Target="https://www.npr.org/sections/health-shots/2024/02/23/1233023637/ivf-alabama-frozen-embryo-personhood-abortion-supreme-court"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publichealth.jhu.edu/2024/the-alabama-supreme-courts-ruling-on-frozen-embryos"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nbcnews.com/politics/alabama-lawmakers-ivf-protection-bill-vote-rcna141710"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hyperlink" Target="https://www.npr.org/2024/02/21/1232742485/alabama-supreme-court-frozen-embryos-ivf-in-vitro-fertilization"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435904" y="1294774"/>
            <a:ext cx="8245162" cy="1106260"/>
          </a:xfrm>
        </p:spPr>
        <p:txBody>
          <a:bodyPr>
            <a:normAutofit/>
          </a:bodyPr>
          <a:lstStyle/>
          <a:p>
            <a:pPr algn="ctr"/>
            <a:r>
              <a:rPr lang="en-US" sz="3200" dirty="0"/>
              <a:t>Week 10 (10/22): abortion</a:t>
            </a:r>
            <a:br>
              <a:rPr lang="en-US" dirty="0"/>
            </a:br>
            <a:endParaRPr lang="en-US"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1" y="1200150"/>
            <a:ext cx="2777490"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3" y="1200150"/>
            <a:ext cx="2777490"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1197482"/>
            <a:ext cx="2777490"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336550" y="3168650"/>
            <a:ext cx="8445500" cy="2482850"/>
          </a:xfrm>
          <a:prstGeom prst="rect">
            <a:avLst/>
          </a:prstGeom>
        </p:spPr>
      </p:pic>
      <p:sp>
        <p:nvSpPr>
          <p:cNvPr id="5" name="Subtitle 4">
            <a:extLst>
              <a:ext uri="{FF2B5EF4-FFF2-40B4-BE49-F238E27FC236}">
                <a16:creationId xmlns:a16="http://schemas.microsoft.com/office/drawing/2014/main" id="{AE7198F4-03FA-746C-BC6E-F7699885CC48}"/>
              </a:ext>
            </a:extLst>
          </p:cNvPr>
          <p:cNvSpPr>
            <a:spLocks noGrp="1"/>
          </p:cNvSpPr>
          <p:nvPr>
            <p:ph type="subTitle" idx="1"/>
          </p:nvPr>
        </p:nvSpPr>
        <p:spPr>
          <a:xfrm>
            <a:off x="358258" y="2003742"/>
            <a:ext cx="8245160" cy="590321"/>
          </a:xfrm>
        </p:spPr>
        <p:txBody>
          <a:bodyPr>
            <a:noAutofit/>
          </a:bodyPr>
          <a:lstStyle/>
          <a:p>
            <a:pPr algn="ctr"/>
            <a:r>
              <a:rPr lang="en-US" sz="2000" dirty="0" err="1"/>
              <a:t>phil</a:t>
            </a:r>
            <a:r>
              <a:rPr lang="en-US" sz="2000" dirty="0"/>
              <a:t> 1020 | Introduction to ethics</a:t>
            </a:r>
            <a:br>
              <a:rPr lang="en-US" sz="2000" dirty="0"/>
            </a:br>
            <a:r>
              <a:rPr lang="en-US" sz="2000" dirty="0"/>
              <a:t>sections 001, 004, 005, &amp; 006</a:t>
            </a:r>
            <a:br>
              <a:rPr lang="en-US" sz="2000" dirty="0"/>
            </a:br>
            <a:r>
              <a:rPr lang="en-SG" sz="2000" dirty="0"/>
              <a:t>fall 2025</a:t>
            </a:r>
          </a:p>
        </p:txBody>
      </p:sp>
      <p:sp>
        <p:nvSpPr>
          <p:cNvPr id="7" name="Footer Placeholder 6">
            <a:extLst>
              <a:ext uri="{FF2B5EF4-FFF2-40B4-BE49-F238E27FC236}">
                <a16:creationId xmlns:a16="http://schemas.microsoft.com/office/drawing/2014/main" id="{322F5B55-25C6-FAB1-DCA8-C75EE3E9C3AE}"/>
              </a:ext>
            </a:extLst>
          </p:cNvPr>
          <p:cNvSpPr>
            <a:spLocks noGrp="1"/>
          </p:cNvSpPr>
          <p:nvPr>
            <p:ph type="ftr" sz="quarter" idx="11"/>
          </p:nvPr>
        </p:nvSpPr>
        <p:spPr/>
        <p:txBody>
          <a:bodyPr/>
          <a:lstStyle/>
          <a:p>
            <a:r>
              <a:rPr lang="en-US" sz="1200"/>
              <a:t>Luco - PHIL 1020 - Fall 2025</a:t>
            </a:r>
            <a:endParaRPr lang="en-US" sz="1200" dirty="0"/>
          </a:p>
        </p:txBody>
      </p:sp>
      <p:sp>
        <p:nvSpPr>
          <p:cNvPr id="8" name="Slide Number Placeholder 7">
            <a:extLst>
              <a:ext uri="{FF2B5EF4-FFF2-40B4-BE49-F238E27FC236}">
                <a16:creationId xmlns:a16="http://schemas.microsoft.com/office/drawing/2014/main" id="{4907EF3F-05D7-5692-6A97-28B05EA4CB57}"/>
              </a:ext>
            </a:extLst>
          </p:cNvPr>
          <p:cNvSpPr>
            <a:spLocks noGrp="1"/>
          </p:cNvSpPr>
          <p:nvPr>
            <p:ph type="sldNum" sz="quarter" idx="12"/>
          </p:nvPr>
        </p:nvSpPr>
        <p:spPr/>
        <p:txBody>
          <a:bodyPr/>
          <a:lstStyle/>
          <a:p>
            <a:fld id="{3A98EE3D-8CD1-4C3F-BD1C-C98C9596463C}" type="slidenum">
              <a:rPr lang="en-US" sz="1200" smtClean="0"/>
              <a:t>1</a:t>
            </a:fld>
            <a:endParaRPr lang="en-US" sz="1200" dirty="0"/>
          </a:p>
        </p:txBody>
      </p:sp>
      <p:pic>
        <p:nvPicPr>
          <p:cNvPr id="1026" name="Picture 2" descr="Pregnant Silhouette Vector Art, Icons, and Graphics for Free Download">
            <a:extLst>
              <a:ext uri="{FF2B5EF4-FFF2-40B4-BE49-F238E27FC236}">
                <a16:creationId xmlns:a16="http://schemas.microsoft.com/office/drawing/2014/main" id="{D72E05B6-4330-DDA7-1713-15B011346E1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978" r="20489"/>
          <a:stretch/>
        </p:blipFill>
        <p:spPr bwMode="auto">
          <a:xfrm>
            <a:off x="560713" y="1273833"/>
            <a:ext cx="1368485" cy="1838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Objectives for today</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rmAutofit fontScale="92500" lnSpcReduction="10000"/>
          </a:bodyPr>
          <a:lstStyle/>
          <a:p>
            <a:pPr marL="457200" indent="-457200">
              <a:buFont typeface="+mj-lt"/>
              <a:buAutoNum type="arabicParenR"/>
            </a:pPr>
            <a:r>
              <a:rPr lang="en-SG" sz="2000" dirty="0"/>
              <a:t>Evaluate Mary Anne Warren’s argument for the view that abortions are often morally permissible, because early human </a:t>
            </a:r>
            <a:r>
              <a:rPr lang="en-SG" sz="2000" dirty="0" err="1"/>
              <a:t>fetuses</a:t>
            </a:r>
            <a:r>
              <a:rPr lang="en-SG" sz="2000" dirty="0"/>
              <a:t> do not qualify as “persons” with full moral rights to life.</a:t>
            </a:r>
          </a:p>
          <a:p>
            <a:pPr marL="457200" indent="-457200">
              <a:buFont typeface="+mj-lt"/>
              <a:buAutoNum type="arabicParenR"/>
            </a:pPr>
            <a:endParaRPr lang="en-SG" sz="2000" dirty="0"/>
          </a:p>
          <a:p>
            <a:pPr marL="457200" indent="-457200">
              <a:buFont typeface="+mj-lt"/>
              <a:buAutoNum type="arabicParenR"/>
            </a:pPr>
            <a:r>
              <a:rPr lang="en-SG" sz="2000" dirty="0"/>
              <a:t>Consider the infanticide objection and potentiality objection to Warren’s argument. </a:t>
            </a:r>
          </a:p>
          <a:p>
            <a:pPr marL="457200" indent="-457200">
              <a:buFont typeface="+mj-lt"/>
              <a:buAutoNum type="arabicParenR"/>
            </a:pPr>
            <a:endParaRPr lang="en-SG" sz="2000" dirty="0"/>
          </a:p>
          <a:p>
            <a:pPr marL="457200" indent="-457200">
              <a:buFont typeface="+mj-lt"/>
              <a:buAutoNum type="arabicParenR"/>
            </a:pPr>
            <a:r>
              <a:rPr lang="en-SG" sz="2000" dirty="0"/>
              <a:t>Examine the “Argument from Potential” as another way of expressing a potentiality objection to Warren’s argument. Consider how Shafer-Landau rebuts that argument. </a:t>
            </a:r>
          </a:p>
          <a:p>
            <a:pPr marL="457200" indent="-457200">
              <a:buFont typeface="+mj-lt"/>
              <a:buAutoNum type="arabicParenR"/>
            </a:pPr>
            <a:endParaRPr lang="en-SG" sz="2000" dirty="0"/>
          </a:p>
          <a:p>
            <a:pPr marL="457200" indent="-457200">
              <a:buFont typeface="+mj-lt"/>
              <a:buAutoNum type="arabicParenR"/>
            </a:pPr>
            <a:r>
              <a:rPr lang="en-SG" sz="2000" dirty="0"/>
              <a:t>Discuss whether it is immoral to destroy “spare” embryos conceived through in-vitro fertilization (IVF). </a:t>
            </a:r>
          </a:p>
          <a:p>
            <a:endParaRPr lang="en-SG" sz="2000" dirty="0"/>
          </a:p>
          <a:p>
            <a:endParaRPr lang="en-SG" sz="20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a:t>
            </a:fld>
            <a:endParaRPr lang="en-US" sz="1200" dirty="0"/>
          </a:p>
        </p:txBody>
      </p:sp>
    </p:spTree>
    <p:extLst>
      <p:ext uri="{BB962C8B-B14F-4D97-AF65-F5344CB8AC3E}">
        <p14:creationId xmlns:p14="http://schemas.microsoft.com/office/powerpoint/2010/main" val="2958441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Warren on abortion</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SG" sz="2400" dirty="0"/>
              <a:t>Mary Anne Warren (1946 - 2010) was an American philosopher. She advanced another influential argument for the pro-choice position in her essay “On the Moral and Legal Status of Abortion” (Warren, in LaFollette 2007).</a:t>
            </a:r>
          </a:p>
          <a:p>
            <a:endParaRPr lang="en-SG" sz="2400" dirty="0">
              <a:solidFill>
                <a:srgbClr val="191B0E"/>
              </a:solidFill>
              <a:latin typeface="Franklin Gothic Book" panose="020B0503020102020204"/>
              <a:ea typeface="SimSun" panose="02010600030101010101" pitchFamily="2" charset="-122"/>
            </a:endParaRPr>
          </a:p>
          <a:p>
            <a:r>
              <a:rPr lang="en-SG" sz="2400" dirty="0">
                <a:solidFill>
                  <a:srgbClr val="191B0E"/>
                </a:solidFill>
                <a:latin typeface="Franklin Gothic Book" panose="020B0503020102020204"/>
                <a:ea typeface="SimSun" panose="02010600030101010101" pitchFamily="2" charset="-122"/>
              </a:rPr>
              <a:t>Warrens’s thesis is that abortion is morally permissible under virtually any circumstances in at least the first and second trimesters of pregnancy, because during this period, a </a:t>
            </a:r>
            <a:r>
              <a:rPr lang="en-SG" sz="2400" dirty="0" err="1">
                <a:solidFill>
                  <a:srgbClr val="191B0E"/>
                </a:solidFill>
                <a:latin typeface="Franklin Gothic Book" panose="020B0503020102020204"/>
                <a:ea typeface="SimSun" panose="02010600030101010101" pitchFamily="2" charset="-122"/>
              </a:rPr>
              <a:t>fetus</a:t>
            </a:r>
            <a:r>
              <a:rPr lang="en-SG" sz="2400" dirty="0">
                <a:solidFill>
                  <a:srgbClr val="191B0E"/>
                </a:solidFill>
                <a:latin typeface="Franklin Gothic Book" panose="020B0503020102020204"/>
                <a:ea typeface="SimSun" panose="02010600030101010101" pitchFamily="2" charset="-122"/>
              </a:rPr>
              <a:t> does not have the traits necessary for a human being to have a full and equal moral right to life.</a:t>
            </a:r>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3</a:t>
            </a:fld>
            <a:endParaRPr lang="en-US" sz="1200" dirty="0"/>
          </a:p>
        </p:txBody>
      </p:sp>
    </p:spTree>
    <p:extLst>
      <p:ext uri="{BB962C8B-B14F-4D97-AF65-F5344CB8AC3E}">
        <p14:creationId xmlns:p14="http://schemas.microsoft.com/office/powerpoint/2010/main" val="1173715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C7FF5-977A-4F4C-FE7A-76A9E5578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87330F-EBF7-7FFA-9662-F2346F516F6A}"/>
              </a:ext>
            </a:extLst>
          </p:cNvPr>
          <p:cNvSpPr>
            <a:spLocks noGrp="1"/>
          </p:cNvSpPr>
          <p:nvPr>
            <p:ph type="title"/>
          </p:nvPr>
        </p:nvSpPr>
        <p:spPr>
          <a:xfrm>
            <a:off x="453146" y="628782"/>
            <a:ext cx="8272212" cy="721203"/>
          </a:xfrm>
        </p:spPr>
        <p:txBody>
          <a:bodyPr anchor="ctr">
            <a:normAutofit/>
          </a:bodyPr>
          <a:lstStyle/>
          <a:p>
            <a:pPr algn="ctr"/>
            <a:r>
              <a:rPr lang="en-SG" sz="4000" dirty="0"/>
              <a:t>Warren on abortion</a:t>
            </a:r>
          </a:p>
        </p:txBody>
      </p:sp>
      <p:sp>
        <p:nvSpPr>
          <p:cNvPr id="3" name="Content Placeholder 2">
            <a:extLst>
              <a:ext uri="{FF2B5EF4-FFF2-40B4-BE49-F238E27FC236}">
                <a16:creationId xmlns:a16="http://schemas.microsoft.com/office/drawing/2014/main" id="{B9EA57F0-7431-E9CF-9FB9-C5ABED1E01D5}"/>
              </a:ext>
            </a:extLst>
          </p:cNvPr>
          <p:cNvSpPr>
            <a:spLocks noGrp="1"/>
          </p:cNvSpPr>
          <p:nvPr>
            <p:ph idx="1"/>
          </p:nvPr>
        </p:nvSpPr>
        <p:spPr>
          <a:xfrm>
            <a:off x="435895" y="1579959"/>
            <a:ext cx="8272211" cy="4761781"/>
          </a:xfrm>
        </p:spPr>
        <p:txBody>
          <a:bodyPr anchor="t">
            <a:noAutofit/>
          </a:bodyPr>
          <a:lstStyle/>
          <a:p>
            <a:r>
              <a:rPr lang="en-SG" sz="1900" dirty="0"/>
              <a:t>It’s worth noting that Warren’s essay went through a few revisions. The original version, published in 1973, is included in your textbook by Shafer-Landau (see Shafer-Landau 2024: chapter 11). </a:t>
            </a:r>
          </a:p>
          <a:p>
            <a:r>
              <a:rPr lang="en-SG" sz="1900" dirty="0"/>
              <a:t>I’ve asked you to read a later version of Warren’s essay, which is published in Hugh LaFollette’s volume </a:t>
            </a:r>
            <a:r>
              <a:rPr lang="en-SG" sz="1900" i="1" dirty="0"/>
              <a:t>Ethics in Practice</a:t>
            </a:r>
            <a:r>
              <a:rPr lang="en-SG" sz="1900" dirty="0"/>
              <a:t>, Third Edition (Blackwell Publishing, 2007).</a:t>
            </a:r>
          </a:p>
          <a:p>
            <a:r>
              <a:rPr lang="en-SG" sz="1900" dirty="0"/>
              <a:t>Warren moderated her position in the later revisions of her essay. In the original, Warren suggests that it would not be morally right to impose </a:t>
            </a:r>
            <a:r>
              <a:rPr lang="en-SG" sz="1900" i="1" dirty="0"/>
              <a:t>any</a:t>
            </a:r>
            <a:r>
              <a:rPr lang="en-SG" sz="1900" dirty="0"/>
              <a:t> restrictions on the stage of pregnancy in which an abortion may be performed. </a:t>
            </a:r>
          </a:p>
          <a:p>
            <a:r>
              <a:rPr lang="en-SG" sz="1900" dirty="0"/>
              <a:t>But in her revised essay, Warren accepts that it may be reasonable to legally prohibit abortion in the third trimester of a pregnancy, </a:t>
            </a:r>
            <a:r>
              <a:rPr lang="en-SG" sz="1900" i="1" dirty="0"/>
              <a:t>so long as </a:t>
            </a:r>
            <a:r>
              <a:rPr lang="en-SG" sz="1900" dirty="0"/>
              <a:t>early-</a:t>
            </a:r>
            <a:r>
              <a:rPr lang="en-SG" sz="1900" dirty="0" err="1"/>
              <a:t>fetus</a:t>
            </a:r>
            <a:r>
              <a:rPr lang="en-SG" sz="1900" dirty="0"/>
              <a:t> abortions are legal and readily available (Warren, in LaFollette 2007: 133).</a:t>
            </a:r>
          </a:p>
          <a:p>
            <a:pPr lvl="1"/>
            <a:endParaRPr lang="en-SG" sz="1900" dirty="0"/>
          </a:p>
          <a:p>
            <a:pPr lvl="1"/>
            <a:endParaRPr lang="en-SG" sz="1900" dirty="0"/>
          </a:p>
        </p:txBody>
      </p:sp>
      <p:sp>
        <p:nvSpPr>
          <p:cNvPr id="4" name="Footer Placeholder 3">
            <a:extLst>
              <a:ext uri="{FF2B5EF4-FFF2-40B4-BE49-F238E27FC236}">
                <a16:creationId xmlns:a16="http://schemas.microsoft.com/office/drawing/2014/main" id="{28704EC0-9E35-6535-5439-4417249A8035}"/>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A53B6CEB-33D5-37A7-2AE5-D98EEB31B626}"/>
              </a:ext>
            </a:extLst>
          </p:cNvPr>
          <p:cNvSpPr>
            <a:spLocks noGrp="1"/>
          </p:cNvSpPr>
          <p:nvPr>
            <p:ph type="sldNum" sz="quarter" idx="12"/>
          </p:nvPr>
        </p:nvSpPr>
        <p:spPr/>
        <p:txBody>
          <a:bodyPr/>
          <a:lstStyle/>
          <a:p>
            <a:fld id="{3A98EE3D-8CD1-4C3F-BD1C-C98C9596463C}" type="slidenum">
              <a:rPr lang="en-US" sz="1200" smtClean="0"/>
              <a:t>4</a:t>
            </a:fld>
            <a:endParaRPr lang="en-US" sz="1200" dirty="0"/>
          </a:p>
        </p:txBody>
      </p:sp>
    </p:spTree>
    <p:extLst>
      <p:ext uri="{BB962C8B-B14F-4D97-AF65-F5344CB8AC3E}">
        <p14:creationId xmlns:p14="http://schemas.microsoft.com/office/powerpoint/2010/main" val="4102968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5AFB5-564D-CDE8-92D3-43F354E57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678C1-78E1-CE52-E056-7F10810A148A}"/>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170D2DC3-595D-484A-CC31-8691ECFA8078}"/>
              </a:ext>
            </a:extLst>
          </p:cNvPr>
          <p:cNvSpPr>
            <a:spLocks noGrp="1"/>
          </p:cNvSpPr>
          <p:nvPr>
            <p:ph idx="1"/>
          </p:nvPr>
        </p:nvSpPr>
        <p:spPr>
          <a:xfrm>
            <a:off x="435895" y="1579959"/>
            <a:ext cx="8272211" cy="4761781"/>
          </a:xfrm>
        </p:spPr>
        <p:txBody>
          <a:bodyPr anchor="t">
            <a:noAutofit/>
          </a:bodyPr>
          <a:lstStyle/>
          <a:p>
            <a:r>
              <a:rPr lang="en-US" altLang="en-US" sz="2400" dirty="0"/>
              <a:t>In Warren’s view, whether or not an abortion is morally permissible depends crucially on </a:t>
            </a:r>
            <a:r>
              <a:rPr lang="en-US" altLang="en-US" sz="2400" i="1" dirty="0"/>
              <a:t>when</a:t>
            </a:r>
            <a:r>
              <a:rPr lang="en-US" altLang="en-US" sz="2400" dirty="0"/>
              <a:t> it is performed. </a:t>
            </a:r>
          </a:p>
          <a:p>
            <a:pPr lvl="1"/>
            <a:endParaRPr lang="en-US" altLang="en-US" sz="2400" dirty="0"/>
          </a:p>
          <a:p>
            <a:pPr lvl="1"/>
            <a:r>
              <a:rPr lang="en-US" altLang="en-US" sz="2400" dirty="0"/>
              <a:t>Following Warren, we’ll call an embryo/fetus in the first or second trimester of a human pregnancy an “</a:t>
            </a:r>
            <a:r>
              <a:rPr lang="en-US" altLang="en-US" sz="2400" b="1" dirty="0"/>
              <a:t>early fetus</a:t>
            </a:r>
            <a:r>
              <a:rPr lang="en-US" altLang="en-US" sz="2400" dirty="0"/>
              <a:t>.” </a:t>
            </a:r>
          </a:p>
          <a:p>
            <a:pPr lvl="1"/>
            <a:endParaRPr lang="en-US" altLang="en-US" sz="2400" dirty="0"/>
          </a:p>
          <a:p>
            <a:pPr lvl="1"/>
            <a:r>
              <a:rPr lang="en-US" altLang="en-US" sz="2400" dirty="0"/>
              <a:t>A fetus in the third trimester of a pregnancy will be called a “</a:t>
            </a:r>
            <a:r>
              <a:rPr lang="en-US" altLang="en-US" sz="2400" b="1" dirty="0"/>
              <a:t>late-term fetus</a:t>
            </a:r>
            <a:r>
              <a:rPr lang="en-US" altLang="en-US" sz="2400" dirty="0"/>
              <a:t>.”</a:t>
            </a:r>
          </a:p>
        </p:txBody>
      </p:sp>
      <p:sp>
        <p:nvSpPr>
          <p:cNvPr id="4" name="Footer Placeholder 3">
            <a:extLst>
              <a:ext uri="{FF2B5EF4-FFF2-40B4-BE49-F238E27FC236}">
                <a16:creationId xmlns:a16="http://schemas.microsoft.com/office/drawing/2014/main" id="{75F2BD8C-07C2-5B2D-669C-D4103E5ABA97}"/>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B900A782-0085-29B6-800E-8D97791C4AB4}"/>
              </a:ext>
            </a:extLst>
          </p:cNvPr>
          <p:cNvSpPr>
            <a:spLocks noGrp="1"/>
          </p:cNvSpPr>
          <p:nvPr>
            <p:ph type="sldNum" sz="quarter" idx="12"/>
          </p:nvPr>
        </p:nvSpPr>
        <p:spPr/>
        <p:txBody>
          <a:bodyPr/>
          <a:lstStyle/>
          <a:p>
            <a:fld id="{3A98EE3D-8CD1-4C3F-BD1C-C98C9596463C}" type="slidenum">
              <a:rPr lang="en-US" sz="1200" smtClean="0"/>
              <a:t>5</a:t>
            </a:fld>
            <a:endParaRPr lang="en-US" sz="1200" dirty="0"/>
          </a:p>
        </p:txBody>
      </p:sp>
    </p:spTree>
    <p:extLst>
      <p:ext uri="{BB962C8B-B14F-4D97-AF65-F5344CB8AC3E}">
        <p14:creationId xmlns:p14="http://schemas.microsoft.com/office/powerpoint/2010/main" val="2348910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08515-67F3-70F3-3683-5D781C70D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6015A-7FE7-D939-292F-07A1D505E5C5}"/>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6094323F-5B33-E130-2E9A-9DABEB6D23D6}"/>
              </a:ext>
            </a:extLst>
          </p:cNvPr>
          <p:cNvSpPr>
            <a:spLocks noGrp="1"/>
          </p:cNvSpPr>
          <p:nvPr>
            <p:ph idx="1"/>
          </p:nvPr>
        </p:nvSpPr>
        <p:spPr>
          <a:xfrm>
            <a:off x="435895" y="1529719"/>
            <a:ext cx="8272211" cy="4761781"/>
          </a:xfrm>
        </p:spPr>
        <p:txBody>
          <a:bodyPr anchor="t">
            <a:noAutofit/>
          </a:bodyPr>
          <a:lstStyle/>
          <a:p>
            <a:r>
              <a:rPr lang="en-SG" altLang="en-US" sz="1900" dirty="0"/>
              <a:t>A key premise in Warren’s argument</a:t>
            </a:r>
            <a:r>
              <a:rPr lang="en-US" altLang="en-US" sz="1900" dirty="0"/>
              <a:t> is that </a:t>
            </a:r>
            <a:r>
              <a:rPr lang="en-US" altLang="en-US" sz="1900" i="1" dirty="0"/>
              <a:t>an early fetus is not a person</a:t>
            </a:r>
            <a:r>
              <a:rPr lang="en-US" altLang="en-US" sz="1900" dirty="0"/>
              <a:t>, and therefore does not have a full-fledged moral right to life (Warren, in LaFollette 2007: 127, 130-131). And because an </a:t>
            </a:r>
            <a:r>
              <a:rPr lang="en-US" altLang="en-US" sz="1900" i="1" dirty="0"/>
              <a:t>early fetus </a:t>
            </a:r>
            <a:r>
              <a:rPr lang="en-US" altLang="en-US" sz="1900" dirty="0"/>
              <a:t>does not have a full moral right to life, it is morally permissible to end a fetus’s life through abortion.</a:t>
            </a:r>
            <a:endParaRPr lang="en-SG" altLang="en-US" sz="1900" dirty="0"/>
          </a:p>
          <a:p>
            <a:pPr lvl="1"/>
            <a:endParaRPr lang="en-US" altLang="en-US" sz="1900" dirty="0"/>
          </a:p>
          <a:p>
            <a:pPr lvl="1"/>
            <a:r>
              <a:rPr lang="en-US" altLang="en-US" sz="1900" dirty="0"/>
              <a:t>In saying this, Warren does not deny that fetuses are members of the human species. She accepts that fetuses are living human beings, but only in a genetic or biological sense </a:t>
            </a:r>
            <a:r>
              <a:rPr lang="en-US" sz="1900" dirty="0"/>
              <a:t>(see Warren, in LaFollette 2007: 131)</a:t>
            </a:r>
            <a:r>
              <a:rPr lang="en-US" altLang="en-US" sz="1900" dirty="0"/>
              <a:t>. </a:t>
            </a:r>
          </a:p>
          <a:p>
            <a:pPr lvl="1"/>
            <a:endParaRPr lang="en-US" altLang="en-US" sz="1900" dirty="0"/>
          </a:p>
          <a:p>
            <a:pPr lvl="1"/>
            <a:r>
              <a:rPr lang="en-US" altLang="en-US" sz="1900" dirty="0"/>
              <a:t>When Warren uses the term “person” in her essay, she does not refer to a member of the human species. Instead, she uses the term “</a:t>
            </a:r>
            <a:r>
              <a:rPr lang="en-US" altLang="en-US" sz="1900" b="1" dirty="0"/>
              <a:t>person</a:t>
            </a:r>
            <a:r>
              <a:rPr lang="en-US" altLang="en-US" sz="1900" dirty="0"/>
              <a:t>” to stand for </a:t>
            </a:r>
            <a:r>
              <a:rPr lang="en-US" altLang="en-US" sz="1900" i="1" dirty="0"/>
              <a:t>a member of the moral community</a:t>
            </a:r>
            <a:r>
              <a:rPr lang="en-US" altLang="en-US" sz="1900" dirty="0"/>
              <a:t>. </a:t>
            </a:r>
          </a:p>
          <a:p>
            <a:pPr lvl="1"/>
            <a:endParaRPr lang="en-US" altLang="en-US" sz="1900" dirty="0"/>
          </a:p>
          <a:p>
            <a:endParaRPr lang="en-SG" sz="1900" dirty="0"/>
          </a:p>
        </p:txBody>
      </p:sp>
      <p:sp>
        <p:nvSpPr>
          <p:cNvPr id="4" name="Footer Placeholder 3">
            <a:extLst>
              <a:ext uri="{FF2B5EF4-FFF2-40B4-BE49-F238E27FC236}">
                <a16:creationId xmlns:a16="http://schemas.microsoft.com/office/drawing/2014/main" id="{514274EB-07D8-3538-DD6D-FE05AFF4F7B0}"/>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E82DE527-5172-671D-63D5-D11F3067521B}"/>
              </a:ext>
            </a:extLst>
          </p:cNvPr>
          <p:cNvSpPr>
            <a:spLocks noGrp="1"/>
          </p:cNvSpPr>
          <p:nvPr>
            <p:ph type="sldNum" sz="quarter" idx="12"/>
          </p:nvPr>
        </p:nvSpPr>
        <p:spPr/>
        <p:txBody>
          <a:bodyPr/>
          <a:lstStyle/>
          <a:p>
            <a:fld id="{3A98EE3D-8CD1-4C3F-BD1C-C98C9596463C}" type="slidenum">
              <a:rPr lang="en-US" sz="1200" smtClean="0"/>
              <a:t>6</a:t>
            </a:fld>
            <a:endParaRPr lang="en-US" sz="1200" dirty="0"/>
          </a:p>
        </p:txBody>
      </p:sp>
    </p:spTree>
    <p:extLst>
      <p:ext uri="{BB962C8B-B14F-4D97-AF65-F5344CB8AC3E}">
        <p14:creationId xmlns:p14="http://schemas.microsoft.com/office/powerpoint/2010/main" val="2794260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08515-67F3-70F3-3683-5D781C70D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6015A-7FE7-D939-292F-07A1D505E5C5}"/>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6094323F-5B33-E130-2E9A-9DABEB6D23D6}"/>
              </a:ext>
            </a:extLst>
          </p:cNvPr>
          <p:cNvSpPr>
            <a:spLocks noGrp="1"/>
          </p:cNvSpPr>
          <p:nvPr>
            <p:ph idx="1"/>
          </p:nvPr>
        </p:nvSpPr>
        <p:spPr>
          <a:xfrm>
            <a:off x="435895" y="1529719"/>
            <a:ext cx="8272211" cy="4761781"/>
          </a:xfrm>
        </p:spPr>
        <p:txBody>
          <a:bodyPr anchor="t">
            <a:noAutofit/>
          </a:bodyPr>
          <a:lstStyle/>
          <a:p>
            <a:r>
              <a:rPr lang="en-US" altLang="en-US" sz="1800" dirty="0"/>
              <a:t>Warren uses the term “</a:t>
            </a:r>
            <a:r>
              <a:rPr lang="en-US" altLang="en-US" sz="1800" b="1" dirty="0"/>
              <a:t>person</a:t>
            </a:r>
            <a:r>
              <a:rPr lang="en-US" altLang="en-US" sz="1800" dirty="0"/>
              <a:t>” to stand for </a:t>
            </a:r>
            <a:r>
              <a:rPr lang="en-US" altLang="en-US" sz="1800" i="1" dirty="0"/>
              <a:t>a member of the moral community</a:t>
            </a:r>
            <a:r>
              <a:rPr lang="en-US" altLang="en-US" sz="1800" dirty="0"/>
              <a:t>. </a:t>
            </a:r>
            <a:r>
              <a:rPr lang="en-US" altLang="en-US" sz="1800" b="1" dirty="0"/>
              <a:t>[continued from previous slide]</a:t>
            </a:r>
            <a:endParaRPr lang="en-US" altLang="en-US" sz="1800" dirty="0"/>
          </a:p>
          <a:p>
            <a:pPr lvl="1"/>
            <a:endParaRPr lang="en-US" altLang="en-US" sz="1800" dirty="0"/>
          </a:p>
          <a:p>
            <a:pPr lvl="1"/>
            <a:r>
              <a:rPr lang="en-US" altLang="en-US" sz="1800" dirty="0"/>
              <a:t>For Warren, the </a:t>
            </a:r>
            <a:r>
              <a:rPr lang="en-US" altLang="en-US" sz="1800" b="1" dirty="0"/>
              <a:t>moral community</a:t>
            </a:r>
            <a:r>
              <a:rPr lang="en-US" altLang="en-US" sz="1800" dirty="0"/>
              <a:t> is the set of beings who have </a:t>
            </a:r>
            <a:r>
              <a:rPr lang="en-US" altLang="en-US" sz="1800" i="1" dirty="0"/>
              <a:t>full and equal moral rights </a:t>
            </a:r>
            <a:r>
              <a:rPr lang="en-US" altLang="en-US" sz="1800" dirty="0"/>
              <a:t>(Warren, in LaFollette 2007: 127, 130-131).</a:t>
            </a:r>
            <a:endParaRPr lang="en-US" sz="1800" dirty="0"/>
          </a:p>
          <a:p>
            <a:pPr lvl="2"/>
            <a:endParaRPr lang="en-SG" sz="1800" b="1" dirty="0"/>
          </a:p>
          <a:p>
            <a:pPr lvl="2"/>
            <a:r>
              <a:rPr lang="en-SG" sz="1800" b="1" dirty="0"/>
              <a:t>Moral rights</a:t>
            </a:r>
            <a:r>
              <a:rPr lang="en-SG" sz="1800" dirty="0"/>
              <a:t> are moral entitlements or liberties that protect our interests and choices (Shafer-Landau 2024: Glossary). If one has a moral right to X, then other people (including the government) have a moral obligation to protect that person’s interests or choices regarding X.</a:t>
            </a:r>
            <a:endParaRPr lang="en-US" sz="1800" dirty="0"/>
          </a:p>
          <a:p>
            <a:pPr lvl="1"/>
            <a:endParaRPr lang="en-US" sz="1800" dirty="0"/>
          </a:p>
          <a:p>
            <a:pPr lvl="1"/>
            <a:r>
              <a:rPr lang="en-US" sz="1800" dirty="0"/>
              <a:t>So, while Warren does not deny that fetuses are human beings in a purely biological sense, she does deny that fetuses are </a:t>
            </a:r>
            <a:r>
              <a:rPr lang="en-US" sz="1800" i="1" dirty="0"/>
              <a:t>persons</a:t>
            </a:r>
            <a:r>
              <a:rPr lang="en-US" sz="1800" dirty="0"/>
              <a:t> in the sense that they do not have full and equal moral rights.</a:t>
            </a:r>
          </a:p>
          <a:p>
            <a:endParaRPr lang="en-SG" sz="1800" dirty="0"/>
          </a:p>
          <a:p>
            <a:pPr lvl="1"/>
            <a:endParaRPr lang="en-US" altLang="en-US" sz="1800" dirty="0"/>
          </a:p>
          <a:p>
            <a:endParaRPr lang="en-SG" sz="1800" dirty="0"/>
          </a:p>
        </p:txBody>
      </p:sp>
      <p:sp>
        <p:nvSpPr>
          <p:cNvPr id="4" name="Footer Placeholder 3">
            <a:extLst>
              <a:ext uri="{FF2B5EF4-FFF2-40B4-BE49-F238E27FC236}">
                <a16:creationId xmlns:a16="http://schemas.microsoft.com/office/drawing/2014/main" id="{514274EB-07D8-3538-DD6D-FE05AFF4F7B0}"/>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E82DE527-5172-671D-63D5-D11F3067521B}"/>
              </a:ext>
            </a:extLst>
          </p:cNvPr>
          <p:cNvSpPr>
            <a:spLocks noGrp="1"/>
          </p:cNvSpPr>
          <p:nvPr>
            <p:ph type="sldNum" sz="quarter" idx="12"/>
          </p:nvPr>
        </p:nvSpPr>
        <p:spPr/>
        <p:txBody>
          <a:bodyPr/>
          <a:lstStyle/>
          <a:p>
            <a:fld id="{3A98EE3D-8CD1-4C3F-BD1C-C98C9596463C}" type="slidenum">
              <a:rPr lang="en-US" sz="1200" smtClean="0"/>
              <a:t>7</a:t>
            </a:fld>
            <a:endParaRPr lang="en-US" sz="1200" dirty="0"/>
          </a:p>
        </p:txBody>
      </p:sp>
    </p:spTree>
    <p:extLst>
      <p:ext uri="{BB962C8B-B14F-4D97-AF65-F5344CB8AC3E}">
        <p14:creationId xmlns:p14="http://schemas.microsoft.com/office/powerpoint/2010/main" val="549431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3B313-FE42-55FA-CB97-559CE6F16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5C2FC-7DF3-592E-5D72-28A90A326C9F}"/>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E8C416EA-080F-7409-D795-73E94EDC25CE}"/>
              </a:ext>
            </a:extLst>
          </p:cNvPr>
          <p:cNvSpPr>
            <a:spLocks noGrp="1"/>
          </p:cNvSpPr>
          <p:nvPr>
            <p:ph idx="1"/>
          </p:nvPr>
        </p:nvSpPr>
        <p:spPr>
          <a:xfrm>
            <a:off x="435895" y="1539767"/>
            <a:ext cx="8272211" cy="4761781"/>
          </a:xfrm>
        </p:spPr>
        <p:txBody>
          <a:bodyPr anchor="t">
            <a:noAutofit/>
          </a:bodyPr>
          <a:lstStyle/>
          <a:p>
            <a:r>
              <a:rPr lang="en-US" sz="1750" dirty="0"/>
              <a:t>Warren argues that certain psychological traits make an entity a person, and therefore, a bearer of full and equal moral rights. She offers a non-exhaustive list of some of these traits (Warren, in LaFollette 2007: 130-131):</a:t>
            </a:r>
          </a:p>
          <a:p>
            <a:endParaRPr lang="en-US" sz="1750" dirty="0"/>
          </a:p>
          <a:p>
            <a:pPr marL="243000" lvl="1" indent="0">
              <a:buNone/>
            </a:pPr>
            <a:r>
              <a:rPr lang="en-US" sz="1750" i="1" u="sng" dirty="0"/>
              <a:t>Warren’s List of the Traits of Personhood</a:t>
            </a:r>
          </a:p>
          <a:p>
            <a:pPr marL="585900" lvl="1" indent="-342900">
              <a:buFont typeface="+mj-lt"/>
              <a:buAutoNum type="arabicParenR"/>
            </a:pPr>
            <a:r>
              <a:rPr lang="en-US" sz="1750" b="1" dirty="0"/>
              <a:t>sentience </a:t>
            </a:r>
            <a:r>
              <a:rPr lang="en-US" sz="1750" dirty="0"/>
              <a:t>(or consciousness): the capacity to have conscious experiences, in particular of pleasure and pain;</a:t>
            </a:r>
          </a:p>
          <a:p>
            <a:pPr marL="585900" lvl="1" indent="-342900">
              <a:buFont typeface="+mj-lt"/>
              <a:buAutoNum type="arabicParenR"/>
            </a:pPr>
            <a:r>
              <a:rPr lang="en-US" sz="1750" b="1" dirty="0"/>
              <a:t>emotionality</a:t>
            </a:r>
            <a:r>
              <a:rPr lang="en-US" sz="1750" dirty="0"/>
              <a:t>: the capacity to feel emotions;</a:t>
            </a:r>
          </a:p>
          <a:p>
            <a:pPr marL="585900" lvl="1" indent="-342900">
              <a:buFont typeface="+mj-lt"/>
              <a:buAutoNum type="arabicParenR"/>
            </a:pPr>
            <a:r>
              <a:rPr lang="en-US" sz="1750" b="1" dirty="0"/>
              <a:t>reason</a:t>
            </a:r>
            <a:r>
              <a:rPr lang="en-US" sz="1750" dirty="0"/>
              <a:t>: the capacity to solve complex problems;</a:t>
            </a:r>
          </a:p>
          <a:p>
            <a:pPr marL="585900" lvl="1" indent="-342900">
              <a:buFont typeface="+mj-lt"/>
              <a:buAutoNum type="arabicParenR"/>
            </a:pPr>
            <a:r>
              <a:rPr lang="en-US" sz="1750" dirty="0"/>
              <a:t>the </a:t>
            </a:r>
            <a:r>
              <a:rPr lang="en-US" sz="1750" b="1" dirty="0"/>
              <a:t>capacity to communicate </a:t>
            </a:r>
            <a:r>
              <a:rPr lang="en-US" sz="1750" dirty="0"/>
              <a:t>messages, by whatever means, about an indefinite number of possible topics;</a:t>
            </a:r>
          </a:p>
          <a:p>
            <a:pPr marL="585900" lvl="1" indent="-342900">
              <a:buFont typeface="+mj-lt"/>
              <a:buAutoNum type="arabicParenR"/>
            </a:pPr>
            <a:r>
              <a:rPr lang="en-US" sz="1750" b="1" dirty="0"/>
              <a:t>self-awareness</a:t>
            </a:r>
            <a:r>
              <a:rPr lang="en-US" sz="1750" dirty="0"/>
              <a:t>: having a concept of oneself;</a:t>
            </a:r>
          </a:p>
          <a:p>
            <a:pPr marL="585900" lvl="1" indent="-342900">
              <a:buFont typeface="+mj-lt"/>
              <a:buAutoNum type="arabicParenR"/>
            </a:pPr>
            <a:r>
              <a:rPr lang="en-US" sz="1750" b="1" dirty="0"/>
              <a:t>moral agency</a:t>
            </a:r>
            <a:r>
              <a:rPr lang="en-US" sz="1750" dirty="0"/>
              <a:t>: the capacity to regulate one’s own actions on the basis of moral principles and ideals. </a:t>
            </a:r>
          </a:p>
          <a:p>
            <a:endParaRPr lang="en-SG" sz="1750" dirty="0"/>
          </a:p>
        </p:txBody>
      </p:sp>
      <p:sp>
        <p:nvSpPr>
          <p:cNvPr id="4" name="Footer Placeholder 3">
            <a:extLst>
              <a:ext uri="{FF2B5EF4-FFF2-40B4-BE49-F238E27FC236}">
                <a16:creationId xmlns:a16="http://schemas.microsoft.com/office/drawing/2014/main" id="{2485BB65-1827-3C08-358C-CB109F48DD8E}"/>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B8AA6E68-18EF-9D4E-A7EE-7C2648C7E6CB}"/>
              </a:ext>
            </a:extLst>
          </p:cNvPr>
          <p:cNvSpPr>
            <a:spLocks noGrp="1"/>
          </p:cNvSpPr>
          <p:nvPr>
            <p:ph type="sldNum" sz="quarter" idx="12"/>
          </p:nvPr>
        </p:nvSpPr>
        <p:spPr/>
        <p:txBody>
          <a:bodyPr/>
          <a:lstStyle/>
          <a:p>
            <a:fld id="{3A98EE3D-8CD1-4C3F-BD1C-C98C9596463C}" type="slidenum">
              <a:rPr lang="en-US" sz="1200" smtClean="0"/>
              <a:t>8</a:t>
            </a:fld>
            <a:endParaRPr lang="en-US" sz="1200" dirty="0"/>
          </a:p>
        </p:txBody>
      </p:sp>
    </p:spTree>
    <p:extLst>
      <p:ext uri="{BB962C8B-B14F-4D97-AF65-F5344CB8AC3E}">
        <p14:creationId xmlns:p14="http://schemas.microsoft.com/office/powerpoint/2010/main" val="2591147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US" sz="2200" dirty="0"/>
              <a:t>Warren states that an entity that has </a:t>
            </a:r>
            <a:r>
              <a:rPr lang="en-US" sz="2200" i="1" dirty="0"/>
              <a:t>none</a:t>
            </a:r>
            <a:r>
              <a:rPr lang="en-US" sz="2200" dirty="0"/>
              <a:t> of the traits of personhood is not a person (Warren, in LaFollette 2007: 131). </a:t>
            </a:r>
          </a:p>
          <a:p>
            <a:endParaRPr lang="en-US" sz="2200" dirty="0"/>
          </a:p>
          <a:p>
            <a:pPr lvl="1"/>
            <a:r>
              <a:rPr lang="en-US" sz="2200" dirty="0"/>
              <a:t>Furthermore, Warren claims that the more of the traits of personhood that an entity has, the more closely it resembles a person (Warren, in LaFollette 2007: 132).</a:t>
            </a:r>
          </a:p>
          <a:p>
            <a:pPr lvl="1"/>
            <a:endParaRPr lang="en-US" sz="2200" dirty="0"/>
          </a:p>
          <a:p>
            <a:pPr lvl="1"/>
            <a:r>
              <a:rPr lang="en-US" sz="2200" dirty="0"/>
              <a:t>And, Warren adds, “the more like a person, in the relevant respects, a being is, the stronger is the case for regarding it as having a right to life, and indeed the stronger its right to life is” (Ibid.). </a:t>
            </a:r>
            <a:endParaRPr lang="en-SG" sz="22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9</a:t>
            </a:fld>
            <a:endParaRPr lang="en-US" sz="1200" dirty="0"/>
          </a:p>
        </p:txBody>
      </p:sp>
    </p:spTree>
    <p:extLst>
      <p:ext uri="{BB962C8B-B14F-4D97-AF65-F5344CB8AC3E}">
        <p14:creationId xmlns:p14="http://schemas.microsoft.com/office/powerpoint/2010/main" val="237052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US" sz="1900" dirty="0"/>
              <a:t>In Warren’s view, consciousness and reasoning are particularly important traits of personhood. Warren even remarks that consciousness and reasoning may together be </a:t>
            </a:r>
            <a:r>
              <a:rPr lang="en-US" sz="1900" i="1" dirty="0"/>
              <a:t>necessary</a:t>
            </a:r>
            <a:r>
              <a:rPr lang="en-US" sz="1900" dirty="0"/>
              <a:t> for being a person (Warren, in LaFollette 2007: 131). </a:t>
            </a:r>
          </a:p>
          <a:p>
            <a:r>
              <a:rPr lang="en-US" sz="1900" dirty="0"/>
              <a:t>Warren suggests that consciousness (or sentience) is crucial to making an entity a person, for two reasons  (Warren, in LaFollette 2007: 131). </a:t>
            </a:r>
          </a:p>
          <a:p>
            <a:pPr lvl="1"/>
            <a:r>
              <a:rPr lang="en-US" sz="1900" dirty="0"/>
              <a:t>First, conscious beings can be harmed in ways that matter to them; for instance, they can be caused to feel pain, or deprived of pleasure. </a:t>
            </a:r>
          </a:p>
          <a:p>
            <a:pPr lvl="1"/>
            <a:r>
              <a:rPr lang="en-US" sz="1900" dirty="0"/>
              <a:t>And second, it is unlikely that a non-conscious being could develop the other traits of persons. </a:t>
            </a:r>
          </a:p>
          <a:p>
            <a:pPr lvl="1"/>
            <a:r>
              <a:rPr lang="en-US" sz="1900" dirty="0"/>
              <a:t>For these two reasons, Warren contends that “it is odd to claim that an entity that is not sentient [i.e., conscious], and that has never been sentient, is nevertheless a person” (Warren, in LaFollette 2007: 131). </a:t>
            </a:r>
          </a:p>
          <a:p>
            <a:pPr marL="457200" lvl="1" indent="0">
              <a:buNone/>
            </a:pPr>
            <a:endParaRPr lang="en-US" sz="1800" dirty="0"/>
          </a:p>
          <a:p>
            <a:endParaRPr lang="en-US" sz="1800" dirty="0"/>
          </a:p>
          <a:p>
            <a:endParaRPr lang="en-SG" sz="1800" dirty="0"/>
          </a:p>
          <a:p>
            <a:endParaRPr lang="en-SG" sz="18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10</a:t>
            </a:fld>
            <a:endParaRPr lang="en-US" sz="1200" dirty="0"/>
          </a:p>
        </p:txBody>
      </p:sp>
    </p:spTree>
    <p:extLst>
      <p:ext uri="{BB962C8B-B14F-4D97-AF65-F5344CB8AC3E}">
        <p14:creationId xmlns:p14="http://schemas.microsoft.com/office/powerpoint/2010/main" val="2089430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12A28-A6A2-FFCD-24F1-1C1ADA927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AEF70-8C8B-FCC7-FE4B-F6A0334E68DB}"/>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75214C3F-5CBF-E8B2-1008-34254EBACCDF}"/>
              </a:ext>
            </a:extLst>
          </p:cNvPr>
          <p:cNvSpPr>
            <a:spLocks noGrp="1"/>
          </p:cNvSpPr>
          <p:nvPr>
            <p:ph idx="1"/>
          </p:nvPr>
        </p:nvSpPr>
        <p:spPr>
          <a:xfrm>
            <a:off x="435895" y="1579959"/>
            <a:ext cx="8272211" cy="4761781"/>
          </a:xfrm>
        </p:spPr>
        <p:txBody>
          <a:bodyPr anchor="t">
            <a:noAutofit/>
          </a:bodyPr>
          <a:lstStyle/>
          <a:p>
            <a:r>
              <a:rPr lang="en-US" sz="1800" dirty="0"/>
              <a:t>Notice that being biologically or genetically human appears nowhere on Warren’s list of the traits of personhood. </a:t>
            </a:r>
          </a:p>
          <a:p>
            <a:endParaRPr lang="en-US" sz="1800" dirty="0"/>
          </a:p>
          <a:p>
            <a:r>
              <a:rPr lang="en-US" sz="1800" dirty="0"/>
              <a:t>Warren thinks that being a genetically human organism—an organism possessing a human genome—is neither necessary nor sufficient for being a person (Warren, in LaFollette 2007: 131). Here is how Warren herself explains this point:</a:t>
            </a:r>
          </a:p>
          <a:p>
            <a:pPr marL="243000" lvl="1" indent="0">
              <a:buNone/>
            </a:pPr>
            <a:endParaRPr lang="en-US" sz="1800" dirty="0"/>
          </a:p>
          <a:p>
            <a:pPr marL="445500" lvl="2" indent="0">
              <a:buNone/>
            </a:pPr>
            <a:r>
              <a:rPr lang="en-US" sz="1800" dirty="0"/>
              <a:t>“…If [the traits of personhood] are the primary criteria of personhood, then genetic humanity is neither necessary nor sufficient for personhood. Some genetically human entities are not persons…A man or woman whose consciousness has been permanently obliterated but who remains biologically alive is a human entity who may no longer be a person; and some unfortunate humans, who have never had any sensory or cognitive capacities at all, may not be [persons] either.” (Warren, in LaFollette 2007: 131)</a:t>
            </a:r>
            <a:endParaRPr lang="en-SG" sz="1800" dirty="0"/>
          </a:p>
          <a:p>
            <a:endParaRPr lang="en-US" sz="1800" dirty="0"/>
          </a:p>
          <a:p>
            <a:endParaRPr lang="en-US" sz="1800" dirty="0"/>
          </a:p>
          <a:p>
            <a:endParaRPr lang="en-SG" sz="1800" dirty="0"/>
          </a:p>
        </p:txBody>
      </p:sp>
      <p:sp>
        <p:nvSpPr>
          <p:cNvPr id="4" name="Footer Placeholder 3">
            <a:extLst>
              <a:ext uri="{FF2B5EF4-FFF2-40B4-BE49-F238E27FC236}">
                <a16:creationId xmlns:a16="http://schemas.microsoft.com/office/drawing/2014/main" id="{F583BC8D-A4AD-5DF2-8CB8-AD88F04729E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DAD33B90-3A99-ADA8-5C91-7AFE53BD5E34}"/>
              </a:ext>
            </a:extLst>
          </p:cNvPr>
          <p:cNvSpPr>
            <a:spLocks noGrp="1"/>
          </p:cNvSpPr>
          <p:nvPr>
            <p:ph type="sldNum" sz="quarter" idx="12"/>
          </p:nvPr>
        </p:nvSpPr>
        <p:spPr/>
        <p:txBody>
          <a:bodyPr/>
          <a:lstStyle/>
          <a:p>
            <a:fld id="{3A98EE3D-8CD1-4C3F-BD1C-C98C9596463C}" type="slidenum">
              <a:rPr lang="en-US" sz="1200" smtClean="0"/>
              <a:t>11</a:t>
            </a:fld>
            <a:endParaRPr lang="en-US" sz="1200" dirty="0"/>
          </a:p>
        </p:txBody>
      </p:sp>
    </p:spTree>
    <p:extLst>
      <p:ext uri="{BB962C8B-B14F-4D97-AF65-F5344CB8AC3E}">
        <p14:creationId xmlns:p14="http://schemas.microsoft.com/office/powerpoint/2010/main" val="3222883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US" sz="2000" dirty="0"/>
              <a:t>Although a fetus conceived by human parents is biologically human, Warren contends that early fetuses lack all the traits of personhood on her list. </a:t>
            </a:r>
          </a:p>
          <a:p>
            <a:endParaRPr lang="en-US" sz="2000" dirty="0"/>
          </a:p>
          <a:p>
            <a:r>
              <a:rPr lang="en-US" sz="2000" dirty="0"/>
              <a:t>Warren writes:</a:t>
            </a:r>
          </a:p>
          <a:p>
            <a:endParaRPr lang="en-US" sz="2000" dirty="0"/>
          </a:p>
          <a:p>
            <a:pPr marL="457200" lvl="1" indent="0">
              <a:buNone/>
            </a:pPr>
            <a:r>
              <a:rPr lang="en-US" sz="2000" dirty="0"/>
              <a:t>“…an early fetus is a human entity which is not yet a person. It is not even minimally sentient [i.e., conscious], let alone capable of emotion, reason, sophisticated communication, self-awareness, or moral agency” (Warren, in LaFollette 2007: 131).</a:t>
            </a:r>
            <a:endParaRPr lang="en-SG" sz="20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12</a:t>
            </a:fld>
            <a:endParaRPr lang="en-US" sz="1200" dirty="0"/>
          </a:p>
        </p:txBody>
      </p:sp>
    </p:spTree>
    <p:extLst>
      <p:ext uri="{BB962C8B-B14F-4D97-AF65-F5344CB8AC3E}">
        <p14:creationId xmlns:p14="http://schemas.microsoft.com/office/powerpoint/2010/main" val="721384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US" sz="1900" dirty="0"/>
              <a:t>In particular, Warren stresses that early fetuses lack sentience before the third trimester of pregnancy:</a:t>
            </a:r>
          </a:p>
          <a:p>
            <a:endParaRPr lang="en-US" sz="1900" dirty="0"/>
          </a:p>
          <a:p>
            <a:pPr marL="457200" lvl="1" indent="0">
              <a:buNone/>
            </a:pPr>
            <a:r>
              <a:rPr lang="en-US" sz="1900" dirty="0"/>
              <a:t>“Fetal sentience [i.e., consciousness] is impossible prior to the development of neurological connections between the sense organs and the brain, and between the various parts of the brain involved in the processing of conscious experience. This stage of neurological development is currently thought to occur at some point in the late second or early third trimester.” (Warren, in LaFollette 2007: 136, note 14)</a:t>
            </a:r>
          </a:p>
          <a:p>
            <a:pPr marL="0" indent="0">
              <a:buNone/>
            </a:pPr>
            <a:endParaRPr lang="en-US" sz="1900" dirty="0"/>
          </a:p>
          <a:p>
            <a:r>
              <a:rPr lang="en-US" sz="1900" dirty="0"/>
              <a:t>This point is significant because, as noted previously, Warren thinks that consciousness is an especially important condition for being a person. Without consciousness, a being is unlikely to develop the other traits of personhood.</a:t>
            </a:r>
          </a:p>
          <a:p>
            <a:pPr marL="0" indent="0">
              <a:buNone/>
            </a:pPr>
            <a:endParaRPr lang="en-US" sz="1900" dirty="0"/>
          </a:p>
          <a:p>
            <a:pPr marL="457200" lvl="1" indent="0">
              <a:buNone/>
            </a:pPr>
            <a:endParaRPr lang="en-US" sz="1900" dirty="0"/>
          </a:p>
          <a:p>
            <a:endParaRPr lang="en-US" sz="1900" dirty="0"/>
          </a:p>
          <a:p>
            <a:endParaRPr lang="en-US" sz="1900" dirty="0"/>
          </a:p>
          <a:p>
            <a:endParaRPr lang="en-US" sz="1900" dirty="0"/>
          </a:p>
          <a:p>
            <a:endParaRPr lang="en-US" sz="1900" dirty="0"/>
          </a:p>
          <a:p>
            <a:endParaRPr lang="en-US" sz="1900" dirty="0"/>
          </a:p>
          <a:p>
            <a:pPr marL="457200" lvl="1" indent="0">
              <a:buNone/>
            </a:pPr>
            <a:endParaRPr lang="en-US" sz="1900" dirty="0"/>
          </a:p>
          <a:p>
            <a:endParaRPr lang="en-US" sz="1900" dirty="0"/>
          </a:p>
          <a:p>
            <a:endParaRPr lang="en-SG" sz="1900" dirty="0"/>
          </a:p>
          <a:p>
            <a:endParaRPr lang="en-SG" sz="19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13</a:t>
            </a:fld>
            <a:endParaRPr lang="en-US" sz="1200" dirty="0"/>
          </a:p>
        </p:txBody>
      </p:sp>
    </p:spTree>
    <p:extLst>
      <p:ext uri="{BB962C8B-B14F-4D97-AF65-F5344CB8AC3E}">
        <p14:creationId xmlns:p14="http://schemas.microsoft.com/office/powerpoint/2010/main" val="104783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US" sz="2200" dirty="0">
                <a:ea typeface="SimSun" panose="02010600030101010101" pitchFamily="2" charset="-122"/>
              </a:rPr>
              <a:t>Warren’s claims about fetal consciousness are supported by a broad scientific consensus that fetuses cannot have conscious experiences, including pain, until 24-28 weeks after conception (which is during the 3</a:t>
            </a:r>
            <a:r>
              <a:rPr lang="en-US" sz="2200" baseline="30000" dirty="0">
                <a:ea typeface="SimSun" panose="02010600030101010101" pitchFamily="2" charset="-122"/>
              </a:rPr>
              <a:t>rd</a:t>
            </a:r>
            <a:r>
              <a:rPr lang="en-US" sz="2200" dirty="0">
                <a:ea typeface="SimSun" panose="02010600030101010101" pitchFamily="2" charset="-122"/>
              </a:rPr>
              <a:t> trimester) (</a:t>
            </a:r>
            <a:r>
              <a:rPr lang="en-US" sz="2200" u="sng" dirty="0">
                <a:solidFill>
                  <a:srgbClr val="0563C1"/>
                </a:solidFill>
                <a:ea typeface="SimSun" panose="02010600030101010101" pitchFamily="2" charset="-122"/>
                <a:hlinkClick r:id="rId3"/>
              </a:rPr>
              <a:t>Koch 2009</a:t>
            </a:r>
            <a:r>
              <a:rPr lang="en-US" sz="2200" dirty="0">
                <a:ea typeface="SimSun" panose="02010600030101010101" pitchFamily="2" charset="-122"/>
              </a:rPr>
              <a:t> ; </a:t>
            </a:r>
            <a:r>
              <a:rPr lang="en-US" sz="2200" u="sng" dirty="0">
                <a:solidFill>
                  <a:srgbClr val="0563C1"/>
                </a:solidFill>
                <a:ea typeface="SimSun" panose="02010600030101010101" pitchFamily="2" charset="-122"/>
                <a:hlinkClick r:id="rId4"/>
              </a:rPr>
              <a:t>Royal College of Obstetricians and </a:t>
            </a:r>
            <a:r>
              <a:rPr lang="en-US" sz="2200" u="sng" dirty="0" err="1">
                <a:solidFill>
                  <a:srgbClr val="0563C1"/>
                </a:solidFill>
                <a:ea typeface="SimSun" panose="02010600030101010101" pitchFamily="2" charset="-122"/>
                <a:hlinkClick r:id="rId4"/>
              </a:rPr>
              <a:t>Gynaecologists</a:t>
            </a:r>
            <a:r>
              <a:rPr lang="en-US" sz="2200" u="sng" dirty="0">
                <a:solidFill>
                  <a:srgbClr val="0563C1"/>
                </a:solidFill>
                <a:ea typeface="SimSun" panose="02010600030101010101" pitchFamily="2" charset="-122"/>
                <a:hlinkClick r:id="rId4"/>
              </a:rPr>
              <a:t> 2022</a:t>
            </a:r>
            <a:r>
              <a:rPr lang="en-US" sz="2200" dirty="0">
                <a:ea typeface="SimSun" panose="02010600030101010101" pitchFamily="2" charset="-122"/>
              </a:rPr>
              <a:t>).</a:t>
            </a:r>
          </a:p>
          <a:p>
            <a:endParaRPr lang="en-US" sz="2200" dirty="0"/>
          </a:p>
          <a:p>
            <a:r>
              <a:rPr lang="en-US" sz="2200" dirty="0"/>
              <a:t>Based on these considerations, Warren thinks that “early fetuses, at least, are unlike persons in the morally relevant respects,” and therefore, “it is unreasonable to insist that they be accorded exactly the same moral and legal status” as fully-fledged persons (Warren, in LaFollette 2007: 132).</a:t>
            </a:r>
          </a:p>
          <a:p>
            <a:endParaRPr lang="en-US" sz="2200" dirty="0"/>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14</a:t>
            </a:fld>
            <a:endParaRPr lang="en-US" sz="1200" dirty="0"/>
          </a:p>
        </p:txBody>
      </p:sp>
    </p:spTree>
    <p:extLst>
      <p:ext uri="{BB962C8B-B14F-4D97-AF65-F5344CB8AC3E}">
        <p14:creationId xmlns:p14="http://schemas.microsoft.com/office/powerpoint/2010/main" val="1716648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506CE-FF1A-8DE3-D17B-172310B5E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CE32F7-13DA-E03D-A3EC-EBB598B44DF9}"/>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0648E6F4-04C6-CA19-BAFF-F509ACBD66DF}"/>
              </a:ext>
            </a:extLst>
          </p:cNvPr>
          <p:cNvSpPr>
            <a:spLocks noGrp="1"/>
          </p:cNvSpPr>
          <p:nvPr>
            <p:ph idx="1"/>
          </p:nvPr>
        </p:nvSpPr>
        <p:spPr>
          <a:xfrm>
            <a:off x="435895" y="1579959"/>
            <a:ext cx="8272211" cy="4761781"/>
          </a:xfrm>
        </p:spPr>
        <p:txBody>
          <a:bodyPr anchor="t">
            <a:noAutofit/>
          </a:bodyPr>
          <a:lstStyle/>
          <a:p>
            <a:r>
              <a:rPr lang="en-US" sz="1800" dirty="0"/>
              <a:t>Warren goes on to discuss late-term fetuses in the third trimester of pregnancy:</a:t>
            </a:r>
          </a:p>
          <a:p>
            <a:endParaRPr lang="en-US" sz="1800" dirty="0"/>
          </a:p>
          <a:p>
            <a:pPr marL="445500" lvl="2" indent="0">
              <a:buNone/>
            </a:pPr>
            <a:r>
              <a:rPr lang="en-US" sz="1800" dirty="0"/>
              <a:t>“A seven-month fetus can apparently feel pain, and can respond to such stimuli as light and sound. Thus, it may have a rudimentary form of consciousness. Nevertheless, it is probably not</a:t>
            </a:r>
            <a:r>
              <a:rPr lang="en-US" sz="1800" i="1" dirty="0"/>
              <a:t> as </a:t>
            </a:r>
            <a:r>
              <a:rPr lang="en-US" sz="1800" dirty="0"/>
              <a:t>conscious, or</a:t>
            </a:r>
            <a:r>
              <a:rPr lang="en-US" sz="1800" i="1" dirty="0"/>
              <a:t> as </a:t>
            </a:r>
            <a:r>
              <a:rPr lang="en-US" sz="1800" dirty="0"/>
              <a:t>capable of emotion, as even a very young infant is; and it has as yet little or no capacity to reason, sophisticated intentional communication, or self-awareness. In these respects, even a late-term fetus is arguably less like a person than are many nonhuman animals…Thus…even a late-term fetus can have no more right to life than do these animals.” (Warren, in LaFollette 2007: 132-133, emphases added)</a:t>
            </a:r>
          </a:p>
          <a:p>
            <a:pPr marL="445500" lvl="2" indent="0">
              <a:buNone/>
            </a:pPr>
            <a:endParaRPr lang="en-US" sz="1800" dirty="0"/>
          </a:p>
          <a:p>
            <a:pPr marL="285750" indent="-285750"/>
            <a:r>
              <a:rPr lang="en-US" sz="1800" dirty="0"/>
              <a:t>Ultimately, Warren concludes that “even a late-term fetus is not a person yet, and its rights must yield to those of the woman whenever it is impossible for both to be respected” (Warren, in LaFollette 2007: 133). </a:t>
            </a:r>
          </a:p>
          <a:p>
            <a:pPr marL="445500" lvl="2" indent="0">
              <a:buNone/>
            </a:pPr>
            <a:endParaRPr lang="en-US" sz="1800" dirty="0"/>
          </a:p>
        </p:txBody>
      </p:sp>
      <p:sp>
        <p:nvSpPr>
          <p:cNvPr id="4" name="Footer Placeholder 3">
            <a:extLst>
              <a:ext uri="{FF2B5EF4-FFF2-40B4-BE49-F238E27FC236}">
                <a16:creationId xmlns:a16="http://schemas.microsoft.com/office/drawing/2014/main" id="{A3D35CD4-1280-4DD0-35EF-4D7637AD3B8B}"/>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C976CC60-40DB-2589-A565-678C7D712BEF}"/>
              </a:ext>
            </a:extLst>
          </p:cNvPr>
          <p:cNvSpPr>
            <a:spLocks noGrp="1"/>
          </p:cNvSpPr>
          <p:nvPr>
            <p:ph type="sldNum" sz="quarter" idx="12"/>
          </p:nvPr>
        </p:nvSpPr>
        <p:spPr/>
        <p:txBody>
          <a:bodyPr/>
          <a:lstStyle/>
          <a:p>
            <a:fld id="{3A98EE3D-8CD1-4C3F-BD1C-C98C9596463C}" type="slidenum">
              <a:rPr lang="en-US" sz="1200" smtClean="0"/>
              <a:t>15</a:t>
            </a:fld>
            <a:endParaRPr lang="en-US" sz="1200" dirty="0"/>
          </a:p>
        </p:txBody>
      </p:sp>
    </p:spTree>
    <p:extLst>
      <p:ext uri="{BB962C8B-B14F-4D97-AF65-F5344CB8AC3E}">
        <p14:creationId xmlns:p14="http://schemas.microsoft.com/office/powerpoint/2010/main" val="4780942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A0109-34DA-4228-2DF9-0CAE9D6040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8A4DA2-3C78-9F41-DAC1-D070BAE2F343}"/>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E43E9CFC-AD94-3252-72A6-54403939A3E1}"/>
              </a:ext>
            </a:extLst>
          </p:cNvPr>
          <p:cNvSpPr>
            <a:spLocks noGrp="1"/>
          </p:cNvSpPr>
          <p:nvPr>
            <p:ph idx="1"/>
          </p:nvPr>
        </p:nvSpPr>
        <p:spPr>
          <a:xfrm>
            <a:off x="435895" y="1579959"/>
            <a:ext cx="8272211" cy="4761781"/>
          </a:xfrm>
        </p:spPr>
        <p:txBody>
          <a:bodyPr anchor="t">
            <a:noAutofit/>
          </a:bodyPr>
          <a:lstStyle/>
          <a:p>
            <a:pPr marL="285750" indent="-285750"/>
            <a:r>
              <a:rPr lang="en-US" sz="1900" dirty="0"/>
              <a:t>On the other hand, Warren acknowledges that late-term fetuses are so similar to newborn infants that they would arouse almost the same “powerful protective instinct” in people as newborns would (Warren, in LaFollette 2007: 133). </a:t>
            </a:r>
          </a:p>
          <a:p>
            <a:endParaRPr lang="en-US" sz="1900" dirty="0"/>
          </a:p>
          <a:p>
            <a:r>
              <a:rPr lang="en-US" sz="1900" dirty="0"/>
              <a:t>In recognition of this instinct, Warren proposes a compromise: </a:t>
            </a:r>
          </a:p>
          <a:p>
            <a:endParaRPr lang="en-US" sz="1900" dirty="0"/>
          </a:p>
          <a:p>
            <a:pPr marL="445500" lvl="2" indent="0">
              <a:buNone/>
            </a:pPr>
            <a:r>
              <a:rPr lang="en-US" sz="1900" dirty="0"/>
              <a:t>“…where early abortion is safe, legal, and readily available to all women, it is not unreasonable to expect most women who wish to end a pregnancy to do so prior to the third trimester…If, however, a woman’s own life or health is at stake, or if the fetus has been found to be so severely abnormal as to be unlikely to survive or to have a life worth living, then late abortion may be the morally best choice.” (Warren, in LaFollette 2007: 133)</a:t>
            </a:r>
          </a:p>
          <a:p>
            <a:endParaRPr lang="en-US" sz="1900" dirty="0"/>
          </a:p>
          <a:p>
            <a:endParaRPr lang="en-US" sz="1900" dirty="0"/>
          </a:p>
          <a:p>
            <a:endParaRPr lang="en-US" sz="1900" dirty="0"/>
          </a:p>
          <a:p>
            <a:endParaRPr lang="en-US" sz="1900" dirty="0"/>
          </a:p>
          <a:p>
            <a:endParaRPr lang="en-US" sz="1900" dirty="0"/>
          </a:p>
          <a:p>
            <a:pPr marL="457200" lvl="1" indent="0">
              <a:buNone/>
            </a:pPr>
            <a:endParaRPr lang="en-US" sz="1900" dirty="0"/>
          </a:p>
          <a:p>
            <a:endParaRPr lang="en-US" sz="1900" dirty="0"/>
          </a:p>
          <a:p>
            <a:endParaRPr lang="en-SG" sz="1900" dirty="0"/>
          </a:p>
          <a:p>
            <a:endParaRPr lang="en-SG" sz="1900" dirty="0"/>
          </a:p>
        </p:txBody>
      </p:sp>
      <p:sp>
        <p:nvSpPr>
          <p:cNvPr id="4" name="Footer Placeholder 3">
            <a:extLst>
              <a:ext uri="{FF2B5EF4-FFF2-40B4-BE49-F238E27FC236}">
                <a16:creationId xmlns:a16="http://schemas.microsoft.com/office/drawing/2014/main" id="{BEF8CAF5-F5FA-889F-F839-1A08796FD1EE}"/>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26EF2AA0-2714-6A41-F72C-B768AADED98B}"/>
              </a:ext>
            </a:extLst>
          </p:cNvPr>
          <p:cNvSpPr>
            <a:spLocks noGrp="1"/>
          </p:cNvSpPr>
          <p:nvPr>
            <p:ph type="sldNum" sz="quarter" idx="12"/>
          </p:nvPr>
        </p:nvSpPr>
        <p:spPr/>
        <p:txBody>
          <a:bodyPr/>
          <a:lstStyle/>
          <a:p>
            <a:fld id="{3A98EE3D-8CD1-4C3F-BD1C-C98C9596463C}" type="slidenum">
              <a:rPr lang="en-US" sz="1200" smtClean="0"/>
              <a:t>16</a:t>
            </a:fld>
            <a:endParaRPr lang="en-US" sz="1200" dirty="0"/>
          </a:p>
        </p:txBody>
      </p:sp>
    </p:spTree>
    <p:extLst>
      <p:ext uri="{BB962C8B-B14F-4D97-AF65-F5344CB8AC3E}">
        <p14:creationId xmlns:p14="http://schemas.microsoft.com/office/powerpoint/2010/main" val="282786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54F2C-91A0-B418-9AB5-218F8AB7D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8F66D-B0C4-3570-486D-759FA23090E9}"/>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42DCBEBF-039E-A154-D5F2-0BD9F3E7BD0C}"/>
              </a:ext>
            </a:extLst>
          </p:cNvPr>
          <p:cNvSpPr>
            <a:spLocks noGrp="1"/>
          </p:cNvSpPr>
          <p:nvPr>
            <p:ph idx="1"/>
          </p:nvPr>
        </p:nvSpPr>
        <p:spPr>
          <a:xfrm>
            <a:off x="435895" y="1579959"/>
            <a:ext cx="8272211" cy="4761781"/>
          </a:xfrm>
        </p:spPr>
        <p:txBody>
          <a:bodyPr anchor="t">
            <a:noAutofit/>
          </a:bodyPr>
          <a:lstStyle/>
          <a:p>
            <a:r>
              <a:rPr lang="en-US" altLang="en-US" sz="1800" dirty="0"/>
              <a:t>In the passage below, Warren expresses her final conclusion that it would be wrong to deny</a:t>
            </a:r>
            <a:r>
              <a:rPr lang="en-US" altLang="en-US" sz="1800" i="1" dirty="0"/>
              <a:t> </a:t>
            </a:r>
            <a:r>
              <a:rPr lang="en-US" altLang="en-US" sz="1800" dirty="0"/>
              <a:t>women access to </a:t>
            </a:r>
            <a:r>
              <a:rPr lang="en-US" altLang="en-US" sz="1800" i="1" dirty="0"/>
              <a:t>safe, early </a:t>
            </a:r>
            <a:r>
              <a:rPr lang="en-US" altLang="en-US" sz="1800" dirty="0"/>
              <a:t>abortions. </a:t>
            </a:r>
          </a:p>
          <a:p>
            <a:endParaRPr lang="en-US" altLang="en-US" sz="1800" dirty="0"/>
          </a:p>
          <a:p>
            <a:pPr marL="457200" lvl="1" indent="0">
              <a:buNone/>
            </a:pPr>
            <a:r>
              <a:rPr lang="en-US" altLang="en-US" sz="1800" dirty="0"/>
              <a:t>“Because women are persons, and [early] fetuses are not, women’s rights to life, liberty, and physical integrity morally override whatever right to life it may be appropriate to ascribe to a fetus. Consequently, laws that deny women the right to obtain abortions, or that make safe early abortions difficult or impossible for some women to obtain, are an unjustified violation of basic moral and constitutional rights.” (Warren, in LaFollette 2007: 135) </a:t>
            </a:r>
          </a:p>
          <a:p>
            <a:endParaRPr lang="en-US" sz="1800" dirty="0"/>
          </a:p>
          <a:p>
            <a:r>
              <a:rPr lang="en-US" sz="1800" dirty="0"/>
              <a:t>What Warren refers to as a right to “physical integrity” in the above passage is also known as </a:t>
            </a:r>
            <a:r>
              <a:rPr lang="en-US" sz="1800" i="1" dirty="0"/>
              <a:t>bodily integrity</a:t>
            </a:r>
            <a:r>
              <a:rPr lang="en-US" sz="1800" dirty="0"/>
              <a:t>. </a:t>
            </a:r>
          </a:p>
          <a:p>
            <a:pPr lvl="1"/>
            <a:r>
              <a:rPr lang="en-US" sz="1800" dirty="0"/>
              <a:t>A </a:t>
            </a:r>
            <a:r>
              <a:rPr lang="en-US" sz="1800" b="1" dirty="0"/>
              <a:t>right to physical/bodily integrity </a:t>
            </a:r>
            <a:r>
              <a:rPr lang="en-US" sz="1800" dirty="0"/>
              <a:t>is a right to control what happens to one’s own body (</a:t>
            </a:r>
            <a:r>
              <a:rPr lang="en-US" sz="1800" dirty="0">
                <a:hlinkClick r:id="rId3"/>
              </a:rPr>
              <a:t>Townsend 2021</a:t>
            </a:r>
            <a:r>
              <a:rPr lang="en-US" sz="1800" dirty="0"/>
              <a:t>).</a:t>
            </a:r>
          </a:p>
        </p:txBody>
      </p:sp>
      <p:sp>
        <p:nvSpPr>
          <p:cNvPr id="4" name="Footer Placeholder 3">
            <a:extLst>
              <a:ext uri="{FF2B5EF4-FFF2-40B4-BE49-F238E27FC236}">
                <a16:creationId xmlns:a16="http://schemas.microsoft.com/office/drawing/2014/main" id="{ECD1DF94-6476-E43E-13E7-3263F83F7BC7}"/>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300E14AA-41A9-01AB-C675-DAEE06BFDFB4}"/>
              </a:ext>
            </a:extLst>
          </p:cNvPr>
          <p:cNvSpPr>
            <a:spLocks noGrp="1"/>
          </p:cNvSpPr>
          <p:nvPr>
            <p:ph type="sldNum" sz="quarter" idx="12"/>
          </p:nvPr>
        </p:nvSpPr>
        <p:spPr/>
        <p:txBody>
          <a:bodyPr/>
          <a:lstStyle/>
          <a:p>
            <a:fld id="{3A98EE3D-8CD1-4C3F-BD1C-C98C9596463C}" type="slidenum">
              <a:rPr lang="en-US" sz="1200" smtClean="0"/>
              <a:t>17</a:t>
            </a:fld>
            <a:endParaRPr lang="en-US" sz="1200" dirty="0"/>
          </a:p>
        </p:txBody>
      </p:sp>
    </p:spTree>
    <p:extLst>
      <p:ext uri="{BB962C8B-B14F-4D97-AF65-F5344CB8AC3E}">
        <p14:creationId xmlns:p14="http://schemas.microsoft.com/office/powerpoint/2010/main" val="27442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r>
              <a:rPr lang="en-US" sz="2100" b="1" dirty="0">
                <a:solidFill>
                  <a:srgbClr val="FF0000"/>
                </a:solidFill>
              </a:rPr>
              <a:t>Small-group discussion: </a:t>
            </a:r>
          </a:p>
          <a:p>
            <a:endParaRPr lang="en-US" sz="2100" dirty="0">
              <a:solidFill>
                <a:srgbClr val="FF0000"/>
              </a:solidFill>
            </a:endParaRPr>
          </a:p>
          <a:p>
            <a:r>
              <a:rPr lang="en-US" sz="2100" dirty="0">
                <a:solidFill>
                  <a:srgbClr val="FF0000"/>
                </a:solidFill>
              </a:rPr>
              <a:t>With 1-2 neighbors, discuss the following question. </a:t>
            </a:r>
          </a:p>
          <a:p>
            <a:pPr lvl="1"/>
            <a:endParaRPr lang="en-US" sz="2100" dirty="0">
              <a:solidFill>
                <a:srgbClr val="FF0000"/>
              </a:solidFill>
            </a:endParaRPr>
          </a:p>
          <a:p>
            <a:pPr lvl="1"/>
            <a:r>
              <a:rPr lang="en-US" sz="2100" dirty="0">
                <a:solidFill>
                  <a:srgbClr val="FF0000"/>
                </a:solidFill>
              </a:rPr>
              <a:t>Do you agree with Warren that because fetuses (and especially </a:t>
            </a:r>
            <a:r>
              <a:rPr lang="en-US" sz="2100" i="1" dirty="0">
                <a:solidFill>
                  <a:srgbClr val="FF0000"/>
                </a:solidFill>
              </a:rPr>
              <a:t>early </a:t>
            </a:r>
            <a:r>
              <a:rPr lang="en-US" sz="2100" dirty="0">
                <a:solidFill>
                  <a:srgbClr val="FF0000"/>
                </a:solidFill>
              </a:rPr>
              <a:t>fetuses) do not have the traits of personhood to the same degree as a woman, then “</a:t>
            </a:r>
            <a:r>
              <a:rPr lang="en-US" altLang="en-US" sz="2100" dirty="0">
                <a:solidFill>
                  <a:srgbClr val="FF0000"/>
                </a:solidFill>
              </a:rPr>
              <a:t>women’s rights to life, liberty, and physical integrity morally override whatever right to life it may be appropriate to ascribe to a fetus”? </a:t>
            </a:r>
          </a:p>
          <a:p>
            <a:pPr lvl="1"/>
            <a:endParaRPr lang="en-US" altLang="en-US" sz="2100" dirty="0">
              <a:solidFill>
                <a:srgbClr val="FF0000"/>
              </a:solidFill>
            </a:endParaRPr>
          </a:p>
          <a:p>
            <a:pPr marL="472500" lvl="2" indent="0">
              <a:buNone/>
            </a:pPr>
            <a:r>
              <a:rPr lang="en-US" altLang="en-US" sz="2100" dirty="0">
                <a:solidFill>
                  <a:srgbClr val="FF0000"/>
                </a:solidFill>
              </a:rPr>
              <a:t>(Source of quotation: Warren, in LaFollette 2007: 135)</a:t>
            </a:r>
            <a:endParaRPr lang="en-US" sz="2100" dirty="0">
              <a:solidFill>
                <a:srgbClr val="FF0000"/>
              </a:solidFill>
            </a:endParaRPr>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18</a:t>
            </a:fld>
            <a:endParaRPr lang="en-US" sz="1200" dirty="0"/>
          </a:p>
        </p:txBody>
      </p:sp>
    </p:spTree>
    <p:extLst>
      <p:ext uri="{BB962C8B-B14F-4D97-AF65-F5344CB8AC3E}">
        <p14:creationId xmlns:p14="http://schemas.microsoft.com/office/powerpoint/2010/main" val="1925425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DF700-A775-D754-9181-FEE2653BA2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A28FD-B5E1-6E89-BFD1-B58FBB6A291C}"/>
              </a:ext>
            </a:extLst>
          </p:cNvPr>
          <p:cNvSpPr>
            <a:spLocks noGrp="1"/>
          </p:cNvSpPr>
          <p:nvPr>
            <p:ph type="title"/>
          </p:nvPr>
        </p:nvSpPr>
        <p:spPr>
          <a:xfrm>
            <a:off x="453146" y="628782"/>
            <a:ext cx="8272212" cy="721203"/>
          </a:xfrm>
        </p:spPr>
        <p:txBody>
          <a:bodyPr anchor="ctr">
            <a:normAutofit/>
          </a:bodyPr>
          <a:lstStyle/>
          <a:p>
            <a:pPr algn="ctr"/>
            <a:r>
              <a:rPr lang="en-SG" sz="4000" dirty="0"/>
              <a:t>Are </a:t>
            </a:r>
            <a:r>
              <a:rPr lang="en-SG" sz="4000" dirty="0" err="1"/>
              <a:t>fetuses</a:t>
            </a:r>
            <a:r>
              <a:rPr lang="en-SG" sz="4000" dirty="0"/>
              <a:t> “persons”?</a:t>
            </a:r>
          </a:p>
        </p:txBody>
      </p:sp>
      <p:sp>
        <p:nvSpPr>
          <p:cNvPr id="3" name="Content Placeholder 2">
            <a:extLst>
              <a:ext uri="{FF2B5EF4-FFF2-40B4-BE49-F238E27FC236}">
                <a16:creationId xmlns:a16="http://schemas.microsoft.com/office/drawing/2014/main" id="{1BB4F69D-055A-BF55-9648-9813135D4A63}"/>
              </a:ext>
            </a:extLst>
          </p:cNvPr>
          <p:cNvSpPr>
            <a:spLocks noGrp="1"/>
          </p:cNvSpPr>
          <p:nvPr>
            <p:ph idx="1"/>
          </p:nvPr>
        </p:nvSpPr>
        <p:spPr>
          <a:xfrm>
            <a:off x="435895" y="1579959"/>
            <a:ext cx="8272211" cy="4761781"/>
          </a:xfrm>
        </p:spPr>
        <p:txBody>
          <a:bodyPr anchor="t">
            <a:noAutofit/>
          </a:bodyPr>
          <a:lstStyle/>
          <a:p>
            <a:r>
              <a:rPr lang="en-US" sz="2200" b="1" dirty="0">
                <a:solidFill>
                  <a:srgbClr val="FF0000"/>
                </a:solidFill>
              </a:rPr>
              <a:t>Whole-class discussion: </a:t>
            </a:r>
          </a:p>
          <a:p>
            <a:endParaRPr lang="en-US" sz="2200" dirty="0">
              <a:solidFill>
                <a:srgbClr val="FF0000"/>
              </a:solidFill>
            </a:endParaRPr>
          </a:p>
          <a:p>
            <a:pPr marL="531036" lvl="1" indent="-288036" defTabSz="685800">
              <a:lnSpc>
                <a:spcPct val="94000"/>
              </a:lnSpc>
              <a:spcBef>
                <a:spcPts val="750"/>
              </a:spcBef>
              <a:spcAft>
                <a:spcPts val="150"/>
              </a:spcAft>
              <a:buClrTx/>
              <a:buSzTx/>
              <a:buFont typeface="Wingdings" panose="05000000000000000000" pitchFamily="2" charset="2"/>
              <a:buChar char="§"/>
              <a:defRPr/>
            </a:pPr>
            <a:r>
              <a:rPr lang="en-US" sz="2200" dirty="0">
                <a:solidFill>
                  <a:srgbClr val="FF0000"/>
                </a:solidFill>
                <a:latin typeface="Franklin Gothic Book" panose="020B0503020102020204"/>
                <a:ea typeface="SimSun" panose="02010600030101010101" pitchFamily="2" charset="-122"/>
              </a:rPr>
              <a:t>A common objection to Warren’s position is that it absurdly implies that it would be morally permissible to kill a human adult who is </a:t>
            </a:r>
            <a:r>
              <a:rPr lang="en-US" sz="2200" i="1" dirty="0">
                <a:solidFill>
                  <a:srgbClr val="FF0000"/>
                </a:solidFill>
                <a:latin typeface="Franklin Gothic Book" panose="020B0503020102020204"/>
                <a:ea typeface="SimSun" panose="02010600030101010101" pitchFamily="2" charset="-122"/>
              </a:rPr>
              <a:t>temporarily unconscious</a:t>
            </a:r>
            <a:r>
              <a:rPr lang="en-US" sz="2200" dirty="0">
                <a:solidFill>
                  <a:srgbClr val="FF0000"/>
                </a:solidFill>
                <a:latin typeface="Franklin Gothic Book" panose="020B0503020102020204"/>
                <a:ea typeface="SimSun" panose="02010600030101010101" pitchFamily="2" charset="-122"/>
              </a:rPr>
              <a:t>. After all, a temporarily unconscious adult lacks the ability to reason, the capacity to communicate, self-awareness, and so on.</a:t>
            </a:r>
          </a:p>
          <a:p>
            <a:pPr marL="531036" lvl="1" indent="-288036" defTabSz="685800">
              <a:lnSpc>
                <a:spcPct val="94000"/>
              </a:lnSpc>
              <a:spcBef>
                <a:spcPts val="750"/>
              </a:spcBef>
              <a:spcAft>
                <a:spcPts val="150"/>
              </a:spcAft>
              <a:buClrTx/>
              <a:buSzTx/>
              <a:buFont typeface="Wingdings" panose="05000000000000000000" pitchFamily="2" charset="2"/>
              <a:buChar char="§"/>
              <a:defRPr/>
            </a:pPr>
            <a:endParaRPr lang="en-US" sz="2200" dirty="0">
              <a:solidFill>
                <a:srgbClr val="FF0000"/>
              </a:solidFill>
              <a:latin typeface="Franklin Gothic Book" panose="020B0503020102020204"/>
              <a:ea typeface="SimSun" panose="02010600030101010101" pitchFamily="2" charset="-122"/>
            </a:endParaRPr>
          </a:p>
          <a:p>
            <a:pPr marL="531036" lvl="1" indent="-288036" defTabSz="685800">
              <a:lnSpc>
                <a:spcPct val="94000"/>
              </a:lnSpc>
              <a:spcBef>
                <a:spcPts val="750"/>
              </a:spcBef>
              <a:spcAft>
                <a:spcPts val="150"/>
              </a:spcAft>
              <a:buClrTx/>
              <a:buSzTx/>
              <a:buFont typeface="Wingdings" panose="05000000000000000000" pitchFamily="2" charset="2"/>
              <a:buChar char="§"/>
              <a:defRPr/>
            </a:pPr>
            <a:r>
              <a:rPr lang="en-US" sz="2200" dirty="0">
                <a:solidFill>
                  <a:srgbClr val="FF0000"/>
                </a:solidFill>
                <a:latin typeface="Franklin Gothic Book" panose="020B0503020102020204"/>
                <a:ea typeface="SimSun" panose="02010600030101010101" pitchFamily="2" charset="-122"/>
              </a:rPr>
              <a:t>Do you think there is any way that Warren can explain why it would be wrong to kill a temporarily unconscious adult, but </a:t>
            </a:r>
            <a:r>
              <a:rPr lang="en-US" sz="2200" i="1" dirty="0">
                <a:solidFill>
                  <a:srgbClr val="FF0000"/>
                </a:solidFill>
                <a:latin typeface="Franklin Gothic Book" panose="020B0503020102020204"/>
                <a:ea typeface="SimSun" panose="02010600030101010101" pitchFamily="2" charset="-122"/>
              </a:rPr>
              <a:t>morally permissible</a:t>
            </a:r>
            <a:r>
              <a:rPr lang="en-US" sz="2200" dirty="0">
                <a:solidFill>
                  <a:srgbClr val="FF0000"/>
                </a:solidFill>
                <a:latin typeface="Franklin Gothic Book" panose="020B0503020102020204"/>
                <a:ea typeface="SimSun" panose="02010600030101010101" pitchFamily="2" charset="-122"/>
              </a:rPr>
              <a:t> to abort a fetus? How would that explanation go? (Warren herself offers one on p. 131 of Warren, in</a:t>
            </a:r>
            <a:r>
              <a:rPr lang="en-US" altLang="en-US" sz="2200" dirty="0">
                <a:solidFill>
                  <a:srgbClr val="FF0000"/>
                </a:solidFill>
              </a:rPr>
              <a:t> LaFollette 2007.)</a:t>
            </a:r>
            <a:endParaRPr lang="en-US" sz="2200" dirty="0">
              <a:solidFill>
                <a:srgbClr val="FF0000"/>
              </a:solidFill>
              <a:latin typeface="Franklin Gothic Book" panose="020B0503020102020204"/>
              <a:ea typeface="SimSun" panose="02010600030101010101" pitchFamily="2" charset="-122"/>
            </a:endParaRPr>
          </a:p>
          <a:p>
            <a:pPr marL="531036" lvl="1" indent="-288036" defTabSz="685800">
              <a:lnSpc>
                <a:spcPct val="94000"/>
              </a:lnSpc>
              <a:spcBef>
                <a:spcPts val="750"/>
              </a:spcBef>
              <a:spcAft>
                <a:spcPts val="150"/>
              </a:spcAft>
              <a:buClrTx/>
              <a:buSzTx/>
              <a:buFont typeface="Wingdings" panose="05000000000000000000" pitchFamily="2" charset="2"/>
              <a:buChar char="§"/>
              <a:defRPr/>
            </a:pPr>
            <a:endParaRPr lang="en-US" sz="2200" b="1" dirty="0">
              <a:solidFill>
                <a:srgbClr val="FF0000"/>
              </a:solidFill>
              <a:latin typeface="Franklin Gothic Book" panose="020B0503020102020204"/>
              <a:ea typeface="SimSun" panose="02010600030101010101" pitchFamily="2" charset="-122"/>
            </a:endParaRPr>
          </a:p>
        </p:txBody>
      </p:sp>
      <p:sp>
        <p:nvSpPr>
          <p:cNvPr id="4" name="Footer Placeholder 3">
            <a:extLst>
              <a:ext uri="{FF2B5EF4-FFF2-40B4-BE49-F238E27FC236}">
                <a16:creationId xmlns:a16="http://schemas.microsoft.com/office/drawing/2014/main" id="{F55DA4F4-8833-8E43-2216-09CEF4E00B45}"/>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497CBDB6-EE0F-055D-7D9C-29D32791D0C4}"/>
              </a:ext>
            </a:extLst>
          </p:cNvPr>
          <p:cNvSpPr>
            <a:spLocks noGrp="1"/>
          </p:cNvSpPr>
          <p:nvPr>
            <p:ph type="sldNum" sz="quarter" idx="12"/>
          </p:nvPr>
        </p:nvSpPr>
        <p:spPr/>
        <p:txBody>
          <a:bodyPr/>
          <a:lstStyle/>
          <a:p>
            <a:fld id="{3A98EE3D-8CD1-4C3F-BD1C-C98C9596463C}" type="slidenum">
              <a:rPr lang="en-US" sz="1200" smtClean="0"/>
              <a:t>19</a:t>
            </a:fld>
            <a:endParaRPr lang="en-US" sz="1200" dirty="0"/>
          </a:p>
        </p:txBody>
      </p:sp>
    </p:spTree>
    <p:extLst>
      <p:ext uri="{BB962C8B-B14F-4D97-AF65-F5344CB8AC3E}">
        <p14:creationId xmlns:p14="http://schemas.microsoft.com/office/powerpoint/2010/main" val="1848457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54F2C-91A0-B418-9AB5-218F8AB7D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48F66D-B0C4-3570-486D-759FA23090E9}"/>
              </a:ext>
            </a:extLst>
          </p:cNvPr>
          <p:cNvSpPr>
            <a:spLocks noGrp="1"/>
          </p:cNvSpPr>
          <p:nvPr>
            <p:ph type="title"/>
          </p:nvPr>
        </p:nvSpPr>
        <p:spPr>
          <a:xfrm>
            <a:off x="453146" y="628782"/>
            <a:ext cx="8272212" cy="721203"/>
          </a:xfrm>
        </p:spPr>
        <p:txBody>
          <a:bodyPr anchor="ctr">
            <a:normAutofit/>
          </a:bodyPr>
          <a:lstStyle/>
          <a:p>
            <a:pPr algn="ctr"/>
            <a:r>
              <a:rPr lang="en-SG" sz="4000" dirty="0"/>
              <a:t>Warren in summary</a:t>
            </a:r>
          </a:p>
        </p:txBody>
      </p:sp>
      <p:sp>
        <p:nvSpPr>
          <p:cNvPr id="3" name="Content Placeholder 2">
            <a:extLst>
              <a:ext uri="{FF2B5EF4-FFF2-40B4-BE49-F238E27FC236}">
                <a16:creationId xmlns:a16="http://schemas.microsoft.com/office/drawing/2014/main" id="{42DCBEBF-039E-A154-D5F2-0BD9F3E7BD0C}"/>
              </a:ext>
            </a:extLst>
          </p:cNvPr>
          <p:cNvSpPr>
            <a:spLocks noGrp="1"/>
          </p:cNvSpPr>
          <p:nvPr>
            <p:ph idx="1"/>
          </p:nvPr>
        </p:nvSpPr>
        <p:spPr>
          <a:xfrm>
            <a:off x="435895" y="1376652"/>
            <a:ext cx="8272211" cy="4761781"/>
          </a:xfrm>
        </p:spPr>
        <p:txBody>
          <a:bodyPr anchor="t">
            <a:noAutofit/>
          </a:bodyPr>
          <a:lstStyle/>
          <a:p>
            <a:pPr marL="0" indent="0">
              <a:buNone/>
            </a:pPr>
            <a:r>
              <a:rPr lang="en-US" altLang="en-US" sz="1700" i="1" u="sng" dirty="0"/>
              <a:t>Warren’s Personhood Defense of Abortion</a:t>
            </a:r>
          </a:p>
          <a:p>
            <a:pPr marL="457200" indent="-457200">
              <a:buFont typeface="+mj-lt"/>
              <a:buAutoNum type="arabicParenR"/>
            </a:pPr>
            <a:r>
              <a:rPr lang="en-US" altLang="en-US" sz="1700" dirty="0"/>
              <a:t>The moral rights of a being that has all the traits of personhood (sentience, emotionality, reason, etc.) override the moral rights of a being that lacks all the traits of personhood.</a:t>
            </a:r>
          </a:p>
          <a:p>
            <a:pPr marL="457200" indent="-457200">
              <a:buFont typeface="+mj-lt"/>
              <a:buAutoNum type="arabicParenR"/>
            </a:pPr>
            <a:r>
              <a:rPr lang="en-US" altLang="en-US" sz="1700" dirty="0"/>
              <a:t>Early fetuses (i.e., fetuses before the third trimester) have none of the traits of personhood, whereas (with few exceptions) pregnant women have all the traits of personhood.</a:t>
            </a:r>
          </a:p>
          <a:p>
            <a:pPr marL="457200" indent="-457200">
              <a:buFont typeface="+mj-lt"/>
              <a:buAutoNum type="arabicParenR"/>
            </a:pPr>
            <a:r>
              <a:rPr lang="en-US" altLang="en-US" sz="1700" b="1" dirty="0"/>
              <a:t>(Sub-conclusion) </a:t>
            </a:r>
            <a:r>
              <a:rPr lang="en-US" altLang="en-US" sz="1700" dirty="0"/>
              <a:t>Therefore, the moral rights of pregnant women override the moral rights of an early fetus.</a:t>
            </a:r>
          </a:p>
          <a:p>
            <a:pPr marL="457200" indent="-457200">
              <a:buFont typeface="+mj-lt"/>
              <a:buAutoNum type="arabicParenR"/>
            </a:pPr>
            <a:r>
              <a:rPr lang="en-US" altLang="en-US" sz="1700" dirty="0"/>
              <a:t>If (3) is true, then a pregnant woman’s moral rights to life, liberty, and bodily integrity override an early fetus’s moral right to life.</a:t>
            </a:r>
          </a:p>
          <a:p>
            <a:pPr marL="457200" indent="-457200">
              <a:buFont typeface="+mj-lt"/>
              <a:buAutoNum type="arabicParenR"/>
            </a:pPr>
            <a:r>
              <a:rPr lang="en-US" altLang="en-US" sz="1700" dirty="0"/>
              <a:t>If (4) is true, then it is morally permissible to abort an early fetus for the sake of protecting the pregnant woman’s life, liberty, or bodily integrity.</a:t>
            </a:r>
          </a:p>
          <a:p>
            <a:pPr marL="457200" indent="-457200">
              <a:buFont typeface="+mj-lt"/>
              <a:buAutoNum type="arabicParenR"/>
            </a:pPr>
            <a:r>
              <a:rPr lang="en-US" altLang="en-US" sz="1700" b="1" dirty="0"/>
              <a:t>(Conclusion) </a:t>
            </a:r>
            <a:r>
              <a:rPr lang="en-US" altLang="en-US" sz="1700" dirty="0"/>
              <a:t>Therefore, it’s morally permissible to abort an early fetus for the sake of protecting the pregnant woman’s life, liberty, or physical integrity.</a:t>
            </a:r>
            <a:endParaRPr lang="en-US" altLang="en-US" sz="1700" b="1" dirty="0"/>
          </a:p>
          <a:p>
            <a:endParaRPr lang="en-US" sz="1600" dirty="0"/>
          </a:p>
          <a:p>
            <a:pPr lvl="1"/>
            <a:endParaRPr lang="en-US" sz="1600" dirty="0"/>
          </a:p>
          <a:p>
            <a:endParaRPr lang="en-US" sz="1600" dirty="0"/>
          </a:p>
          <a:p>
            <a:endParaRPr lang="en-US" sz="1600" dirty="0"/>
          </a:p>
          <a:p>
            <a:endParaRPr lang="en-US" sz="1600" dirty="0"/>
          </a:p>
          <a:p>
            <a:endParaRPr lang="en-US" sz="1600" dirty="0"/>
          </a:p>
          <a:p>
            <a:endParaRPr lang="en-US" sz="1600" dirty="0"/>
          </a:p>
          <a:p>
            <a:pPr marL="457200" lvl="1" indent="0">
              <a:buNone/>
            </a:pPr>
            <a:endParaRPr lang="en-US" sz="1600" dirty="0"/>
          </a:p>
          <a:p>
            <a:endParaRPr lang="en-US" sz="1600" dirty="0"/>
          </a:p>
          <a:p>
            <a:endParaRPr lang="en-SG" sz="1600" dirty="0"/>
          </a:p>
          <a:p>
            <a:endParaRPr lang="en-SG" sz="1600" dirty="0"/>
          </a:p>
        </p:txBody>
      </p:sp>
      <p:sp>
        <p:nvSpPr>
          <p:cNvPr id="4" name="Footer Placeholder 3">
            <a:extLst>
              <a:ext uri="{FF2B5EF4-FFF2-40B4-BE49-F238E27FC236}">
                <a16:creationId xmlns:a16="http://schemas.microsoft.com/office/drawing/2014/main" id="{ECD1DF94-6476-E43E-13E7-3263F83F7BC7}"/>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300E14AA-41A9-01AB-C675-DAEE06BFDFB4}"/>
              </a:ext>
            </a:extLst>
          </p:cNvPr>
          <p:cNvSpPr>
            <a:spLocks noGrp="1"/>
          </p:cNvSpPr>
          <p:nvPr>
            <p:ph type="sldNum" sz="quarter" idx="12"/>
          </p:nvPr>
        </p:nvSpPr>
        <p:spPr/>
        <p:txBody>
          <a:bodyPr/>
          <a:lstStyle/>
          <a:p>
            <a:fld id="{3A98EE3D-8CD1-4C3F-BD1C-C98C9596463C}" type="slidenum">
              <a:rPr lang="en-US" sz="1200" smtClean="0"/>
              <a:t>20</a:t>
            </a:fld>
            <a:endParaRPr lang="en-US" sz="1200" dirty="0"/>
          </a:p>
        </p:txBody>
      </p:sp>
    </p:spTree>
    <p:extLst>
      <p:ext uri="{BB962C8B-B14F-4D97-AF65-F5344CB8AC3E}">
        <p14:creationId xmlns:p14="http://schemas.microsoft.com/office/powerpoint/2010/main" val="1470332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BFBA2-37AF-A60A-DBA8-EBE6B2868D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75D89-22A2-A0D4-32A5-7AEF2693F4FE}"/>
              </a:ext>
            </a:extLst>
          </p:cNvPr>
          <p:cNvSpPr>
            <a:spLocks noGrp="1"/>
          </p:cNvSpPr>
          <p:nvPr>
            <p:ph type="title"/>
          </p:nvPr>
        </p:nvSpPr>
        <p:spPr>
          <a:xfrm>
            <a:off x="453146" y="628782"/>
            <a:ext cx="8272212" cy="721203"/>
          </a:xfrm>
        </p:spPr>
        <p:txBody>
          <a:bodyPr anchor="ctr">
            <a:normAutofit/>
          </a:bodyPr>
          <a:lstStyle/>
          <a:p>
            <a:pPr algn="ctr"/>
            <a:r>
              <a:rPr lang="en-SG" sz="4000" dirty="0"/>
              <a:t>Infanticide objection</a:t>
            </a:r>
          </a:p>
        </p:txBody>
      </p:sp>
      <p:sp>
        <p:nvSpPr>
          <p:cNvPr id="3" name="Content Placeholder 2">
            <a:extLst>
              <a:ext uri="{FF2B5EF4-FFF2-40B4-BE49-F238E27FC236}">
                <a16:creationId xmlns:a16="http://schemas.microsoft.com/office/drawing/2014/main" id="{E21A2B98-C93F-E64C-944F-35F936633F57}"/>
              </a:ext>
            </a:extLst>
          </p:cNvPr>
          <p:cNvSpPr>
            <a:spLocks noGrp="1"/>
          </p:cNvSpPr>
          <p:nvPr>
            <p:ph idx="1"/>
          </p:nvPr>
        </p:nvSpPr>
        <p:spPr>
          <a:xfrm>
            <a:off x="435895" y="1579959"/>
            <a:ext cx="8272211" cy="4761781"/>
          </a:xfrm>
        </p:spPr>
        <p:txBody>
          <a:bodyPr anchor="t">
            <a:noAutofit/>
          </a:bodyPr>
          <a:lstStyle/>
          <a:p>
            <a:r>
              <a:rPr lang="en-US" altLang="en-US" sz="1800" dirty="0"/>
              <a:t>Toward the end of her paper, Warren addresses two influential objections to her argument. The first may be called the </a:t>
            </a:r>
            <a:r>
              <a:rPr lang="en-US" altLang="en-US" sz="1800" b="1" dirty="0"/>
              <a:t>objection from infanticide </a:t>
            </a:r>
            <a:r>
              <a:rPr lang="en-US" altLang="en-US" sz="1800" dirty="0"/>
              <a:t>(Warren, in LaFollette 2007: 134 – 135).</a:t>
            </a:r>
          </a:p>
          <a:p>
            <a:endParaRPr lang="en-US" altLang="en-US" sz="1800" dirty="0"/>
          </a:p>
          <a:p>
            <a:r>
              <a:rPr lang="en-US" altLang="en-US" sz="1800" dirty="0"/>
              <a:t>Recall that Warren argues that late-term abortions—that is, abortions in the third trimester of pregnancy—are sometimes morally permissible. For instance, Warren thinks late-term abortions are morally permissible whenever they are necessary to save the life of a pregnant woman. </a:t>
            </a:r>
          </a:p>
          <a:p>
            <a:endParaRPr lang="en-US" altLang="en-US" sz="1800" dirty="0"/>
          </a:p>
          <a:p>
            <a:r>
              <a:rPr lang="en-US" altLang="en-US" sz="1800" dirty="0"/>
              <a:t>However, the objection from infanticide says this: a </a:t>
            </a:r>
            <a:r>
              <a:rPr lang="en-US" altLang="en-US" sz="1800" i="1" dirty="0"/>
              <a:t>postnatal newborn infant </a:t>
            </a:r>
            <a:r>
              <a:rPr lang="en-US" altLang="en-US" sz="1800" dirty="0"/>
              <a:t>is not much more person-like than a </a:t>
            </a:r>
            <a:r>
              <a:rPr lang="en-US" altLang="en-US" sz="1800" i="1" dirty="0"/>
              <a:t>prenatal nine-month fetus</a:t>
            </a:r>
            <a:r>
              <a:rPr lang="en-US" altLang="en-US" sz="1800" dirty="0"/>
              <a:t>. Therefore, if late-term abortion is sometimes morally permissible, then</a:t>
            </a:r>
            <a:r>
              <a:rPr lang="en-US" altLang="en-US" sz="1800" i="1" dirty="0"/>
              <a:t> infanticide—killing infants</a:t>
            </a:r>
            <a:r>
              <a:rPr lang="en-US" altLang="en-US" sz="1800" dirty="0"/>
              <a:t>—is sometimes morally permissible. But infanticide is virtually never permissible; so, late-term abortion is virtually never permissible.</a:t>
            </a:r>
          </a:p>
          <a:p>
            <a:endParaRPr lang="en-US" altLang="en-US" sz="1800" dirty="0"/>
          </a:p>
          <a:p>
            <a:endParaRPr lang="en-US" sz="1800" dirty="0"/>
          </a:p>
          <a:p>
            <a:endParaRPr lang="en-US" sz="1800" dirty="0"/>
          </a:p>
          <a:p>
            <a:endParaRPr lang="en-US" sz="1800" dirty="0"/>
          </a:p>
          <a:p>
            <a:endParaRPr lang="en-US" sz="1800" dirty="0"/>
          </a:p>
          <a:p>
            <a:pPr marL="457200" lvl="1" indent="0">
              <a:buNone/>
            </a:pPr>
            <a:endParaRPr lang="en-US" sz="1800" dirty="0"/>
          </a:p>
          <a:p>
            <a:endParaRPr lang="en-US" sz="1800" dirty="0"/>
          </a:p>
          <a:p>
            <a:endParaRPr lang="en-SG" sz="1800" dirty="0"/>
          </a:p>
          <a:p>
            <a:endParaRPr lang="en-SG" sz="1800" dirty="0"/>
          </a:p>
        </p:txBody>
      </p:sp>
      <p:sp>
        <p:nvSpPr>
          <p:cNvPr id="4" name="Footer Placeholder 3">
            <a:extLst>
              <a:ext uri="{FF2B5EF4-FFF2-40B4-BE49-F238E27FC236}">
                <a16:creationId xmlns:a16="http://schemas.microsoft.com/office/drawing/2014/main" id="{57F4B850-966F-7AB7-9564-137DA445724F}"/>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CF4FF45B-61F8-6FFB-6357-2296302AC444}"/>
              </a:ext>
            </a:extLst>
          </p:cNvPr>
          <p:cNvSpPr>
            <a:spLocks noGrp="1"/>
          </p:cNvSpPr>
          <p:nvPr>
            <p:ph type="sldNum" sz="quarter" idx="12"/>
          </p:nvPr>
        </p:nvSpPr>
        <p:spPr/>
        <p:txBody>
          <a:bodyPr/>
          <a:lstStyle/>
          <a:p>
            <a:fld id="{3A98EE3D-8CD1-4C3F-BD1C-C98C9596463C}" type="slidenum">
              <a:rPr lang="en-US" sz="1200" smtClean="0"/>
              <a:t>21</a:t>
            </a:fld>
            <a:endParaRPr lang="en-US" sz="1200" dirty="0"/>
          </a:p>
        </p:txBody>
      </p:sp>
    </p:spTree>
    <p:extLst>
      <p:ext uri="{BB962C8B-B14F-4D97-AF65-F5344CB8AC3E}">
        <p14:creationId xmlns:p14="http://schemas.microsoft.com/office/powerpoint/2010/main" val="30505924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3F8BD-EA19-8C17-3F55-1D60320F4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60E19-6302-17D3-A5FA-A30AE6D6C195}"/>
              </a:ext>
            </a:extLst>
          </p:cNvPr>
          <p:cNvSpPr>
            <a:spLocks noGrp="1"/>
          </p:cNvSpPr>
          <p:nvPr>
            <p:ph type="title"/>
          </p:nvPr>
        </p:nvSpPr>
        <p:spPr>
          <a:xfrm>
            <a:off x="453146" y="628782"/>
            <a:ext cx="8272212" cy="721203"/>
          </a:xfrm>
        </p:spPr>
        <p:txBody>
          <a:bodyPr anchor="ctr">
            <a:normAutofit/>
          </a:bodyPr>
          <a:lstStyle/>
          <a:p>
            <a:pPr algn="ctr"/>
            <a:r>
              <a:rPr lang="en-SG" sz="4000" dirty="0"/>
              <a:t>Infanticide objection</a:t>
            </a:r>
          </a:p>
        </p:txBody>
      </p:sp>
      <p:sp>
        <p:nvSpPr>
          <p:cNvPr id="3" name="Content Placeholder 2">
            <a:extLst>
              <a:ext uri="{FF2B5EF4-FFF2-40B4-BE49-F238E27FC236}">
                <a16:creationId xmlns:a16="http://schemas.microsoft.com/office/drawing/2014/main" id="{7AF10920-E7F4-5548-2C08-6ED79709F457}"/>
              </a:ext>
            </a:extLst>
          </p:cNvPr>
          <p:cNvSpPr>
            <a:spLocks noGrp="1"/>
          </p:cNvSpPr>
          <p:nvPr>
            <p:ph idx="1"/>
          </p:nvPr>
        </p:nvSpPr>
        <p:spPr>
          <a:xfrm>
            <a:off x="435895" y="1579959"/>
            <a:ext cx="8272211" cy="4761781"/>
          </a:xfrm>
        </p:spPr>
        <p:txBody>
          <a:bodyPr anchor="t">
            <a:noAutofit/>
          </a:bodyPr>
          <a:lstStyle/>
          <a:p>
            <a:r>
              <a:rPr lang="en-US" altLang="en-US" sz="1800" dirty="0"/>
              <a:t>In responding to the infanticide objection, Warren accepts that killing infants is virtually always wrong, at least in “today’s world” where no “vital human needs” are served by killing them (see Warren, in LaFollette 2007: 134).</a:t>
            </a:r>
          </a:p>
          <a:p>
            <a:r>
              <a:rPr lang="en-US" altLang="en-US" sz="1800" dirty="0"/>
              <a:t>However, Warren does not believe that late-term abortion is always wrong. In particular, she argues that it’s morally permissible to abort a late-term fetus, if the abortion is necessary to preserve the life or health of the pregnant woman  (Warren, in LaFollette 2007: 134 – 135).</a:t>
            </a:r>
          </a:p>
          <a:p>
            <a:pPr lvl="1"/>
            <a:r>
              <a:rPr lang="en-US" altLang="en-US" sz="1800" dirty="0"/>
              <a:t>There is an important moral difference between late-term abortion and infanticide. A late-term fetus can pose a serious threat to the mother’s life or health because it’s still in her body, whereas an infant who has already been born usually cannot. If, somehow, the task of raising an infant would threaten the mother’s life or health, the infant can be adopted or put in foster care. </a:t>
            </a:r>
          </a:p>
          <a:p>
            <a:pPr lvl="1"/>
            <a:r>
              <a:rPr lang="en-US" altLang="en-US" sz="1800" dirty="0"/>
              <a:t>So, while it would be wrong to kill an infant who could be placed in alternative care, it can be permissible to abort a late-term fetus for the sake of protecting a woman’s life or health.</a:t>
            </a:r>
            <a:endParaRPr lang="en-US" sz="1800" dirty="0"/>
          </a:p>
          <a:p>
            <a:endParaRPr lang="en-US" sz="1800" dirty="0"/>
          </a:p>
          <a:p>
            <a:endParaRPr lang="en-US" sz="1800" dirty="0"/>
          </a:p>
          <a:p>
            <a:endParaRPr lang="en-US" sz="1800" dirty="0"/>
          </a:p>
          <a:p>
            <a:endParaRPr lang="en-US" sz="1800" dirty="0"/>
          </a:p>
          <a:p>
            <a:pPr marL="457200" lvl="1" indent="0">
              <a:buNone/>
            </a:pPr>
            <a:endParaRPr lang="en-US" sz="1800" dirty="0"/>
          </a:p>
          <a:p>
            <a:endParaRPr lang="en-US" sz="1800" dirty="0"/>
          </a:p>
          <a:p>
            <a:endParaRPr lang="en-SG" sz="1800" dirty="0"/>
          </a:p>
          <a:p>
            <a:endParaRPr lang="en-SG" sz="1800" dirty="0"/>
          </a:p>
        </p:txBody>
      </p:sp>
      <p:sp>
        <p:nvSpPr>
          <p:cNvPr id="4" name="Footer Placeholder 3">
            <a:extLst>
              <a:ext uri="{FF2B5EF4-FFF2-40B4-BE49-F238E27FC236}">
                <a16:creationId xmlns:a16="http://schemas.microsoft.com/office/drawing/2014/main" id="{F0AEE4A8-F4BA-7C73-E416-A7347872DC33}"/>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C2468B7A-5C42-47F6-CDC0-AFD20F595DF4}"/>
              </a:ext>
            </a:extLst>
          </p:cNvPr>
          <p:cNvSpPr>
            <a:spLocks noGrp="1"/>
          </p:cNvSpPr>
          <p:nvPr>
            <p:ph type="sldNum" sz="quarter" idx="12"/>
          </p:nvPr>
        </p:nvSpPr>
        <p:spPr/>
        <p:txBody>
          <a:bodyPr/>
          <a:lstStyle/>
          <a:p>
            <a:fld id="{3A98EE3D-8CD1-4C3F-BD1C-C98C9596463C}" type="slidenum">
              <a:rPr lang="en-US" sz="1200" smtClean="0"/>
              <a:t>22</a:t>
            </a:fld>
            <a:endParaRPr lang="en-US" sz="1200" dirty="0"/>
          </a:p>
        </p:txBody>
      </p:sp>
    </p:spTree>
    <p:extLst>
      <p:ext uri="{BB962C8B-B14F-4D97-AF65-F5344CB8AC3E}">
        <p14:creationId xmlns:p14="http://schemas.microsoft.com/office/powerpoint/2010/main" val="1686922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8A412-5571-8394-1F1D-AABEBC049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E30F0-749E-1933-A49A-86ED5CC679B5}"/>
              </a:ext>
            </a:extLst>
          </p:cNvPr>
          <p:cNvSpPr>
            <a:spLocks noGrp="1"/>
          </p:cNvSpPr>
          <p:nvPr>
            <p:ph type="title"/>
          </p:nvPr>
        </p:nvSpPr>
        <p:spPr>
          <a:xfrm>
            <a:off x="453146" y="628782"/>
            <a:ext cx="8272212" cy="721203"/>
          </a:xfrm>
        </p:spPr>
        <p:txBody>
          <a:bodyPr anchor="ctr">
            <a:normAutofit/>
          </a:bodyPr>
          <a:lstStyle/>
          <a:p>
            <a:pPr algn="ctr"/>
            <a:r>
              <a:rPr lang="en-SG" sz="4000" dirty="0"/>
              <a:t>Warren on potentiality</a:t>
            </a:r>
          </a:p>
        </p:txBody>
      </p:sp>
      <p:sp>
        <p:nvSpPr>
          <p:cNvPr id="3" name="Content Placeholder 2">
            <a:extLst>
              <a:ext uri="{FF2B5EF4-FFF2-40B4-BE49-F238E27FC236}">
                <a16:creationId xmlns:a16="http://schemas.microsoft.com/office/drawing/2014/main" id="{1B8682CF-FD14-4EB7-E037-784FA904C392}"/>
              </a:ext>
            </a:extLst>
          </p:cNvPr>
          <p:cNvSpPr>
            <a:spLocks noGrp="1"/>
          </p:cNvSpPr>
          <p:nvPr>
            <p:ph idx="1"/>
          </p:nvPr>
        </p:nvSpPr>
        <p:spPr>
          <a:xfrm>
            <a:off x="435895" y="1579959"/>
            <a:ext cx="8272211" cy="4761781"/>
          </a:xfrm>
        </p:spPr>
        <p:txBody>
          <a:bodyPr anchor="t">
            <a:noAutofit/>
          </a:bodyPr>
          <a:lstStyle/>
          <a:p>
            <a:r>
              <a:rPr lang="en-US" altLang="en-US" sz="1800" dirty="0"/>
              <a:t>The final important objection Warren considers may be called the </a:t>
            </a:r>
            <a:r>
              <a:rPr lang="en-US" altLang="en-US" sz="1800" b="1" dirty="0"/>
              <a:t>potentiality objection </a:t>
            </a:r>
            <a:r>
              <a:rPr lang="en-US" altLang="en-US" sz="1800" dirty="0"/>
              <a:t>(see Warren, in LaFollette 2007: 133 – 134). </a:t>
            </a:r>
          </a:p>
          <a:p>
            <a:endParaRPr lang="en-US" altLang="en-US" sz="1800" dirty="0"/>
          </a:p>
          <a:p>
            <a:r>
              <a:rPr lang="en-US" altLang="en-US" sz="1800" dirty="0"/>
              <a:t>The potentiality objection points out that even an early fetus is</a:t>
            </a:r>
            <a:r>
              <a:rPr lang="en-US" altLang="en-US" sz="1800" i="1" dirty="0"/>
              <a:t> potentially </a:t>
            </a:r>
            <a:r>
              <a:rPr lang="en-US" altLang="en-US" sz="1800" dirty="0"/>
              <a:t>a person. Barring any mishaps, a fetus potentially </a:t>
            </a:r>
            <a:r>
              <a:rPr lang="en-US" altLang="en-US" sz="1800" i="1" dirty="0"/>
              <a:t>would </a:t>
            </a:r>
            <a:r>
              <a:rPr lang="en-US" altLang="en-US" sz="1800" dirty="0"/>
              <a:t>become a person, </a:t>
            </a:r>
            <a:r>
              <a:rPr lang="en-US" altLang="en-US" sz="1800" i="1" dirty="0"/>
              <a:t>if </a:t>
            </a:r>
            <a:r>
              <a:rPr lang="en-US" altLang="en-US" sz="1800" dirty="0"/>
              <a:t>it were to be nurtured in the pregnancy and allowed to develop. This potentiality, the argument goes, is sufficient to give the fetus a moral right to life.</a:t>
            </a:r>
          </a:p>
          <a:p>
            <a:endParaRPr lang="en-US" altLang="en-US" sz="1800" dirty="0"/>
          </a:p>
          <a:p>
            <a:r>
              <a:rPr lang="en-US" altLang="en-US" sz="1800" dirty="0"/>
              <a:t>Warren acknowledges that the potentiality to become a person is a powerful reason not to destroy a fetus. However, Warren does insist that “even if a potential person does have some right to life, that right could not outweigh the right of a woman to obtain an abortion; for the basic moral rights of an actual person outweigh the rights of a merely potential person, whenever the two conflict” (Warren, in LaFollette 2007: 133).</a:t>
            </a:r>
          </a:p>
          <a:p>
            <a:endParaRPr lang="en-US" altLang="en-US" sz="1800" dirty="0"/>
          </a:p>
          <a:p>
            <a:endParaRPr lang="en-US" sz="1800" dirty="0"/>
          </a:p>
          <a:p>
            <a:endParaRPr lang="en-US" sz="1800" dirty="0"/>
          </a:p>
          <a:p>
            <a:endParaRPr lang="en-US" sz="1800" dirty="0"/>
          </a:p>
          <a:p>
            <a:endParaRPr lang="en-US" sz="1800" dirty="0"/>
          </a:p>
          <a:p>
            <a:endParaRPr lang="en-US" sz="1800" dirty="0"/>
          </a:p>
          <a:p>
            <a:pPr marL="457200" lvl="1" indent="0">
              <a:buNone/>
            </a:pPr>
            <a:endParaRPr lang="en-US" sz="1800" dirty="0"/>
          </a:p>
          <a:p>
            <a:endParaRPr lang="en-US" sz="1800" dirty="0"/>
          </a:p>
          <a:p>
            <a:endParaRPr lang="en-SG" sz="1800" dirty="0"/>
          </a:p>
          <a:p>
            <a:endParaRPr lang="en-SG" sz="1800" dirty="0"/>
          </a:p>
        </p:txBody>
      </p:sp>
      <p:sp>
        <p:nvSpPr>
          <p:cNvPr id="4" name="Footer Placeholder 3">
            <a:extLst>
              <a:ext uri="{FF2B5EF4-FFF2-40B4-BE49-F238E27FC236}">
                <a16:creationId xmlns:a16="http://schemas.microsoft.com/office/drawing/2014/main" id="{2FF14E07-A128-00C7-95C5-9BA9ED56DBA1}"/>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54D5E132-DBCA-98D2-D652-8E5B56742D94}"/>
              </a:ext>
            </a:extLst>
          </p:cNvPr>
          <p:cNvSpPr>
            <a:spLocks noGrp="1"/>
          </p:cNvSpPr>
          <p:nvPr>
            <p:ph type="sldNum" sz="quarter" idx="12"/>
          </p:nvPr>
        </p:nvSpPr>
        <p:spPr/>
        <p:txBody>
          <a:bodyPr/>
          <a:lstStyle/>
          <a:p>
            <a:fld id="{3A98EE3D-8CD1-4C3F-BD1C-C98C9596463C}" type="slidenum">
              <a:rPr lang="en-US" sz="1200" smtClean="0"/>
              <a:t>23</a:t>
            </a:fld>
            <a:endParaRPr lang="en-US" sz="1200" dirty="0"/>
          </a:p>
        </p:txBody>
      </p:sp>
    </p:spTree>
    <p:extLst>
      <p:ext uri="{BB962C8B-B14F-4D97-AF65-F5344CB8AC3E}">
        <p14:creationId xmlns:p14="http://schemas.microsoft.com/office/powerpoint/2010/main" val="3999228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940FB-0DFF-6D40-3300-A7EE02333F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5F299-6B56-A266-02E4-0C5691237879}"/>
              </a:ext>
            </a:extLst>
          </p:cNvPr>
          <p:cNvSpPr>
            <a:spLocks noGrp="1"/>
          </p:cNvSpPr>
          <p:nvPr>
            <p:ph type="title"/>
          </p:nvPr>
        </p:nvSpPr>
        <p:spPr>
          <a:xfrm>
            <a:off x="453146" y="628782"/>
            <a:ext cx="8272212" cy="721203"/>
          </a:xfrm>
        </p:spPr>
        <p:txBody>
          <a:bodyPr anchor="ctr">
            <a:normAutofit/>
          </a:bodyPr>
          <a:lstStyle/>
          <a:p>
            <a:pPr algn="ctr"/>
            <a:r>
              <a:rPr lang="en-SG" sz="4000" dirty="0"/>
              <a:t>Warren on potentiality</a:t>
            </a:r>
          </a:p>
        </p:txBody>
      </p:sp>
      <p:sp>
        <p:nvSpPr>
          <p:cNvPr id="3" name="Content Placeholder 2">
            <a:extLst>
              <a:ext uri="{FF2B5EF4-FFF2-40B4-BE49-F238E27FC236}">
                <a16:creationId xmlns:a16="http://schemas.microsoft.com/office/drawing/2014/main" id="{FD8B8456-A34C-42ED-BF62-3B96E8913AB2}"/>
              </a:ext>
            </a:extLst>
          </p:cNvPr>
          <p:cNvSpPr>
            <a:spLocks noGrp="1"/>
          </p:cNvSpPr>
          <p:nvPr>
            <p:ph idx="1"/>
          </p:nvPr>
        </p:nvSpPr>
        <p:spPr>
          <a:xfrm>
            <a:off x="435895" y="1579959"/>
            <a:ext cx="8272211" cy="4761781"/>
          </a:xfrm>
        </p:spPr>
        <p:txBody>
          <a:bodyPr anchor="t">
            <a:noAutofit/>
          </a:bodyPr>
          <a:lstStyle/>
          <a:p>
            <a:r>
              <a:rPr lang="en-US" altLang="en-US" sz="2000" dirty="0"/>
              <a:t>To support this reply to the potentiality objection, Warren offers a thought experiment: </a:t>
            </a:r>
          </a:p>
          <a:p>
            <a:endParaRPr lang="en-US" altLang="en-US" sz="2000" dirty="0"/>
          </a:p>
          <a:p>
            <a:pPr marL="457200" lvl="1" indent="0">
              <a:buNone/>
            </a:pPr>
            <a:r>
              <a:rPr lang="en-US" altLang="en-US" sz="2000" dirty="0"/>
              <a:t>“Suppose a space explorer is captured by an extraterrestrial civilization, whose scientists decide to create a few thousand human clones by using the explorer’s genetic material. If they are brought into existence, these clones will eventually develop all the features of persons (sentience, emotionality, etc.). They will be treated kindly and fairly, and their lives will be decent and valuable. The explorer knows all this.” (Warren, in LaFollette 2007: 133 – 134)</a:t>
            </a:r>
          </a:p>
        </p:txBody>
      </p:sp>
      <p:sp>
        <p:nvSpPr>
          <p:cNvPr id="4" name="Footer Placeholder 3">
            <a:extLst>
              <a:ext uri="{FF2B5EF4-FFF2-40B4-BE49-F238E27FC236}">
                <a16:creationId xmlns:a16="http://schemas.microsoft.com/office/drawing/2014/main" id="{ECA6251C-AAE5-5481-2F10-D0C536D49D7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A345C08A-7836-420F-8DE2-7B0187BE808A}"/>
              </a:ext>
            </a:extLst>
          </p:cNvPr>
          <p:cNvSpPr>
            <a:spLocks noGrp="1"/>
          </p:cNvSpPr>
          <p:nvPr>
            <p:ph type="sldNum" sz="quarter" idx="12"/>
          </p:nvPr>
        </p:nvSpPr>
        <p:spPr/>
        <p:txBody>
          <a:bodyPr/>
          <a:lstStyle/>
          <a:p>
            <a:fld id="{3A98EE3D-8CD1-4C3F-BD1C-C98C9596463C}" type="slidenum">
              <a:rPr lang="en-US" sz="1200" smtClean="0"/>
              <a:t>24</a:t>
            </a:fld>
            <a:endParaRPr lang="en-US" sz="1200" dirty="0"/>
          </a:p>
        </p:txBody>
      </p:sp>
    </p:spTree>
    <p:extLst>
      <p:ext uri="{BB962C8B-B14F-4D97-AF65-F5344CB8AC3E}">
        <p14:creationId xmlns:p14="http://schemas.microsoft.com/office/powerpoint/2010/main" val="3294056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89006-C461-C11B-7257-C8EED96840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C0F25-F2DD-ECE2-55D3-44778EA27AEB}"/>
              </a:ext>
            </a:extLst>
          </p:cNvPr>
          <p:cNvSpPr>
            <a:spLocks noGrp="1"/>
          </p:cNvSpPr>
          <p:nvPr>
            <p:ph type="title"/>
          </p:nvPr>
        </p:nvSpPr>
        <p:spPr>
          <a:xfrm>
            <a:off x="453146" y="628782"/>
            <a:ext cx="8272212" cy="721203"/>
          </a:xfrm>
        </p:spPr>
        <p:txBody>
          <a:bodyPr anchor="ctr">
            <a:normAutofit/>
          </a:bodyPr>
          <a:lstStyle/>
          <a:p>
            <a:pPr algn="ctr"/>
            <a:r>
              <a:rPr lang="en-SG" sz="4000" dirty="0"/>
              <a:t>Warren on potentiality</a:t>
            </a:r>
          </a:p>
        </p:txBody>
      </p:sp>
      <p:sp>
        <p:nvSpPr>
          <p:cNvPr id="3" name="Content Placeholder 2">
            <a:extLst>
              <a:ext uri="{FF2B5EF4-FFF2-40B4-BE49-F238E27FC236}">
                <a16:creationId xmlns:a16="http://schemas.microsoft.com/office/drawing/2014/main" id="{CB94548F-FA98-40C1-3B9A-AEA70A54B3EF}"/>
              </a:ext>
            </a:extLst>
          </p:cNvPr>
          <p:cNvSpPr>
            <a:spLocks noGrp="1"/>
          </p:cNvSpPr>
          <p:nvPr>
            <p:ph idx="1"/>
          </p:nvPr>
        </p:nvSpPr>
        <p:spPr>
          <a:xfrm>
            <a:off x="435895" y="1579959"/>
            <a:ext cx="8272211" cy="4761781"/>
          </a:xfrm>
        </p:spPr>
        <p:txBody>
          <a:bodyPr anchor="t">
            <a:noAutofit/>
          </a:bodyPr>
          <a:lstStyle/>
          <a:p>
            <a:r>
              <a:rPr lang="en-US" altLang="en-US" sz="2000" dirty="0"/>
              <a:t>Warren suggests that the space explorer has the moral right to escape her captivity before the aliens could clone her (Warren, in LaFollette 2007: 134). </a:t>
            </a:r>
          </a:p>
          <a:p>
            <a:endParaRPr lang="en-US" altLang="en-US" sz="2000" dirty="0"/>
          </a:p>
          <a:p>
            <a:pPr lvl="1"/>
            <a:r>
              <a:rPr lang="en-US" altLang="en-US" sz="2000" dirty="0"/>
              <a:t>By escaping before she was cloned, the explorer would consequently be eliminating thousands of potential persons who would have come into existence, had she been cloned. Even so, Warren thinks it’s clear that the space explorer has the moral right to escape.</a:t>
            </a:r>
          </a:p>
          <a:p>
            <a:endParaRPr lang="en-US" altLang="en-US" sz="2000" dirty="0"/>
          </a:p>
          <a:p>
            <a:pPr lvl="1"/>
            <a:r>
              <a:rPr lang="en-US" altLang="en-US" sz="2000" dirty="0"/>
              <a:t>Warren goes on to claim that just as the space explorer has the moral right to eliminate thousands of potential lives by escaping her alien captors, a pregnant woman likewise has the moral right to eliminate a potential person by having an abortion. </a:t>
            </a:r>
          </a:p>
          <a:p>
            <a:endParaRPr lang="en-US" altLang="en-US" sz="1900" dirty="0"/>
          </a:p>
        </p:txBody>
      </p:sp>
      <p:sp>
        <p:nvSpPr>
          <p:cNvPr id="4" name="Footer Placeholder 3">
            <a:extLst>
              <a:ext uri="{FF2B5EF4-FFF2-40B4-BE49-F238E27FC236}">
                <a16:creationId xmlns:a16="http://schemas.microsoft.com/office/drawing/2014/main" id="{F45E1C75-8100-33FD-D474-4A2A9DD9E8F8}"/>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6A1C550B-3FF9-F187-AEDB-6EE4056243BC}"/>
              </a:ext>
            </a:extLst>
          </p:cNvPr>
          <p:cNvSpPr>
            <a:spLocks noGrp="1"/>
          </p:cNvSpPr>
          <p:nvPr>
            <p:ph type="sldNum" sz="quarter" idx="12"/>
          </p:nvPr>
        </p:nvSpPr>
        <p:spPr/>
        <p:txBody>
          <a:bodyPr/>
          <a:lstStyle/>
          <a:p>
            <a:fld id="{3A98EE3D-8CD1-4C3F-BD1C-C98C9596463C}" type="slidenum">
              <a:rPr lang="en-US" sz="1200" smtClean="0"/>
              <a:t>25</a:t>
            </a:fld>
            <a:endParaRPr lang="en-US" sz="1200" dirty="0"/>
          </a:p>
        </p:txBody>
      </p:sp>
    </p:spTree>
    <p:extLst>
      <p:ext uri="{BB962C8B-B14F-4D97-AF65-F5344CB8AC3E}">
        <p14:creationId xmlns:p14="http://schemas.microsoft.com/office/powerpoint/2010/main" val="3988476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2146B-439F-86D5-567E-B72D57947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B6DE8-FEFC-E83D-3B05-2B86F0BA255A}"/>
              </a:ext>
            </a:extLst>
          </p:cNvPr>
          <p:cNvSpPr>
            <a:spLocks noGrp="1"/>
          </p:cNvSpPr>
          <p:nvPr>
            <p:ph type="title"/>
          </p:nvPr>
        </p:nvSpPr>
        <p:spPr>
          <a:xfrm>
            <a:off x="453146" y="628782"/>
            <a:ext cx="8272212" cy="721203"/>
          </a:xfrm>
        </p:spPr>
        <p:txBody>
          <a:bodyPr anchor="ctr">
            <a:normAutofit/>
          </a:bodyPr>
          <a:lstStyle/>
          <a:p>
            <a:pPr algn="ctr"/>
            <a:r>
              <a:rPr lang="en-SG" sz="4000" dirty="0"/>
              <a:t>Shafer-landau on potentiality</a:t>
            </a:r>
          </a:p>
        </p:txBody>
      </p:sp>
      <p:sp>
        <p:nvSpPr>
          <p:cNvPr id="3" name="Content Placeholder 2">
            <a:extLst>
              <a:ext uri="{FF2B5EF4-FFF2-40B4-BE49-F238E27FC236}">
                <a16:creationId xmlns:a16="http://schemas.microsoft.com/office/drawing/2014/main" id="{5923BCEF-1DC1-E023-5B48-BC2F437A6754}"/>
              </a:ext>
            </a:extLst>
          </p:cNvPr>
          <p:cNvSpPr>
            <a:spLocks noGrp="1"/>
          </p:cNvSpPr>
          <p:nvPr>
            <p:ph idx="1"/>
          </p:nvPr>
        </p:nvSpPr>
        <p:spPr>
          <a:xfrm>
            <a:off x="435895" y="1579959"/>
            <a:ext cx="8272211" cy="4761781"/>
          </a:xfrm>
        </p:spPr>
        <p:txBody>
          <a:bodyPr anchor="t">
            <a:noAutofit/>
          </a:bodyPr>
          <a:lstStyle/>
          <a:p>
            <a:r>
              <a:rPr lang="en-US" altLang="en-US" sz="1700" dirty="0">
                <a:solidFill>
                  <a:schemeClr val="tx1"/>
                </a:solidFill>
              </a:rPr>
              <a:t>In </a:t>
            </a:r>
            <a:r>
              <a:rPr lang="en-US" altLang="en-US" sz="1700" i="1" dirty="0">
                <a:solidFill>
                  <a:schemeClr val="tx1"/>
                </a:solidFill>
              </a:rPr>
              <a:t>Living Ethics,</a:t>
            </a:r>
            <a:r>
              <a:rPr lang="en-US" altLang="en-US" sz="1700" dirty="0">
                <a:solidFill>
                  <a:schemeClr val="tx1"/>
                </a:solidFill>
              </a:rPr>
              <a:t> Russ Shafer-Landau describes a different way of rebutting the potentiality objection. </a:t>
            </a:r>
          </a:p>
          <a:p>
            <a:endParaRPr lang="en-US" altLang="en-US" sz="1700" dirty="0">
              <a:solidFill>
                <a:schemeClr val="tx1"/>
              </a:solidFill>
            </a:endParaRPr>
          </a:p>
          <a:p>
            <a:r>
              <a:rPr lang="en-US" altLang="en-US" sz="1700" dirty="0">
                <a:solidFill>
                  <a:schemeClr val="tx1"/>
                </a:solidFill>
              </a:rPr>
              <a:t>He begins by setting up what he calls an “Argument from Potential” against abortion (</a:t>
            </a:r>
            <a:r>
              <a:rPr lang="en-US" sz="1700" dirty="0"/>
              <a:t>Shafer-Landau 2024: §11.2, 157). The argument is partially reproduced below. (For the complete argument, see the notes section under this slide.)</a:t>
            </a:r>
            <a:endParaRPr lang="en-US" altLang="en-US" sz="1700" dirty="0">
              <a:solidFill>
                <a:schemeClr val="tx1"/>
              </a:solidFill>
            </a:endParaRPr>
          </a:p>
          <a:p>
            <a:pPr marL="0" indent="0">
              <a:buNone/>
            </a:pPr>
            <a:endParaRPr lang="en-US" sz="1700" b="1" u="sng" dirty="0"/>
          </a:p>
          <a:p>
            <a:pPr marL="243000" lvl="1" indent="0">
              <a:buNone/>
            </a:pPr>
            <a:r>
              <a:rPr lang="en-US" sz="1700" b="1" i="1" u="sng" dirty="0"/>
              <a:t>The Argument from Potential</a:t>
            </a:r>
            <a:endParaRPr lang="en-US" sz="1700" i="1" dirty="0"/>
          </a:p>
          <a:p>
            <a:pPr marL="700200" lvl="1" indent="-457200">
              <a:buFont typeface="+mj-lt"/>
              <a:buAutoNum type="arabicPeriod"/>
            </a:pPr>
            <a:r>
              <a:rPr lang="en-US" sz="1700" dirty="0"/>
              <a:t>If a fetus has the potential to be a person, then it has the same moral status as a person.</a:t>
            </a:r>
          </a:p>
          <a:p>
            <a:pPr marL="700200" lvl="1" indent="-457200">
              <a:buFont typeface="+mj-lt"/>
              <a:buAutoNum type="arabicPeriod"/>
            </a:pPr>
            <a:r>
              <a:rPr lang="en-US" sz="1700" dirty="0"/>
              <a:t>Most fetuses have the potential to be a person.</a:t>
            </a:r>
          </a:p>
          <a:p>
            <a:pPr marL="700200" lvl="1" indent="-457200">
              <a:buFont typeface="+mj-lt"/>
              <a:buAutoNum type="arabicPeriod"/>
            </a:pPr>
            <a:r>
              <a:rPr lang="en-US" sz="1700" b="1" dirty="0"/>
              <a:t>(</a:t>
            </a:r>
            <a:r>
              <a:rPr lang="en-US" sz="1700" b="1" dirty="0" err="1"/>
              <a:t>Subconclusion</a:t>
            </a:r>
            <a:r>
              <a:rPr lang="en-US" sz="1700" b="1" dirty="0"/>
              <a:t> 1) </a:t>
            </a:r>
            <a:r>
              <a:rPr lang="en-US" sz="1700" dirty="0"/>
              <a:t>Therefore, most fetuses have the same moral status as a person.</a:t>
            </a:r>
          </a:p>
          <a:p>
            <a:pPr marL="700200" lvl="1" indent="-457200">
              <a:buFont typeface="+mj-lt"/>
              <a:buAutoNum type="arabicPeriod"/>
            </a:pPr>
            <a:r>
              <a:rPr lang="en-US" sz="1700" dirty="0"/>
              <a:t>…</a:t>
            </a:r>
          </a:p>
          <a:p>
            <a:endParaRPr lang="en-US" altLang="en-US" sz="1700" dirty="0"/>
          </a:p>
        </p:txBody>
      </p:sp>
      <p:sp>
        <p:nvSpPr>
          <p:cNvPr id="4" name="Footer Placeholder 3">
            <a:extLst>
              <a:ext uri="{FF2B5EF4-FFF2-40B4-BE49-F238E27FC236}">
                <a16:creationId xmlns:a16="http://schemas.microsoft.com/office/drawing/2014/main" id="{03518889-AC62-3B96-A83D-28BFAC70B6BD}"/>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AF5CE8A5-7A50-FF20-E7B4-FD28A5D587F1}"/>
              </a:ext>
            </a:extLst>
          </p:cNvPr>
          <p:cNvSpPr>
            <a:spLocks noGrp="1"/>
          </p:cNvSpPr>
          <p:nvPr>
            <p:ph type="sldNum" sz="quarter" idx="12"/>
          </p:nvPr>
        </p:nvSpPr>
        <p:spPr/>
        <p:txBody>
          <a:bodyPr/>
          <a:lstStyle/>
          <a:p>
            <a:fld id="{3A98EE3D-8CD1-4C3F-BD1C-C98C9596463C}" type="slidenum">
              <a:rPr lang="en-US" sz="1200" smtClean="0"/>
              <a:t>26</a:t>
            </a:fld>
            <a:endParaRPr lang="en-US" sz="1200" dirty="0"/>
          </a:p>
        </p:txBody>
      </p:sp>
    </p:spTree>
    <p:extLst>
      <p:ext uri="{BB962C8B-B14F-4D97-AF65-F5344CB8AC3E}">
        <p14:creationId xmlns:p14="http://schemas.microsoft.com/office/powerpoint/2010/main" val="3580628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4FBF1-7956-18B7-8E8F-CE79805AA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3EDAA5-FFAB-E599-CEDE-4A7C87EEFA2B}"/>
              </a:ext>
            </a:extLst>
          </p:cNvPr>
          <p:cNvSpPr>
            <a:spLocks noGrp="1"/>
          </p:cNvSpPr>
          <p:nvPr>
            <p:ph type="title"/>
          </p:nvPr>
        </p:nvSpPr>
        <p:spPr>
          <a:xfrm>
            <a:off x="453146" y="628782"/>
            <a:ext cx="8272212" cy="721203"/>
          </a:xfrm>
        </p:spPr>
        <p:txBody>
          <a:bodyPr anchor="ctr">
            <a:normAutofit/>
          </a:bodyPr>
          <a:lstStyle/>
          <a:p>
            <a:pPr algn="ctr"/>
            <a:r>
              <a:rPr lang="en-SG" sz="4000" dirty="0"/>
              <a:t>Shafer-landau on potentiality</a:t>
            </a:r>
          </a:p>
        </p:txBody>
      </p:sp>
      <p:sp>
        <p:nvSpPr>
          <p:cNvPr id="3" name="Content Placeholder 2">
            <a:extLst>
              <a:ext uri="{FF2B5EF4-FFF2-40B4-BE49-F238E27FC236}">
                <a16:creationId xmlns:a16="http://schemas.microsoft.com/office/drawing/2014/main" id="{1E46C0DE-2ED5-B18B-BFFB-BC5CDEC6D28B}"/>
              </a:ext>
            </a:extLst>
          </p:cNvPr>
          <p:cNvSpPr>
            <a:spLocks noGrp="1"/>
          </p:cNvSpPr>
          <p:nvPr>
            <p:ph idx="1"/>
          </p:nvPr>
        </p:nvSpPr>
        <p:spPr>
          <a:xfrm>
            <a:off x="435895" y="1579959"/>
            <a:ext cx="8272211" cy="4761781"/>
          </a:xfrm>
        </p:spPr>
        <p:txBody>
          <a:bodyPr anchor="t">
            <a:noAutofit/>
          </a:bodyPr>
          <a:lstStyle/>
          <a:p>
            <a:r>
              <a:rPr lang="en-US" sz="1900" dirty="0"/>
              <a:t>Consider premise 1 of the Argument from Potential (at line 1). It says that </a:t>
            </a:r>
            <a:r>
              <a:rPr lang="en-US" sz="1900" i="1" dirty="0"/>
              <a:t>if a fetus has the potential to be a person, then it has the same moral status as a person.</a:t>
            </a:r>
          </a:p>
          <a:p>
            <a:endParaRPr lang="en-US" sz="1900" i="1" dirty="0"/>
          </a:p>
          <a:p>
            <a:r>
              <a:rPr lang="en-US" sz="1900" dirty="0"/>
              <a:t>What reason is there to think this premise is true? </a:t>
            </a:r>
          </a:p>
          <a:p>
            <a:endParaRPr lang="en-US" sz="1900" dirty="0"/>
          </a:p>
          <a:p>
            <a:r>
              <a:rPr lang="en-US" sz="1900" dirty="0"/>
              <a:t>Shafer-Landau offers one line of reasoning that appeals to a moral general principle from which premise 1 can be derived. We can call this principle “(P)” (see Shafer-Landau 2024: 157): </a:t>
            </a:r>
          </a:p>
          <a:p>
            <a:endParaRPr lang="en-US" sz="1900" dirty="0">
              <a:solidFill>
                <a:srgbClr val="FF0000"/>
              </a:solidFill>
            </a:endParaRPr>
          </a:p>
          <a:p>
            <a:pPr marL="243000" lvl="1" indent="0">
              <a:buNone/>
            </a:pPr>
            <a:r>
              <a:rPr lang="en-US" sz="1900" b="1" dirty="0">
                <a:solidFill>
                  <a:schemeClr val="tx1"/>
                </a:solidFill>
              </a:rPr>
              <a:t>	 (P)    If X has the potential to be Y, then X has the same moral status as Y.</a:t>
            </a:r>
          </a:p>
          <a:p>
            <a:pPr marL="243000" lvl="1" indent="0">
              <a:buNone/>
            </a:pPr>
            <a:endParaRPr lang="en-US" sz="1900" dirty="0"/>
          </a:p>
        </p:txBody>
      </p:sp>
      <p:sp>
        <p:nvSpPr>
          <p:cNvPr id="4" name="Footer Placeholder 3">
            <a:extLst>
              <a:ext uri="{FF2B5EF4-FFF2-40B4-BE49-F238E27FC236}">
                <a16:creationId xmlns:a16="http://schemas.microsoft.com/office/drawing/2014/main" id="{2985CF37-8B92-A869-6A24-C7179BE5A1D9}"/>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E8CEF1FC-E234-1187-AF72-CEEA7637F8E9}"/>
              </a:ext>
            </a:extLst>
          </p:cNvPr>
          <p:cNvSpPr>
            <a:spLocks noGrp="1"/>
          </p:cNvSpPr>
          <p:nvPr>
            <p:ph type="sldNum" sz="quarter" idx="12"/>
          </p:nvPr>
        </p:nvSpPr>
        <p:spPr/>
        <p:txBody>
          <a:bodyPr/>
          <a:lstStyle/>
          <a:p>
            <a:fld id="{3A98EE3D-8CD1-4C3F-BD1C-C98C9596463C}" type="slidenum">
              <a:rPr lang="en-US" sz="1200" smtClean="0"/>
              <a:t>27</a:t>
            </a:fld>
            <a:endParaRPr lang="en-US" sz="1200" dirty="0"/>
          </a:p>
        </p:txBody>
      </p:sp>
    </p:spTree>
    <p:extLst>
      <p:ext uri="{BB962C8B-B14F-4D97-AF65-F5344CB8AC3E}">
        <p14:creationId xmlns:p14="http://schemas.microsoft.com/office/powerpoint/2010/main" val="1065306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C3F48-A5D4-9B76-E2FE-9B54851E3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B8CF67-0748-4DA2-9E12-4885B6B9B3CF}"/>
              </a:ext>
            </a:extLst>
          </p:cNvPr>
          <p:cNvSpPr>
            <a:spLocks noGrp="1"/>
          </p:cNvSpPr>
          <p:nvPr>
            <p:ph type="title"/>
          </p:nvPr>
        </p:nvSpPr>
        <p:spPr>
          <a:xfrm>
            <a:off x="453146" y="628782"/>
            <a:ext cx="8272212" cy="721203"/>
          </a:xfrm>
        </p:spPr>
        <p:txBody>
          <a:bodyPr anchor="ctr">
            <a:normAutofit/>
          </a:bodyPr>
          <a:lstStyle/>
          <a:p>
            <a:pPr algn="ctr"/>
            <a:r>
              <a:rPr lang="en-SG" sz="4000" dirty="0"/>
              <a:t>Shafer-landau on potentiality</a:t>
            </a:r>
          </a:p>
        </p:txBody>
      </p:sp>
      <p:sp>
        <p:nvSpPr>
          <p:cNvPr id="3" name="Content Placeholder 2">
            <a:extLst>
              <a:ext uri="{FF2B5EF4-FFF2-40B4-BE49-F238E27FC236}">
                <a16:creationId xmlns:a16="http://schemas.microsoft.com/office/drawing/2014/main" id="{B3344AC1-4D49-EFCF-7C46-70B899B79B9A}"/>
              </a:ext>
            </a:extLst>
          </p:cNvPr>
          <p:cNvSpPr>
            <a:spLocks noGrp="1"/>
          </p:cNvSpPr>
          <p:nvPr>
            <p:ph idx="1"/>
          </p:nvPr>
        </p:nvSpPr>
        <p:spPr>
          <a:xfrm>
            <a:off x="435895" y="1579959"/>
            <a:ext cx="8272211" cy="4761781"/>
          </a:xfrm>
        </p:spPr>
        <p:txBody>
          <a:bodyPr anchor="t">
            <a:noAutofit/>
          </a:bodyPr>
          <a:lstStyle/>
          <a:p>
            <a:r>
              <a:rPr lang="en-US" sz="1800" dirty="0"/>
              <a:t>However, Shafer-Landau suggests that principle (P) is false, because there are many counterexamples to suggest that even if some X has the potential to be a Y, it still doesn’t have the same moral status as Y (see Shafer-Landau 2024: 157). </a:t>
            </a:r>
          </a:p>
          <a:p>
            <a:pPr lvl="1">
              <a:buFont typeface="Wingdings" panose="05000000000000000000" pitchFamily="2" charset="2"/>
              <a:buChar char="§"/>
            </a:pPr>
            <a:r>
              <a:rPr lang="en-US" sz="1800" dirty="0"/>
              <a:t>A university student may have the potential to be a university graduate, but even so, that does not mean they have the same rights as a graduate. They can’t demand their degree before they fulfill the graduation requirements.</a:t>
            </a:r>
          </a:p>
          <a:p>
            <a:pPr lvl="1">
              <a:buFont typeface="Wingdings" panose="05000000000000000000" pitchFamily="2" charset="2"/>
              <a:buChar char="§"/>
            </a:pPr>
            <a:r>
              <a:rPr lang="en-US" sz="1800" dirty="0"/>
              <a:t>Children do not have many rights that adults have, and this is thought to be appropriate because children don’t have the necessary maturity. Children can’t vote, own property, be hired for certain jobs, live alone, etc. This is true, even though children do have the </a:t>
            </a:r>
            <a:r>
              <a:rPr lang="en-US" sz="1800" i="1" dirty="0"/>
              <a:t>potential</a:t>
            </a:r>
            <a:r>
              <a:rPr lang="en-US" sz="1800" dirty="0"/>
              <a:t> to become mature adults.</a:t>
            </a:r>
          </a:p>
          <a:p>
            <a:pPr lvl="1">
              <a:buFont typeface="Wingdings" panose="05000000000000000000" pitchFamily="2" charset="2"/>
              <a:buChar char="§"/>
            </a:pPr>
            <a:r>
              <a:rPr lang="en-US" sz="1800" dirty="0"/>
              <a:t>Suppose a pregnant woman has the option to immigrate to the United States. This gives her unborn child the potential to be born in the U.S. Still, the child does not have the same rights as someone who was actually born in the U.S.</a:t>
            </a:r>
          </a:p>
          <a:p>
            <a:pPr>
              <a:buFont typeface="Wingdings" panose="05000000000000000000" pitchFamily="2" charset="2"/>
              <a:buChar char="§"/>
            </a:pPr>
            <a:r>
              <a:rPr lang="en-US" sz="1800" dirty="0"/>
              <a:t>If (P) is the only reason to accept premise 1 of the Argument from Potential, then we shouldn’t accept premise 1, because (P) is false. </a:t>
            </a:r>
          </a:p>
          <a:p>
            <a:pPr>
              <a:buFont typeface="Wingdings" panose="05000000000000000000" pitchFamily="2" charset="2"/>
              <a:buChar char="§"/>
            </a:pPr>
            <a:endParaRPr lang="en-US" sz="1800" dirty="0"/>
          </a:p>
          <a:p>
            <a:pPr marL="457200" indent="-457200">
              <a:buFont typeface="+mj-lt"/>
              <a:buAutoNum type="arabicPeriod"/>
            </a:pPr>
            <a:endParaRPr lang="en-US" sz="1800" dirty="0"/>
          </a:p>
          <a:p>
            <a:pPr marL="457200" indent="-457200">
              <a:buFont typeface="+mj-lt"/>
              <a:buAutoNum type="arabicPeriod"/>
            </a:pPr>
            <a:endParaRPr lang="en-US" sz="1800" dirty="0"/>
          </a:p>
          <a:p>
            <a:endParaRPr lang="en-US" altLang="en-US" sz="1800" dirty="0"/>
          </a:p>
        </p:txBody>
      </p:sp>
      <p:sp>
        <p:nvSpPr>
          <p:cNvPr id="4" name="Footer Placeholder 3">
            <a:extLst>
              <a:ext uri="{FF2B5EF4-FFF2-40B4-BE49-F238E27FC236}">
                <a16:creationId xmlns:a16="http://schemas.microsoft.com/office/drawing/2014/main" id="{5A3D1960-19D1-7C0D-B419-4AA3BB52C1D3}"/>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29DB4064-8AE9-41AE-2B20-6433BB4CFFB9}"/>
              </a:ext>
            </a:extLst>
          </p:cNvPr>
          <p:cNvSpPr>
            <a:spLocks noGrp="1"/>
          </p:cNvSpPr>
          <p:nvPr>
            <p:ph type="sldNum" sz="quarter" idx="12"/>
          </p:nvPr>
        </p:nvSpPr>
        <p:spPr/>
        <p:txBody>
          <a:bodyPr/>
          <a:lstStyle/>
          <a:p>
            <a:fld id="{3A98EE3D-8CD1-4C3F-BD1C-C98C9596463C}" type="slidenum">
              <a:rPr lang="en-US" sz="1200" smtClean="0"/>
              <a:t>28</a:t>
            </a:fld>
            <a:endParaRPr lang="en-US" sz="1200" dirty="0"/>
          </a:p>
        </p:txBody>
      </p:sp>
    </p:spTree>
    <p:extLst>
      <p:ext uri="{BB962C8B-B14F-4D97-AF65-F5344CB8AC3E}">
        <p14:creationId xmlns:p14="http://schemas.microsoft.com/office/powerpoint/2010/main" val="3856493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E1D84-6CF5-2E66-FC8A-FC87AC747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7A000-45E4-A989-DD4A-E0C4936B10E2}"/>
              </a:ext>
            </a:extLst>
          </p:cNvPr>
          <p:cNvSpPr>
            <a:spLocks noGrp="1"/>
          </p:cNvSpPr>
          <p:nvPr>
            <p:ph type="title"/>
          </p:nvPr>
        </p:nvSpPr>
        <p:spPr>
          <a:xfrm>
            <a:off x="453146" y="628782"/>
            <a:ext cx="8272212" cy="721203"/>
          </a:xfrm>
        </p:spPr>
        <p:txBody>
          <a:bodyPr anchor="ctr">
            <a:normAutofit/>
          </a:bodyPr>
          <a:lstStyle/>
          <a:p>
            <a:pPr algn="ctr"/>
            <a:r>
              <a:rPr lang="en-SG" sz="4000" dirty="0"/>
              <a:t>Shafer-landau on potentiality</a:t>
            </a:r>
          </a:p>
        </p:txBody>
      </p:sp>
      <p:sp>
        <p:nvSpPr>
          <p:cNvPr id="3" name="Content Placeholder 2">
            <a:extLst>
              <a:ext uri="{FF2B5EF4-FFF2-40B4-BE49-F238E27FC236}">
                <a16:creationId xmlns:a16="http://schemas.microsoft.com/office/drawing/2014/main" id="{991C5803-DF95-B776-3C3D-B5CCFCBEA312}"/>
              </a:ext>
            </a:extLst>
          </p:cNvPr>
          <p:cNvSpPr>
            <a:spLocks noGrp="1"/>
          </p:cNvSpPr>
          <p:nvPr>
            <p:ph idx="1"/>
          </p:nvPr>
        </p:nvSpPr>
        <p:spPr>
          <a:xfrm>
            <a:off x="435895" y="1579959"/>
            <a:ext cx="8272211" cy="4761781"/>
          </a:xfrm>
        </p:spPr>
        <p:txBody>
          <a:bodyPr anchor="t">
            <a:noAutofit/>
          </a:bodyPr>
          <a:lstStyle/>
          <a:p>
            <a:r>
              <a:rPr lang="en-US" sz="2100" b="1" dirty="0">
                <a:solidFill>
                  <a:srgbClr val="FF0000"/>
                </a:solidFill>
              </a:rPr>
              <a:t>Small-group discussion: </a:t>
            </a:r>
          </a:p>
          <a:p>
            <a:pPr lvl="1"/>
            <a:endParaRPr lang="en-US" sz="2100" dirty="0">
              <a:solidFill>
                <a:srgbClr val="FF0000"/>
              </a:solidFill>
            </a:endParaRPr>
          </a:p>
          <a:p>
            <a:pPr lvl="1"/>
            <a:r>
              <a:rPr lang="en-US" sz="2100" dirty="0">
                <a:solidFill>
                  <a:srgbClr val="FF0000"/>
                </a:solidFill>
              </a:rPr>
              <a:t>Shafer-Landau does not think we should accept premise 1 of the Argument from Potential, because it is based on the principle (P), and we should reject (P) because there are counterexamples to it. </a:t>
            </a:r>
          </a:p>
          <a:p>
            <a:pPr lvl="1"/>
            <a:endParaRPr lang="en-US" sz="2000" dirty="0">
              <a:solidFill>
                <a:srgbClr val="FF0000"/>
              </a:solidFill>
            </a:endParaRPr>
          </a:p>
          <a:p>
            <a:pPr marL="445500" lvl="2" indent="0">
              <a:buNone/>
            </a:pPr>
            <a:r>
              <a:rPr lang="en-US" sz="1900" b="1" dirty="0">
                <a:solidFill>
                  <a:srgbClr val="FF0000"/>
                </a:solidFill>
              </a:rPr>
              <a:t>(P) 	 If X has the potential to be Y, then X has the same moral status as Y.</a:t>
            </a:r>
          </a:p>
          <a:p>
            <a:pPr marL="243000" lvl="1" indent="0">
              <a:buNone/>
            </a:pPr>
            <a:endParaRPr lang="en-US" sz="2000" i="1" dirty="0">
              <a:solidFill>
                <a:srgbClr val="FF0000"/>
              </a:solidFill>
            </a:endParaRPr>
          </a:p>
          <a:p>
            <a:pPr lvl="1"/>
            <a:r>
              <a:rPr lang="en-SG" sz="2100" b="1" i="1" dirty="0">
                <a:solidFill>
                  <a:srgbClr val="FF0000"/>
                </a:solidFill>
              </a:rPr>
              <a:t>Questions: </a:t>
            </a:r>
            <a:r>
              <a:rPr lang="en-SG" sz="2100" dirty="0">
                <a:solidFill>
                  <a:srgbClr val="FF0000"/>
                </a:solidFill>
              </a:rPr>
              <a:t>Do you agree with Shafer-Landau that (P) is false? If not, why not? If you do agree that (P) is false, is there a better way to argue that it’s wrong to eliminate a “potential person”?</a:t>
            </a:r>
          </a:p>
          <a:p>
            <a:pPr>
              <a:buFont typeface="Wingdings" panose="05000000000000000000" pitchFamily="2" charset="2"/>
              <a:buChar char="§"/>
            </a:pPr>
            <a:endParaRPr lang="en-US" sz="1800" dirty="0"/>
          </a:p>
          <a:p>
            <a:pPr marL="457200" indent="-457200">
              <a:buFont typeface="+mj-lt"/>
              <a:buAutoNum type="arabicPeriod"/>
            </a:pPr>
            <a:endParaRPr lang="en-US" sz="1800" dirty="0"/>
          </a:p>
          <a:p>
            <a:pPr marL="457200" indent="-457200">
              <a:buFont typeface="+mj-lt"/>
              <a:buAutoNum type="arabicPeriod"/>
            </a:pPr>
            <a:endParaRPr lang="en-US" sz="1800" dirty="0"/>
          </a:p>
          <a:p>
            <a:endParaRPr lang="en-US" altLang="en-US" sz="1800" dirty="0"/>
          </a:p>
        </p:txBody>
      </p:sp>
      <p:sp>
        <p:nvSpPr>
          <p:cNvPr id="4" name="Footer Placeholder 3">
            <a:extLst>
              <a:ext uri="{FF2B5EF4-FFF2-40B4-BE49-F238E27FC236}">
                <a16:creationId xmlns:a16="http://schemas.microsoft.com/office/drawing/2014/main" id="{94D9B7B1-B196-187F-E129-0EBDBE752F83}"/>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2FD4F439-9705-E40D-BC7E-6BEC140665DB}"/>
              </a:ext>
            </a:extLst>
          </p:cNvPr>
          <p:cNvSpPr>
            <a:spLocks noGrp="1"/>
          </p:cNvSpPr>
          <p:nvPr>
            <p:ph type="sldNum" sz="quarter" idx="12"/>
          </p:nvPr>
        </p:nvSpPr>
        <p:spPr/>
        <p:txBody>
          <a:bodyPr/>
          <a:lstStyle/>
          <a:p>
            <a:fld id="{3A98EE3D-8CD1-4C3F-BD1C-C98C9596463C}" type="slidenum">
              <a:rPr lang="en-US" sz="1200" smtClean="0"/>
              <a:t>29</a:t>
            </a:fld>
            <a:endParaRPr lang="en-US" sz="1200" dirty="0"/>
          </a:p>
        </p:txBody>
      </p:sp>
    </p:spTree>
    <p:extLst>
      <p:ext uri="{BB962C8B-B14F-4D97-AF65-F5344CB8AC3E}">
        <p14:creationId xmlns:p14="http://schemas.microsoft.com/office/powerpoint/2010/main" val="910801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0C01E-5D9F-DDA3-F419-EEFA28D9E1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F5006-5E82-EC5A-23E5-A9056947D70D}"/>
              </a:ext>
            </a:extLst>
          </p:cNvPr>
          <p:cNvSpPr>
            <a:spLocks noGrp="1"/>
          </p:cNvSpPr>
          <p:nvPr>
            <p:ph type="title"/>
          </p:nvPr>
        </p:nvSpPr>
        <p:spPr>
          <a:xfrm>
            <a:off x="453146" y="628782"/>
            <a:ext cx="8272212" cy="721203"/>
          </a:xfrm>
        </p:spPr>
        <p:txBody>
          <a:bodyPr anchor="ctr">
            <a:normAutofit/>
          </a:bodyPr>
          <a:lstStyle/>
          <a:p>
            <a:pPr algn="ctr"/>
            <a:r>
              <a:rPr lang="en-SG" sz="4000" dirty="0"/>
              <a:t>In-vitro fertilization (</a:t>
            </a:r>
            <a:r>
              <a:rPr lang="en-SG" sz="4000" dirty="0" err="1"/>
              <a:t>ivf</a:t>
            </a:r>
            <a:r>
              <a:rPr lang="en-SG" sz="4000" dirty="0"/>
              <a:t>)</a:t>
            </a:r>
          </a:p>
        </p:txBody>
      </p:sp>
      <p:sp>
        <p:nvSpPr>
          <p:cNvPr id="3" name="Content Placeholder 2">
            <a:extLst>
              <a:ext uri="{FF2B5EF4-FFF2-40B4-BE49-F238E27FC236}">
                <a16:creationId xmlns:a16="http://schemas.microsoft.com/office/drawing/2014/main" id="{24FAEC82-4328-D049-7389-8342BD432462}"/>
              </a:ext>
            </a:extLst>
          </p:cNvPr>
          <p:cNvSpPr>
            <a:spLocks noGrp="1"/>
          </p:cNvSpPr>
          <p:nvPr>
            <p:ph idx="1"/>
          </p:nvPr>
        </p:nvSpPr>
        <p:spPr>
          <a:xfrm>
            <a:off x="435895" y="1579959"/>
            <a:ext cx="8272211" cy="4761781"/>
          </a:xfrm>
        </p:spPr>
        <p:txBody>
          <a:bodyPr anchor="t">
            <a:noAutofit/>
          </a:bodyPr>
          <a:lstStyle/>
          <a:p>
            <a:pPr>
              <a:buFont typeface="Wingdings" panose="05000000000000000000" pitchFamily="2" charset="2"/>
              <a:buChar char="§"/>
            </a:pPr>
            <a:r>
              <a:rPr lang="en-SG" sz="1800" b="1" dirty="0">
                <a:ea typeface="SimSun" panose="02010600030101010101" pitchFamily="2" charset="-122"/>
              </a:rPr>
              <a:t>In vitro fertilization</a:t>
            </a:r>
            <a:r>
              <a:rPr lang="en-SG" sz="1800" dirty="0">
                <a:ea typeface="SimSun" panose="02010600030101010101" pitchFamily="2" charset="-122"/>
              </a:rPr>
              <a:t>, or </a:t>
            </a:r>
            <a:r>
              <a:rPr lang="en-SG" sz="1800" b="1" dirty="0">
                <a:ea typeface="SimSun" panose="02010600030101010101" pitchFamily="2" charset="-122"/>
              </a:rPr>
              <a:t>IVF</a:t>
            </a:r>
            <a:r>
              <a:rPr lang="en-SG" sz="1800" dirty="0">
                <a:ea typeface="SimSun" panose="02010600030101010101" pitchFamily="2" charset="-122"/>
              </a:rPr>
              <a:t>, is an infertility treatment that aims to create a pregnancy. Eggs are collected from the ovaries of a woman, and then fertilized by the sperm of a man in a lab to produce embryos. One or more embryos are then inserted into the woman’s uterus (Mayo Clinic, </a:t>
            </a:r>
            <a:r>
              <a:rPr lang="en-SG" sz="1800" dirty="0">
                <a:ea typeface="SimSun" panose="02010600030101010101" pitchFamily="2" charset="-122"/>
                <a:hlinkClick r:id="rId3"/>
              </a:rPr>
              <a:t>“In vitro fertilization (IVF)”</a:t>
            </a:r>
            <a:r>
              <a:rPr lang="en-SG" sz="1800" dirty="0">
                <a:ea typeface="SimSun" panose="02010600030101010101" pitchFamily="2" charset="-122"/>
              </a:rPr>
              <a:t>). </a:t>
            </a:r>
          </a:p>
          <a:p>
            <a:pPr>
              <a:buFont typeface="Wingdings" panose="05000000000000000000" pitchFamily="2" charset="2"/>
              <a:buChar char="§"/>
            </a:pPr>
            <a:endParaRPr lang="en-SG" sz="1800" dirty="0">
              <a:ea typeface="SimSun" panose="02010600030101010101" pitchFamily="2" charset="-122"/>
            </a:endParaRPr>
          </a:p>
          <a:p>
            <a:pPr>
              <a:buFont typeface="Wingdings" panose="05000000000000000000" pitchFamily="2" charset="2"/>
              <a:buChar char="§"/>
            </a:pPr>
            <a:r>
              <a:rPr lang="en-US" sz="1800" dirty="0">
                <a:ea typeface="SimSun" panose="02010600030101010101" pitchFamily="2" charset="-122"/>
              </a:rPr>
              <a:t>However, IVF providers routinely create more embryos than are needed to conceive a child (</a:t>
            </a:r>
            <a:r>
              <a:rPr lang="en-US" sz="1800" dirty="0">
                <a:ea typeface="SimSun" panose="02010600030101010101" pitchFamily="2" charset="-122"/>
                <a:hlinkClick r:id="rId4"/>
              </a:rPr>
              <a:t>Godoy 2024</a:t>
            </a:r>
            <a:r>
              <a:rPr lang="en-US" sz="1800" dirty="0">
                <a:ea typeface="SimSun" panose="02010600030101010101" pitchFamily="2" charset="-122"/>
              </a:rPr>
              <a:t>). These “spare” embryos are created for the purpose of reducing the costs of the procedure, in terms of both money and time, and to increase the probability of successful impregnation. </a:t>
            </a:r>
          </a:p>
          <a:p>
            <a:pPr>
              <a:buFont typeface="Wingdings" panose="05000000000000000000" pitchFamily="2" charset="2"/>
              <a:buChar char="§"/>
            </a:pPr>
            <a:endParaRPr lang="en-US" sz="1800" dirty="0">
              <a:ea typeface="SimSun" panose="02010600030101010101" pitchFamily="2" charset="-122"/>
            </a:endParaRPr>
          </a:p>
          <a:p>
            <a:pPr>
              <a:buFont typeface="Wingdings" panose="05000000000000000000" pitchFamily="2" charset="2"/>
              <a:buChar char="§"/>
            </a:pPr>
            <a:r>
              <a:rPr lang="en-US" sz="1800" dirty="0">
                <a:ea typeface="SimSun" panose="02010600030101010101" pitchFamily="2" charset="-122"/>
              </a:rPr>
              <a:t>People who undergo IVF usually choose to have their “spare” embryos destroyed, or else donated for medical research, which also results in the embryos’ deaths (</a:t>
            </a:r>
            <a:r>
              <a:rPr lang="en-US" sz="1800" dirty="0">
                <a:ea typeface="SimSun" panose="02010600030101010101" pitchFamily="2" charset="-122"/>
                <a:hlinkClick r:id="rId5"/>
              </a:rPr>
              <a:t>Chang et al. 2024</a:t>
            </a:r>
            <a:r>
              <a:rPr lang="en-US" sz="1800" dirty="0">
                <a:ea typeface="SimSun" panose="02010600030101010101" pitchFamily="2" charset="-122"/>
              </a:rPr>
              <a:t>). </a:t>
            </a:r>
          </a:p>
          <a:p>
            <a:pPr>
              <a:buFont typeface="Wingdings" panose="05000000000000000000" pitchFamily="2" charset="2"/>
              <a:buChar char="§"/>
            </a:pPr>
            <a:endParaRPr lang="en-SG" sz="1800" dirty="0"/>
          </a:p>
        </p:txBody>
      </p:sp>
      <p:sp>
        <p:nvSpPr>
          <p:cNvPr id="4" name="Footer Placeholder 3">
            <a:extLst>
              <a:ext uri="{FF2B5EF4-FFF2-40B4-BE49-F238E27FC236}">
                <a16:creationId xmlns:a16="http://schemas.microsoft.com/office/drawing/2014/main" id="{889ABF98-C1E9-17C6-FB25-E70C21BE624E}"/>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4728AEE-13B1-8A6A-6DB7-F5E7403A302A}"/>
              </a:ext>
            </a:extLst>
          </p:cNvPr>
          <p:cNvSpPr>
            <a:spLocks noGrp="1"/>
          </p:cNvSpPr>
          <p:nvPr>
            <p:ph type="sldNum" sz="quarter" idx="12"/>
          </p:nvPr>
        </p:nvSpPr>
        <p:spPr/>
        <p:txBody>
          <a:bodyPr/>
          <a:lstStyle/>
          <a:p>
            <a:fld id="{3A98EE3D-8CD1-4C3F-BD1C-C98C9596463C}" type="slidenum">
              <a:rPr lang="en-US" sz="1200" smtClean="0"/>
              <a:t>30</a:t>
            </a:fld>
            <a:endParaRPr lang="en-US" sz="1200" dirty="0"/>
          </a:p>
        </p:txBody>
      </p:sp>
    </p:spTree>
    <p:extLst>
      <p:ext uri="{BB962C8B-B14F-4D97-AF65-F5344CB8AC3E}">
        <p14:creationId xmlns:p14="http://schemas.microsoft.com/office/powerpoint/2010/main" val="31378782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8B091-05F3-FD08-6150-4B562FCBC4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545C4-6A8D-05E4-F0D3-9B29A7EB3A8A}"/>
              </a:ext>
            </a:extLst>
          </p:cNvPr>
          <p:cNvSpPr>
            <a:spLocks noGrp="1"/>
          </p:cNvSpPr>
          <p:nvPr>
            <p:ph type="title"/>
          </p:nvPr>
        </p:nvSpPr>
        <p:spPr>
          <a:xfrm>
            <a:off x="453146" y="628782"/>
            <a:ext cx="8272212" cy="721203"/>
          </a:xfrm>
        </p:spPr>
        <p:txBody>
          <a:bodyPr anchor="ctr">
            <a:normAutofit/>
          </a:bodyPr>
          <a:lstStyle/>
          <a:p>
            <a:pPr algn="ctr"/>
            <a:r>
              <a:rPr lang="en-SG" sz="4000" dirty="0"/>
              <a:t>In-vitro fertilization (</a:t>
            </a:r>
            <a:r>
              <a:rPr lang="en-SG" sz="4000" dirty="0" err="1"/>
              <a:t>ivf</a:t>
            </a:r>
            <a:r>
              <a:rPr lang="en-SG" sz="4000" dirty="0"/>
              <a:t>)</a:t>
            </a:r>
          </a:p>
        </p:txBody>
      </p:sp>
      <p:sp>
        <p:nvSpPr>
          <p:cNvPr id="3" name="Content Placeholder 2">
            <a:extLst>
              <a:ext uri="{FF2B5EF4-FFF2-40B4-BE49-F238E27FC236}">
                <a16:creationId xmlns:a16="http://schemas.microsoft.com/office/drawing/2014/main" id="{5229291C-4396-2B3C-5223-9E3CAC8EBAC3}"/>
              </a:ext>
            </a:extLst>
          </p:cNvPr>
          <p:cNvSpPr>
            <a:spLocks noGrp="1"/>
          </p:cNvSpPr>
          <p:nvPr>
            <p:ph idx="1"/>
          </p:nvPr>
        </p:nvSpPr>
        <p:spPr>
          <a:xfrm>
            <a:off x="435895" y="1579959"/>
            <a:ext cx="8272211" cy="4761781"/>
          </a:xfrm>
        </p:spPr>
        <p:txBody>
          <a:bodyPr anchor="t">
            <a:noAutofit/>
          </a:bodyPr>
          <a:lstStyle/>
          <a:p>
            <a:r>
              <a:rPr lang="en-SG" sz="2200" dirty="0">
                <a:ea typeface="SimSun" panose="02010600030101010101" pitchFamily="2" charset="-122"/>
              </a:rPr>
              <a:t>On February 16, 2024, the Supreme Court of Alabama ruled that embryos created through IVF have the same rights as children, including a right not to be killed (</a:t>
            </a:r>
            <a:r>
              <a:rPr lang="en-SG" sz="2200" dirty="0">
                <a:ea typeface="SimSun" panose="02010600030101010101" pitchFamily="2" charset="-122"/>
                <a:hlinkClick r:id="rId3"/>
              </a:rPr>
              <a:t>Sharfstein 2024</a:t>
            </a:r>
            <a:r>
              <a:rPr lang="en-SG" sz="2200" dirty="0">
                <a:ea typeface="SimSun" panose="02010600030101010101" pitchFamily="2" charset="-122"/>
              </a:rPr>
              <a:t>). </a:t>
            </a:r>
          </a:p>
          <a:p>
            <a:endParaRPr lang="en-SG" sz="2200" dirty="0">
              <a:ea typeface="SimSun" panose="02010600030101010101" pitchFamily="2" charset="-122"/>
            </a:endParaRPr>
          </a:p>
          <a:p>
            <a:r>
              <a:rPr lang="en-SG" sz="2200" dirty="0">
                <a:ea typeface="SimSun" panose="02010600030101010101" pitchFamily="2" charset="-122"/>
              </a:rPr>
              <a:t>In response to this decision, fertility clinics in Alabama suspended their IVF services. </a:t>
            </a:r>
          </a:p>
          <a:p>
            <a:endParaRPr lang="en-SG" sz="2200" dirty="0">
              <a:ea typeface="SimSun" panose="02010600030101010101" pitchFamily="2" charset="-122"/>
            </a:endParaRPr>
          </a:p>
          <a:p>
            <a:r>
              <a:rPr lang="en-SG" sz="2200" dirty="0">
                <a:ea typeface="SimSun" panose="02010600030101010101" pitchFamily="2" charset="-122"/>
              </a:rPr>
              <a:t>Then, in March 2024, the Alabama state government passed a law to protect IVF treatments and reassure fertility clinics that they would not be subject to prosecution for destroying embryos in the IVF process</a:t>
            </a:r>
            <a:r>
              <a:rPr lang="en-US" sz="2200" dirty="0">
                <a:ea typeface="SimSun" panose="02010600030101010101" pitchFamily="2" charset="-122"/>
              </a:rPr>
              <a:t>. </a:t>
            </a:r>
          </a:p>
          <a:p>
            <a:endParaRPr lang="en-SG" sz="2200" dirty="0">
              <a:ea typeface="SimSun" panose="02010600030101010101" pitchFamily="2" charset="-122"/>
            </a:endParaRPr>
          </a:p>
          <a:p>
            <a:endParaRPr lang="en-US" sz="2200" dirty="0"/>
          </a:p>
        </p:txBody>
      </p:sp>
      <p:sp>
        <p:nvSpPr>
          <p:cNvPr id="4" name="Footer Placeholder 3">
            <a:extLst>
              <a:ext uri="{FF2B5EF4-FFF2-40B4-BE49-F238E27FC236}">
                <a16:creationId xmlns:a16="http://schemas.microsoft.com/office/drawing/2014/main" id="{53236DD3-7C8E-9C4E-99B9-AE69ACA7D989}"/>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9A899AAC-4769-AD84-2FDB-2B4E5DB41776}"/>
              </a:ext>
            </a:extLst>
          </p:cNvPr>
          <p:cNvSpPr>
            <a:spLocks noGrp="1"/>
          </p:cNvSpPr>
          <p:nvPr>
            <p:ph type="sldNum" sz="quarter" idx="12"/>
          </p:nvPr>
        </p:nvSpPr>
        <p:spPr/>
        <p:txBody>
          <a:bodyPr/>
          <a:lstStyle/>
          <a:p>
            <a:fld id="{3A98EE3D-8CD1-4C3F-BD1C-C98C9596463C}" type="slidenum">
              <a:rPr lang="en-US" sz="1200" smtClean="0"/>
              <a:t>31</a:t>
            </a:fld>
            <a:endParaRPr lang="en-US" sz="1200" dirty="0"/>
          </a:p>
        </p:txBody>
      </p:sp>
    </p:spTree>
    <p:extLst>
      <p:ext uri="{BB962C8B-B14F-4D97-AF65-F5344CB8AC3E}">
        <p14:creationId xmlns:p14="http://schemas.microsoft.com/office/powerpoint/2010/main" val="3639121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18B0D-29DD-FF75-F104-B12471874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FEABF-5948-8CF6-12A9-858371C7C506}"/>
              </a:ext>
            </a:extLst>
          </p:cNvPr>
          <p:cNvSpPr>
            <a:spLocks noGrp="1"/>
          </p:cNvSpPr>
          <p:nvPr>
            <p:ph type="title"/>
          </p:nvPr>
        </p:nvSpPr>
        <p:spPr>
          <a:xfrm>
            <a:off x="453146" y="628782"/>
            <a:ext cx="8272212" cy="721203"/>
          </a:xfrm>
        </p:spPr>
        <p:txBody>
          <a:bodyPr anchor="ctr">
            <a:normAutofit/>
          </a:bodyPr>
          <a:lstStyle/>
          <a:p>
            <a:pPr algn="ctr"/>
            <a:r>
              <a:rPr lang="en-SG" sz="4000" dirty="0"/>
              <a:t>In-vitro fertilization (</a:t>
            </a:r>
            <a:r>
              <a:rPr lang="en-SG" sz="4000" dirty="0" err="1"/>
              <a:t>ivf</a:t>
            </a:r>
            <a:r>
              <a:rPr lang="en-SG" sz="4000" dirty="0"/>
              <a:t>)</a:t>
            </a:r>
          </a:p>
        </p:txBody>
      </p:sp>
      <p:sp>
        <p:nvSpPr>
          <p:cNvPr id="3" name="Content Placeholder 2">
            <a:extLst>
              <a:ext uri="{FF2B5EF4-FFF2-40B4-BE49-F238E27FC236}">
                <a16:creationId xmlns:a16="http://schemas.microsoft.com/office/drawing/2014/main" id="{FC272667-077B-48F7-ECF8-2B8A9C19DDEC}"/>
              </a:ext>
            </a:extLst>
          </p:cNvPr>
          <p:cNvSpPr>
            <a:spLocks noGrp="1"/>
          </p:cNvSpPr>
          <p:nvPr>
            <p:ph idx="1"/>
          </p:nvPr>
        </p:nvSpPr>
        <p:spPr>
          <a:xfrm>
            <a:off x="435895" y="1579959"/>
            <a:ext cx="8272211" cy="4761781"/>
          </a:xfrm>
        </p:spPr>
        <p:txBody>
          <a:bodyPr anchor="t">
            <a:noAutofit/>
          </a:bodyPr>
          <a:lstStyle/>
          <a:p>
            <a:r>
              <a:rPr lang="en-SG" sz="2000" dirty="0">
                <a:ea typeface="SimSun" panose="02010600030101010101" pitchFamily="2" charset="-122"/>
              </a:rPr>
              <a:t>The law passed by the Alabama legislature declares that </a:t>
            </a:r>
            <a:r>
              <a:rPr lang="en-US" sz="2000" dirty="0">
                <a:ea typeface="SimSun" panose="02010600030101010101" pitchFamily="2" charset="-122"/>
              </a:rPr>
              <a:t>“no action, suit, or criminal prosecution for the damage to or death of an embryo shall be brought or maintained against any individual or entity when providing or receiving services related to in vitro fertilization”</a:t>
            </a:r>
            <a:r>
              <a:rPr lang="en-SG" sz="2000" dirty="0">
                <a:ea typeface="SimSun" panose="02010600030101010101" pitchFamily="2" charset="-122"/>
              </a:rPr>
              <a:t> </a:t>
            </a:r>
            <a:r>
              <a:rPr lang="en-US" sz="2000" dirty="0">
                <a:ea typeface="SimSun" panose="02010600030101010101" pitchFamily="2" charset="-122"/>
              </a:rPr>
              <a:t>(</a:t>
            </a:r>
            <a:r>
              <a:rPr lang="en-US" sz="2000" dirty="0">
                <a:ea typeface="SimSun" panose="02010600030101010101" pitchFamily="2" charset="-122"/>
                <a:hlinkClick r:id="rId3"/>
              </a:rPr>
              <a:t>Edelman 2024</a:t>
            </a:r>
            <a:r>
              <a:rPr lang="en-US" sz="2000" dirty="0">
                <a:ea typeface="SimSun" panose="02010600030101010101" pitchFamily="2" charset="-122"/>
              </a:rPr>
              <a:t>).</a:t>
            </a:r>
          </a:p>
          <a:p>
            <a:endParaRPr lang="en-US" sz="2000" dirty="0">
              <a:ea typeface="SimSun" panose="02010600030101010101" pitchFamily="2" charset="-122"/>
            </a:endParaRPr>
          </a:p>
          <a:p>
            <a:r>
              <a:rPr lang="en-US" sz="2000" dirty="0">
                <a:ea typeface="SimSun" panose="02010600030101010101" pitchFamily="2" charset="-122"/>
              </a:rPr>
              <a:t>However, it’s not clear that the Alabama law protecting IVF treatment is consistent with the Alabama Supreme Court’s ruling. </a:t>
            </a:r>
          </a:p>
          <a:p>
            <a:endParaRPr lang="en-US" sz="2000" dirty="0">
              <a:ea typeface="SimSun" panose="02010600030101010101" pitchFamily="2" charset="-122"/>
            </a:endParaRPr>
          </a:p>
          <a:p>
            <a:pPr lvl="1"/>
            <a:r>
              <a:rPr lang="en-US" sz="2000" dirty="0">
                <a:ea typeface="SimSun" panose="02010600030101010101" pitchFamily="2" charset="-122"/>
              </a:rPr>
              <a:t>If, as the Alabama Supreme Court has declared, embryos are children, then Alabama’s law would not give embryos the same protections as other children, which could be a violation of the 14</a:t>
            </a:r>
            <a:r>
              <a:rPr lang="en-US" sz="2000" baseline="30000" dirty="0">
                <a:ea typeface="SimSun" panose="02010600030101010101" pitchFamily="2" charset="-122"/>
              </a:rPr>
              <a:t>th</a:t>
            </a:r>
            <a:r>
              <a:rPr lang="en-US" sz="2000" dirty="0">
                <a:ea typeface="SimSun" panose="02010600030101010101" pitchFamily="2" charset="-122"/>
              </a:rPr>
              <a:t> Amendment of the U.S. Constitution (</a:t>
            </a:r>
            <a:r>
              <a:rPr lang="en-US" sz="2000" dirty="0">
                <a:ea typeface="SimSun" panose="02010600030101010101" pitchFamily="2" charset="-122"/>
                <a:hlinkClick r:id="rId4"/>
              </a:rPr>
              <a:t>Chang et al. 2024</a:t>
            </a:r>
            <a:r>
              <a:rPr lang="en-US" sz="2000" dirty="0">
                <a:ea typeface="SimSun" panose="02010600030101010101" pitchFamily="2" charset="-122"/>
              </a:rPr>
              <a:t>). </a:t>
            </a:r>
          </a:p>
        </p:txBody>
      </p:sp>
      <p:sp>
        <p:nvSpPr>
          <p:cNvPr id="4" name="Footer Placeholder 3">
            <a:extLst>
              <a:ext uri="{FF2B5EF4-FFF2-40B4-BE49-F238E27FC236}">
                <a16:creationId xmlns:a16="http://schemas.microsoft.com/office/drawing/2014/main" id="{9DD1C93F-AAB2-9FDB-0EFC-5E5EBB61C07F}"/>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AE6794F0-F60B-7362-F982-75F9C42C87DE}"/>
              </a:ext>
            </a:extLst>
          </p:cNvPr>
          <p:cNvSpPr>
            <a:spLocks noGrp="1"/>
          </p:cNvSpPr>
          <p:nvPr>
            <p:ph type="sldNum" sz="quarter" idx="12"/>
          </p:nvPr>
        </p:nvSpPr>
        <p:spPr/>
        <p:txBody>
          <a:bodyPr/>
          <a:lstStyle/>
          <a:p>
            <a:fld id="{3A98EE3D-8CD1-4C3F-BD1C-C98C9596463C}" type="slidenum">
              <a:rPr lang="en-US" sz="1200" smtClean="0"/>
              <a:t>32</a:t>
            </a:fld>
            <a:endParaRPr lang="en-US" sz="1200" dirty="0"/>
          </a:p>
        </p:txBody>
      </p:sp>
    </p:spTree>
    <p:extLst>
      <p:ext uri="{BB962C8B-B14F-4D97-AF65-F5344CB8AC3E}">
        <p14:creationId xmlns:p14="http://schemas.microsoft.com/office/powerpoint/2010/main" val="1344757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0C01E-5D9F-DDA3-F419-EEFA28D9E1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F5006-5E82-EC5A-23E5-A9056947D70D}"/>
              </a:ext>
            </a:extLst>
          </p:cNvPr>
          <p:cNvSpPr>
            <a:spLocks noGrp="1"/>
          </p:cNvSpPr>
          <p:nvPr>
            <p:ph type="title"/>
          </p:nvPr>
        </p:nvSpPr>
        <p:spPr>
          <a:xfrm>
            <a:off x="453146" y="628782"/>
            <a:ext cx="8272212" cy="721203"/>
          </a:xfrm>
        </p:spPr>
        <p:txBody>
          <a:bodyPr anchor="ctr">
            <a:normAutofit/>
          </a:bodyPr>
          <a:lstStyle/>
          <a:p>
            <a:pPr algn="ctr"/>
            <a:r>
              <a:rPr lang="en-SG" sz="4000" dirty="0"/>
              <a:t>In-vitro fertilization (</a:t>
            </a:r>
            <a:r>
              <a:rPr lang="en-SG" sz="4000" dirty="0" err="1"/>
              <a:t>ivf</a:t>
            </a:r>
            <a:r>
              <a:rPr lang="en-SG" sz="4000" dirty="0"/>
              <a:t>)</a:t>
            </a:r>
          </a:p>
        </p:txBody>
      </p:sp>
      <p:sp>
        <p:nvSpPr>
          <p:cNvPr id="3" name="Content Placeholder 2">
            <a:extLst>
              <a:ext uri="{FF2B5EF4-FFF2-40B4-BE49-F238E27FC236}">
                <a16:creationId xmlns:a16="http://schemas.microsoft.com/office/drawing/2014/main" id="{24FAEC82-4328-D049-7389-8342BD432462}"/>
              </a:ext>
            </a:extLst>
          </p:cNvPr>
          <p:cNvSpPr>
            <a:spLocks noGrp="1"/>
          </p:cNvSpPr>
          <p:nvPr>
            <p:ph idx="1"/>
          </p:nvPr>
        </p:nvSpPr>
        <p:spPr>
          <a:xfrm>
            <a:off x="435895" y="1579959"/>
            <a:ext cx="8272211" cy="4761781"/>
          </a:xfrm>
        </p:spPr>
        <p:txBody>
          <a:bodyPr anchor="t">
            <a:noAutofit/>
          </a:bodyPr>
          <a:lstStyle/>
          <a:p>
            <a:pPr>
              <a:buFont typeface="Wingdings" panose="05000000000000000000" pitchFamily="2" charset="2"/>
              <a:buChar char="§"/>
            </a:pPr>
            <a:r>
              <a:rPr lang="en-US" sz="2100" b="1" dirty="0">
                <a:solidFill>
                  <a:srgbClr val="FF0000"/>
                </a:solidFill>
                <a:ea typeface="SimSun" panose="02010600030101010101" pitchFamily="2" charset="-122"/>
              </a:rPr>
              <a:t>Small-group discussion: </a:t>
            </a:r>
            <a:r>
              <a:rPr lang="en-US" sz="2100" dirty="0">
                <a:solidFill>
                  <a:srgbClr val="FF0000"/>
                </a:solidFill>
                <a:ea typeface="SimSun" panose="02010600030101010101" pitchFamily="2" charset="-122"/>
              </a:rPr>
              <a:t>Discuss these questions with 1-2 partners.</a:t>
            </a:r>
          </a:p>
          <a:p>
            <a:pPr>
              <a:buFont typeface="Wingdings" panose="05000000000000000000" pitchFamily="2" charset="2"/>
              <a:buChar char="§"/>
            </a:pPr>
            <a:endParaRPr lang="en-US" sz="2100" dirty="0">
              <a:solidFill>
                <a:srgbClr val="FF0000"/>
              </a:solidFill>
              <a:ea typeface="SimSun" panose="02010600030101010101" pitchFamily="2" charset="-122"/>
            </a:endParaRPr>
          </a:p>
          <a:p>
            <a:pPr marL="585900" lvl="1" indent="-342900">
              <a:buFont typeface="+mj-lt"/>
              <a:buAutoNum type="arabicParenR"/>
            </a:pPr>
            <a:r>
              <a:rPr lang="en-US" sz="2100" dirty="0">
                <a:solidFill>
                  <a:srgbClr val="FF0000"/>
                </a:solidFill>
                <a:ea typeface="SimSun" panose="02010600030101010101" pitchFamily="2" charset="-122"/>
              </a:rPr>
              <a:t>Suppose someone argues that it is immoral to destroy frozen human embryos created through in-vitro fertilization (IVF), because these embryos have the potential to be persons with full and equal moral rights. Do you agree? Explain.  </a:t>
            </a:r>
          </a:p>
          <a:p>
            <a:pPr marL="445500" lvl="2" indent="0">
              <a:buNone/>
            </a:pPr>
            <a:r>
              <a:rPr lang="en-US" sz="2100" dirty="0">
                <a:solidFill>
                  <a:srgbClr val="FF0000"/>
                </a:solidFill>
                <a:ea typeface="SimSun" panose="02010600030101010101" pitchFamily="2" charset="-122"/>
              </a:rPr>
              <a:t> </a:t>
            </a:r>
          </a:p>
          <a:p>
            <a:pPr marL="585900" lvl="1" indent="-342900">
              <a:buFont typeface="+mj-lt"/>
              <a:buAutoNum type="arabicParenR"/>
            </a:pPr>
            <a:r>
              <a:rPr kumimoji="0" lang="en-US" sz="2100" b="0" i="0" u="none" strike="noStrike" kern="1200" cap="none" spc="0" normalizeH="0" baseline="0" noProof="0" dirty="0">
                <a:ln>
                  <a:noFill/>
                </a:ln>
                <a:solidFill>
                  <a:srgbClr val="FF0000"/>
                </a:solidFill>
                <a:effectLst/>
                <a:uLnTx/>
                <a:uFillTx/>
                <a:latin typeface="Franklin Gothic Book" panose="020B0503020102020204"/>
                <a:ea typeface="SimSun" panose="02010600030101010101" pitchFamily="2" charset="-122"/>
                <a:cs typeface="+mn-cs"/>
              </a:rPr>
              <a:t>Discuss whether you agree with the following statement: </a:t>
            </a:r>
          </a:p>
          <a:p>
            <a:pPr marL="585900" lvl="1" indent="-342900">
              <a:buFont typeface="+mj-lt"/>
              <a:buAutoNum type="arabicParenR"/>
            </a:pPr>
            <a:endParaRPr lang="en-US" sz="2100" dirty="0">
              <a:solidFill>
                <a:srgbClr val="FF0000"/>
              </a:solidFill>
              <a:latin typeface="Franklin Gothic Book" panose="020B0503020102020204"/>
              <a:ea typeface="SimSun" panose="02010600030101010101" pitchFamily="2" charset="-122"/>
            </a:endParaRPr>
          </a:p>
          <a:p>
            <a:pPr marL="702000" lvl="3" indent="0">
              <a:buNone/>
            </a:pPr>
            <a:r>
              <a:rPr kumimoji="0" lang="en-US" sz="2100" b="1" i="0" u="none" strike="noStrike" kern="1200" cap="none" spc="0" normalizeH="0" baseline="0" noProof="0" dirty="0">
                <a:ln>
                  <a:noFill/>
                </a:ln>
                <a:solidFill>
                  <a:srgbClr val="FF0000"/>
                </a:solidFill>
                <a:effectLst/>
                <a:uLnTx/>
                <a:uFillTx/>
                <a:latin typeface="Franklin Gothic Book" panose="020B0503020102020204"/>
                <a:ea typeface="SimSun" panose="02010600030101010101" pitchFamily="2" charset="-122"/>
                <a:cs typeface="+mn-cs"/>
              </a:rPr>
              <a:t>If it’s morally permissible to destroy a “spare” embryo conceived through IVF, then it’s also morally </a:t>
            </a:r>
            <a:r>
              <a:rPr lang="en-US" sz="2100" b="1" dirty="0">
                <a:solidFill>
                  <a:srgbClr val="FF0000"/>
                </a:solidFill>
                <a:latin typeface="Franklin Gothic Book" panose="020B0503020102020204"/>
                <a:ea typeface="SimSun" panose="02010600030101010101" pitchFamily="2" charset="-122"/>
              </a:rPr>
              <a:t>permissible</a:t>
            </a:r>
            <a:r>
              <a:rPr lang="en-US" sz="2100" dirty="0">
                <a:solidFill>
                  <a:srgbClr val="FF0000"/>
                </a:solidFill>
                <a:latin typeface="Franklin Gothic Book" panose="020B0503020102020204"/>
              </a:rPr>
              <a:t> </a:t>
            </a:r>
            <a:r>
              <a:rPr kumimoji="0" lang="en-US" sz="2100" b="1" i="0" u="none" strike="noStrike" kern="1200" cap="none" spc="0" normalizeH="0" baseline="0" noProof="0" dirty="0">
                <a:ln>
                  <a:noFill/>
                </a:ln>
                <a:solidFill>
                  <a:srgbClr val="FF0000"/>
                </a:solidFill>
                <a:effectLst/>
                <a:uLnTx/>
                <a:uFillTx/>
                <a:latin typeface="Franklin Gothic Book" panose="020B0503020102020204"/>
                <a:ea typeface="SimSun" panose="02010600030101010101" pitchFamily="2" charset="-122"/>
                <a:cs typeface="+mn-cs"/>
              </a:rPr>
              <a:t>to abort an embryo conceived through sex. </a:t>
            </a:r>
            <a:endParaRPr lang="en-US" sz="2100" dirty="0">
              <a:solidFill>
                <a:srgbClr val="FF0000"/>
              </a:solidFill>
              <a:ea typeface="SimSun" panose="02010600030101010101" pitchFamily="2" charset="-122"/>
            </a:endParaRPr>
          </a:p>
          <a:p>
            <a:pPr>
              <a:buFont typeface="Wingdings" panose="05000000000000000000" pitchFamily="2" charset="2"/>
              <a:buChar char="§"/>
            </a:pPr>
            <a:endParaRPr lang="en-US" sz="2100" dirty="0">
              <a:solidFill>
                <a:srgbClr val="FF0000"/>
              </a:solidFill>
              <a:ea typeface="SimSun" panose="02010600030101010101" pitchFamily="2" charset="-122"/>
            </a:endParaRPr>
          </a:p>
        </p:txBody>
      </p:sp>
      <p:sp>
        <p:nvSpPr>
          <p:cNvPr id="4" name="Footer Placeholder 3">
            <a:extLst>
              <a:ext uri="{FF2B5EF4-FFF2-40B4-BE49-F238E27FC236}">
                <a16:creationId xmlns:a16="http://schemas.microsoft.com/office/drawing/2014/main" id="{889ABF98-C1E9-17C6-FB25-E70C21BE624E}"/>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4728AEE-13B1-8A6A-6DB7-F5E7403A302A}"/>
              </a:ext>
            </a:extLst>
          </p:cNvPr>
          <p:cNvSpPr>
            <a:spLocks noGrp="1"/>
          </p:cNvSpPr>
          <p:nvPr>
            <p:ph type="sldNum" sz="quarter" idx="12"/>
          </p:nvPr>
        </p:nvSpPr>
        <p:spPr/>
        <p:txBody>
          <a:bodyPr/>
          <a:lstStyle/>
          <a:p>
            <a:fld id="{3A98EE3D-8CD1-4C3F-BD1C-C98C9596463C}" type="slidenum">
              <a:rPr lang="en-US" sz="1200" smtClean="0"/>
              <a:t>33</a:t>
            </a:fld>
            <a:endParaRPr lang="en-US" sz="1200" dirty="0"/>
          </a:p>
        </p:txBody>
      </p:sp>
    </p:spTree>
    <p:extLst>
      <p:ext uri="{BB962C8B-B14F-4D97-AF65-F5344CB8AC3E}">
        <p14:creationId xmlns:p14="http://schemas.microsoft.com/office/powerpoint/2010/main" val="908548245"/>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{8EBEEEC9-7332-4765-9766-770B57008EDA}tf33552983_win32</Template>
  <TotalTime>2640</TotalTime>
  <Words>5891</Words>
  <Application>Microsoft Office PowerPoint</Application>
  <PresentationFormat>On-screen Show (4:3)</PresentationFormat>
  <Paragraphs>412</Paragraphs>
  <Slides>33</Slides>
  <Notes>33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SimSun</vt:lpstr>
      <vt:lpstr>Arial</vt:lpstr>
      <vt:lpstr>Calibri</vt:lpstr>
      <vt:lpstr>Franklin Gothic Book</vt:lpstr>
      <vt:lpstr>Franklin Gothic Demi</vt:lpstr>
      <vt:lpstr>Roboto Mono Web</vt:lpstr>
      <vt:lpstr>Wingdings</vt:lpstr>
      <vt:lpstr>Wingdings 2</vt:lpstr>
      <vt:lpstr>DividendVTI</vt:lpstr>
      <vt:lpstr>Week 10 (10/22): abortion </vt:lpstr>
      <vt:lpstr>Objectives for today</vt:lpstr>
      <vt:lpstr>Warren on abortion</vt:lpstr>
      <vt:lpstr>Warren on abortion</vt:lpstr>
      <vt:lpstr>Are fetuses “persons”?</vt:lpstr>
      <vt:lpstr>Are fetuses “persons”?</vt:lpstr>
      <vt:lpstr>Are fetuses “persons”?</vt:lpstr>
      <vt:lpstr>Are fetuses “persons”?</vt:lpstr>
      <vt:lpstr>Are fetuses “persons”?</vt:lpstr>
      <vt:lpstr>Are fetuses “persons”?</vt:lpstr>
      <vt:lpstr>Are fetuses “persons”?</vt:lpstr>
      <vt:lpstr>Are fetuses “persons”?</vt:lpstr>
      <vt:lpstr>Are fetuses “persons”?</vt:lpstr>
      <vt:lpstr>Are fetuses “persons”?</vt:lpstr>
      <vt:lpstr>Are fetuses “persons”?</vt:lpstr>
      <vt:lpstr>Are fetuses “persons”?</vt:lpstr>
      <vt:lpstr>Are fetuses “persons”?</vt:lpstr>
      <vt:lpstr>Are fetuses “persons”?</vt:lpstr>
      <vt:lpstr>Are fetuses “persons”?</vt:lpstr>
      <vt:lpstr>Warren in summary</vt:lpstr>
      <vt:lpstr>Infanticide objection</vt:lpstr>
      <vt:lpstr>Infanticide objection</vt:lpstr>
      <vt:lpstr>Warren on potentiality</vt:lpstr>
      <vt:lpstr>Warren on potentiality</vt:lpstr>
      <vt:lpstr>Warren on potentiality</vt:lpstr>
      <vt:lpstr>Shafer-landau on potentiality</vt:lpstr>
      <vt:lpstr>Shafer-landau on potentiality</vt:lpstr>
      <vt:lpstr>Shafer-landau on potentiality</vt:lpstr>
      <vt:lpstr>Shafer-landau on potentiality</vt:lpstr>
      <vt:lpstr>In-vitro fertilization (ivf)</vt:lpstr>
      <vt:lpstr>In-vitro fertilization (ivf)</vt:lpstr>
      <vt:lpstr>In-vitro fertilization (ivf)</vt:lpstr>
      <vt:lpstr>In-vitro fertilization (ivf)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12 (10/30): abortion</dc:title>
  <dc:creator>Andres Luco</dc:creator>
  <cp:lastModifiedBy>Andres Luco</cp:lastModifiedBy>
  <cp:revision>136</cp:revision>
  <dcterms:created xsi:type="dcterms:W3CDTF">2023-11-09T21:27:12Z</dcterms:created>
  <dcterms:modified xsi:type="dcterms:W3CDTF">2025-10-30T04:15:09Z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