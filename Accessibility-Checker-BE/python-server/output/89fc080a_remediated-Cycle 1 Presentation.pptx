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307" r:id="rId5"/>
    <p:sldId id="2647" r:id="rId6"/>
    <p:sldId id="2648" r:id="rId7"/>
    <p:sldId id="2649" r:id="rId8"/>
    <p:sldId id="2650" r:id="rId9"/>
    <p:sldId id="2652" r:id="rId10"/>
    <p:sldId id="2658" r:id="rId11"/>
    <p:sldId id="2659" r:id="rId12"/>
    <p:sldId id="2654" r:id="rId13"/>
    <p:sldId id="2660" r:id="rId14"/>
    <p:sldId id="2661" r:id="rId15"/>
    <p:sldId id="2662" r:id="rId16"/>
    <p:sldId id="2663" r:id="rId17"/>
    <p:sldId id="2664" r:id="rId18"/>
    <p:sldId id="265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5D638D-6BC0-C4AF-E5CA-B3B6A2807C7A}" v="126" dt="2026-02-27T05:35:32.976"/>
    <p1510:client id="{96E8EBDF-9AD5-BAA7-C1D7-CED1E8C88245}" v="18" dt="2026-02-27T16:55:05.436"/>
    <p1510:client id="{FF1F4306-DCA5-1742-8EEF-D1070CC8A7D8}" v="34" dt="2026-02-27T05:20:05.3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CA12F-0028-40C6-AB54-92CCCEED2C69}" type="datetimeFigureOut">
              <a:rPr lang="en-US" smtClean="0"/>
              <a:t>2/27/2026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A40174-A010-4683-A301-945D17EA4143}" type="slidenum">
              <a:rPr lang="en-US" smtClean="0"/>
              <a:t>‹#›</a:t>
            </a:fld>
            <a:endParaRPr lang="en-US"/>
          </a:p>
        </p:txBody>
      </p:sp>
    </p:spTree>
    <p:extLst>
      <p:ext uri="{BB962C8B-B14F-4D97-AF65-F5344CB8AC3E}">
        <p14:creationId xmlns:p14="http://schemas.microsoft.com/office/powerpoint/2010/main" val="2220618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829EC-DE49-E01F-6CD6-09B175790B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3A464B-5098-460E-2983-19A69B205F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A4BB58-7F18-B426-B12C-C20284324A99}"/>
              </a:ext>
            </a:extLst>
          </p:cNvPr>
          <p:cNvSpPr>
            <a:spLocks noGrp="1"/>
          </p:cNvSpPr>
          <p:nvPr>
            <p:ph type="dt" sz="half" idx="10"/>
          </p:nvPr>
        </p:nvSpPr>
        <p:spPr/>
        <p:txBody>
          <a:bodyPr/>
          <a:lstStyle/>
          <a:p>
            <a:fld id="{DBC0B459-A6EB-42A5-A77B-4F0CB4AE8D88}" type="datetimeFigureOut">
              <a:rPr lang="en-US" smtClean="0"/>
              <a:t>2/27/2026</a:t>
            </a:fld>
            <a:endParaRPr lang="en-US"/>
          </a:p>
        </p:txBody>
      </p:sp>
      <p:sp>
        <p:nvSpPr>
          <p:cNvPr id="5" name="Footer Placeholder 4">
            <a:extLst>
              <a:ext uri="{FF2B5EF4-FFF2-40B4-BE49-F238E27FC236}">
                <a16:creationId xmlns:a16="http://schemas.microsoft.com/office/drawing/2014/main" id="{2EDC7777-7ED3-B394-694B-D2C9A355AF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D71B0E-FAD6-64BB-C137-B74B1560CE7A}"/>
              </a:ext>
            </a:extLst>
          </p:cNvPr>
          <p:cNvSpPr>
            <a:spLocks noGrp="1"/>
          </p:cNvSpPr>
          <p:nvPr>
            <p:ph type="sldNum" sz="quarter" idx="12"/>
          </p:nvPr>
        </p:nvSpPr>
        <p:spPr/>
        <p:txBody>
          <a:bodyPr/>
          <a:lstStyle/>
          <a:p>
            <a:fld id="{86225CEC-27C1-45F0-BDDB-28AD9036787D}" type="slidenum">
              <a:rPr lang="en-US" smtClean="0"/>
              <a:t>‹#›</a:t>
            </a:fld>
            <a:endParaRPr lang="en-US"/>
          </a:p>
        </p:txBody>
      </p:sp>
    </p:spTree>
    <p:extLst>
      <p:ext uri="{BB962C8B-B14F-4D97-AF65-F5344CB8AC3E}">
        <p14:creationId xmlns:p14="http://schemas.microsoft.com/office/powerpoint/2010/main" val="35208994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F3A79-70BC-D9D1-CF9E-987742AC65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B9CF8F-BE8F-7A41-3910-69F34D198E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5F1A6C-2FA6-F7B9-3948-66BEDE177024}"/>
              </a:ext>
            </a:extLst>
          </p:cNvPr>
          <p:cNvSpPr>
            <a:spLocks noGrp="1"/>
          </p:cNvSpPr>
          <p:nvPr>
            <p:ph type="dt" sz="half" idx="10"/>
          </p:nvPr>
        </p:nvSpPr>
        <p:spPr/>
        <p:txBody>
          <a:bodyPr/>
          <a:lstStyle/>
          <a:p>
            <a:fld id="{DBC0B459-A6EB-42A5-A77B-4F0CB4AE8D88}" type="datetimeFigureOut">
              <a:rPr lang="en-US" smtClean="0"/>
              <a:t>2/27/2026</a:t>
            </a:fld>
            <a:endParaRPr lang="en-US"/>
          </a:p>
        </p:txBody>
      </p:sp>
      <p:sp>
        <p:nvSpPr>
          <p:cNvPr id="5" name="Footer Placeholder 4">
            <a:extLst>
              <a:ext uri="{FF2B5EF4-FFF2-40B4-BE49-F238E27FC236}">
                <a16:creationId xmlns:a16="http://schemas.microsoft.com/office/drawing/2014/main" id="{78C5D559-1F6C-634C-510D-56BE69B057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EC2609-3C5E-EBE5-EF3B-3EE3069CBF68}"/>
              </a:ext>
            </a:extLst>
          </p:cNvPr>
          <p:cNvSpPr>
            <a:spLocks noGrp="1"/>
          </p:cNvSpPr>
          <p:nvPr>
            <p:ph type="sldNum" sz="quarter" idx="12"/>
          </p:nvPr>
        </p:nvSpPr>
        <p:spPr/>
        <p:txBody>
          <a:bodyPr/>
          <a:lstStyle/>
          <a:p>
            <a:fld id="{86225CEC-27C1-45F0-BDDB-28AD9036787D}" type="slidenum">
              <a:rPr lang="en-US" smtClean="0"/>
              <a:t>‹#›</a:t>
            </a:fld>
            <a:endParaRPr lang="en-US"/>
          </a:p>
        </p:txBody>
      </p:sp>
    </p:spTree>
    <p:extLst>
      <p:ext uri="{BB962C8B-B14F-4D97-AF65-F5344CB8AC3E}">
        <p14:creationId xmlns:p14="http://schemas.microsoft.com/office/powerpoint/2010/main" val="3773665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66D34-8ED5-ADAE-5ADB-2E82476C9D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DB4E181-9A51-8E00-7C51-B30E4E99F09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061E10-0406-E408-2C4C-0813B44436AC}"/>
              </a:ext>
            </a:extLst>
          </p:cNvPr>
          <p:cNvSpPr>
            <a:spLocks noGrp="1"/>
          </p:cNvSpPr>
          <p:nvPr>
            <p:ph type="dt" sz="half" idx="10"/>
          </p:nvPr>
        </p:nvSpPr>
        <p:spPr/>
        <p:txBody>
          <a:bodyPr/>
          <a:lstStyle/>
          <a:p>
            <a:fld id="{DBC0B459-A6EB-42A5-A77B-4F0CB4AE8D88}" type="datetimeFigureOut">
              <a:rPr lang="en-US" smtClean="0"/>
              <a:t>2/27/2026</a:t>
            </a:fld>
            <a:endParaRPr lang="en-US"/>
          </a:p>
        </p:txBody>
      </p:sp>
      <p:sp>
        <p:nvSpPr>
          <p:cNvPr id="5" name="Footer Placeholder 4">
            <a:extLst>
              <a:ext uri="{FF2B5EF4-FFF2-40B4-BE49-F238E27FC236}">
                <a16:creationId xmlns:a16="http://schemas.microsoft.com/office/drawing/2014/main" id="{A448E0AA-BAB6-4BEE-9DF4-015A4670A0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E1A32B-112C-1BBE-3BF3-2694FA3CBDAD}"/>
              </a:ext>
            </a:extLst>
          </p:cNvPr>
          <p:cNvSpPr>
            <a:spLocks noGrp="1"/>
          </p:cNvSpPr>
          <p:nvPr>
            <p:ph type="sldNum" sz="quarter" idx="12"/>
          </p:nvPr>
        </p:nvSpPr>
        <p:spPr/>
        <p:txBody>
          <a:bodyPr/>
          <a:lstStyle/>
          <a:p>
            <a:fld id="{86225CEC-27C1-45F0-BDDB-28AD9036787D}" type="slidenum">
              <a:rPr lang="en-US" smtClean="0"/>
              <a:t>‹#›</a:t>
            </a:fld>
            <a:endParaRPr lang="en-US"/>
          </a:p>
        </p:txBody>
      </p:sp>
    </p:spTree>
    <p:extLst>
      <p:ext uri="{BB962C8B-B14F-4D97-AF65-F5344CB8AC3E}">
        <p14:creationId xmlns:p14="http://schemas.microsoft.com/office/powerpoint/2010/main" val="4171050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7179C-80FC-5304-4C6E-5E35769E9F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6060CE-7F40-24BF-DD25-AB65700195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FDE573-9674-A411-1A6E-18DCDE5EBC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10C0AE0-DFF5-57DF-0EA8-6B9D5B2A447C}"/>
              </a:ext>
            </a:extLst>
          </p:cNvPr>
          <p:cNvSpPr>
            <a:spLocks noGrp="1"/>
          </p:cNvSpPr>
          <p:nvPr>
            <p:ph type="dt" sz="half" idx="10"/>
          </p:nvPr>
        </p:nvSpPr>
        <p:spPr/>
        <p:txBody>
          <a:bodyPr/>
          <a:lstStyle/>
          <a:p>
            <a:fld id="{DBC0B459-A6EB-42A5-A77B-4F0CB4AE8D88}" type="datetimeFigureOut">
              <a:rPr lang="en-US" smtClean="0"/>
              <a:t>2/27/2026</a:t>
            </a:fld>
            <a:endParaRPr lang="en-US"/>
          </a:p>
        </p:txBody>
      </p:sp>
      <p:sp>
        <p:nvSpPr>
          <p:cNvPr id="6" name="Footer Placeholder 5">
            <a:extLst>
              <a:ext uri="{FF2B5EF4-FFF2-40B4-BE49-F238E27FC236}">
                <a16:creationId xmlns:a16="http://schemas.microsoft.com/office/drawing/2014/main" id="{7AFFFF67-AC03-A785-DAFB-5CF83FDEE0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D5D88D-0881-3C94-5463-776A4A194391}"/>
              </a:ext>
            </a:extLst>
          </p:cNvPr>
          <p:cNvSpPr>
            <a:spLocks noGrp="1"/>
          </p:cNvSpPr>
          <p:nvPr>
            <p:ph type="sldNum" sz="quarter" idx="12"/>
          </p:nvPr>
        </p:nvSpPr>
        <p:spPr/>
        <p:txBody>
          <a:bodyPr/>
          <a:lstStyle/>
          <a:p>
            <a:fld id="{86225CEC-27C1-45F0-BDDB-28AD9036787D}" type="slidenum">
              <a:rPr lang="en-US" smtClean="0"/>
              <a:t>‹#›</a:t>
            </a:fld>
            <a:endParaRPr lang="en-US"/>
          </a:p>
        </p:txBody>
      </p:sp>
    </p:spTree>
    <p:extLst>
      <p:ext uri="{BB962C8B-B14F-4D97-AF65-F5344CB8AC3E}">
        <p14:creationId xmlns:p14="http://schemas.microsoft.com/office/powerpoint/2010/main" val="3022376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B9FF0-28F1-62A6-13CB-921885FB6C7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8FD799-61D4-12B3-81AC-619981F545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991FA2-474F-4100-C8A4-0A167F6845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C40857-9DF4-DD24-1D8A-7D22101B17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172D39-AE49-486F-B4C8-97F95AC50D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6AC3DD-D3E3-33DF-0F06-D104504AC6E3}"/>
              </a:ext>
            </a:extLst>
          </p:cNvPr>
          <p:cNvSpPr>
            <a:spLocks noGrp="1"/>
          </p:cNvSpPr>
          <p:nvPr>
            <p:ph type="dt" sz="half" idx="10"/>
          </p:nvPr>
        </p:nvSpPr>
        <p:spPr/>
        <p:txBody>
          <a:bodyPr/>
          <a:lstStyle/>
          <a:p>
            <a:fld id="{DBC0B459-A6EB-42A5-A77B-4F0CB4AE8D88}" type="datetimeFigureOut">
              <a:rPr lang="en-US" smtClean="0"/>
              <a:t>2/27/2026</a:t>
            </a:fld>
            <a:endParaRPr lang="en-US"/>
          </a:p>
        </p:txBody>
      </p:sp>
      <p:sp>
        <p:nvSpPr>
          <p:cNvPr id="8" name="Footer Placeholder 7">
            <a:extLst>
              <a:ext uri="{FF2B5EF4-FFF2-40B4-BE49-F238E27FC236}">
                <a16:creationId xmlns:a16="http://schemas.microsoft.com/office/drawing/2014/main" id="{0DC13010-A110-8A8F-46B5-1EC229B616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FE0FA1-44D0-D7B8-8235-E24EE1BE2D84}"/>
              </a:ext>
            </a:extLst>
          </p:cNvPr>
          <p:cNvSpPr>
            <a:spLocks noGrp="1"/>
          </p:cNvSpPr>
          <p:nvPr>
            <p:ph type="sldNum" sz="quarter" idx="12"/>
          </p:nvPr>
        </p:nvSpPr>
        <p:spPr/>
        <p:txBody>
          <a:bodyPr/>
          <a:lstStyle/>
          <a:p>
            <a:fld id="{86225CEC-27C1-45F0-BDDB-28AD9036787D}" type="slidenum">
              <a:rPr lang="en-US" smtClean="0"/>
              <a:t>‹#›</a:t>
            </a:fld>
            <a:endParaRPr lang="en-US"/>
          </a:p>
        </p:txBody>
      </p:sp>
    </p:spTree>
    <p:extLst>
      <p:ext uri="{BB962C8B-B14F-4D97-AF65-F5344CB8AC3E}">
        <p14:creationId xmlns:p14="http://schemas.microsoft.com/office/powerpoint/2010/main" val="321837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6B40A-24AC-6BC1-D287-5D96DF8D46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099BED-C0A6-6A6D-DC87-2B8143D88B0E}"/>
              </a:ext>
            </a:extLst>
          </p:cNvPr>
          <p:cNvSpPr>
            <a:spLocks noGrp="1"/>
          </p:cNvSpPr>
          <p:nvPr>
            <p:ph type="dt" sz="half" idx="10"/>
          </p:nvPr>
        </p:nvSpPr>
        <p:spPr/>
        <p:txBody>
          <a:bodyPr/>
          <a:lstStyle/>
          <a:p>
            <a:fld id="{DBC0B459-A6EB-42A5-A77B-4F0CB4AE8D88}" type="datetimeFigureOut">
              <a:rPr lang="en-US" smtClean="0"/>
              <a:t>2/27/2026</a:t>
            </a:fld>
            <a:endParaRPr lang="en-US"/>
          </a:p>
        </p:txBody>
      </p:sp>
      <p:sp>
        <p:nvSpPr>
          <p:cNvPr id="4" name="Footer Placeholder 3">
            <a:extLst>
              <a:ext uri="{FF2B5EF4-FFF2-40B4-BE49-F238E27FC236}">
                <a16:creationId xmlns:a16="http://schemas.microsoft.com/office/drawing/2014/main" id="{BEEE90A4-C517-E3D2-ADB8-71A6D6FA44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AF6B87-63FD-0389-BFC6-C9A209A18D42}"/>
              </a:ext>
            </a:extLst>
          </p:cNvPr>
          <p:cNvSpPr>
            <a:spLocks noGrp="1"/>
          </p:cNvSpPr>
          <p:nvPr>
            <p:ph type="sldNum" sz="quarter" idx="12"/>
          </p:nvPr>
        </p:nvSpPr>
        <p:spPr/>
        <p:txBody>
          <a:bodyPr/>
          <a:lstStyle/>
          <a:p>
            <a:fld id="{86225CEC-27C1-45F0-BDDB-28AD9036787D}" type="slidenum">
              <a:rPr lang="en-US" smtClean="0"/>
              <a:t>‹#›</a:t>
            </a:fld>
            <a:endParaRPr lang="en-US"/>
          </a:p>
        </p:txBody>
      </p:sp>
    </p:spTree>
    <p:extLst>
      <p:ext uri="{BB962C8B-B14F-4D97-AF65-F5344CB8AC3E}">
        <p14:creationId xmlns:p14="http://schemas.microsoft.com/office/powerpoint/2010/main" val="3843457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E728FD-1D95-0CCE-B39B-42EDC47F16E3}"/>
              </a:ext>
            </a:extLst>
          </p:cNvPr>
          <p:cNvSpPr>
            <a:spLocks noGrp="1"/>
          </p:cNvSpPr>
          <p:nvPr>
            <p:ph type="dt" sz="half" idx="10"/>
          </p:nvPr>
        </p:nvSpPr>
        <p:spPr/>
        <p:txBody>
          <a:bodyPr/>
          <a:lstStyle/>
          <a:p>
            <a:fld id="{DBC0B459-A6EB-42A5-A77B-4F0CB4AE8D88}" type="datetimeFigureOut">
              <a:rPr lang="en-US" smtClean="0"/>
              <a:t>2/27/2026</a:t>
            </a:fld>
            <a:endParaRPr lang="en-US"/>
          </a:p>
        </p:txBody>
      </p:sp>
      <p:sp>
        <p:nvSpPr>
          <p:cNvPr id="3" name="Footer Placeholder 2">
            <a:extLst>
              <a:ext uri="{FF2B5EF4-FFF2-40B4-BE49-F238E27FC236}">
                <a16:creationId xmlns:a16="http://schemas.microsoft.com/office/drawing/2014/main" id="{6BF6BBA5-0295-55D0-D37B-28C0D9B3E63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046210-4BE2-A110-920C-FC28ED758D1C}"/>
              </a:ext>
            </a:extLst>
          </p:cNvPr>
          <p:cNvSpPr>
            <a:spLocks noGrp="1"/>
          </p:cNvSpPr>
          <p:nvPr>
            <p:ph type="sldNum" sz="quarter" idx="12"/>
          </p:nvPr>
        </p:nvSpPr>
        <p:spPr/>
        <p:txBody>
          <a:bodyPr/>
          <a:lstStyle/>
          <a:p>
            <a:fld id="{86225CEC-27C1-45F0-BDDB-28AD9036787D}" type="slidenum">
              <a:rPr lang="en-US" smtClean="0"/>
              <a:t>‹#›</a:t>
            </a:fld>
            <a:endParaRPr lang="en-US"/>
          </a:p>
        </p:txBody>
      </p:sp>
    </p:spTree>
    <p:extLst>
      <p:ext uri="{BB962C8B-B14F-4D97-AF65-F5344CB8AC3E}">
        <p14:creationId xmlns:p14="http://schemas.microsoft.com/office/powerpoint/2010/main" val="3084872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67C54-44E4-DB87-05E0-072F1C6B13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D1D11B4-129F-5C4F-74EE-2871244CA3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F21181-27ED-7A62-CB5D-CEB741F04F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48B680-9D8E-C068-39A3-C60735713182}"/>
              </a:ext>
            </a:extLst>
          </p:cNvPr>
          <p:cNvSpPr>
            <a:spLocks noGrp="1"/>
          </p:cNvSpPr>
          <p:nvPr>
            <p:ph type="dt" sz="half" idx="10"/>
          </p:nvPr>
        </p:nvSpPr>
        <p:spPr/>
        <p:txBody>
          <a:bodyPr/>
          <a:lstStyle/>
          <a:p>
            <a:fld id="{DBC0B459-A6EB-42A5-A77B-4F0CB4AE8D88}" type="datetimeFigureOut">
              <a:rPr lang="en-US" smtClean="0"/>
              <a:t>2/27/2026</a:t>
            </a:fld>
            <a:endParaRPr lang="en-US"/>
          </a:p>
        </p:txBody>
      </p:sp>
      <p:sp>
        <p:nvSpPr>
          <p:cNvPr id="6" name="Footer Placeholder 5">
            <a:extLst>
              <a:ext uri="{FF2B5EF4-FFF2-40B4-BE49-F238E27FC236}">
                <a16:creationId xmlns:a16="http://schemas.microsoft.com/office/drawing/2014/main" id="{434F2B32-9AB9-CD5A-6DE9-11C4B3E53B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9CF3ED-9FD0-3BC1-E200-65B45930A396}"/>
              </a:ext>
            </a:extLst>
          </p:cNvPr>
          <p:cNvSpPr>
            <a:spLocks noGrp="1"/>
          </p:cNvSpPr>
          <p:nvPr>
            <p:ph type="sldNum" sz="quarter" idx="12"/>
          </p:nvPr>
        </p:nvSpPr>
        <p:spPr/>
        <p:txBody>
          <a:bodyPr/>
          <a:lstStyle/>
          <a:p>
            <a:fld id="{86225CEC-27C1-45F0-BDDB-28AD9036787D}" type="slidenum">
              <a:rPr lang="en-US" smtClean="0"/>
              <a:t>‹#›</a:t>
            </a:fld>
            <a:endParaRPr lang="en-US"/>
          </a:p>
        </p:txBody>
      </p:sp>
    </p:spTree>
    <p:extLst>
      <p:ext uri="{BB962C8B-B14F-4D97-AF65-F5344CB8AC3E}">
        <p14:creationId xmlns:p14="http://schemas.microsoft.com/office/powerpoint/2010/main" val="2577157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76D87-433D-3EBF-536C-03B0FC1790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4E0398-0254-070C-F54C-13294C7782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B7F19E-B8A5-01BF-272D-BF1500AC4E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3ECC6B-880C-52C0-29D3-985FB0DD3E42}"/>
              </a:ext>
            </a:extLst>
          </p:cNvPr>
          <p:cNvSpPr>
            <a:spLocks noGrp="1"/>
          </p:cNvSpPr>
          <p:nvPr>
            <p:ph type="dt" sz="half" idx="10"/>
          </p:nvPr>
        </p:nvSpPr>
        <p:spPr/>
        <p:txBody>
          <a:bodyPr/>
          <a:lstStyle/>
          <a:p>
            <a:fld id="{DBC0B459-A6EB-42A5-A77B-4F0CB4AE8D88}" type="datetimeFigureOut">
              <a:rPr lang="en-US" smtClean="0"/>
              <a:t>2/27/2026</a:t>
            </a:fld>
            <a:endParaRPr lang="en-US"/>
          </a:p>
        </p:txBody>
      </p:sp>
      <p:sp>
        <p:nvSpPr>
          <p:cNvPr id="6" name="Footer Placeholder 5">
            <a:extLst>
              <a:ext uri="{FF2B5EF4-FFF2-40B4-BE49-F238E27FC236}">
                <a16:creationId xmlns:a16="http://schemas.microsoft.com/office/drawing/2014/main" id="{4D3621BB-770B-2E60-B129-F198AF30E5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7D909-A065-7FCA-DB31-1FF39264FCC3}"/>
              </a:ext>
            </a:extLst>
          </p:cNvPr>
          <p:cNvSpPr>
            <a:spLocks noGrp="1"/>
          </p:cNvSpPr>
          <p:nvPr>
            <p:ph type="sldNum" sz="quarter" idx="12"/>
          </p:nvPr>
        </p:nvSpPr>
        <p:spPr/>
        <p:txBody>
          <a:bodyPr/>
          <a:lstStyle/>
          <a:p>
            <a:fld id="{86225CEC-27C1-45F0-BDDB-28AD9036787D}" type="slidenum">
              <a:rPr lang="en-US" smtClean="0"/>
              <a:t>‹#›</a:t>
            </a:fld>
            <a:endParaRPr lang="en-US"/>
          </a:p>
        </p:txBody>
      </p:sp>
    </p:spTree>
    <p:extLst>
      <p:ext uri="{BB962C8B-B14F-4D97-AF65-F5344CB8AC3E}">
        <p14:creationId xmlns:p14="http://schemas.microsoft.com/office/powerpoint/2010/main" val="3029039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96466-6A52-97EA-BCEB-5DAF010DDEF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C8B2A95-0436-1936-2EEA-B2579477E3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6A3B5F-9A2D-1D83-F4C6-D65CB0F7A71E}"/>
              </a:ext>
            </a:extLst>
          </p:cNvPr>
          <p:cNvSpPr>
            <a:spLocks noGrp="1"/>
          </p:cNvSpPr>
          <p:nvPr>
            <p:ph type="dt" sz="half" idx="10"/>
          </p:nvPr>
        </p:nvSpPr>
        <p:spPr/>
        <p:txBody>
          <a:bodyPr/>
          <a:lstStyle/>
          <a:p>
            <a:fld id="{DBC0B459-A6EB-42A5-A77B-4F0CB4AE8D88}" type="datetimeFigureOut">
              <a:rPr lang="en-US" smtClean="0"/>
              <a:t>2/27/2026</a:t>
            </a:fld>
            <a:endParaRPr lang="en-US"/>
          </a:p>
        </p:txBody>
      </p:sp>
      <p:sp>
        <p:nvSpPr>
          <p:cNvPr id="5" name="Footer Placeholder 4">
            <a:extLst>
              <a:ext uri="{FF2B5EF4-FFF2-40B4-BE49-F238E27FC236}">
                <a16:creationId xmlns:a16="http://schemas.microsoft.com/office/drawing/2014/main" id="{A82CA6FA-9337-D4AA-33D3-86B5FA6803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95966B-4FDE-E855-5AEA-193A1FCD9068}"/>
              </a:ext>
            </a:extLst>
          </p:cNvPr>
          <p:cNvSpPr>
            <a:spLocks noGrp="1"/>
          </p:cNvSpPr>
          <p:nvPr>
            <p:ph type="sldNum" sz="quarter" idx="12"/>
          </p:nvPr>
        </p:nvSpPr>
        <p:spPr/>
        <p:txBody>
          <a:bodyPr/>
          <a:lstStyle/>
          <a:p>
            <a:fld id="{86225CEC-27C1-45F0-BDDB-28AD9036787D}" type="slidenum">
              <a:rPr lang="en-US" smtClean="0"/>
              <a:t>‹#›</a:t>
            </a:fld>
            <a:endParaRPr lang="en-US"/>
          </a:p>
        </p:txBody>
      </p:sp>
    </p:spTree>
    <p:extLst>
      <p:ext uri="{BB962C8B-B14F-4D97-AF65-F5344CB8AC3E}">
        <p14:creationId xmlns:p14="http://schemas.microsoft.com/office/powerpoint/2010/main" val="1732392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BE2CA0-8521-E29C-7AF2-636D99065F1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7B1975-1C4E-FA8F-44E2-C7C937AD75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D640A3-0AA8-DFDF-9BAB-0F6E2F936CA0}"/>
              </a:ext>
            </a:extLst>
          </p:cNvPr>
          <p:cNvSpPr>
            <a:spLocks noGrp="1"/>
          </p:cNvSpPr>
          <p:nvPr>
            <p:ph type="dt" sz="half" idx="10"/>
          </p:nvPr>
        </p:nvSpPr>
        <p:spPr/>
        <p:txBody>
          <a:bodyPr/>
          <a:lstStyle/>
          <a:p>
            <a:fld id="{DBC0B459-A6EB-42A5-A77B-4F0CB4AE8D88}" type="datetimeFigureOut">
              <a:rPr lang="en-US" smtClean="0"/>
              <a:t>2/27/2026</a:t>
            </a:fld>
            <a:endParaRPr lang="en-US"/>
          </a:p>
        </p:txBody>
      </p:sp>
      <p:sp>
        <p:nvSpPr>
          <p:cNvPr id="5" name="Footer Placeholder 4">
            <a:extLst>
              <a:ext uri="{FF2B5EF4-FFF2-40B4-BE49-F238E27FC236}">
                <a16:creationId xmlns:a16="http://schemas.microsoft.com/office/drawing/2014/main" id="{DFE15FD9-64EC-4DDE-12BB-441AD60DE7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19E572-43FC-600A-71A4-F8E630D293B4}"/>
              </a:ext>
            </a:extLst>
          </p:cNvPr>
          <p:cNvSpPr>
            <a:spLocks noGrp="1"/>
          </p:cNvSpPr>
          <p:nvPr>
            <p:ph type="sldNum" sz="quarter" idx="12"/>
          </p:nvPr>
        </p:nvSpPr>
        <p:spPr/>
        <p:txBody>
          <a:bodyPr/>
          <a:lstStyle/>
          <a:p>
            <a:fld id="{86225CEC-27C1-45F0-BDDB-28AD9036787D}" type="slidenum">
              <a:rPr lang="en-US" smtClean="0"/>
              <a:t>‹#›</a:t>
            </a:fld>
            <a:endParaRPr lang="en-US"/>
          </a:p>
        </p:txBody>
      </p:sp>
    </p:spTree>
    <p:extLst>
      <p:ext uri="{BB962C8B-B14F-4D97-AF65-F5344CB8AC3E}">
        <p14:creationId xmlns:p14="http://schemas.microsoft.com/office/powerpoint/2010/main" val="6955288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Divider + Vertical logo (Dark Blue)">
    <p:spTree>
      <p:nvGrpSpPr>
        <p:cNvPr id="1" name=""/>
        <p:cNvGrpSpPr/>
        <p:nvPr/>
      </p:nvGrpSpPr>
      <p:grpSpPr>
        <a:xfrm>
          <a:off x="0" y="0"/>
          <a:ext cx="0" cy="0"/>
          <a:chOff x="0" y="0"/>
          <a:chExt cx="0" cy="0"/>
        </a:xfrm>
      </p:grpSpPr>
      <p:pic>
        <p:nvPicPr>
          <p:cNvPr id="4" name="Picture 3" descr="A picture containing dark, light, night sky&#10;&#10;Description automatically generated">
            <a:extLst>
              <a:ext uri="{FF2B5EF4-FFF2-40B4-BE49-F238E27FC236}">
                <a16:creationId xmlns:a16="http://schemas.microsoft.com/office/drawing/2014/main" id="{1404BF1D-7F8C-A943-8261-12AB3FB817A6}"/>
              </a:ext>
            </a:extLst>
          </p:cNvPr>
          <p:cNvPicPr>
            <a:picLocks noChangeAspect="1"/>
          </p:cNvPicPr>
          <p:nvPr userDrawn="1"/>
        </p:nvPicPr>
        <p:blipFill>
          <a:blip r:embed="rId2"/>
          <a:stretch>
            <a:fillRect/>
          </a:stretch>
        </p:blipFill>
        <p:spPr>
          <a:xfrm rot="5400000">
            <a:off x="-759922" y="-1288870"/>
            <a:ext cx="5299364" cy="6858000"/>
          </a:xfrm>
          <a:prstGeom prst="rect">
            <a:avLst/>
          </a:prstGeom>
        </p:spPr>
      </p:pic>
      <p:sp>
        <p:nvSpPr>
          <p:cNvPr id="12" name="Title 1">
            <a:extLst>
              <a:ext uri="{FF2B5EF4-FFF2-40B4-BE49-F238E27FC236}">
                <a16:creationId xmlns:a16="http://schemas.microsoft.com/office/drawing/2014/main" id="{2742C97D-1546-4CBF-A61E-725EA7022285}"/>
              </a:ext>
            </a:extLst>
          </p:cNvPr>
          <p:cNvSpPr>
            <a:spLocks noGrp="1"/>
          </p:cNvSpPr>
          <p:nvPr>
            <p:ph type="ctrTitle" hasCustomPrompt="1"/>
          </p:nvPr>
        </p:nvSpPr>
        <p:spPr>
          <a:xfrm>
            <a:off x="2426875" y="1595366"/>
            <a:ext cx="7607596" cy="2387600"/>
          </a:xfrm>
        </p:spPr>
        <p:txBody>
          <a:bodyPr anchor="b">
            <a:noAutofit/>
          </a:bodyPr>
          <a:lstStyle>
            <a:lvl1pPr algn="l">
              <a:defRPr sz="3600">
                <a:solidFill>
                  <a:schemeClr val="bg1"/>
                </a:solidFill>
              </a:defRPr>
            </a:lvl1pPr>
          </a:lstStyle>
          <a:p>
            <a:r>
              <a:rPr lang="en-US"/>
              <a:t>DIVIDER — AVENIR NEXT LT PRO DEMI, 36 PT, Dark blue, caps</a:t>
            </a:r>
          </a:p>
        </p:txBody>
      </p:sp>
      <p:sp>
        <p:nvSpPr>
          <p:cNvPr id="13" name="Subtitle 2">
            <a:extLst>
              <a:ext uri="{FF2B5EF4-FFF2-40B4-BE49-F238E27FC236}">
                <a16:creationId xmlns:a16="http://schemas.microsoft.com/office/drawing/2014/main" id="{347B2A29-479D-4F15-874B-92AAFE7F8216}"/>
              </a:ext>
            </a:extLst>
          </p:cNvPr>
          <p:cNvSpPr>
            <a:spLocks noGrp="1"/>
          </p:cNvSpPr>
          <p:nvPr>
            <p:ph type="subTitle" idx="1" hasCustomPrompt="1"/>
          </p:nvPr>
        </p:nvSpPr>
        <p:spPr>
          <a:xfrm>
            <a:off x="2426875" y="4140312"/>
            <a:ext cx="7607596" cy="827881"/>
          </a:xfrm>
        </p:spPr>
        <p:txBody>
          <a:bodyPr>
            <a:noAutofit/>
          </a:bodyPr>
          <a:lstStyle>
            <a:lvl1pPr marL="0" indent="0" algn="l">
              <a:buNone/>
              <a:defRPr lang="en-US" sz="1800" b="1" i="0" kern="1200" cap="all" spc="0" baseline="0" dirty="0">
                <a:solidFill>
                  <a:schemeClr val="accent2"/>
                </a:solidFill>
                <a:latin typeface="Avenir Next LT Pro Demi" panose="020B0504020202020204" pitchFamily="34" charset="77"/>
                <a:ea typeface="Avenir Next LT Pro Demi" panose="020B0504020202020204" pitchFamily="34" charset="77"/>
                <a:cs typeface="Arial"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 AVENIR NEXT LT PRO, DEMI, 18 PT, orange, CAPS</a:t>
            </a:r>
          </a:p>
        </p:txBody>
      </p:sp>
      <p:pic>
        <p:nvPicPr>
          <p:cNvPr id="2" name="Picture 1" descr="A black background with blue text&#10;&#10;Description automatically generated">
            <a:extLst>
              <a:ext uri="{FF2B5EF4-FFF2-40B4-BE49-F238E27FC236}">
                <a16:creationId xmlns:a16="http://schemas.microsoft.com/office/drawing/2014/main" id="{BED585FD-81BB-D28C-C188-1D4EE450698B}"/>
              </a:ext>
            </a:extLst>
          </p:cNvPr>
          <p:cNvPicPr>
            <a:picLocks noChangeAspect="1"/>
          </p:cNvPicPr>
          <p:nvPr userDrawn="1"/>
        </p:nvPicPr>
        <p:blipFill>
          <a:blip r:embed="rId3"/>
          <a:stretch>
            <a:fillRect/>
          </a:stretch>
        </p:blipFill>
        <p:spPr>
          <a:xfrm>
            <a:off x="8116424" y="5856349"/>
            <a:ext cx="3755124" cy="558412"/>
          </a:xfrm>
          <a:prstGeom prst="rect">
            <a:avLst/>
          </a:prstGeom>
        </p:spPr>
      </p:pic>
    </p:spTree>
    <p:extLst>
      <p:ext uri="{BB962C8B-B14F-4D97-AF65-F5344CB8AC3E}">
        <p14:creationId xmlns:p14="http://schemas.microsoft.com/office/powerpoint/2010/main" val="2673647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1512">
          <p15:clr>
            <a:srgbClr val="FBAE40"/>
          </p15:clr>
        </p15:guide>
        <p15:guide id="3" pos="7176">
          <p15:clr>
            <a:srgbClr val="FBAE40"/>
          </p15:clr>
        </p15:guide>
        <p15:guide id="4" pos="216">
          <p15:clr>
            <a:srgbClr val="FBAE40"/>
          </p15:clr>
        </p15:guide>
        <p15:guide id="5" pos="7464">
          <p15:clr>
            <a:srgbClr val="FBAE40"/>
          </p15:clr>
        </p15:guide>
        <p15:guide id="6" orient="horz" pos="4176">
          <p15:clr>
            <a:srgbClr val="FBAE40"/>
          </p15:clr>
        </p15:guide>
        <p15:guide id="7" orient="horz" pos="278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 Content + Corner Graphic">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47D9781-1CE4-FD50-9B69-D325BA5C5C1C}"/>
              </a:ext>
            </a:extLst>
          </p:cNvPr>
          <p:cNvSpPr>
            <a:spLocks noGrp="1"/>
          </p:cNvSpPr>
          <p:nvPr>
            <p:ph idx="1" hasCustomPrompt="1"/>
          </p:nvPr>
        </p:nvSpPr>
        <p:spPr>
          <a:xfrm>
            <a:off x="417340" y="1316645"/>
            <a:ext cx="11361867" cy="4811871"/>
          </a:xfrm>
          <a:prstGeom prst="rect">
            <a:avLst/>
          </a:prstGeom>
        </p:spPr>
        <p:txBody>
          <a:bodyPr vert="horz" lIns="91440" tIns="45720" rIns="91440" bIns="45720" rtlCol="0">
            <a:noAutofit/>
          </a:bodyPr>
          <a:lstStyle>
            <a:lvl3pPr marL="1143000" indent="-228600">
              <a:buFont typeface="Arial" panose="020B0604020202020204" pitchFamily="34" charset="0"/>
              <a:buChar char="•"/>
              <a:defRPr/>
            </a:lvl3pPr>
          </a:lstStyle>
          <a:p>
            <a:r>
              <a:rPr lang="en-US"/>
              <a:t>First level – orange square bullets, Avenir Next LT Pro, Regular, 18 </a:t>
            </a:r>
            <a:r>
              <a:rPr lang="en-US" err="1"/>
              <a:t>pt</a:t>
            </a:r>
            <a:r>
              <a:rPr lang="en-US"/>
              <a:t>, gray font, sentence case</a:t>
            </a:r>
          </a:p>
          <a:p>
            <a:r>
              <a:rPr lang="en-US"/>
              <a:t>Sentence case is capitalizing only the first letter of the first word and any proper nouns and names/titles. </a:t>
            </a:r>
          </a:p>
          <a:p>
            <a:pPr lvl="1"/>
            <a:r>
              <a:rPr lang="en-US"/>
              <a:t>Second level – dark blue dashes, Avenir Next LT Pro, Regular, 16 </a:t>
            </a:r>
            <a:r>
              <a:rPr lang="en-US" err="1"/>
              <a:t>pt</a:t>
            </a:r>
            <a:r>
              <a:rPr lang="en-US"/>
              <a:t>, gray font, sentence case</a:t>
            </a:r>
          </a:p>
          <a:p>
            <a:pPr lvl="2"/>
            <a:r>
              <a:rPr lang="en-US"/>
              <a:t>Third level – dark blue circle bullets, Avenir Next LT Pro, Regular, 14 </a:t>
            </a:r>
            <a:r>
              <a:rPr lang="en-US" err="1"/>
              <a:t>pt</a:t>
            </a:r>
            <a:r>
              <a:rPr lang="en-US"/>
              <a:t>, gray font, sentence case</a:t>
            </a:r>
          </a:p>
          <a:p>
            <a:r>
              <a:rPr lang="en-US"/>
              <a:t>If the title or text placeholders need alignment, go to the Home tab, click Reset in the Slides toolbar. </a:t>
            </a:r>
          </a:p>
          <a:p>
            <a:r>
              <a:rPr lang="en-US"/>
              <a:t>Use a period if the bullet is a complete sentence.</a:t>
            </a:r>
          </a:p>
          <a:p>
            <a:pPr lvl="2"/>
            <a:endParaRPr lang="en-US"/>
          </a:p>
        </p:txBody>
      </p:sp>
      <p:pic>
        <p:nvPicPr>
          <p:cNvPr id="2" name="Picture 1" descr="A picture containing shape&#10;&#10;Description automatically generated">
            <a:extLst>
              <a:ext uri="{FF2B5EF4-FFF2-40B4-BE49-F238E27FC236}">
                <a16:creationId xmlns:a16="http://schemas.microsoft.com/office/drawing/2014/main" id="{57A71E21-4AE2-CF88-7F58-B7751346D097}"/>
              </a:ext>
            </a:extLst>
          </p:cNvPr>
          <p:cNvPicPr>
            <a:picLocks noChangeAspect="1"/>
          </p:cNvPicPr>
          <p:nvPr userDrawn="1"/>
        </p:nvPicPr>
        <p:blipFill rotWithShape="1">
          <a:blip r:embed="rId2">
            <a:alphaModFix/>
          </a:blip>
          <a:srcRect l="75049" t="22411"/>
          <a:stretch/>
        </p:blipFill>
        <p:spPr>
          <a:xfrm>
            <a:off x="9150396" y="1537588"/>
            <a:ext cx="3041604" cy="5320412"/>
          </a:xfrm>
          <a:prstGeom prst="rect">
            <a:avLst/>
          </a:prstGeom>
        </p:spPr>
      </p:pic>
      <p:sp>
        <p:nvSpPr>
          <p:cNvPr id="6" name="Title 5">
            <a:extLst>
              <a:ext uri="{FF2B5EF4-FFF2-40B4-BE49-F238E27FC236}">
                <a16:creationId xmlns:a16="http://schemas.microsoft.com/office/drawing/2014/main" id="{737B019D-09F3-0F11-E18F-0907142759A5}"/>
              </a:ext>
            </a:extLst>
          </p:cNvPr>
          <p:cNvSpPr>
            <a:spLocks noGrp="1"/>
          </p:cNvSpPr>
          <p:nvPr>
            <p:ph type="title" hasCustomPrompt="1"/>
          </p:nvPr>
        </p:nvSpPr>
        <p:spPr/>
        <p:txBody>
          <a:bodyPr/>
          <a:lstStyle/>
          <a:p>
            <a:r>
              <a:rPr lang="en-US"/>
              <a:t>TITLE — avenir NEXT LT PRO, DEMI, 28 PT, DARK BLUE, caps</a:t>
            </a:r>
          </a:p>
        </p:txBody>
      </p:sp>
      <p:sp>
        <p:nvSpPr>
          <p:cNvPr id="8" name="Footer Placeholder 7">
            <a:extLst>
              <a:ext uri="{FF2B5EF4-FFF2-40B4-BE49-F238E27FC236}">
                <a16:creationId xmlns:a16="http://schemas.microsoft.com/office/drawing/2014/main" id="{ACDC8089-B67C-F3C5-2637-F2ECBA7FE7D1}"/>
              </a:ext>
            </a:extLst>
          </p:cNvPr>
          <p:cNvSpPr>
            <a:spLocks noGrp="1"/>
          </p:cNvSpPr>
          <p:nvPr>
            <p:ph type="ftr" sz="quarter" idx="10"/>
          </p:nvPr>
        </p:nvSpPr>
        <p:spPr/>
        <p:txBody>
          <a:bodyPr/>
          <a:lstStyle/>
          <a:p>
            <a:endParaRPr lang="en-US"/>
          </a:p>
        </p:txBody>
      </p:sp>
      <p:sp>
        <p:nvSpPr>
          <p:cNvPr id="9" name="Slide Number Placeholder 8">
            <a:extLst>
              <a:ext uri="{FF2B5EF4-FFF2-40B4-BE49-F238E27FC236}">
                <a16:creationId xmlns:a16="http://schemas.microsoft.com/office/drawing/2014/main" id="{7854B60C-0290-782A-8B86-B9F2CA7122F5}"/>
              </a:ext>
            </a:extLst>
          </p:cNvPr>
          <p:cNvSpPr>
            <a:spLocks noGrp="1"/>
          </p:cNvSpPr>
          <p:nvPr>
            <p:ph type="sldNum" sz="quarter" idx="11"/>
          </p:nvPr>
        </p:nvSpPr>
        <p:spPr/>
        <p:txBody>
          <a:bodyPr/>
          <a:lstStyle/>
          <a:p>
            <a:fld id="{9564885F-477D-A14D-B2C1-5ECAF755F313}" type="slidenum">
              <a:rPr lang="en-US" smtClean="0"/>
              <a:pPr/>
              <a:t>‹#›</a:t>
            </a:fld>
            <a:endParaRPr lang="en-US" spc="400"/>
          </a:p>
        </p:txBody>
      </p:sp>
    </p:spTree>
    <p:extLst>
      <p:ext uri="{BB962C8B-B14F-4D97-AF65-F5344CB8AC3E}">
        <p14:creationId xmlns:p14="http://schemas.microsoft.com/office/powerpoint/2010/main" val="2335596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pos="816">
          <p15:clr>
            <a:srgbClr val="FBAE40"/>
          </p15:clr>
        </p15:guide>
        <p15:guide id="4" pos="7464">
          <p15:clr>
            <a:srgbClr val="FBAE40"/>
          </p15:clr>
        </p15:guide>
        <p15:guide id="5" orient="horz" pos="408">
          <p15:clr>
            <a:srgbClr val="FBAE40"/>
          </p15:clr>
        </p15:guide>
        <p15:guide id="6" orient="horz" pos="422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5D66E5-D162-E648-2AF1-CF774ED2F5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BC8687-39CE-BE8A-CD14-9D5CAD0FAE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984F25-BB64-D015-CB49-0322601157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C0B459-A6EB-42A5-A77B-4F0CB4AE8D88}" type="datetimeFigureOut">
              <a:rPr lang="en-US" smtClean="0"/>
              <a:t>2/27/2026</a:t>
            </a:fld>
            <a:endParaRPr lang="en-US"/>
          </a:p>
        </p:txBody>
      </p:sp>
      <p:sp>
        <p:nvSpPr>
          <p:cNvPr id="5" name="Footer Placeholder 4">
            <a:extLst>
              <a:ext uri="{FF2B5EF4-FFF2-40B4-BE49-F238E27FC236}">
                <a16:creationId xmlns:a16="http://schemas.microsoft.com/office/drawing/2014/main" id="{5975D45A-C5CE-9C4F-5119-119427F997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B4770E1-1BFE-3F72-3709-4D4E96B6FA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6225CEC-27C1-45F0-BDDB-28AD9036787D}" type="slidenum">
              <a:rPr lang="en-US" smtClean="0"/>
              <a:t>‹#›</a:t>
            </a:fld>
            <a:endParaRPr lang="en-US"/>
          </a:p>
        </p:txBody>
      </p:sp>
    </p:spTree>
    <p:extLst>
      <p:ext uri="{BB962C8B-B14F-4D97-AF65-F5344CB8AC3E}">
        <p14:creationId xmlns:p14="http://schemas.microsoft.com/office/powerpoint/2010/main" val="946917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https://www.ada.gov/resources/web-rule-first-steps/" TargetMode="External"/><Relationship Id="rId2" Type="http://schemas.openxmlformats.org/officeDocument/2006/relationships/hyperlink" Target="https://www.w3.org/TR/WCAG21/" TargetMode="Externa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hyperlink" Target="https://www.ada.gov/resources/web-rule-first-steps/" TargetMode="External"/><Relationship Id="rId2" Type="http://schemas.openxmlformats.org/officeDocument/2006/relationships/hyperlink" Target="https://www.w3.org/TR/WCAG21/"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8F1E27E-34EC-3598-E14E-2F12EF4BAA00}"/>
              </a:ext>
            </a:extLst>
          </p:cNvPr>
          <p:cNvSpPr>
            <a:spLocks noGrp="1"/>
          </p:cNvSpPr>
          <p:nvPr>
            <p:ph type="ctrTitle"/>
          </p:nvPr>
        </p:nvSpPr>
        <p:spPr>
          <a:xfrm>
            <a:off x="2292202" y="2983663"/>
            <a:ext cx="7607596" cy="827881"/>
          </a:xfrm>
        </p:spPr>
        <p:txBody>
          <a:bodyPr/>
          <a:lstStyle/>
          <a:p>
            <a:r>
              <a:rPr lang="en-US" sz="4000">
                <a:solidFill>
                  <a:schemeClr val="tx2"/>
                </a:solidFill>
              </a:rPr>
              <a:t>Cycle 1 Presentation</a:t>
            </a:r>
            <a:br>
              <a:rPr lang="en-US" sz="3200">
                <a:solidFill>
                  <a:schemeClr val="tx2"/>
                </a:solidFill>
              </a:rPr>
            </a:br>
            <a:r>
              <a:rPr lang="en-US" sz="2400">
                <a:solidFill>
                  <a:schemeClr val="tx1"/>
                </a:solidFill>
              </a:rPr>
              <a:t>Accessibility Checker Enhancement</a:t>
            </a:r>
            <a:br>
              <a:rPr lang="en-US" sz="2400">
                <a:solidFill>
                  <a:schemeClr val="tx1"/>
                </a:solidFill>
              </a:rPr>
            </a:br>
            <a:r>
              <a:rPr lang="en-US" sz="2400">
                <a:solidFill>
                  <a:schemeClr val="tx1"/>
                </a:solidFill>
              </a:rPr>
              <a:t>COMP 4710 Senior Design</a:t>
            </a:r>
          </a:p>
        </p:txBody>
      </p:sp>
      <p:sp>
        <p:nvSpPr>
          <p:cNvPr id="7" name="Subtitle 6">
            <a:extLst>
              <a:ext uri="{FF2B5EF4-FFF2-40B4-BE49-F238E27FC236}">
                <a16:creationId xmlns:a16="http://schemas.microsoft.com/office/drawing/2014/main" id="{66FCFCD0-8B60-CD0F-E508-45397ACF07A9}"/>
              </a:ext>
            </a:extLst>
          </p:cNvPr>
          <p:cNvSpPr>
            <a:spLocks noGrp="1"/>
          </p:cNvSpPr>
          <p:nvPr>
            <p:ph type="subTitle" idx="1"/>
          </p:nvPr>
        </p:nvSpPr>
        <p:spPr>
          <a:xfrm>
            <a:off x="2292202" y="3811544"/>
            <a:ext cx="7607596" cy="1927979"/>
          </a:xfrm>
        </p:spPr>
        <p:txBody>
          <a:bodyPr vert="horz" lIns="91440" tIns="45720" rIns="91440" bIns="45720" rtlCol="0" anchor="t">
            <a:noAutofit/>
          </a:bodyPr>
          <a:lstStyle/>
          <a:p>
            <a:r>
              <a:rPr lang="en-US" b="0" cap="none" err="1">
                <a:latin typeface="Aptos Display"/>
                <a:cs typeface="Arial"/>
              </a:rPr>
              <a:t>Ghaday</a:t>
            </a:r>
            <a:r>
              <a:rPr lang="en-US" b="0" cap="none">
                <a:latin typeface="Aptos Display"/>
                <a:cs typeface="Arial"/>
              </a:rPr>
              <a:t> </a:t>
            </a:r>
            <a:r>
              <a:rPr lang="en-US" b="0" cap="none" err="1">
                <a:latin typeface="Aptos Display"/>
                <a:cs typeface="Arial"/>
              </a:rPr>
              <a:t>Alsulaimani</a:t>
            </a:r>
            <a:r>
              <a:rPr lang="en-US" b="0" cap="none">
                <a:latin typeface="Aptos Display"/>
                <a:cs typeface="Arial"/>
              </a:rPr>
              <a:t>  </a:t>
            </a:r>
            <a:endParaRPr lang="en-US" b="0" cap="none">
              <a:latin typeface="Aptos Display" panose="020B0004020202020204" pitchFamily="34" charset="0"/>
            </a:endParaRPr>
          </a:p>
          <a:p>
            <a:r>
              <a:rPr lang="en-US" b="0" cap="none">
                <a:latin typeface="Aptos Display"/>
                <a:cs typeface="Arial"/>
              </a:rPr>
              <a:t>Avery Fox</a:t>
            </a:r>
          </a:p>
          <a:p>
            <a:r>
              <a:rPr lang="en-US" b="0" cap="none">
                <a:latin typeface="Aptos Display"/>
                <a:cs typeface="Arial"/>
              </a:rPr>
              <a:t>Lily Edgil</a:t>
            </a:r>
          </a:p>
          <a:p>
            <a:r>
              <a:rPr lang="en-US" b="0" cap="none">
                <a:latin typeface="Aptos Display"/>
                <a:cs typeface="Arial"/>
              </a:rPr>
              <a:t>Thomas Eden</a:t>
            </a:r>
          </a:p>
          <a:p>
            <a:r>
              <a:rPr lang="en-US" b="0" cap="none">
                <a:latin typeface="Aptos Display"/>
                <a:cs typeface="Arial"/>
              </a:rPr>
              <a:t>Philip Jerger</a:t>
            </a:r>
          </a:p>
        </p:txBody>
      </p:sp>
    </p:spTree>
    <p:extLst>
      <p:ext uri="{BB962C8B-B14F-4D97-AF65-F5344CB8AC3E}">
        <p14:creationId xmlns:p14="http://schemas.microsoft.com/office/powerpoint/2010/main" val="2381148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E1FAE356-7ED3-AB2B-10C3-7AB3F7D0D300}"/>
              </a:ext>
            </a:extLst>
          </p:cNvPr>
          <p:cNvSpPr>
            <a:spLocks noGrp="1"/>
          </p:cNvSpPr>
          <p:nvPr>
            <p:ph idx="1"/>
          </p:nvPr>
        </p:nvSpPr>
        <p:spPr>
          <a:xfrm>
            <a:off x="415066" y="1763685"/>
            <a:ext cx="11361867" cy="3864955"/>
          </a:xfrm>
        </p:spPr>
        <p:txBody>
          <a:bodyPr vert="horz" lIns="91440" tIns="45720" rIns="91440" bIns="45720" rtlCol="0" anchor="t">
            <a:noAutofit/>
          </a:bodyPr>
          <a:lstStyle/>
          <a:p>
            <a:pPr>
              <a:lnSpc>
                <a:spcPct val="150000"/>
              </a:lnSpc>
            </a:pPr>
            <a:r>
              <a:rPr lang="en-US"/>
              <a:t>Accessibility standards that Auburn has required</a:t>
            </a:r>
          </a:p>
          <a:p>
            <a:pPr>
              <a:lnSpc>
                <a:spcPct val="150000"/>
              </a:lnSpc>
            </a:pPr>
            <a:r>
              <a:rPr lang="en-US"/>
              <a:t>Follow WCAG 2.1 Standards, </a:t>
            </a:r>
            <a:r>
              <a:rPr lang="en-US">
                <a:ea typeface="+mn-lt"/>
                <a:cs typeface="+mn-lt"/>
                <a:hlinkClick r:id="rId2"/>
              </a:rPr>
              <a:t>https://www.w3.org/TR/WCAG21/</a:t>
            </a:r>
          </a:p>
          <a:p>
            <a:pPr>
              <a:lnSpc>
                <a:spcPct val="150000"/>
              </a:lnSpc>
            </a:pPr>
            <a:r>
              <a:rPr lang="en-US">
                <a:ea typeface="+mn-lt"/>
                <a:cs typeface="+mn-lt"/>
              </a:rPr>
              <a:t>These Federal standards are required by April 24, 2026, </a:t>
            </a:r>
            <a:r>
              <a:rPr lang="en-US">
                <a:ea typeface="+mn-lt"/>
                <a:cs typeface="+mn-lt"/>
                <a:hlinkClick r:id="rId3"/>
              </a:rPr>
              <a:t>https://www.ada.gov/resources/web-rule-first-steps/</a:t>
            </a:r>
          </a:p>
          <a:p>
            <a:pPr>
              <a:lnSpc>
                <a:spcPct val="150000"/>
              </a:lnSpc>
            </a:pPr>
            <a:r>
              <a:rPr lang="en-US"/>
              <a:t>This project supports compliance by analyzing and improving accessibility in PowerPoint presentations</a:t>
            </a:r>
            <a:endParaRPr lang="en-US">
              <a:ea typeface="+mn-lt"/>
              <a:cs typeface="+mn-lt"/>
              <a:hlinkClick r:id="rId3"/>
            </a:endParaRPr>
          </a:p>
        </p:txBody>
      </p:sp>
      <p:sp>
        <p:nvSpPr>
          <p:cNvPr id="8" name="Title 7">
            <a:extLst>
              <a:ext uri="{FF2B5EF4-FFF2-40B4-BE49-F238E27FC236}">
                <a16:creationId xmlns:a16="http://schemas.microsoft.com/office/drawing/2014/main" id="{DA5E9DD3-47D1-71A3-2BDC-D3A2C9981A07}"/>
              </a:ext>
            </a:extLst>
          </p:cNvPr>
          <p:cNvSpPr>
            <a:spLocks noGrp="1"/>
          </p:cNvSpPr>
          <p:nvPr>
            <p:ph type="title"/>
          </p:nvPr>
        </p:nvSpPr>
        <p:spPr/>
        <p:txBody>
          <a:bodyPr/>
          <a:lstStyle/>
          <a:p>
            <a:r>
              <a:rPr lang="en-US"/>
              <a:t>Background</a:t>
            </a:r>
          </a:p>
        </p:txBody>
      </p:sp>
      <p:sp>
        <p:nvSpPr>
          <p:cNvPr id="2" name="Slide Number Placeholder 1">
            <a:extLst>
              <a:ext uri="{FF2B5EF4-FFF2-40B4-BE49-F238E27FC236}">
                <a16:creationId xmlns:a16="http://schemas.microsoft.com/office/drawing/2014/main" id="{FA747274-89D2-5821-F5D8-A9BF988C7A85}"/>
              </a:ext>
            </a:extLst>
          </p:cNvPr>
          <p:cNvSpPr>
            <a:spLocks noGrp="1"/>
          </p:cNvSpPr>
          <p:nvPr>
            <p:ph type="sldNum" sz="quarter" idx="11"/>
          </p:nvPr>
        </p:nvSpPr>
        <p:spPr>
          <a:xfrm>
            <a:off x="364109" y="6470661"/>
            <a:ext cx="318761" cy="365125"/>
          </a:xfrm>
        </p:spPr>
        <p:txBody>
          <a:bodyPr/>
          <a:lstStyle/>
          <a:p>
            <a:fld id="{9564885F-477D-A14D-B2C1-5ECAF755F313}" type="slidenum">
              <a:rPr lang="en-US" smtClean="0"/>
              <a:pPr/>
              <a:t>2</a:t>
            </a:fld>
            <a:endParaRPr lang="en-US"/>
          </a:p>
        </p:txBody>
      </p:sp>
    </p:spTree>
    <p:extLst>
      <p:ext uri="{BB962C8B-B14F-4D97-AF65-F5344CB8AC3E}">
        <p14:creationId xmlns:p14="http://schemas.microsoft.com/office/powerpoint/2010/main" val="212186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1C874-EAAD-992C-AB2F-F80C9E1089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43F461E-12A1-BBDA-0265-09A960B40544}"/>
              </a:ext>
            </a:extLst>
          </p:cNvPr>
          <p:cNvSpPr>
            <a:spLocks noGrp="1"/>
          </p:cNvSpPr>
          <p:nvPr>
            <p:ph type="title"/>
          </p:nvPr>
        </p:nvSpPr>
        <p:spPr/>
        <p:txBody>
          <a:bodyPr/>
          <a:lstStyle/>
          <a:p>
            <a:r>
              <a:rPr lang="en-US"/>
              <a:t>Project Overview</a:t>
            </a:r>
          </a:p>
        </p:txBody>
      </p:sp>
      <p:sp>
        <p:nvSpPr>
          <p:cNvPr id="2" name="Slide Number Placeholder 1">
            <a:extLst>
              <a:ext uri="{FF2B5EF4-FFF2-40B4-BE49-F238E27FC236}">
                <a16:creationId xmlns:a16="http://schemas.microsoft.com/office/drawing/2014/main" id="{8CFC3E80-E1BB-7A3F-89E1-98E655C4441C}"/>
              </a:ext>
            </a:extLst>
          </p:cNvPr>
          <p:cNvSpPr>
            <a:spLocks noGrp="1"/>
          </p:cNvSpPr>
          <p:nvPr>
            <p:ph type="sldNum" sz="quarter" idx="11"/>
          </p:nvPr>
        </p:nvSpPr>
        <p:spPr>
          <a:xfrm>
            <a:off x="364109" y="6470661"/>
            <a:ext cx="318761" cy="365125"/>
          </a:xfrm>
        </p:spPr>
        <p:txBody>
          <a:bodyPr/>
          <a:lstStyle/>
          <a:p>
            <a:fld id="{9564885F-477D-A14D-B2C1-5ECAF755F313}" type="slidenum">
              <a:rPr lang="en-US" smtClean="0"/>
              <a:pPr/>
              <a:t>3</a:t>
            </a:fld>
            <a:endParaRPr lang="en-US"/>
          </a:p>
        </p:txBody>
      </p:sp>
      <p:sp>
        <p:nvSpPr>
          <p:cNvPr id="4" name="Rectangle 2">
            <a:extLst>
              <a:ext uri="{FF2B5EF4-FFF2-40B4-BE49-F238E27FC236}">
                <a16:creationId xmlns:a16="http://schemas.microsoft.com/office/drawing/2014/main" id="{88CE9BD3-70C6-3310-DE06-70D85B495BD7}"/>
              </a:ext>
            </a:extLst>
          </p:cNvPr>
          <p:cNvSpPr>
            <a:spLocks noGrp="1" noChangeArrowheads="1"/>
          </p:cNvSpPr>
          <p:nvPr>
            <p:ph idx="1"/>
          </p:nvPr>
        </p:nvSpPr>
        <p:spPr bwMode="auto">
          <a:xfrm>
            <a:off x="414338" y="2067522"/>
            <a:ext cx="10273966" cy="3257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indent="0" algn="l" defTabSz="914400" rtl="0" eaLnBrk="0" fontAlgn="base" latinLnBrk="0" hangingPunct="0">
              <a:lnSpc>
                <a:spcPct val="150000"/>
              </a:lnSpc>
              <a:spcBef>
                <a:spcPct val="0"/>
              </a:spcBef>
              <a:spcAft>
                <a:spcPct val="0"/>
              </a:spcAft>
              <a:buClrTx/>
              <a:buSzTx/>
              <a:buFont typeface="Courier New"/>
              <a:buChar char="•"/>
              <a:tabLst/>
            </a:pPr>
            <a:r>
              <a:rPr kumimoji="0" lang="en-US" altLang="en-US" b="0" i="0" u="none" strike="noStrike" cap="none" normalizeH="0" baseline="0">
                <a:ln>
                  <a:noFill/>
                </a:ln>
                <a:effectLst/>
                <a:latin typeface="Aptos"/>
                <a:cs typeface="Arial"/>
              </a:rPr>
              <a:t>Expand Fall 2025 accessibility tool to support PowerPoint files</a:t>
            </a:r>
            <a:endParaRPr lang="en-US">
              <a:latin typeface="Aptos"/>
            </a:endParaRPr>
          </a:p>
          <a:p>
            <a:pPr marL="0" marR="0" indent="0" algn="l" defTabSz="914400" rtl="0" eaLnBrk="0" fontAlgn="base" latinLnBrk="0" hangingPunct="0">
              <a:lnSpc>
                <a:spcPct val="150000"/>
              </a:lnSpc>
              <a:spcBef>
                <a:spcPct val="0"/>
              </a:spcBef>
              <a:spcAft>
                <a:spcPct val="0"/>
              </a:spcAft>
              <a:buClrTx/>
              <a:buSzTx/>
              <a:buFont typeface="Courier New"/>
              <a:buChar char="•"/>
              <a:tabLst/>
            </a:pPr>
            <a:r>
              <a:rPr kumimoji="0" lang="en-US" altLang="en-US" b="0" i="0" u="none" strike="noStrike" cap="none" normalizeH="0" baseline="0">
                <a:ln>
                  <a:noFill/>
                </a:ln>
                <a:effectLst/>
                <a:latin typeface="Aptos"/>
                <a:cs typeface="Arial"/>
              </a:rPr>
              <a:t>Analyze accessibility issues at the slide level</a:t>
            </a:r>
            <a:endParaRPr lang="en-US" altLang="en-US" b="0" i="0" u="none" strike="noStrike" cap="none" normalizeH="0" baseline="0">
              <a:ln>
                <a:noFill/>
              </a:ln>
              <a:effectLst/>
              <a:latin typeface="Aptos"/>
              <a:cs typeface="Arial"/>
            </a:endParaRPr>
          </a:p>
          <a:p>
            <a:pPr marL="0" marR="0" indent="0" algn="l" defTabSz="914400" rtl="0" eaLnBrk="0" fontAlgn="base" latinLnBrk="0" hangingPunct="0">
              <a:lnSpc>
                <a:spcPct val="150000"/>
              </a:lnSpc>
              <a:spcBef>
                <a:spcPct val="0"/>
              </a:spcBef>
              <a:spcAft>
                <a:spcPct val="0"/>
              </a:spcAft>
              <a:buClrTx/>
              <a:buSzTx/>
              <a:buFont typeface="Courier New"/>
              <a:buChar char="•"/>
              <a:tabLst/>
            </a:pPr>
            <a:r>
              <a:rPr kumimoji="0" lang="en-US" altLang="en-US" b="0" i="0" u="none" strike="noStrike" cap="none" normalizeH="0" baseline="0">
                <a:ln>
                  <a:noFill/>
                </a:ln>
                <a:effectLst/>
                <a:latin typeface="Aptos"/>
                <a:cs typeface="Arial"/>
              </a:rPr>
              <a:t>Provide remediation and downloadable output</a:t>
            </a:r>
            <a:endParaRPr lang="en-US" altLang="en-US" b="0" i="0" u="none" strike="noStrike" cap="none" normalizeH="0" baseline="0">
              <a:ln>
                <a:noFill/>
              </a:ln>
              <a:effectLst/>
              <a:latin typeface="Aptos"/>
              <a:cs typeface="Arial"/>
            </a:endParaRPr>
          </a:p>
          <a:p>
            <a:pPr marL="0" indent="0" eaLnBrk="0" fontAlgn="base" hangingPunct="0">
              <a:lnSpc>
                <a:spcPct val="150000"/>
              </a:lnSpc>
              <a:spcBef>
                <a:spcPct val="0"/>
              </a:spcBef>
              <a:spcAft>
                <a:spcPct val="0"/>
              </a:spcAft>
              <a:buFont typeface="Courier New"/>
              <a:buChar char="•"/>
            </a:pPr>
            <a:r>
              <a:rPr kumimoji="0" lang="en-US" altLang="en-US" b="0" i="0" u="none" strike="noStrike" cap="none" normalizeH="0" baseline="0">
                <a:ln>
                  <a:noFill/>
                </a:ln>
                <a:effectLst/>
                <a:latin typeface="Aptos"/>
                <a:cs typeface="Arial"/>
              </a:rPr>
              <a:t>Long-term goal:</a:t>
            </a:r>
            <a:endParaRPr lang="en-US" altLang="en-US">
              <a:latin typeface="Aptos"/>
              <a:cs typeface="Arial"/>
            </a:endParaRPr>
          </a:p>
          <a:p>
            <a:pPr marL="0" indent="0">
              <a:lnSpc>
                <a:spcPct val="150000"/>
              </a:lnSpc>
              <a:spcBef>
                <a:spcPct val="0"/>
              </a:spcBef>
              <a:spcAft>
                <a:spcPct val="0"/>
              </a:spcAft>
              <a:buNone/>
            </a:pPr>
            <a:r>
              <a:rPr lang="en-US" altLang="en-US">
                <a:latin typeface="Aptos"/>
                <a:cs typeface="Arial"/>
              </a:rPr>
              <a:t> </a:t>
            </a:r>
            <a:r>
              <a:rPr kumimoji="0" lang="en-US" altLang="en-US" b="0" i="0" u="none" strike="noStrike" cap="none" normalizeH="0" baseline="0">
                <a:ln>
                  <a:noFill/>
                </a:ln>
                <a:effectLst/>
                <a:latin typeface="Aptos"/>
                <a:cs typeface="Arial"/>
              </a:rPr>
              <a:t>AI-generated alt text and automated </a:t>
            </a:r>
            <a:r>
              <a:rPr lang="en-US" altLang="en-US">
                <a:latin typeface="Aptos"/>
                <a:cs typeface="Arial"/>
              </a:rPr>
              <a:t>accessibility </a:t>
            </a:r>
            <a:r>
              <a:rPr kumimoji="0" lang="en-US" altLang="en-US" b="0" i="0" u="none" strike="noStrike" cap="none" normalizeH="0" baseline="0">
                <a:ln>
                  <a:noFill/>
                </a:ln>
                <a:effectLst/>
                <a:latin typeface="Aptos"/>
                <a:cs typeface="Arial"/>
              </a:rPr>
              <a:t>fixes</a:t>
            </a:r>
            <a:endParaRPr lang="en-US">
              <a:latin typeface="Aptos"/>
            </a:endParaRPr>
          </a:p>
        </p:txBody>
      </p:sp>
    </p:spTree>
    <p:extLst>
      <p:ext uri="{BB962C8B-B14F-4D97-AF65-F5344CB8AC3E}">
        <p14:creationId xmlns:p14="http://schemas.microsoft.com/office/powerpoint/2010/main" val="3412046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EE5C3-9824-7D13-005F-E5A9B62D32BC}"/>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5E990C4-98EE-15DA-73A4-F0A4081E92F4}"/>
              </a:ext>
            </a:extLst>
          </p:cNvPr>
          <p:cNvSpPr>
            <a:spLocks noGrp="1"/>
          </p:cNvSpPr>
          <p:nvPr>
            <p:ph idx="1"/>
          </p:nvPr>
        </p:nvSpPr>
        <p:spPr>
          <a:xfrm>
            <a:off x="415066" y="1763685"/>
            <a:ext cx="11361867" cy="3864955"/>
          </a:xfrm>
        </p:spPr>
        <p:txBody>
          <a:bodyPr vert="horz" lIns="91440" tIns="45720" rIns="91440" bIns="45720" rtlCol="0" anchor="t">
            <a:noAutofit/>
          </a:bodyPr>
          <a:lstStyle/>
          <a:p>
            <a:pPr>
              <a:lnSpc>
                <a:spcPct val="150000"/>
              </a:lnSpc>
            </a:pPr>
            <a:r>
              <a:rPr lang="en-US"/>
              <a:t>The system acts as an accessibility assistant that evaluates uploaded PowerPoint presentations and provides remediation guidance to improve accessibility compliance.</a:t>
            </a:r>
          </a:p>
          <a:p>
            <a:pPr>
              <a:lnSpc>
                <a:spcPct val="150000"/>
              </a:lnSpc>
            </a:pPr>
            <a:r>
              <a:rPr lang="en-US"/>
              <a:t>The project builds upon the Fall 2025 system while expanding capabilities to include PowerPoint accessibility analysis.</a:t>
            </a:r>
          </a:p>
        </p:txBody>
      </p:sp>
      <p:sp>
        <p:nvSpPr>
          <p:cNvPr id="8" name="Title 7">
            <a:extLst>
              <a:ext uri="{FF2B5EF4-FFF2-40B4-BE49-F238E27FC236}">
                <a16:creationId xmlns:a16="http://schemas.microsoft.com/office/drawing/2014/main" id="{7B82DF1F-F37B-80AA-AD0E-040479FCF2ED}"/>
              </a:ext>
            </a:extLst>
          </p:cNvPr>
          <p:cNvSpPr>
            <a:spLocks noGrp="1"/>
          </p:cNvSpPr>
          <p:nvPr>
            <p:ph type="title"/>
          </p:nvPr>
        </p:nvSpPr>
        <p:spPr/>
        <p:txBody>
          <a:bodyPr/>
          <a:lstStyle/>
          <a:p>
            <a:r>
              <a:rPr lang="en-US"/>
              <a:t>System Metaphor</a:t>
            </a:r>
          </a:p>
        </p:txBody>
      </p:sp>
      <p:sp>
        <p:nvSpPr>
          <p:cNvPr id="2" name="Slide Number Placeholder 1">
            <a:extLst>
              <a:ext uri="{FF2B5EF4-FFF2-40B4-BE49-F238E27FC236}">
                <a16:creationId xmlns:a16="http://schemas.microsoft.com/office/drawing/2014/main" id="{3952B2B5-F3DD-176B-0793-FD5E87418D84}"/>
              </a:ext>
            </a:extLst>
          </p:cNvPr>
          <p:cNvSpPr>
            <a:spLocks noGrp="1"/>
          </p:cNvSpPr>
          <p:nvPr>
            <p:ph type="sldNum" sz="quarter" idx="11"/>
          </p:nvPr>
        </p:nvSpPr>
        <p:spPr>
          <a:xfrm>
            <a:off x="364109" y="6470661"/>
            <a:ext cx="318761" cy="365125"/>
          </a:xfrm>
        </p:spPr>
        <p:txBody>
          <a:bodyPr/>
          <a:lstStyle/>
          <a:p>
            <a:fld id="{9564885F-477D-A14D-B2C1-5ECAF755F313}" type="slidenum">
              <a:rPr lang="en-US" smtClean="0"/>
              <a:pPr/>
              <a:t>4</a:t>
            </a:fld>
            <a:endParaRPr lang="en-US"/>
          </a:p>
        </p:txBody>
      </p:sp>
    </p:spTree>
    <p:extLst>
      <p:ext uri="{BB962C8B-B14F-4D97-AF65-F5344CB8AC3E}">
        <p14:creationId xmlns:p14="http://schemas.microsoft.com/office/powerpoint/2010/main" val="269161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A9CCB-DBA7-4C48-5475-19E100BC6CF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974C5D1-EE4B-387B-23CA-58ECA8834067}"/>
              </a:ext>
            </a:extLst>
          </p:cNvPr>
          <p:cNvSpPr>
            <a:spLocks noGrp="1"/>
          </p:cNvSpPr>
          <p:nvPr>
            <p:ph type="title"/>
          </p:nvPr>
        </p:nvSpPr>
        <p:spPr/>
        <p:txBody>
          <a:bodyPr/>
          <a:lstStyle/>
          <a:p>
            <a:r>
              <a:rPr lang="en-US"/>
              <a:t>Cycle Intent</a:t>
            </a:r>
          </a:p>
        </p:txBody>
      </p:sp>
      <p:sp>
        <p:nvSpPr>
          <p:cNvPr id="2" name="Slide Number Placeholder 1">
            <a:extLst>
              <a:ext uri="{FF2B5EF4-FFF2-40B4-BE49-F238E27FC236}">
                <a16:creationId xmlns:a16="http://schemas.microsoft.com/office/drawing/2014/main" id="{C39D5E16-DB29-D084-40E8-F7FAC24375B6}"/>
              </a:ext>
            </a:extLst>
          </p:cNvPr>
          <p:cNvSpPr>
            <a:spLocks noGrp="1"/>
          </p:cNvSpPr>
          <p:nvPr>
            <p:ph type="sldNum" sz="quarter" idx="11"/>
          </p:nvPr>
        </p:nvSpPr>
        <p:spPr>
          <a:xfrm>
            <a:off x="364109" y="6470661"/>
            <a:ext cx="318761" cy="365125"/>
          </a:xfrm>
        </p:spPr>
        <p:txBody>
          <a:bodyPr/>
          <a:lstStyle/>
          <a:p>
            <a:fld id="{9564885F-477D-A14D-B2C1-5ECAF755F313}" type="slidenum">
              <a:rPr lang="en-US" smtClean="0"/>
              <a:pPr/>
              <a:t>5</a:t>
            </a:fld>
            <a:endParaRPr lang="en-US"/>
          </a:p>
        </p:txBody>
      </p:sp>
      <p:sp>
        <p:nvSpPr>
          <p:cNvPr id="6" name="Content Placeholder 5">
            <a:extLst>
              <a:ext uri="{FF2B5EF4-FFF2-40B4-BE49-F238E27FC236}">
                <a16:creationId xmlns:a16="http://schemas.microsoft.com/office/drawing/2014/main" id="{9BD06835-1439-2537-1ABE-430883699358}"/>
              </a:ext>
            </a:extLst>
          </p:cNvPr>
          <p:cNvSpPr>
            <a:spLocks noGrp="1"/>
          </p:cNvSpPr>
          <p:nvPr>
            <p:ph idx="1"/>
          </p:nvPr>
        </p:nvSpPr>
        <p:spPr/>
        <p:txBody>
          <a:bodyPr vert="horz" lIns="91440" tIns="45720" rIns="91440" bIns="45720" rtlCol="0" anchor="t">
            <a:noAutofit/>
          </a:bodyPr>
          <a:lstStyle/>
          <a:p>
            <a:pPr marL="0" indent="0">
              <a:lnSpc>
                <a:spcPct val="150000"/>
              </a:lnSpc>
              <a:buNone/>
            </a:pPr>
            <a:r>
              <a:rPr lang="en-US"/>
              <a:t>The goal of this cycle was to expand the system to accept PowerPoint (PPTX) files and build the structural components necessary for PowerPoint accessibility analysis. This included implementing functionality to detect images missing alternative text and establishing a complete upload, processing, and download workflow. Additionally, the backend was prepared for future integration of AI capabilities to support automated accessibility remediation.</a:t>
            </a:r>
          </a:p>
        </p:txBody>
      </p:sp>
    </p:spTree>
    <p:extLst>
      <p:ext uri="{BB962C8B-B14F-4D97-AF65-F5344CB8AC3E}">
        <p14:creationId xmlns:p14="http://schemas.microsoft.com/office/powerpoint/2010/main" val="338719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D031A-1B90-768C-B1FC-26E0392A7198}"/>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510A9CA5-2B86-52C7-6807-97ABFEC63932}"/>
              </a:ext>
            </a:extLst>
          </p:cNvPr>
          <p:cNvSpPr>
            <a:spLocks noGrp="1"/>
          </p:cNvSpPr>
          <p:nvPr>
            <p:ph idx="1"/>
          </p:nvPr>
        </p:nvSpPr>
        <p:spPr>
          <a:xfrm>
            <a:off x="415066" y="1763685"/>
            <a:ext cx="11361867" cy="3864955"/>
          </a:xfrm>
        </p:spPr>
        <p:txBody>
          <a:bodyPr vert="horz" lIns="91440" tIns="45720" rIns="91440" bIns="45720" rtlCol="0" anchor="t">
            <a:noAutofit/>
          </a:bodyPr>
          <a:lstStyle/>
          <a:p>
            <a:pPr marL="0" indent="0">
              <a:lnSpc>
                <a:spcPct val="150000"/>
              </a:lnSpc>
              <a:buNone/>
            </a:pPr>
            <a:r>
              <a:rPr lang="en-US">
                <a:ea typeface="+mn-lt"/>
                <a:cs typeface="+mn-lt"/>
              </a:rPr>
              <a:t>Cycle 1 implemented the core PPTX processing pipeline, including upload, backend integration, and user feedback. Batch processing, download improvements, and expanded accessibility analysis are in progress, with performance optimizations planned for future cycles.</a:t>
            </a:r>
            <a:endParaRPr lang="en-US"/>
          </a:p>
        </p:txBody>
      </p:sp>
      <p:sp>
        <p:nvSpPr>
          <p:cNvPr id="8" name="Title 7">
            <a:extLst>
              <a:ext uri="{FF2B5EF4-FFF2-40B4-BE49-F238E27FC236}">
                <a16:creationId xmlns:a16="http://schemas.microsoft.com/office/drawing/2014/main" id="{0405D9EF-E5D0-5124-CA16-D6E99C307B15}"/>
              </a:ext>
            </a:extLst>
          </p:cNvPr>
          <p:cNvSpPr>
            <a:spLocks noGrp="1"/>
          </p:cNvSpPr>
          <p:nvPr>
            <p:ph type="title"/>
          </p:nvPr>
        </p:nvSpPr>
        <p:spPr/>
        <p:txBody>
          <a:bodyPr/>
          <a:lstStyle/>
          <a:p>
            <a:r>
              <a:rPr lang="en-US">
                <a:ea typeface="+mj-lt"/>
                <a:cs typeface="+mj-lt"/>
              </a:rPr>
              <a:t>User Stories</a:t>
            </a:r>
            <a:endParaRPr lang="en-US"/>
          </a:p>
        </p:txBody>
      </p:sp>
      <p:sp>
        <p:nvSpPr>
          <p:cNvPr id="2" name="Slide Number Placeholder 1">
            <a:extLst>
              <a:ext uri="{FF2B5EF4-FFF2-40B4-BE49-F238E27FC236}">
                <a16:creationId xmlns:a16="http://schemas.microsoft.com/office/drawing/2014/main" id="{42B1B150-BC62-00C1-E0C7-BC71F0A17854}"/>
              </a:ext>
            </a:extLst>
          </p:cNvPr>
          <p:cNvSpPr>
            <a:spLocks noGrp="1"/>
          </p:cNvSpPr>
          <p:nvPr>
            <p:ph type="sldNum" sz="quarter" idx="11"/>
          </p:nvPr>
        </p:nvSpPr>
        <p:spPr>
          <a:xfrm>
            <a:off x="364109" y="6470661"/>
            <a:ext cx="318761" cy="365125"/>
          </a:xfrm>
        </p:spPr>
        <p:txBody>
          <a:bodyPr/>
          <a:lstStyle/>
          <a:p>
            <a:fld id="{9564885F-477D-A14D-B2C1-5ECAF755F313}" type="slidenum">
              <a:rPr lang="en-US" smtClean="0"/>
              <a:pPr/>
              <a:t>6</a:t>
            </a:fld>
            <a:endParaRPr lang="en-US"/>
          </a:p>
        </p:txBody>
      </p:sp>
    </p:spTree>
    <p:extLst>
      <p:ext uri="{BB962C8B-B14F-4D97-AF65-F5344CB8AC3E}">
        <p14:creationId xmlns:p14="http://schemas.microsoft.com/office/powerpoint/2010/main" val="122501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7C18A0-5B75-F4D4-B30D-3CACAA6A70B1}"/>
              </a:ext>
            </a:extLst>
          </p:cNvPr>
          <p:cNvSpPr>
            <a:spLocks noGrp="1"/>
          </p:cNvSpPr>
          <p:nvPr>
            <p:ph idx="1"/>
          </p:nvPr>
        </p:nvSpPr>
        <p:spPr/>
        <p:txBody>
          <a:bodyPr vert="horz" lIns="91440" tIns="45720" rIns="91440" bIns="45720" rtlCol="0" anchor="t">
            <a:noAutofit/>
          </a:bodyPr>
          <a:lstStyle/>
          <a:p>
            <a:pPr>
              <a:lnSpc>
                <a:spcPct val="150000"/>
              </a:lnSpc>
            </a:pPr>
            <a:r>
              <a:rPr lang="en-US" b="1">
                <a:ea typeface="+mn-lt"/>
                <a:cs typeface="+mn-lt"/>
              </a:rPr>
              <a:t>Frontend:</a:t>
            </a:r>
            <a:r>
              <a:rPr lang="en-US">
                <a:ea typeface="+mn-lt"/>
                <a:cs typeface="+mn-lt"/>
              </a:rPr>
              <a:t> Angular UI with file upload, validation, and results display</a:t>
            </a:r>
            <a:endParaRPr lang="en-US"/>
          </a:p>
          <a:p>
            <a:pPr>
              <a:lnSpc>
                <a:spcPct val="150000"/>
              </a:lnSpc>
            </a:pPr>
            <a:r>
              <a:rPr lang="en-US" b="1">
                <a:ea typeface="+mn-lt"/>
                <a:cs typeface="+mn-lt"/>
              </a:rPr>
              <a:t>Backend:</a:t>
            </a:r>
            <a:r>
              <a:rPr lang="en-US">
                <a:ea typeface="+mn-lt"/>
                <a:cs typeface="+mn-lt"/>
              </a:rPr>
              <a:t> </a:t>
            </a:r>
            <a:r>
              <a:rPr lang="en-US" err="1">
                <a:ea typeface="+mn-lt"/>
                <a:cs typeface="+mn-lt"/>
              </a:rPr>
              <a:t>FastAPI</a:t>
            </a:r>
            <a:r>
              <a:rPr lang="en-US">
                <a:ea typeface="+mn-lt"/>
                <a:cs typeface="+mn-lt"/>
              </a:rPr>
              <a:t> server with PowerPoint analyzer, report generation, and output creation</a:t>
            </a:r>
            <a:endParaRPr lang="en-US"/>
          </a:p>
          <a:p>
            <a:pPr>
              <a:lnSpc>
                <a:spcPct val="150000"/>
              </a:lnSpc>
            </a:pPr>
            <a:r>
              <a:rPr lang="en-US" b="1">
                <a:ea typeface="+mn-lt"/>
                <a:cs typeface="+mn-lt"/>
              </a:rPr>
              <a:t>Pipeline:</a:t>
            </a:r>
            <a:br>
              <a:rPr lang="en-US" b="1">
                <a:ea typeface="+mn-lt"/>
                <a:cs typeface="+mn-lt"/>
              </a:rPr>
            </a:br>
            <a:r>
              <a:rPr lang="en-US" b="1">
                <a:ea typeface="+mn-lt"/>
                <a:cs typeface="+mn-lt"/>
              </a:rPr>
              <a:t> User → Upload → Backend → Analyzer → Report / Remediated File → Download</a:t>
            </a:r>
            <a:endParaRPr lang="en-US">
              <a:ea typeface="+mn-lt"/>
              <a:cs typeface="+mn-lt"/>
            </a:endParaRPr>
          </a:p>
          <a:p>
            <a:pPr marL="0" indent="0">
              <a:buNone/>
            </a:pPr>
            <a:endParaRPr lang="en-US">
              <a:ea typeface="+mn-lt"/>
              <a:cs typeface="+mn-lt"/>
            </a:endParaRPr>
          </a:p>
          <a:p>
            <a:endParaRPr lang="en-US" b="1"/>
          </a:p>
          <a:p>
            <a:endParaRPr lang="en-US"/>
          </a:p>
        </p:txBody>
      </p:sp>
      <p:sp>
        <p:nvSpPr>
          <p:cNvPr id="3" name="Title 2">
            <a:extLst>
              <a:ext uri="{FF2B5EF4-FFF2-40B4-BE49-F238E27FC236}">
                <a16:creationId xmlns:a16="http://schemas.microsoft.com/office/drawing/2014/main" id="{BB8E88E6-AB60-144E-010F-6BB75559E17D}"/>
              </a:ext>
            </a:extLst>
          </p:cNvPr>
          <p:cNvSpPr>
            <a:spLocks noGrp="1"/>
          </p:cNvSpPr>
          <p:nvPr>
            <p:ph type="title"/>
          </p:nvPr>
        </p:nvSpPr>
        <p:spPr/>
        <p:txBody>
          <a:bodyPr/>
          <a:lstStyle/>
          <a:p>
            <a:r>
              <a:rPr lang="en-US"/>
              <a:t>Architecture Overview</a:t>
            </a:r>
          </a:p>
        </p:txBody>
      </p:sp>
    </p:spTree>
    <p:extLst>
      <p:ext uri="{BB962C8B-B14F-4D97-AF65-F5344CB8AC3E}">
        <p14:creationId xmlns:p14="http://schemas.microsoft.com/office/powerpoint/2010/main" val="2854649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CA85BEE-260A-767B-0292-DBB9BE767AE9}"/>
              </a:ext>
            </a:extLst>
          </p:cNvPr>
          <p:cNvSpPr>
            <a:spLocks noGrp="1"/>
          </p:cNvSpPr>
          <p:nvPr>
            <p:ph type="title"/>
          </p:nvPr>
        </p:nvSpPr>
        <p:spPr/>
        <p:txBody>
          <a:bodyPr/>
          <a:lstStyle/>
          <a:p>
            <a:r>
              <a:rPr lang="en-US"/>
              <a:t>Architecture Changes from Spike</a:t>
            </a:r>
          </a:p>
        </p:txBody>
      </p:sp>
      <p:sp>
        <p:nvSpPr>
          <p:cNvPr id="4" name="Rectangle 1">
            <a:extLst>
              <a:ext uri="{FF2B5EF4-FFF2-40B4-BE49-F238E27FC236}">
                <a16:creationId xmlns:a16="http://schemas.microsoft.com/office/drawing/2014/main" id="{6C62A094-66F3-4F0C-075A-17A9C73A56D0}"/>
              </a:ext>
            </a:extLst>
          </p:cNvPr>
          <p:cNvSpPr>
            <a:spLocks noGrp="1" noChangeArrowheads="1"/>
          </p:cNvSpPr>
          <p:nvPr>
            <p:ph idx="1"/>
          </p:nvPr>
        </p:nvSpPr>
        <p:spPr bwMode="auto">
          <a:xfrm>
            <a:off x="417340" y="1768487"/>
            <a:ext cx="6441187" cy="3908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a:ln>
                  <a:noFill/>
                </a:ln>
                <a:effectLst/>
                <a:latin typeface="Aptos"/>
              </a:rPr>
              <a:t>Added PowerPoint MIME type validation</a:t>
            </a:r>
            <a:endParaRPr lang="en-US">
              <a:latin typeface="Aptos"/>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a:ln>
                  <a:noFill/>
                </a:ln>
                <a:effectLst/>
                <a:latin typeface="Aptos"/>
              </a:rPr>
              <a:t>New upload endpoint for PPTX files</a:t>
            </a:r>
            <a:endParaRPr lang="en-US" altLang="en-US" b="0" i="0" u="none" strike="noStrike" cap="none" normalizeH="0" baseline="0">
              <a:ln>
                <a:noFill/>
              </a:ln>
              <a:effectLst/>
              <a:latin typeface="Aptos"/>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a:ln>
                  <a:noFill/>
                </a:ln>
                <a:effectLst/>
                <a:latin typeface="Aptos"/>
              </a:rPr>
              <a:t>Backend PowerPoint analyzer module</a:t>
            </a:r>
            <a:endParaRPr lang="en-US" altLang="en-US" b="0" i="0" u="none" strike="noStrike" cap="none" normalizeH="0" baseline="0">
              <a:ln>
                <a:noFill/>
              </a:ln>
              <a:effectLst/>
              <a:latin typeface="Aptos"/>
              <a:cs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a:ln>
                  <a:noFill/>
                </a:ln>
                <a:effectLst/>
                <a:latin typeface="Aptos"/>
              </a:rPr>
              <a:t>XML parsing of slide content</a:t>
            </a:r>
            <a:endParaRPr lang="en-US" altLang="en-US" b="0" i="0" u="none" strike="noStrike" cap="none" normalizeH="0" baseline="0">
              <a:ln>
                <a:noFill/>
              </a:ln>
              <a:effectLst/>
              <a:latin typeface="Aptos"/>
              <a:cs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a:ln>
                  <a:noFill/>
                </a:ln>
                <a:effectLst/>
                <a:latin typeface="Aptos"/>
              </a:rPr>
              <a:t>Output artifact generation</a:t>
            </a:r>
            <a:endParaRPr lang="en-US" altLang="en-US" b="0" i="0" u="none" strike="noStrike" cap="none" normalizeH="0" baseline="0">
              <a:ln>
                <a:noFill/>
              </a:ln>
              <a:effectLst/>
              <a:latin typeface="Aptos"/>
              <a:cs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a:ln>
                  <a:noFill/>
                </a:ln>
                <a:effectLst/>
                <a:latin typeface="Aptos"/>
              </a:rPr>
              <a:t>Download API routes implemented</a:t>
            </a:r>
            <a:endParaRPr lang="en-US" altLang="en-US" b="0" i="0" u="none" strike="noStrike" cap="none" normalizeH="0" baseline="0">
              <a:ln>
                <a:noFill/>
              </a:ln>
              <a:effectLst/>
              <a:latin typeface="Aptos"/>
              <a:cs typeface="Arial" panose="020B0604020202020204" pitchFamily="34" charset="0"/>
            </a:endParaRPr>
          </a:p>
        </p:txBody>
      </p:sp>
    </p:spTree>
    <p:extLst>
      <p:ext uri="{BB962C8B-B14F-4D97-AF65-F5344CB8AC3E}">
        <p14:creationId xmlns:p14="http://schemas.microsoft.com/office/powerpoint/2010/main" val="377928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41446-BE5E-9B7C-6F82-0EC2E884F39E}"/>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7F1E328C-A42E-A7B4-F45A-3EFA51C1488A}"/>
              </a:ext>
            </a:extLst>
          </p:cNvPr>
          <p:cNvSpPr>
            <a:spLocks noGrp="1"/>
          </p:cNvSpPr>
          <p:nvPr>
            <p:ph idx="1"/>
          </p:nvPr>
        </p:nvSpPr>
        <p:spPr>
          <a:xfrm>
            <a:off x="415066" y="1763685"/>
            <a:ext cx="11361867" cy="3864955"/>
          </a:xfrm>
        </p:spPr>
        <p:txBody>
          <a:bodyPr vert="horz" lIns="91440" tIns="45720" rIns="91440" bIns="45720" rtlCol="0" anchor="t">
            <a:noAutofit/>
          </a:bodyPr>
          <a:lstStyle/>
          <a:p>
            <a:pPr marL="0" indent="0">
              <a:lnSpc>
                <a:spcPct val="150000"/>
              </a:lnSpc>
              <a:buNone/>
            </a:pPr>
            <a:r>
              <a:rPr lang="en-US">
                <a:latin typeface="Aptos"/>
                <a:ea typeface="+mn-lt"/>
                <a:cs typeface="Arial"/>
              </a:rPr>
              <a:t>We chose to parse PPTX files directly using </a:t>
            </a:r>
            <a:r>
              <a:rPr lang="en-US" err="1">
                <a:latin typeface="Aptos"/>
                <a:ea typeface="+mn-lt"/>
                <a:cs typeface="Arial"/>
              </a:rPr>
              <a:t>OpenXML</a:t>
            </a:r>
            <a:r>
              <a:rPr lang="en-US">
                <a:latin typeface="Aptos"/>
                <a:ea typeface="+mn-lt"/>
                <a:cs typeface="Arial"/>
              </a:rPr>
              <a:t> to preserve structure and accessibility data while enabling slide-level analysis and future remediation. Backend changes were isolated, with stable API endpoints validated using Swagger.</a:t>
            </a:r>
            <a:endParaRPr lang="en-US">
              <a:latin typeface="Aptos"/>
              <a:cs typeface="Arial"/>
            </a:endParaRPr>
          </a:p>
          <a:p>
            <a:pPr>
              <a:lnSpc>
                <a:spcPct val="150000"/>
              </a:lnSpc>
            </a:pPr>
            <a:endParaRPr lang="en-US"/>
          </a:p>
        </p:txBody>
      </p:sp>
      <p:sp>
        <p:nvSpPr>
          <p:cNvPr id="8" name="Title 7">
            <a:extLst>
              <a:ext uri="{FF2B5EF4-FFF2-40B4-BE49-F238E27FC236}">
                <a16:creationId xmlns:a16="http://schemas.microsoft.com/office/drawing/2014/main" id="{DCAD16D8-57FC-AE2D-922B-30EAB123F5A8}"/>
              </a:ext>
            </a:extLst>
          </p:cNvPr>
          <p:cNvSpPr>
            <a:spLocks noGrp="1"/>
          </p:cNvSpPr>
          <p:nvPr>
            <p:ph type="title"/>
          </p:nvPr>
        </p:nvSpPr>
        <p:spPr/>
        <p:txBody>
          <a:bodyPr/>
          <a:lstStyle/>
          <a:p>
            <a:r>
              <a:rPr lang="en-US"/>
              <a:t>Design Decision</a:t>
            </a:r>
          </a:p>
        </p:txBody>
      </p:sp>
      <p:sp>
        <p:nvSpPr>
          <p:cNvPr id="2" name="Slide Number Placeholder 1">
            <a:extLst>
              <a:ext uri="{FF2B5EF4-FFF2-40B4-BE49-F238E27FC236}">
                <a16:creationId xmlns:a16="http://schemas.microsoft.com/office/drawing/2014/main" id="{F879A85B-510D-C316-6177-FE70F7D3727A}"/>
              </a:ext>
            </a:extLst>
          </p:cNvPr>
          <p:cNvSpPr>
            <a:spLocks noGrp="1"/>
          </p:cNvSpPr>
          <p:nvPr>
            <p:ph type="sldNum" sz="quarter" idx="11"/>
          </p:nvPr>
        </p:nvSpPr>
        <p:spPr>
          <a:xfrm>
            <a:off x="364109" y="6470661"/>
            <a:ext cx="318761" cy="365125"/>
          </a:xfrm>
        </p:spPr>
        <p:txBody>
          <a:bodyPr/>
          <a:lstStyle/>
          <a:p>
            <a:fld id="{9564885F-477D-A14D-B2C1-5ECAF755F313}" type="slidenum">
              <a:rPr lang="en-US" smtClean="0"/>
              <a:pPr/>
              <a:t>9</a:t>
            </a:fld>
            <a:endParaRPr lang="en-US"/>
          </a:p>
        </p:txBody>
      </p:sp>
    </p:spTree>
    <p:extLst>
      <p:ext uri="{BB962C8B-B14F-4D97-AF65-F5344CB8AC3E}">
        <p14:creationId xmlns:p14="http://schemas.microsoft.com/office/powerpoint/2010/main" val="88907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C3004C-0B55-BB1C-5673-5EB87A7FFB1D}"/>
              </a:ext>
            </a:extLst>
          </p:cNvPr>
          <p:cNvSpPr>
            <a:spLocks noGrp="1"/>
          </p:cNvSpPr>
          <p:nvPr>
            <p:ph type="title"/>
          </p:nvPr>
        </p:nvSpPr>
        <p:spPr/>
        <p:txBody>
          <a:bodyPr/>
          <a:lstStyle/>
          <a:p>
            <a:r>
              <a:rPr lang="en-US"/>
              <a:t>Technical Implementation</a:t>
            </a:r>
          </a:p>
        </p:txBody>
      </p:sp>
      <p:sp>
        <p:nvSpPr>
          <p:cNvPr id="4" name="Rectangle 1">
            <a:extLst>
              <a:ext uri="{FF2B5EF4-FFF2-40B4-BE49-F238E27FC236}">
                <a16:creationId xmlns:a16="http://schemas.microsoft.com/office/drawing/2014/main" id="{EBCEB861-CFBC-BFF5-E311-1E810A5111EA}"/>
              </a:ext>
            </a:extLst>
          </p:cNvPr>
          <p:cNvSpPr>
            <a:spLocks noGrp="1" noChangeArrowheads="1"/>
          </p:cNvSpPr>
          <p:nvPr>
            <p:ph idx="1"/>
          </p:nvPr>
        </p:nvSpPr>
        <p:spPr bwMode="auto">
          <a:xfrm>
            <a:off x="417340" y="1777336"/>
            <a:ext cx="7093096" cy="3890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a:ln>
                  <a:noFill/>
                </a:ln>
                <a:effectLst/>
                <a:latin typeface="Aptos"/>
              </a:rPr>
              <a:t>PPTX treated as ZIP archive</a:t>
            </a:r>
            <a:endParaRPr lang="en-US" altLang="en-US" b="0" i="0" u="none" strike="noStrike" cap="none" normalizeH="0" baseline="0">
              <a:ln>
                <a:noFill/>
              </a:ln>
              <a:effectLst/>
              <a:latin typeface="Aptos"/>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a:ln>
                  <a:noFill/>
                </a:ln>
                <a:effectLst/>
                <a:latin typeface="Aptos"/>
              </a:rPr>
              <a:t>Extract internal XML files</a:t>
            </a:r>
            <a:endParaRPr lang="en-US" altLang="en-US" b="0" i="0" u="none" strike="noStrike" cap="none" normalizeH="0" baseline="0">
              <a:ln>
                <a:noFill/>
              </a:ln>
              <a:effectLst/>
              <a:latin typeface="Aptos"/>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a:ln>
                  <a:noFill/>
                </a:ln>
                <a:effectLst/>
                <a:latin typeface="Aptos"/>
              </a:rPr>
              <a:t>Parse presentation.xml and slide XML files</a:t>
            </a:r>
            <a:endParaRPr lang="en-US" altLang="en-US" b="0" i="0" u="none" strike="noStrike" cap="none" normalizeH="0" baseline="0">
              <a:ln>
                <a:noFill/>
              </a:ln>
              <a:effectLst/>
              <a:latin typeface="Aptos"/>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a:ln>
                  <a:noFill/>
                </a:ln>
                <a:effectLst/>
                <a:latin typeface="Aptos"/>
              </a:rPr>
              <a:t>Iterate through slide content</a:t>
            </a:r>
            <a:endParaRPr lang="en-US" altLang="en-US" b="0" i="0" u="none" strike="noStrike" cap="none" normalizeH="0" baseline="0">
              <a:ln>
                <a:noFill/>
              </a:ln>
              <a:effectLst/>
              <a:latin typeface="Aptos"/>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a:ln>
                  <a:noFill/>
                </a:ln>
                <a:effectLst/>
                <a:latin typeface="Aptos"/>
              </a:rPr>
              <a:t>Detect accessibility elements</a:t>
            </a:r>
            <a:endParaRPr lang="en-US" altLang="en-US" b="0" i="0" u="none" strike="noStrike" cap="none" normalizeH="0" baseline="0">
              <a:ln>
                <a:noFill/>
              </a:ln>
              <a:effectLst/>
              <a:latin typeface="Aptos"/>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a:ln>
                  <a:noFill/>
                </a:ln>
                <a:effectLst/>
                <a:latin typeface="Aptos"/>
              </a:rPr>
              <a:t>Generate output artifacts</a:t>
            </a:r>
            <a:endParaRPr lang="en-US" altLang="en-US" b="0" i="0" u="none" strike="noStrike" cap="none" normalizeH="0" baseline="0">
              <a:ln>
                <a:noFill/>
              </a:ln>
              <a:effectLst/>
              <a:latin typeface="Aptos"/>
            </a:endParaRPr>
          </a:p>
        </p:txBody>
      </p:sp>
    </p:spTree>
    <p:extLst>
      <p:ext uri="{BB962C8B-B14F-4D97-AF65-F5344CB8AC3E}">
        <p14:creationId xmlns:p14="http://schemas.microsoft.com/office/powerpoint/2010/main" val="2997937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CBDEDF-061F-0942-0B20-5FC4A07BCCBD}"/>
              </a:ext>
            </a:extLst>
          </p:cNvPr>
          <p:cNvSpPr>
            <a:spLocks noGrp="1"/>
          </p:cNvSpPr>
          <p:nvPr>
            <p:ph idx="1"/>
          </p:nvPr>
        </p:nvSpPr>
        <p:spPr>
          <a:xfrm>
            <a:off x="417340" y="1719211"/>
            <a:ext cx="11361867" cy="4811871"/>
          </a:xfrm>
        </p:spPr>
        <p:txBody>
          <a:bodyPr vert="horz" lIns="91440" tIns="45720" rIns="91440" bIns="45720" rtlCol="0" anchor="t">
            <a:noAutofit/>
          </a:bodyPr>
          <a:lstStyle/>
          <a:p>
            <a:r>
              <a:rPr lang="en-US">
                <a:ea typeface="+mn-lt"/>
                <a:cs typeface="+mn-lt"/>
              </a:rPr>
              <a:t>User uploads PowerPoint file</a:t>
            </a:r>
            <a:endParaRPr lang="en-US"/>
          </a:p>
          <a:p>
            <a:r>
              <a:rPr lang="en-US">
                <a:ea typeface="+mn-lt"/>
                <a:cs typeface="+mn-lt"/>
              </a:rPr>
              <a:t>Frontend sends file to backend</a:t>
            </a:r>
            <a:endParaRPr lang="en-US"/>
          </a:p>
          <a:p>
            <a:r>
              <a:rPr lang="en-US">
                <a:ea typeface="+mn-lt"/>
                <a:cs typeface="+mn-lt"/>
              </a:rPr>
              <a:t>Backend processes and analyzes slides</a:t>
            </a:r>
            <a:endParaRPr lang="en-US"/>
          </a:p>
          <a:p>
            <a:r>
              <a:rPr lang="en-US">
                <a:ea typeface="+mn-lt"/>
                <a:cs typeface="+mn-lt"/>
              </a:rPr>
              <a:t>Output files generated in output directory</a:t>
            </a:r>
            <a:endParaRPr lang="en-US"/>
          </a:p>
          <a:p>
            <a:r>
              <a:rPr lang="en-US">
                <a:ea typeface="+mn-lt"/>
                <a:cs typeface="+mn-lt"/>
              </a:rPr>
              <a:t>User downloads remediated PowerPoint</a:t>
            </a:r>
            <a:endParaRPr lang="en-US"/>
          </a:p>
          <a:p>
            <a:endParaRPr lang="en-US"/>
          </a:p>
        </p:txBody>
      </p:sp>
      <p:sp>
        <p:nvSpPr>
          <p:cNvPr id="3" name="Title 2">
            <a:extLst>
              <a:ext uri="{FF2B5EF4-FFF2-40B4-BE49-F238E27FC236}">
                <a16:creationId xmlns:a16="http://schemas.microsoft.com/office/drawing/2014/main" id="{2CB20227-E91C-E8D7-6B3B-9D482C747340}"/>
              </a:ext>
            </a:extLst>
          </p:cNvPr>
          <p:cNvSpPr>
            <a:spLocks noGrp="1"/>
          </p:cNvSpPr>
          <p:nvPr>
            <p:ph type="title"/>
          </p:nvPr>
        </p:nvSpPr>
        <p:spPr/>
        <p:txBody>
          <a:bodyPr/>
          <a:lstStyle/>
          <a:p>
            <a:r>
              <a:rPr lang="en-US"/>
              <a:t>Workflow Demonstration</a:t>
            </a:r>
          </a:p>
        </p:txBody>
      </p:sp>
    </p:spTree>
    <p:extLst>
      <p:ext uri="{BB962C8B-B14F-4D97-AF65-F5344CB8AC3E}">
        <p14:creationId xmlns:p14="http://schemas.microsoft.com/office/powerpoint/2010/main" val="245268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9EFC04-EAF2-A40E-ABE4-64EC133133CE}"/>
              </a:ext>
            </a:extLst>
          </p:cNvPr>
          <p:cNvSpPr>
            <a:spLocks noGrp="1"/>
          </p:cNvSpPr>
          <p:nvPr>
            <p:ph idx="1"/>
          </p:nvPr>
        </p:nvSpPr>
        <p:spPr/>
        <p:txBody>
          <a:bodyPr vert="horz" lIns="91440" tIns="45720" rIns="91440" bIns="45720" rtlCol="0" anchor="t">
            <a:noAutofit/>
          </a:bodyPr>
          <a:lstStyle/>
          <a:p>
            <a:pPr marL="0" indent="0">
              <a:buNone/>
            </a:pPr>
            <a:r>
              <a:rPr lang="en-US" u="sng">
                <a:ea typeface="+mn-lt"/>
                <a:cs typeface="+mn-lt"/>
              </a:rPr>
              <a:t>PASS</a:t>
            </a:r>
            <a:endParaRPr lang="en-US" u="sng"/>
          </a:p>
          <a:p>
            <a:r>
              <a:rPr lang="en-US">
                <a:ea typeface="+mn-lt"/>
                <a:cs typeface="+mn-lt"/>
              </a:rPr>
              <a:t>Backend health check</a:t>
            </a:r>
            <a:endParaRPr lang="en-US"/>
          </a:p>
          <a:p>
            <a:r>
              <a:rPr lang="en-US">
                <a:ea typeface="+mn-lt"/>
                <a:cs typeface="+mn-lt"/>
              </a:rPr>
              <a:t>Frontend launch</a:t>
            </a:r>
            <a:endParaRPr lang="en-US"/>
          </a:p>
          <a:p>
            <a:r>
              <a:rPr lang="en-US">
                <a:ea typeface="+mn-lt"/>
                <a:cs typeface="+mn-lt"/>
              </a:rPr>
              <a:t>Valid PPTX upload saved</a:t>
            </a:r>
            <a:endParaRPr lang="en-US"/>
          </a:p>
          <a:p>
            <a:r>
              <a:rPr lang="en-US">
                <a:ea typeface="+mn-lt"/>
                <a:cs typeface="+mn-lt"/>
              </a:rPr>
              <a:t>Output artifacts generated</a:t>
            </a:r>
            <a:endParaRPr lang="en-US"/>
          </a:p>
          <a:p>
            <a:r>
              <a:rPr lang="en-US">
                <a:ea typeface="+mn-lt"/>
                <a:cs typeface="+mn-lt"/>
              </a:rPr>
              <a:t>Download functionality working</a:t>
            </a:r>
            <a:endParaRPr lang="en-US"/>
          </a:p>
          <a:p>
            <a:pPr marL="0" indent="0">
              <a:buNone/>
            </a:pPr>
            <a:r>
              <a:rPr lang="en-US" u="sng">
                <a:ea typeface="+mn-lt"/>
                <a:cs typeface="+mn-lt"/>
              </a:rPr>
              <a:t>FAIL</a:t>
            </a:r>
            <a:r>
              <a:rPr lang="en-US">
                <a:ea typeface="+mn-lt"/>
                <a:cs typeface="+mn-lt"/>
              </a:rPr>
              <a:t> (Known Issue)</a:t>
            </a:r>
            <a:endParaRPr lang="en-US"/>
          </a:p>
          <a:p>
            <a:r>
              <a:rPr lang="en-US">
                <a:ea typeface="+mn-lt"/>
                <a:cs typeface="+mn-lt"/>
              </a:rPr>
              <a:t>Invalid file renamed to .pptx accepted</a:t>
            </a:r>
            <a:endParaRPr lang="en-US"/>
          </a:p>
          <a:p>
            <a:pPr marL="0" indent="0">
              <a:buNone/>
            </a:pPr>
            <a:r>
              <a:rPr lang="en-US" u="sng">
                <a:ea typeface="+mn-lt"/>
                <a:cs typeface="+mn-lt"/>
              </a:rPr>
              <a:t>Planned Fix</a:t>
            </a:r>
            <a:endParaRPr lang="en-US" u="sng"/>
          </a:p>
          <a:p>
            <a:r>
              <a:rPr lang="en-US">
                <a:ea typeface="+mn-lt"/>
                <a:cs typeface="+mn-lt"/>
              </a:rPr>
              <a:t>Verify internal PPTX structure before processing</a:t>
            </a:r>
            <a:endParaRPr lang="en-US"/>
          </a:p>
          <a:p>
            <a:endParaRPr lang="en-US"/>
          </a:p>
        </p:txBody>
      </p:sp>
      <p:sp>
        <p:nvSpPr>
          <p:cNvPr id="3" name="Title 2">
            <a:extLst>
              <a:ext uri="{FF2B5EF4-FFF2-40B4-BE49-F238E27FC236}">
                <a16:creationId xmlns:a16="http://schemas.microsoft.com/office/drawing/2014/main" id="{5C1E1E7E-D3E3-A1DF-3C15-982783840DEE}"/>
              </a:ext>
            </a:extLst>
          </p:cNvPr>
          <p:cNvSpPr>
            <a:spLocks noGrp="1"/>
          </p:cNvSpPr>
          <p:nvPr>
            <p:ph type="title"/>
          </p:nvPr>
        </p:nvSpPr>
        <p:spPr/>
        <p:txBody>
          <a:bodyPr/>
          <a:lstStyle/>
          <a:p>
            <a:r>
              <a:rPr lang="en-US"/>
              <a:t>Test Results</a:t>
            </a:r>
          </a:p>
        </p:txBody>
      </p:sp>
    </p:spTree>
    <p:extLst>
      <p:ext uri="{BB962C8B-B14F-4D97-AF65-F5344CB8AC3E}">
        <p14:creationId xmlns:p14="http://schemas.microsoft.com/office/powerpoint/2010/main" val="3966395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78CBC9-5E09-6055-07F0-3BBF2F3CDB1D}"/>
              </a:ext>
            </a:extLst>
          </p:cNvPr>
          <p:cNvSpPr>
            <a:spLocks noGrp="1"/>
          </p:cNvSpPr>
          <p:nvPr>
            <p:ph idx="1"/>
          </p:nvPr>
        </p:nvSpPr>
        <p:spPr/>
        <p:txBody>
          <a:bodyPr vert="horz" lIns="91440" tIns="45720" rIns="91440" bIns="45720" rtlCol="0" anchor="t">
            <a:noAutofit/>
          </a:bodyPr>
          <a:lstStyle/>
          <a:p>
            <a:r>
              <a:rPr lang="en-US">
                <a:ea typeface="+mn-lt"/>
                <a:cs typeface="+mn-lt"/>
              </a:rPr>
              <a:t>Functional PowerPoint upload pipeline established</a:t>
            </a:r>
            <a:endParaRPr lang="en-US"/>
          </a:p>
          <a:p>
            <a:r>
              <a:rPr lang="en-US">
                <a:ea typeface="+mn-lt"/>
                <a:cs typeface="+mn-lt"/>
              </a:rPr>
              <a:t>Backend integration completed</a:t>
            </a:r>
            <a:endParaRPr lang="en-US"/>
          </a:p>
          <a:p>
            <a:r>
              <a:rPr lang="en-US">
                <a:ea typeface="+mn-lt"/>
                <a:cs typeface="+mn-lt"/>
              </a:rPr>
              <a:t>Accessibility report output confirmed</a:t>
            </a:r>
            <a:endParaRPr lang="en-US"/>
          </a:p>
          <a:p>
            <a:r>
              <a:rPr lang="en-US">
                <a:ea typeface="+mn-lt"/>
                <a:cs typeface="+mn-lt"/>
              </a:rPr>
              <a:t>Download capability implemented</a:t>
            </a:r>
            <a:endParaRPr lang="en-US"/>
          </a:p>
          <a:p>
            <a:r>
              <a:rPr lang="en-US">
                <a:ea typeface="+mn-lt"/>
                <a:cs typeface="+mn-lt"/>
              </a:rPr>
              <a:t>Foundation created for accessibility analysis expansion</a:t>
            </a:r>
            <a:endParaRPr lang="en-US"/>
          </a:p>
          <a:p>
            <a:r>
              <a:rPr lang="en-US">
                <a:ea typeface="+mn-lt"/>
                <a:cs typeface="+mn-lt"/>
              </a:rPr>
              <a:t>Cycle 1 objective successfully achieved.</a:t>
            </a:r>
            <a:endParaRPr lang="en-US"/>
          </a:p>
          <a:p>
            <a:endParaRPr lang="en-US"/>
          </a:p>
        </p:txBody>
      </p:sp>
      <p:sp>
        <p:nvSpPr>
          <p:cNvPr id="3" name="Title 2">
            <a:extLst>
              <a:ext uri="{FF2B5EF4-FFF2-40B4-BE49-F238E27FC236}">
                <a16:creationId xmlns:a16="http://schemas.microsoft.com/office/drawing/2014/main" id="{97DE858D-4DEF-B2FF-0E72-8DC8E5C92C85}"/>
              </a:ext>
            </a:extLst>
          </p:cNvPr>
          <p:cNvSpPr>
            <a:spLocks noGrp="1"/>
          </p:cNvSpPr>
          <p:nvPr>
            <p:ph type="title"/>
          </p:nvPr>
        </p:nvSpPr>
        <p:spPr/>
        <p:txBody>
          <a:bodyPr/>
          <a:lstStyle/>
          <a:p>
            <a:r>
              <a:rPr lang="en-US"/>
              <a:t>Cycle 1 Achievements</a:t>
            </a:r>
          </a:p>
        </p:txBody>
      </p:sp>
    </p:spTree>
    <p:extLst>
      <p:ext uri="{BB962C8B-B14F-4D97-AF65-F5344CB8AC3E}">
        <p14:creationId xmlns:p14="http://schemas.microsoft.com/office/powerpoint/2010/main" val="3486436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9915C5-95B7-1455-871A-422846B54206}"/>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8BECED12-7AC0-5D35-6BC6-B5B34AE74EF2}"/>
              </a:ext>
            </a:extLst>
          </p:cNvPr>
          <p:cNvSpPr>
            <a:spLocks noGrp="1"/>
          </p:cNvSpPr>
          <p:nvPr>
            <p:ph type="title"/>
          </p:nvPr>
        </p:nvSpPr>
        <p:spPr/>
        <p:txBody>
          <a:bodyPr/>
          <a:lstStyle/>
          <a:p>
            <a:r>
              <a:rPr lang="en-US"/>
              <a:t>Demo</a:t>
            </a:r>
          </a:p>
        </p:txBody>
      </p:sp>
    </p:spTree>
    <p:extLst>
      <p:ext uri="{BB962C8B-B14F-4D97-AF65-F5344CB8AC3E}">
        <p14:creationId xmlns:p14="http://schemas.microsoft.com/office/powerpoint/2010/main" val="3681665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0DB27-D5A1-0B17-494A-097DDEA2A697}"/>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CDC5D251-4D8E-5054-CDB5-55F36BE4974F}"/>
              </a:ext>
            </a:extLst>
          </p:cNvPr>
          <p:cNvSpPr>
            <a:spLocks noGrp="1"/>
          </p:cNvSpPr>
          <p:nvPr>
            <p:ph idx="1"/>
          </p:nvPr>
        </p:nvSpPr>
        <p:spPr>
          <a:xfrm>
            <a:off x="415066" y="1763685"/>
            <a:ext cx="11361867" cy="3864955"/>
          </a:xfrm>
        </p:spPr>
        <p:txBody>
          <a:bodyPr/>
          <a:lstStyle/>
          <a:p>
            <a:r>
              <a:rPr lang="en-US">
                <a:hlinkClick r:id="rId2"/>
              </a:rPr>
              <a:t>https://www.w3.org/TR/WCAG21/</a:t>
            </a:r>
            <a:endParaRPr lang="en-US"/>
          </a:p>
          <a:p>
            <a:r>
              <a:rPr lang="en-US">
                <a:ea typeface="+mn-lt"/>
                <a:cs typeface="+mn-lt"/>
                <a:hlinkClick r:id="rId3"/>
              </a:rPr>
              <a:t>https://www.ada.gov/resources/web-rule-first-steps/</a:t>
            </a:r>
          </a:p>
          <a:p>
            <a:pPr marL="0" indent="0">
              <a:buNone/>
            </a:pPr>
            <a:endParaRPr lang="en-US"/>
          </a:p>
          <a:p>
            <a:pPr marL="0" indent="0">
              <a:buNone/>
            </a:pPr>
            <a:endParaRPr lang="en-US"/>
          </a:p>
        </p:txBody>
      </p:sp>
      <p:sp>
        <p:nvSpPr>
          <p:cNvPr id="8" name="Title 7">
            <a:extLst>
              <a:ext uri="{FF2B5EF4-FFF2-40B4-BE49-F238E27FC236}">
                <a16:creationId xmlns:a16="http://schemas.microsoft.com/office/drawing/2014/main" id="{CF8B10FC-33E4-9BF9-C910-75A46DF371BD}"/>
              </a:ext>
            </a:extLst>
          </p:cNvPr>
          <p:cNvSpPr>
            <a:spLocks noGrp="1"/>
          </p:cNvSpPr>
          <p:nvPr>
            <p:ph type="title"/>
          </p:nvPr>
        </p:nvSpPr>
        <p:spPr/>
        <p:txBody>
          <a:bodyPr/>
          <a:lstStyle/>
          <a:p>
            <a:r>
              <a:rPr lang="en-US"/>
              <a:t>Sources</a:t>
            </a:r>
          </a:p>
        </p:txBody>
      </p:sp>
      <p:sp>
        <p:nvSpPr>
          <p:cNvPr id="2" name="Slide Number Placeholder 1">
            <a:extLst>
              <a:ext uri="{FF2B5EF4-FFF2-40B4-BE49-F238E27FC236}">
                <a16:creationId xmlns:a16="http://schemas.microsoft.com/office/drawing/2014/main" id="{29E7C399-1A52-9BB6-B1AB-9F37F3A13172}"/>
              </a:ext>
            </a:extLst>
          </p:cNvPr>
          <p:cNvSpPr>
            <a:spLocks noGrp="1"/>
          </p:cNvSpPr>
          <p:nvPr>
            <p:ph type="sldNum" sz="quarter" idx="11"/>
          </p:nvPr>
        </p:nvSpPr>
        <p:spPr>
          <a:xfrm>
            <a:off x="364109" y="6470661"/>
            <a:ext cx="318761" cy="365125"/>
          </a:xfrm>
        </p:spPr>
        <p:txBody>
          <a:bodyPr/>
          <a:lstStyle/>
          <a:p>
            <a:fld id="{9564885F-477D-A14D-B2C1-5ECAF755F313}" type="slidenum">
              <a:rPr lang="en-US" smtClean="0"/>
              <a:pPr/>
              <a:t>15</a:t>
            </a:fld>
            <a:endParaRPr lang="en-US"/>
          </a:p>
        </p:txBody>
      </p:sp>
    </p:spTree>
    <p:extLst>
      <p:ext uri="{BB962C8B-B14F-4D97-AF65-F5344CB8AC3E}">
        <p14:creationId xmlns:p14="http://schemas.microsoft.com/office/powerpoint/2010/main" val="415439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E91C944D95FC4AAF716DAAE42C9AFA" ma:contentTypeVersion="13" ma:contentTypeDescription="Create a new document." ma:contentTypeScope="" ma:versionID="c366d51a910539f80c2ee0df3e4887d3">
  <xsd:schema xmlns:xsd="http://www.w3.org/2001/XMLSchema" xmlns:xs="http://www.w3.org/2001/XMLSchema" xmlns:p="http://schemas.microsoft.com/office/2006/metadata/properties" xmlns:ns3="67cb519d-fc5d-495e-9687-eaf639411bb7" xmlns:ns4="db321872-62d3-4e15-a487-23a2078373cd" targetNamespace="http://schemas.microsoft.com/office/2006/metadata/properties" ma:root="true" ma:fieldsID="518038d693603932e6c38e53daac63b1" ns3:_="" ns4:_="">
    <xsd:import namespace="67cb519d-fc5d-495e-9687-eaf639411bb7"/>
    <xsd:import namespace="db321872-62d3-4e15-a487-23a2078373cd"/>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DateTaken"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cb519d-fc5d-495e-9687-eaf639411bb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b321872-62d3-4e15-a487-23a2078373c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67cb519d-fc5d-495e-9687-eaf639411bb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9C0E369-6A7A-4F93-AC11-AAF7C778F977}">
  <ds:schemaRefs>
    <ds:schemaRef ds:uri="67cb519d-fc5d-495e-9687-eaf639411bb7"/>
    <ds:schemaRef ds:uri="db321872-62d3-4e15-a487-23a2078373c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F3DF639-88A4-4F72-8353-60BA8CC8552F}">
  <ds:schemaRefs>
    <ds:schemaRef ds:uri="67cb519d-fc5d-495e-9687-eaf639411bb7"/>
    <ds:schemaRef ds:uri="db321872-62d3-4e15-a487-23a2078373c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6053659-F169-44D3-A5DD-8F3D6623E0D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Cycle 1 Presentation Accessibility Checker Enhancement COMP 4710 Senior Design</vt:lpstr>
      <vt:lpstr>Background</vt:lpstr>
      <vt:lpstr>Project Overview</vt:lpstr>
      <vt:lpstr>System Metaphor</vt:lpstr>
      <vt:lpstr>Cycle Intent</vt:lpstr>
      <vt:lpstr>User Stories</vt:lpstr>
      <vt:lpstr>Architecture Overview</vt:lpstr>
      <vt:lpstr>Architecture Changes from Spike</vt:lpstr>
      <vt:lpstr>Design Decision</vt:lpstr>
      <vt:lpstr>Technical Implementation</vt:lpstr>
      <vt:lpstr>Workflow Demonstration</vt:lpstr>
      <vt:lpstr>Test Results</vt:lpstr>
      <vt:lpstr>Cycle 1 Achievements</vt:lpstr>
      <vt:lpstr>Demo</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Ghaday Omar I Alsulaimani</dc:creator>
  <cp:revision>2</cp:revision>
  <dcterms:created xsi:type="dcterms:W3CDTF">2026-02-03T13:55:16Z</dcterms:created>
  <dcterms:modified xsi:type="dcterms:W3CDTF">2026-02-27T18:09:17Z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0x010100D8E91C944D95FC4AAF716DAAE42C9AFA</vt:lpwstr>
  </property>
</Properties>
</file>