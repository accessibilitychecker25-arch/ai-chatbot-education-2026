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7"/>
  </p:notesMasterIdLst>
  <p:handoutMasterIdLst>
    <p:handoutMasterId r:id="rId48"/>
  </p:handoutMasterIdLst>
  <p:sldIdLst>
    <p:sldId id="520" r:id="rId2"/>
    <p:sldId id="639" r:id="rId3"/>
    <p:sldId id="522" r:id="rId4"/>
    <p:sldId id="334" r:id="rId5"/>
    <p:sldId id="335" r:id="rId6"/>
    <p:sldId id="336" r:id="rId7"/>
    <p:sldId id="337" r:id="rId8"/>
    <p:sldId id="339" r:id="rId9"/>
    <p:sldId id="340" r:id="rId10"/>
    <p:sldId id="341" r:id="rId11"/>
    <p:sldId id="634" r:id="rId12"/>
    <p:sldId id="347" r:id="rId13"/>
    <p:sldId id="374" r:id="rId14"/>
    <p:sldId id="348" r:id="rId15"/>
    <p:sldId id="349" r:id="rId16"/>
    <p:sldId id="657" r:id="rId17"/>
    <p:sldId id="654" r:id="rId18"/>
    <p:sldId id="350" r:id="rId19"/>
    <p:sldId id="658" r:id="rId20"/>
    <p:sldId id="352" r:id="rId21"/>
    <p:sldId id="353" r:id="rId22"/>
    <p:sldId id="655" r:id="rId23"/>
    <p:sldId id="354" r:id="rId24"/>
    <p:sldId id="355" r:id="rId25"/>
    <p:sldId id="659" r:id="rId26"/>
    <p:sldId id="356" r:id="rId27"/>
    <p:sldId id="375" r:id="rId28"/>
    <p:sldId id="376" r:id="rId29"/>
    <p:sldId id="674" r:id="rId30"/>
    <p:sldId id="345" r:id="rId31"/>
    <p:sldId id="346" r:id="rId32"/>
    <p:sldId id="667" r:id="rId33"/>
    <p:sldId id="668" r:id="rId34"/>
    <p:sldId id="351" r:id="rId35"/>
    <p:sldId id="669" r:id="rId36"/>
    <p:sldId id="393" r:id="rId37"/>
    <p:sldId id="677" r:id="rId38"/>
    <p:sldId id="675" r:id="rId39"/>
    <p:sldId id="671" r:id="rId40"/>
    <p:sldId id="672" r:id="rId41"/>
    <p:sldId id="673" r:id="rId42"/>
    <p:sldId id="676" r:id="rId43"/>
    <p:sldId id="359" r:id="rId44"/>
    <p:sldId id="360" r:id="rId45"/>
    <p:sldId id="585"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FF"/>
    <a:srgbClr val="FF8D43"/>
    <a:srgbClr val="F0F1F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268"/>
    <p:restoredTop sz="94677"/>
  </p:normalViewPr>
  <p:slideViewPr>
    <p:cSldViewPr snapToGrid="0" snapToObjects="1">
      <p:cViewPr varScale="1">
        <p:scale>
          <a:sx n="101" d="100"/>
          <a:sy n="101" d="100"/>
        </p:scale>
        <p:origin x="712"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7B4BA1F-1031-2C42-837A-C6DBAB340155}" type="datetimeFigureOut">
              <a:rPr lang="en-US" smtClean="0"/>
              <a:t>6/12/21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B4C20E3-FB14-7E48-9C5F-483662B93F81}" type="slidenum">
              <a:rPr lang="en-US" smtClean="0"/>
              <a:t>‹#›</a:t>
            </a:fld>
            <a:endParaRPr lang="en-US"/>
          </a:p>
        </p:txBody>
      </p:sp>
    </p:spTree>
    <p:extLst>
      <p:ext uri="{BB962C8B-B14F-4D97-AF65-F5344CB8AC3E}">
        <p14:creationId xmlns:p14="http://schemas.microsoft.com/office/powerpoint/2010/main" val="12557642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D9761D-73B9-1A4F-8555-48E06A216E40}" type="datetimeFigureOut">
              <a:rPr lang="en-US" smtClean="0"/>
              <a:t>6/12/21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59DADB-19AE-004E-8C71-97EB08DF0A89}" type="slidenum">
              <a:rPr lang="en-US" smtClean="0"/>
              <a:t>‹#›</a:t>
            </a:fld>
            <a:endParaRPr lang="en-US"/>
          </a:p>
        </p:txBody>
      </p:sp>
    </p:spTree>
    <p:extLst>
      <p:ext uri="{BB962C8B-B14F-4D97-AF65-F5344CB8AC3E}">
        <p14:creationId xmlns:p14="http://schemas.microsoft.com/office/powerpoint/2010/main" val="290918774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b="1" dirty="0"/>
              <a:t>Video Module 8-01</a:t>
            </a:r>
          </a:p>
        </p:txBody>
      </p:sp>
      <p:sp>
        <p:nvSpPr>
          <p:cNvPr id="4" name="Slide Number Placeholder 3"/>
          <p:cNvSpPr>
            <a:spLocks noGrp="1"/>
          </p:cNvSpPr>
          <p:nvPr>
            <p:ph type="sldNum" sz="quarter" idx="10"/>
          </p:nvPr>
        </p:nvSpPr>
        <p:spPr/>
        <p:txBody>
          <a:bodyPr/>
          <a:lstStyle/>
          <a:p>
            <a:fld id="{BD59DADB-19AE-004E-8C71-97EB08DF0A89}" type="slidenum">
              <a:rPr lang="en-US" smtClean="0"/>
              <a:t>1</a:t>
            </a:fld>
            <a:endParaRPr lang="en-US"/>
          </a:p>
        </p:txBody>
      </p:sp>
    </p:spTree>
    <p:extLst>
      <p:ext uri="{BB962C8B-B14F-4D97-AF65-F5344CB8AC3E}">
        <p14:creationId xmlns:p14="http://schemas.microsoft.com/office/powerpoint/2010/main" val="1451963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0AA262-1C51-46F4-B4E1-EF8994126713}" type="slidenum">
              <a:rPr lang="en-US" smtClean="0"/>
              <a:t>2</a:t>
            </a:fld>
            <a:endParaRPr lang="en-US"/>
          </a:p>
        </p:txBody>
      </p:sp>
    </p:spTree>
    <p:extLst>
      <p:ext uri="{BB962C8B-B14F-4D97-AF65-F5344CB8AC3E}">
        <p14:creationId xmlns:p14="http://schemas.microsoft.com/office/powerpoint/2010/main" val="1207481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3</a:t>
            </a:fld>
            <a:endParaRPr lang="en-US"/>
          </a:p>
        </p:txBody>
      </p:sp>
    </p:spTree>
    <p:extLst>
      <p:ext uri="{BB962C8B-B14F-4D97-AF65-F5344CB8AC3E}">
        <p14:creationId xmlns:p14="http://schemas.microsoft.com/office/powerpoint/2010/main" val="2605789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81F2ACF0-91FD-2442-BB26-9D07AB85A1E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7BC2D6-37FB-A64B-8052-2DA8C32A1B66}"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52227" name="Rectangle 2">
            <a:extLst>
              <a:ext uri="{FF2B5EF4-FFF2-40B4-BE49-F238E27FC236}">
                <a16:creationId xmlns:a16="http://schemas.microsoft.com/office/drawing/2014/main" id="{BD60AA5A-2EDC-AF48-80AA-DF489A7A8754}"/>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1EDD3307-3174-1642-80DB-6F51AA24BF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28296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2B68339A-B96C-8044-975B-1D3171A879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13377A-D573-324F-ACEC-5D24FB76E226}"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FC3AEF36-7031-E94F-AD8F-03C4EE9C13C8}"/>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CB1EE1F0-92F0-3B4C-8ACA-1044F35AD1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783816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CF11C990-83EB-1041-B7FD-E739761BF2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3DFEF15-C5D1-A547-A73C-39FD20BB2419}"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54275" name="Rectangle 2">
            <a:extLst>
              <a:ext uri="{FF2B5EF4-FFF2-40B4-BE49-F238E27FC236}">
                <a16:creationId xmlns:a16="http://schemas.microsoft.com/office/drawing/2014/main" id="{8B779AD4-9DFB-2249-8FDE-D95A015237CB}"/>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12E26359-AC15-9641-B79F-CBE05134D2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052504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AB268D6-BB67-F048-B294-CCD8BD46A3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9AFEAB-4F72-6746-BC85-FCCD768E548A}"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99F4CF2A-E56F-4B49-83C5-48925FFBEAFB}"/>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ABC39BB9-7C3C-A34B-9BDC-643DDB255F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878063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8-02</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11</a:t>
            </a:fld>
            <a:endParaRPr lang="en-US"/>
          </a:p>
        </p:txBody>
      </p:sp>
    </p:spTree>
    <p:extLst>
      <p:ext uri="{BB962C8B-B14F-4D97-AF65-F5344CB8AC3E}">
        <p14:creationId xmlns:p14="http://schemas.microsoft.com/office/powerpoint/2010/main" val="4274613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17FE8837-0E9F-114E-B63E-9DEF233D089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452602E-9F3B-A042-9EAB-7ACBA5F4C9A1}"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BE197CB8-2240-1E44-9BDC-B1E0A306CA7B}"/>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C6D4C1F9-DC24-2B47-B75A-68E87C1F1C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401792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D7E16C0-CE5B-B24F-B662-76E538BB48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EF31A0-8E89-DC45-A513-3D8A4503C404}"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60419" name="Rectangle 2">
            <a:extLst>
              <a:ext uri="{FF2B5EF4-FFF2-40B4-BE49-F238E27FC236}">
                <a16:creationId xmlns:a16="http://schemas.microsoft.com/office/drawing/2014/main" id="{125B2A47-FBA6-ED42-84FC-441AF339B605}"/>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8843369F-009A-C74C-ADFC-6D3B2D4B89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177433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4ADA15F-3144-6E4D-9335-43BC6AFFB8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E241F1D-E6F7-5748-A521-79042C0CDA41}"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E5DB7E0C-81E3-344D-A566-21537AABCB55}"/>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C0E34464-588B-FE41-A0AA-4E8952E278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744346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E72C114-1D15-BD43-8F80-0CD51DB841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4D42B5-35D7-AA4E-A76E-08DEFA1D0611}"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1EF40B38-3565-184D-A1C5-ACCD9F15E40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DA9B8C6-AEBA-8744-98A4-B9D9607EA3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83587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AE72C114-1D15-BD43-8F80-0CD51DB841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64D42B5-35D7-AA4E-A76E-08DEFA1D0611}"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1EF40B38-3565-184D-A1C5-ACCD9F15E408}"/>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DA9B8C6-AEBA-8744-98A4-B9D9607EA3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774038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8-03</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17</a:t>
            </a:fld>
            <a:endParaRPr lang="en-US"/>
          </a:p>
        </p:txBody>
      </p:sp>
    </p:spTree>
    <p:extLst>
      <p:ext uri="{BB962C8B-B14F-4D97-AF65-F5344CB8AC3E}">
        <p14:creationId xmlns:p14="http://schemas.microsoft.com/office/powerpoint/2010/main" val="3156108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B8E344D-B582-6641-8C8A-D3F66C317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6D62F37-C8FE-8449-81D7-466D8BC9D231}"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7F8C67D6-8716-6044-9963-1362823DC81B}"/>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5D3F842A-85D4-F144-AE49-9FA2D40178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527577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B8E344D-B582-6641-8C8A-D3F66C3177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6D62F37-C8FE-8449-81D7-466D8BC9D231}"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7F8C67D6-8716-6044-9963-1362823DC81B}"/>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5D3F842A-85D4-F144-AE49-9FA2D40178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33006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E621CFD-B72A-D046-BCAA-2003F29684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21E3D5-118F-7D4D-AD2F-01B26E423527}"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8E0A94D6-D2C8-474C-8475-25F411E58C65}"/>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0C50AB46-367E-F241-8679-87ED836B70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944051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92BDA53-ABC8-3645-8A93-35E6AE8A63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ABA0C7E-DFB4-FB40-B6B4-C877B041EE8F}"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72A4A7C7-0262-6840-845B-0681EBE698F6}"/>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537C7094-39B9-004A-9BE5-83AE7B3DA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20578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8-04</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22</a:t>
            </a:fld>
            <a:endParaRPr lang="en-US"/>
          </a:p>
        </p:txBody>
      </p:sp>
    </p:spTree>
    <p:extLst>
      <p:ext uri="{BB962C8B-B14F-4D97-AF65-F5344CB8AC3E}">
        <p14:creationId xmlns:p14="http://schemas.microsoft.com/office/powerpoint/2010/main" val="3895165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EF068F42-D2EE-534A-A74C-2528B845660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0A4A9B6-1036-594B-A9AE-59CB01366695}"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6A055FEF-173B-F544-AC26-13484B16C2D7}"/>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E98BFE44-9740-B441-AA44-1FFAFB9E07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00097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80E8795A-3CF4-C346-B0B8-1B21A3DF6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488E56D-6A3A-B445-933B-55ADCF151CC1}"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67587" name="Rectangle 2">
            <a:extLst>
              <a:ext uri="{FF2B5EF4-FFF2-40B4-BE49-F238E27FC236}">
                <a16:creationId xmlns:a16="http://schemas.microsoft.com/office/drawing/2014/main" id="{260B525C-829D-5346-8089-494943698A3D}"/>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0CE0583-11CB-7E4E-9224-7F67D56F9A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8061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40ABD03-6448-0A46-B5D6-A1CF666206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3D974E7-8226-A141-950E-A57195CA4950}"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A3D97118-9A7D-684F-B48B-F062180948E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9E548F1-1C32-E944-BC78-3E6460C0A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807036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40ABD03-6448-0A46-B5D6-A1CF666206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3D974E7-8226-A141-950E-A57195CA4950}"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A3D97118-9A7D-684F-B48B-F062180948EA}"/>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79E548F1-1C32-E944-BC78-3E6460C0A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6187024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47550AB-1E69-2C46-8270-6D07522CBB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B4EA1D6-A390-164B-AC12-4E14E6DCA155}"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12E8A9AF-FE70-3143-9C89-7E72B59D84B2}"/>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41BF775B-699C-564F-A635-DE85332D52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1302504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B5887EFA-9E81-E74F-8679-5C37F9C54E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3376346-0644-C541-B8BD-75E012C0B7B2}"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70E81C57-E104-1142-8794-9D2CCCF986DD}"/>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6660E325-E5FB-5F42-BECF-212836F2C9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3052392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8-05</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29</a:t>
            </a:fld>
            <a:endParaRPr lang="en-US"/>
          </a:p>
        </p:txBody>
      </p:sp>
    </p:spTree>
    <p:extLst>
      <p:ext uri="{BB962C8B-B14F-4D97-AF65-F5344CB8AC3E}">
        <p14:creationId xmlns:p14="http://schemas.microsoft.com/office/powerpoint/2010/main" val="25312527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9995DAA4-2F30-BA48-90FC-24DC2926AA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4C49CA58-63C1-B84A-ACBA-00B1B34A4723}"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35842" name="Rectangle 2">
            <a:extLst>
              <a:ext uri="{FF2B5EF4-FFF2-40B4-BE49-F238E27FC236}">
                <a16:creationId xmlns:a16="http://schemas.microsoft.com/office/drawing/2014/main" id="{6CB6C95F-6BB8-4D4B-99C3-A5314735A47C}"/>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C4B44135-6E5C-4148-89A1-7F741A4D07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757471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A2442A78-24B8-454A-B200-A3B0FA6D3E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F27AB233-A8EE-8548-B90B-D92743F96D8B}"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37890" name="Rectangle 2">
            <a:extLst>
              <a:ext uri="{FF2B5EF4-FFF2-40B4-BE49-F238E27FC236}">
                <a16:creationId xmlns:a16="http://schemas.microsoft.com/office/drawing/2014/main" id="{61C10279-BBA8-C146-82B2-A3D140068DE0}"/>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83B5939B-9976-9644-A85A-A34C54285F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3101035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6C40251A-EB23-E74A-90A6-72A83CE1FC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0606BC53-09CD-4448-9D90-3B0254954E10}"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39938" name="Rectangle 2">
            <a:extLst>
              <a:ext uri="{FF2B5EF4-FFF2-40B4-BE49-F238E27FC236}">
                <a16:creationId xmlns:a16="http://schemas.microsoft.com/office/drawing/2014/main" id="{B14DD6E1-2062-3141-A91F-09565DAD1705}"/>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1ACAB0CA-D303-3847-92A8-8FADAFA181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24910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05446AC5-5BF7-7B4E-8B49-56F2E933A9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0A99E8E0-FD34-234F-9A45-346B93E31F28}" type="slidenum">
              <a:rPr lang="en-US" altLang="en-US" sz="1200">
                <a:latin typeface="Times New Roman" panose="02020603050405020304" pitchFamily="18" charset="0"/>
              </a:rPr>
              <a:pPr/>
              <a:t>34</a:t>
            </a:fld>
            <a:endParaRPr lang="en-US" altLang="en-US" sz="1200">
              <a:latin typeface="Times New Roman" panose="02020603050405020304" pitchFamily="18" charset="0"/>
            </a:endParaRPr>
          </a:p>
        </p:txBody>
      </p:sp>
      <p:sp>
        <p:nvSpPr>
          <p:cNvPr id="46082" name="Rectangle 2">
            <a:extLst>
              <a:ext uri="{FF2B5EF4-FFF2-40B4-BE49-F238E27FC236}">
                <a16:creationId xmlns:a16="http://schemas.microsoft.com/office/drawing/2014/main" id="{57051645-6812-A543-84EE-2AA856803ED6}"/>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D57E9B76-8871-9A43-B5C0-503F3BD2D7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9833857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1B7ADC47-381B-B94D-A713-A836462376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7D7CC189-DA56-064E-A81A-23EEA3B4C5AD}"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44034" name="Rectangle 2">
            <a:extLst>
              <a:ext uri="{FF2B5EF4-FFF2-40B4-BE49-F238E27FC236}">
                <a16:creationId xmlns:a16="http://schemas.microsoft.com/office/drawing/2014/main" id="{2E7EEB0F-3975-2C47-BA63-8B1E148CE8D8}"/>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DA8E25A6-75A8-F243-B20D-53EB234E71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2645464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8-06</a:t>
            </a:r>
          </a:p>
          <a:p>
            <a:pPr marL="0" marR="0" indent="0" algn="l" defTabSz="4572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10"/>
          </p:nvPr>
        </p:nvSpPr>
        <p:spPr/>
        <p:txBody>
          <a:bodyPr/>
          <a:lstStyle/>
          <a:p>
            <a:fld id="{BD59DADB-19AE-004E-8C71-97EB08DF0A89}" type="slidenum">
              <a:rPr lang="en-US" smtClean="0"/>
              <a:t>38</a:t>
            </a:fld>
            <a:endParaRPr lang="en-US"/>
          </a:p>
        </p:txBody>
      </p:sp>
    </p:spTree>
    <p:extLst>
      <p:ext uri="{BB962C8B-B14F-4D97-AF65-F5344CB8AC3E}">
        <p14:creationId xmlns:p14="http://schemas.microsoft.com/office/powerpoint/2010/main" val="40298729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0D78B734-328F-7548-87F9-1AA71C3C2A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F2DE36F0-232B-2D40-849A-86C8FA86969D}" type="slidenum">
              <a:rPr lang="en-US" altLang="en-US" sz="1200">
                <a:latin typeface="Times New Roman" panose="02020603050405020304" pitchFamily="18" charset="0"/>
              </a:rPr>
              <a:pPr/>
              <a:t>40</a:t>
            </a:fld>
            <a:endParaRPr lang="en-US" altLang="en-US" sz="1200">
              <a:latin typeface="Times New Roman" panose="02020603050405020304" pitchFamily="18" charset="0"/>
            </a:endParaRPr>
          </a:p>
        </p:txBody>
      </p:sp>
      <p:sp>
        <p:nvSpPr>
          <p:cNvPr id="51202" name="Rectangle 2">
            <a:extLst>
              <a:ext uri="{FF2B5EF4-FFF2-40B4-BE49-F238E27FC236}">
                <a16:creationId xmlns:a16="http://schemas.microsoft.com/office/drawing/2014/main" id="{8B2DC3C6-C658-2641-B70C-C949C6E5C3FC}"/>
              </a:ext>
            </a:extLst>
          </p:cNvPr>
          <p:cNvSpPr>
            <a:spLocks noGrp="1" noRot="1" noChangeAspect="1" noChangeArrowheads="1" noTextEdit="1"/>
          </p:cNvSpPr>
          <p:nvPr>
            <p:ph type="sldImg"/>
          </p:nvPr>
        </p:nvSpPr>
        <p:spPr>
          <a:ln/>
        </p:spPr>
      </p:sp>
      <p:sp>
        <p:nvSpPr>
          <p:cNvPr id="51203" name="Rectangle 3">
            <a:extLst>
              <a:ext uri="{FF2B5EF4-FFF2-40B4-BE49-F238E27FC236}">
                <a16:creationId xmlns:a16="http://schemas.microsoft.com/office/drawing/2014/main" id="{6966E560-1F48-134C-B5C3-EFE16102DA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0427937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5F51AB60-E98C-2444-9E3E-BBF7A0358D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B081D4E9-3F0F-424D-ADB2-067457E1168B}" type="slidenum">
              <a:rPr lang="en-US" altLang="en-US" sz="1200">
                <a:latin typeface="Times New Roman" panose="02020603050405020304" pitchFamily="18" charset="0"/>
              </a:rPr>
              <a:pPr/>
              <a:t>41</a:t>
            </a:fld>
            <a:endParaRPr lang="en-US" altLang="en-US" sz="1200">
              <a:latin typeface="Times New Roman" panose="02020603050405020304" pitchFamily="18" charset="0"/>
            </a:endParaRPr>
          </a:p>
        </p:txBody>
      </p:sp>
      <p:sp>
        <p:nvSpPr>
          <p:cNvPr id="53250" name="Rectangle 2">
            <a:extLst>
              <a:ext uri="{FF2B5EF4-FFF2-40B4-BE49-F238E27FC236}">
                <a16:creationId xmlns:a16="http://schemas.microsoft.com/office/drawing/2014/main" id="{571D2B4B-7735-A040-B83D-E8FBCFBEF39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23505152-3E8A-CC44-9CFB-9F9EB66566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40027963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5F51AB60-E98C-2444-9E3E-BBF7A0358D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B081D4E9-3F0F-424D-ADB2-067457E1168B}" type="slidenum">
              <a:rPr lang="en-US" altLang="en-US" sz="1200">
                <a:latin typeface="Times New Roman" panose="02020603050405020304" pitchFamily="18" charset="0"/>
              </a:rPr>
              <a:pPr/>
              <a:t>42</a:t>
            </a:fld>
            <a:endParaRPr lang="en-US" altLang="en-US" sz="1200">
              <a:latin typeface="Times New Roman" panose="02020603050405020304" pitchFamily="18" charset="0"/>
            </a:endParaRPr>
          </a:p>
        </p:txBody>
      </p:sp>
      <p:sp>
        <p:nvSpPr>
          <p:cNvPr id="53250" name="Rectangle 2">
            <a:extLst>
              <a:ext uri="{FF2B5EF4-FFF2-40B4-BE49-F238E27FC236}">
                <a16:creationId xmlns:a16="http://schemas.microsoft.com/office/drawing/2014/main" id="{571D2B4B-7735-A040-B83D-E8FBCFBEF390}"/>
              </a:ext>
            </a:extLst>
          </p:cNvPr>
          <p:cNvSpPr>
            <a:spLocks noGrp="1" noRot="1" noChangeAspect="1" noChangeArrowheads="1" noTextEdit="1"/>
          </p:cNvSpPr>
          <p:nvPr>
            <p:ph type="sldImg"/>
          </p:nvPr>
        </p:nvSpPr>
        <p:spPr>
          <a:ln/>
        </p:spPr>
      </p:sp>
      <p:sp>
        <p:nvSpPr>
          <p:cNvPr id="53251" name="Rectangle 3">
            <a:extLst>
              <a:ext uri="{FF2B5EF4-FFF2-40B4-BE49-F238E27FC236}">
                <a16:creationId xmlns:a16="http://schemas.microsoft.com/office/drawing/2014/main" id="{23505152-3E8A-CC44-9CFB-9F9EB66566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9691613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C620A1A6-BA22-EA4A-A077-C414C15558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sz="2400">
                <a:solidFill>
                  <a:schemeClr val="tx1"/>
                </a:solidFill>
                <a:latin typeface="Verdana" panose="020B0604030504040204" pitchFamily="34" charset="0"/>
                <a:ea typeface="MS PGothic" panose="020B0600070205080204" pitchFamily="34" charset="-128"/>
              </a:defRPr>
            </a:lvl1pPr>
            <a:lvl2pPr marL="742950" indent="-285750" defTabSz="939800">
              <a:defRPr sz="2400">
                <a:solidFill>
                  <a:schemeClr val="tx1"/>
                </a:solidFill>
                <a:latin typeface="Verdana" panose="020B0604030504040204" pitchFamily="34" charset="0"/>
                <a:ea typeface="MS PGothic" panose="020B0600070205080204" pitchFamily="34" charset="-128"/>
              </a:defRPr>
            </a:lvl2pPr>
            <a:lvl3pPr marL="1143000" indent="-228600" defTabSz="939800">
              <a:defRPr sz="2400">
                <a:solidFill>
                  <a:schemeClr val="tx1"/>
                </a:solidFill>
                <a:latin typeface="Verdana" panose="020B0604030504040204" pitchFamily="34" charset="0"/>
                <a:ea typeface="MS PGothic" panose="020B0600070205080204" pitchFamily="34" charset="-128"/>
              </a:defRPr>
            </a:lvl3pPr>
            <a:lvl4pPr marL="1600200" indent="-228600" defTabSz="939800">
              <a:defRPr sz="2400">
                <a:solidFill>
                  <a:schemeClr val="tx1"/>
                </a:solidFill>
                <a:latin typeface="Verdana" panose="020B0604030504040204" pitchFamily="34" charset="0"/>
                <a:ea typeface="MS PGothic" panose="020B0600070205080204" pitchFamily="34" charset="-128"/>
              </a:defRPr>
            </a:lvl4pPr>
            <a:lvl5pPr marL="2057400" indent="-228600" defTabSz="939800">
              <a:defRPr sz="2400">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fld id="{2252D033-1F47-154F-8803-474675589C7D}" type="slidenum">
              <a:rPr lang="en-US" altLang="en-US" sz="1200">
                <a:latin typeface="Times New Roman" panose="02020603050405020304" pitchFamily="18" charset="0"/>
              </a:rPr>
              <a:pPr/>
              <a:t>43</a:t>
            </a:fld>
            <a:endParaRPr lang="en-US" altLang="en-US" sz="1200">
              <a:latin typeface="Times New Roman" panose="02020603050405020304" pitchFamily="18" charset="0"/>
            </a:endParaRPr>
          </a:p>
        </p:txBody>
      </p:sp>
      <p:sp>
        <p:nvSpPr>
          <p:cNvPr id="57346" name="Rectangle 2">
            <a:extLst>
              <a:ext uri="{FF2B5EF4-FFF2-40B4-BE49-F238E27FC236}">
                <a16:creationId xmlns:a16="http://schemas.microsoft.com/office/drawing/2014/main" id="{DCC11CE7-1093-2C45-BEAD-01883D4364AF}"/>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3804D4E2-A5A8-494B-A464-314FA31699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2916039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a:t>Video Module 8-07</a:t>
            </a:r>
          </a:p>
        </p:txBody>
      </p:sp>
      <p:sp>
        <p:nvSpPr>
          <p:cNvPr id="4" name="Slide Number Placeholder 3"/>
          <p:cNvSpPr>
            <a:spLocks noGrp="1"/>
          </p:cNvSpPr>
          <p:nvPr>
            <p:ph type="sldNum" sz="quarter" idx="10"/>
          </p:nvPr>
        </p:nvSpPr>
        <p:spPr/>
        <p:txBody>
          <a:bodyPr/>
          <a:lstStyle/>
          <a:p>
            <a:fld id="{BD59DADB-19AE-004E-8C71-97EB08DF0A89}" type="slidenum">
              <a:rPr lang="en-US" smtClean="0"/>
              <a:t>45</a:t>
            </a:fld>
            <a:endParaRPr lang="en-US"/>
          </a:p>
        </p:txBody>
      </p:sp>
    </p:spTree>
    <p:extLst>
      <p:ext uri="{BB962C8B-B14F-4D97-AF65-F5344CB8AC3E}">
        <p14:creationId xmlns:p14="http://schemas.microsoft.com/office/powerpoint/2010/main" val="8995952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 y="983655"/>
            <a:ext cx="9143999" cy="4890691"/>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 y="4488455"/>
            <a:ext cx="9143999" cy="777008"/>
          </a:xfrm>
          <a:prstGeom prst="rect">
            <a:avLst/>
          </a:prstGeom>
        </p:spPr>
        <p:txBody>
          <a:bodyPr anchor="b">
            <a:noAutofit/>
          </a:bodyPr>
          <a:lstStyle>
            <a:lvl1pPr algn="ctr">
              <a:defRPr sz="3300" b="0" spc="-75" baseline="0">
                <a:solidFill>
                  <a:srgbClr val="F4812A"/>
                </a:solidFill>
                <a:latin typeface="Gill Sans MT" charset="0"/>
                <a:ea typeface="Gill Sans MT" charset="0"/>
                <a:cs typeface="Gill Sans MT" charset="0"/>
              </a:defRPr>
            </a:lvl1pPr>
          </a:lstStyle>
          <a:p>
            <a:r>
              <a:rPr lang="en-US"/>
              <a:t>Click to edit Master title style</a:t>
            </a:r>
            <a:endParaRPr lang="en-US" dirty="0"/>
          </a:p>
        </p:txBody>
      </p:sp>
      <p:sp>
        <p:nvSpPr>
          <p:cNvPr id="3" name="Subtitle 2"/>
          <p:cNvSpPr>
            <a:spLocks noGrp="1"/>
          </p:cNvSpPr>
          <p:nvPr>
            <p:ph type="subTitle" idx="1"/>
          </p:nvPr>
        </p:nvSpPr>
        <p:spPr>
          <a:xfrm>
            <a:off x="3" y="5279800"/>
            <a:ext cx="9143999" cy="465952"/>
          </a:xfrm>
          <a:prstGeom prst="rect">
            <a:avLst/>
          </a:prstGeom>
        </p:spPr>
        <p:txBody>
          <a:bodyPr anchor="t">
            <a:noAutofit/>
          </a:bodyPr>
          <a:lstStyle>
            <a:lvl1pPr marL="0" indent="0" algn="ctr">
              <a:buNone/>
              <a:defRPr sz="1500" b="0" i="0" cap="none" spc="0" baseline="0">
                <a:solidFill>
                  <a:schemeClr val="bg1"/>
                </a:solidFill>
                <a:latin typeface="Gill Sans MT" charset="0"/>
                <a:ea typeface="Gill Sans MT" charset="0"/>
                <a:cs typeface="Gill Sans MT" charset="0"/>
              </a:defRPr>
            </a:lvl1pPr>
            <a:lvl2pPr marL="342900" indent="0" algn="ctr">
              <a:buNone/>
              <a:defRPr sz="1650"/>
            </a:lvl2pPr>
            <a:lvl3pPr marL="685800" indent="0" algn="ctr">
              <a:buNone/>
              <a:defRPr sz="165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1054" y="1984211"/>
            <a:ext cx="5581894" cy="2003756"/>
          </a:xfrm>
          <a:prstGeom prst="rect">
            <a:avLst/>
          </a:prstGeom>
        </p:spPr>
      </p:pic>
    </p:spTree>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and Content w Video">
    <p:bg>
      <p:bgPr>
        <a:blipFill dpi="0" rotWithShape="1">
          <a:blip r:embed="rId2">
            <a:alphaModFix amt="67000"/>
            <a:extLst>
              <a:ext uri="{BEBA8EAE-BF5A-486C-A8C5-ECC9F3942E4B}">
                <a14:imgProps xmlns:a14="http://schemas.microsoft.com/office/drawing/2010/main">
                  <a14:imgLayer r:embed="rId3">
                    <a14:imgEffect>
                      <a14:brightnessContrast bright="14000" contras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0" name="Rectangle 9"/>
          <p:cNvSpPr/>
          <p:nvPr/>
        </p:nvSpPr>
        <p:spPr>
          <a:xfrm>
            <a:off x="3" y="0"/>
            <a:ext cx="2582693" cy="6858000"/>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2901951" y="864108"/>
            <a:ext cx="5486400" cy="5120640"/>
          </a:xfrm>
          <a:prstGeom prst="rect">
            <a:avLst/>
          </a:prstGeom>
        </p:spPr>
        <p:txBody>
          <a:bodyPr anchor="t"/>
          <a:lstStyle>
            <a:lvl1pPr marL="25717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56578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8658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2087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5516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a:spLocks noGrp="1"/>
          </p:cNvSpPr>
          <p:nvPr>
            <p:ph type="title" hasCustomPrompt="1"/>
          </p:nvPr>
        </p:nvSpPr>
        <p:spPr>
          <a:xfrm>
            <a:off x="189689" y="2"/>
            <a:ext cx="2210612" cy="6857999"/>
          </a:xfrm>
          <a:prstGeom prst="rect">
            <a:avLst/>
          </a:prstGeom>
        </p:spPr>
        <p:txBody>
          <a:bodyPr vert="horz" lIns="91440" tIns="45720" rIns="91440" bIns="45720" rtlCol="0" anchor="ctr">
            <a:noAutofit/>
          </a:bodyPr>
          <a:lstStyle>
            <a:lvl1pPr algn="ctr">
              <a:defRPr sz="2400" b="0" baseline="0">
                <a:solidFill>
                  <a:srgbClr val="E78734"/>
                </a:solidFill>
                <a:latin typeface="Gill Sans MT" charset="0"/>
                <a:ea typeface="Gill Sans MT" charset="0"/>
                <a:cs typeface="Gill Sans MT" charset="0"/>
              </a:defRPr>
            </a:lvl1pPr>
          </a:lstStyle>
          <a:p>
            <a:r>
              <a:rPr lang="en-US" dirty="0"/>
              <a:t>Add Title </a:t>
            </a:r>
            <a:br>
              <a:rPr lang="en-US" dirty="0"/>
            </a:br>
            <a:r>
              <a:rPr lang="en-US" dirty="0"/>
              <a:t>Here</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9_Title and Content w Video">
    <p:spTree>
      <p:nvGrpSpPr>
        <p:cNvPr id="1" name=""/>
        <p:cNvGrpSpPr/>
        <p:nvPr/>
      </p:nvGrpSpPr>
      <p:grpSpPr>
        <a:xfrm>
          <a:off x="0" y="0"/>
          <a:ext cx="0" cy="0"/>
          <a:chOff x="0" y="0"/>
          <a:chExt cx="0" cy="0"/>
        </a:xfrm>
      </p:grpSpPr>
      <p:sp>
        <p:nvSpPr>
          <p:cNvPr id="10" name="Rectangle 9"/>
          <p:cNvSpPr/>
          <p:nvPr/>
        </p:nvSpPr>
        <p:spPr>
          <a:xfrm>
            <a:off x="2" y="2"/>
            <a:ext cx="1905119" cy="6857999"/>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Placeholder 1"/>
          <p:cNvSpPr>
            <a:spLocks noGrp="1"/>
          </p:cNvSpPr>
          <p:nvPr>
            <p:ph type="title" hasCustomPrompt="1"/>
          </p:nvPr>
        </p:nvSpPr>
        <p:spPr>
          <a:xfrm>
            <a:off x="117872" y="171452"/>
            <a:ext cx="1660922" cy="2045969"/>
          </a:xfrm>
          <a:prstGeom prst="rect">
            <a:avLst/>
          </a:prstGeom>
        </p:spPr>
        <p:txBody>
          <a:bodyPr vert="horz" lIns="91440" tIns="45720" rIns="91440" bIns="45720" rtlCol="0" anchor="ctr">
            <a:noAutofit/>
          </a:bodyPr>
          <a:lstStyle>
            <a:lvl1pPr>
              <a:defRPr sz="2400" b="0">
                <a:solidFill>
                  <a:srgbClr val="E78734"/>
                </a:solidFill>
                <a:latin typeface="Gill Sans MT" charset="0"/>
                <a:ea typeface="Gill Sans MT" charset="0"/>
                <a:cs typeface="Gill Sans MT" charset="0"/>
              </a:defRPr>
            </a:lvl1pPr>
          </a:lstStyle>
          <a:p>
            <a:r>
              <a:rPr lang="en-US" dirty="0"/>
              <a:t>Add Title Here</a:t>
            </a:r>
          </a:p>
        </p:txBody>
      </p:sp>
      <p:sp>
        <p:nvSpPr>
          <p:cNvPr id="4" name="Text Placeholder 3"/>
          <p:cNvSpPr>
            <a:spLocks noGrp="1"/>
          </p:cNvSpPr>
          <p:nvPr>
            <p:ph type="body" sz="quarter" idx="10"/>
          </p:nvPr>
        </p:nvSpPr>
        <p:spPr>
          <a:xfrm>
            <a:off x="2616996" y="1407555"/>
            <a:ext cx="5967413" cy="4910696"/>
          </a:xfrm>
          <a:prstGeom prst="rect">
            <a:avLst/>
          </a:prstGeom>
        </p:spPr>
        <p:txBody>
          <a:bodyPr vert="horz"/>
          <a:lstStyle>
            <a:lvl1pPr marL="39433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p:cNvSpPr>
            <a:spLocks noGrp="1"/>
          </p:cNvSpPr>
          <p:nvPr>
            <p:ph type="body" sz="quarter" idx="11" hasCustomPrompt="1"/>
          </p:nvPr>
        </p:nvSpPr>
        <p:spPr>
          <a:xfrm>
            <a:off x="2616996" y="459263"/>
            <a:ext cx="5967413" cy="550227"/>
          </a:xfrm>
          <a:prstGeom prst="rect">
            <a:avLst/>
          </a:prstGeom>
        </p:spPr>
        <p:txBody>
          <a:bodyPr vert="horz"/>
          <a:lstStyle>
            <a:lvl1pPr marL="0" indent="0" algn="ctr">
              <a:buNone/>
              <a:defRPr sz="3000" baseline="0">
                <a:solidFill>
                  <a:srgbClr val="0B194E"/>
                </a:solidFill>
                <a:latin typeface="Gill Sans MT" charset="0"/>
                <a:ea typeface="Gill Sans MT" charset="0"/>
                <a:cs typeface="Gill Sans MT" charset="0"/>
              </a:defRPr>
            </a:lvl1pPr>
          </a:lstStyle>
          <a:p>
            <a:pPr lvl="0"/>
            <a:r>
              <a:rPr lang="en-US" dirty="0"/>
              <a:t>Add Secondary Title Here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5_Title and Content w Video">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470424" y="603843"/>
            <a:ext cx="6107907" cy="642283"/>
          </a:xfrm>
          <a:prstGeom prst="rect">
            <a:avLst/>
          </a:prstGeom>
        </p:spPr>
        <p:txBody>
          <a:bodyPr vert="horz"/>
          <a:lstStyle>
            <a:lvl1pPr marL="0" indent="0" algn="ctr">
              <a:buNone/>
              <a:defRPr sz="2700" b="0" baseline="0">
                <a:solidFill>
                  <a:srgbClr val="0B194E"/>
                </a:solidFill>
                <a:latin typeface="Gill Sans MT" charset="0"/>
                <a:ea typeface="Gill Sans MT" charset="0"/>
                <a:cs typeface="Gill Sans MT" charset="0"/>
              </a:defRPr>
            </a:lvl1pPr>
          </a:lstStyle>
          <a:p>
            <a:pPr lvl="0"/>
            <a:r>
              <a:rPr lang="en-US" dirty="0"/>
              <a:t> Title Here</a:t>
            </a:r>
          </a:p>
        </p:txBody>
      </p:sp>
      <p:sp>
        <p:nvSpPr>
          <p:cNvPr id="6" name="Media Placeholder 5"/>
          <p:cNvSpPr>
            <a:spLocks noGrp="1"/>
          </p:cNvSpPr>
          <p:nvPr>
            <p:ph type="media" sz="quarter" idx="11"/>
          </p:nvPr>
        </p:nvSpPr>
        <p:spPr>
          <a:xfrm>
            <a:off x="1470425" y="1628774"/>
            <a:ext cx="6273403" cy="4667251"/>
          </a:xfrm>
          <a:prstGeom prst="rect">
            <a:avLst/>
          </a:prstGeom>
        </p:spPr>
        <p:txBody>
          <a:bodyPr vert="horz"/>
          <a:lstStyle>
            <a:lvl1pPr marL="0" indent="0">
              <a:buNone/>
              <a:defRPr b="0" i="0">
                <a:latin typeface="Gill Sans MT" charset="0"/>
                <a:ea typeface="Gill Sans MT" charset="0"/>
                <a:cs typeface="Gill Sans MT" charset="0"/>
              </a:defRPr>
            </a:lvl1pPr>
          </a:lstStyle>
          <a:p>
            <a:r>
              <a:rPr lang="en-US"/>
              <a:t>Click icon to add media</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0_Title and Content w Video">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538928" y="1114427"/>
            <a:ext cx="4401476" cy="4954975"/>
          </a:xfrm>
          <a:prstGeom prst="rect">
            <a:avLst/>
          </a:prstGeom>
        </p:spPr>
        <p:txBody>
          <a:bodyPr vert="horz"/>
          <a:lstStyle>
            <a:lvl1pPr marL="39433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p:cNvSpPr>
            <a:spLocks noGrp="1"/>
          </p:cNvSpPr>
          <p:nvPr>
            <p:ph type="pic" sz="quarter" idx="11"/>
          </p:nvPr>
        </p:nvSpPr>
        <p:spPr>
          <a:xfrm>
            <a:off x="552668" y="504827"/>
            <a:ext cx="3751082" cy="5921375"/>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5" name="Text Placeholder 7"/>
          <p:cNvSpPr>
            <a:spLocks noGrp="1"/>
          </p:cNvSpPr>
          <p:nvPr>
            <p:ph type="body" sz="quarter" idx="12" hasCustomPrompt="1"/>
          </p:nvPr>
        </p:nvSpPr>
        <p:spPr>
          <a:xfrm>
            <a:off x="4538928" y="459263"/>
            <a:ext cx="4401476" cy="550227"/>
          </a:xfrm>
          <a:prstGeom prst="rect">
            <a:avLst/>
          </a:prstGeom>
        </p:spPr>
        <p:txBody>
          <a:bodyPr vert="horz"/>
          <a:lstStyle>
            <a:lvl1pPr marL="0" indent="0" algn="l">
              <a:buNone/>
              <a:defRPr sz="2100" baseline="0">
                <a:solidFill>
                  <a:srgbClr val="0B194E"/>
                </a:solidFill>
                <a:latin typeface="Gill Sans MT" charset="0"/>
                <a:ea typeface="Gill Sans MT" charset="0"/>
                <a:cs typeface="Gill Sans MT" charset="0"/>
              </a:defRPr>
            </a:lvl1pPr>
          </a:lstStyle>
          <a:p>
            <a:pPr lvl="0"/>
            <a:r>
              <a:rPr lang="en-US" dirty="0"/>
              <a:t>Add Secondary Title Here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1_Title and Content w Video">
    <p:spTree>
      <p:nvGrpSpPr>
        <p:cNvPr id="1" name=""/>
        <p:cNvGrpSpPr/>
        <p:nvPr/>
      </p:nvGrpSpPr>
      <p:grpSpPr>
        <a:xfrm>
          <a:off x="0" y="0"/>
          <a:ext cx="0" cy="0"/>
          <a:chOff x="0" y="0"/>
          <a:chExt cx="0" cy="0"/>
        </a:xfrm>
      </p:grpSpPr>
      <p:sp>
        <p:nvSpPr>
          <p:cNvPr id="6" name="Rectangle 5"/>
          <p:cNvSpPr/>
          <p:nvPr/>
        </p:nvSpPr>
        <p:spPr>
          <a:xfrm>
            <a:off x="4716893" y="2"/>
            <a:ext cx="4427108" cy="6857999"/>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Picture Placeholder 6"/>
          <p:cNvSpPr>
            <a:spLocks noGrp="1"/>
          </p:cNvSpPr>
          <p:nvPr>
            <p:ph type="pic" sz="quarter" idx="11"/>
          </p:nvPr>
        </p:nvSpPr>
        <p:spPr>
          <a:xfrm>
            <a:off x="206581" y="504827"/>
            <a:ext cx="4418999" cy="5921375"/>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4" name="Text Placeholder 3"/>
          <p:cNvSpPr>
            <a:spLocks noGrp="1"/>
          </p:cNvSpPr>
          <p:nvPr>
            <p:ph type="body" sz="quarter" idx="12" hasCustomPrompt="1"/>
          </p:nvPr>
        </p:nvSpPr>
        <p:spPr>
          <a:xfrm>
            <a:off x="4831559" y="504826"/>
            <a:ext cx="4108847" cy="520700"/>
          </a:xfrm>
          <a:prstGeom prst="rect">
            <a:avLst/>
          </a:prstGeom>
        </p:spPr>
        <p:txBody>
          <a:bodyPr vert="horz"/>
          <a:lstStyle>
            <a:lvl1pPr marL="0" indent="0" algn="ctr">
              <a:buNone/>
              <a:defRPr sz="2100" b="0">
                <a:solidFill>
                  <a:srgbClr val="E78734"/>
                </a:solidFill>
                <a:latin typeface="Gill Sans MT" charset="0"/>
                <a:ea typeface="Gill Sans MT" charset="0"/>
                <a:cs typeface="Gill Sans MT" charset="0"/>
              </a:defRPr>
            </a:lvl1pPr>
          </a:lstStyle>
          <a:p>
            <a:pPr lvl="0"/>
            <a:r>
              <a:rPr lang="en-US" dirty="0"/>
              <a:t>Add Title Here</a:t>
            </a:r>
          </a:p>
        </p:txBody>
      </p:sp>
      <p:sp>
        <p:nvSpPr>
          <p:cNvPr id="3" name="Text Placeholder 2"/>
          <p:cNvSpPr>
            <a:spLocks noGrp="1"/>
          </p:cNvSpPr>
          <p:nvPr>
            <p:ph type="body" sz="quarter" idx="10"/>
          </p:nvPr>
        </p:nvSpPr>
        <p:spPr>
          <a:xfrm>
            <a:off x="4831559" y="1331056"/>
            <a:ext cx="4108847" cy="5095144"/>
          </a:xfrm>
          <a:prstGeom prst="rect">
            <a:avLst/>
          </a:prstGeom>
        </p:spPr>
        <p:txBody>
          <a:bodyPr vert="horz"/>
          <a:lstStyle>
            <a:lvl1pPr marL="394335" indent="-257175">
              <a:spcBef>
                <a:spcPts val="900"/>
              </a:spcBef>
              <a:buClrTx/>
              <a:buFont typeface="Arial" charset="0"/>
              <a:buChar char="•"/>
              <a:defRPr>
                <a:solidFill>
                  <a:schemeClr val="bg1"/>
                </a:solidFill>
                <a:latin typeface="Gill Sans MT" charset="0"/>
                <a:ea typeface="Gill Sans MT" charset="0"/>
                <a:cs typeface="Gill Sans MT" charset="0"/>
              </a:defRPr>
            </a:lvl1pPr>
            <a:lvl2pPr marL="771525" indent="-257175">
              <a:spcBef>
                <a:spcPts val="900"/>
              </a:spcBef>
              <a:buClrTx/>
              <a:buFont typeface="Arial" charset="0"/>
              <a:buChar char="•"/>
              <a:defRPr>
                <a:solidFill>
                  <a:schemeClr val="bg1"/>
                </a:solidFill>
                <a:latin typeface="Gill Sans MT" charset="0"/>
                <a:ea typeface="Gill Sans MT" charset="0"/>
                <a:cs typeface="Gill Sans MT" charset="0"/>
              </a:defRPr>
            </a:lvl2pPr>
            <a:lvl3pPr marL="985838" indent="-214313">
              <a:spcBef>
                <a:spcPts val="900"/>
              </a:spcBef>
              <a:buClrTx/>
              <a:buFont typeface="Arial" charset="0"/>
              <a:buChar char="•"/>
              <a:defRPr>
                <a:solidFill>
                  <a:schemeClr val="bg1"/>
                </a:solidFill>
                <a:latin typeface="Gill Sans MT" charset="0"/>
                <a:ea typeface="Gill Sans MT" charset="0"/>
                <a:cs typeface="Gill Sans MT" charset="0"/>
              </a:defRPr>
            </a:lvl3pPr>
            <a:lvl4pPr marL="1328738" indent="-214313">
              <a:spcBef>
                <a:spcPts val="900"/>
              </a:spcBef>
              <a:buClrTx/>
              <a:buFont typeface="Arial" charset="0"/>
              <a:buChar char="•"/>
              <a:defRPr>
                <a:solidFill>
                  <a:schemeClr val="bg1"/>
                </a:solidFill>
                <a:latin typeface="Gill Sans MT" charset="0"/>
                <a:ea typeface="Gill Sans MT" charset="0"/>
                <a:cs typeface="Gill Sans MT" charset="0"/>
              </a:defRPr>
            </a:lvl4pPr>
            <a:lvl5pPr marL="1671638" indent="-214313">
              <a:spcBef>
                <a:spcPts val="900"/>
              </a:spcBef>
              <a:buClrTx/>
              <a:buFont typeface="Arial" charset="0"/>
              <a:buChar char="•"/>
              <a:defRPr>
                <a:solidFill>
                  <a:schemeClr val="bg1"/>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2_Title and Content w Video">
    <p:spTree>
      <p:nvGrpSpPr>
        <p:cNvPr id="1" name=""/>
        <p:cNvGrpSpPr/>
        <p:nvPr/>
      </p:nvGrpSpPr>
      <p:grpSpPr>
        <a:xfrm>
          <a:off x="0" y="0"/>
          <a:ext cx="0" cy="0"/>
          <a:chOff x="0" y="0"/>
          <a:chExt cx="0" cy="0"/>
        </a:xfrm>
      </p:grpSpPr>
      <p:sp>
        <p:nvSpPr>
          <p:cNvPr id="7" name="Picture Placeholder 6"/>
          <p:cNvSpPr>
            <a:spLocks noGrp="1"/>
          </p:cNvSpPr>
          <p:nvPr>
            <p:ph type="pic" sz="quarter" idx="11"/>
          </p:nvPr>
        </p:nvSpPr>
        <p:spPr>
          <a:xfrm>
            <a:off x="206581" y="504827"/>
            <a:ext cx="4418999" cy="5921375"/>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4" name="Text Placeholder 3"/>
          <p:cNvSpPr>
            <a:spLocks noGrp="1"/>
          </p:cNvSpPr>
          <p:nvPr>
            <p:ph type="body" sz="quarter" idx="12" hasCustomPrompt="1"/>
          </p:nvPr>
        </p:nvSpPr>
        <p:spPr>
          <a:xfrm>
            <a:off x="4831559" y="504826"/>
            <a:ext cx="4108847" cy="520700"/>
          </a:xfrm>
          <a:prstGeom prst="rect">
            <a:avLst/>
          </a:prstGeom>
        </p:spPr>
        <p:txBody>
          <a:bodyPr vert="horz"/>
          <a:lstStyle>
            <a:lvl1pPr marL="0" indent="0" algn="ctr">
              <a:buNone/>
              <a:defRPr sz="2100" b="0">
                <a:solidFill>
                  <a:srgbClr val="0B194E"/>
                </a:solidFill>
                <a:latin typeface="Gill Sans MT" charset="0"/>
                <a:ea typeface="Gill Sans MT" charset="0"/>
                <a:cs typeface="Gill Sans MT" charset="0"/>
              </a:defRPr>
            </a:lvl1pPr>
          </a:lstStyle>
          <a:p>
            <a:pPr lvl="0"/>
            <a:r>
              <a:rPr lang="en-US" dirty="0"/>
              <a:t>Add Title Here</a:t>
            </a:r>
          </a:p>
        </p:txBody>
      </p:sp>
      <p:sp>
        <p:nvSpPr>
          <p:cNvPr id="3" name="Text Placeholder 2"/>
          <p:cNvSpPr>
            <a:spLocks noGrp="1"/>
          </p:cNvSpPr>
          <p:nvPr>
            <p:ph type="body" sz="quarter" idx="10"/>
          </p:nvPr>
        </p:nvSpPr>
        <p:spPr>
          <a:xfrm>
            <a:off x="4831559" y="1331056"/>
            <a:ext cx="4108847" cy="5095144"/>
          </a:xfrm>
          <a:prstGeom prst="rect">
            <a:avLst/>
          </a:prstGeom>
        </p:spPr>
        <p:txBody>
          <a:bodyPr vert="horz"/>
          <a:lstStyle>
            <a:lvl1pPr marL="394335" indent="-257175">
              <a:spcBef>
                <a:spcPts val="900"/>
              </a:spcBef>
              <a:buClrTx/>
              <a:buFont typeface="Arial" charset="0"/>
              <a:buChar char="•"/>
              <a:defRPr>
                <a:solidFill>
                  <a:srgbClr val="0B194E"/>
                </a:solidFill>
                <a:latin typeface="Gill Sans MT" charset="0"/>
                <a:ea typeface="Gill Sans MT" charset="0"/>
                <a:cs typeface="Gill Sans MT" charset="0"/>
              </a:defRPr>
            </a:lvl1pPr>
            <a:lvl2pPr marL="771525" indent="-257175">
              <a:spcBef>
                <a:spcPts val="900"/>
              </a:spcBef>
              <a:buClrTx/>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Tx/>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Tx/>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Tx/>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Title and Content w Video">
    <p:spTree>
      <p:nvGrpSpPr>
        <p:cNvPr id="1" name=""/>
        <p:cNvGrpSpPr/>
        <p:nvPr/>
      </p:nvGrpSpPr>
      <p:grpSpPr>
        <a:xfrm>
          <a:off x="0" y="0"/>
          <a:ext cx="0" cy="0"/>
          <a:chOff x="0" y="0"/>
          <a:chExt cx="0" cy="0"/>
        </a:xfrm>
      </p:grpSpPr>
      <p:sp>
        <p:nvSpPr>
          <p:cNvPr id="6" name="Media Placeholder 5"/>
          <p:cNvSpPr>
            <a:spLocks noGrp="1"/>
          </p:cNvSpPr>
          <p:nvPr>
            <p:ph type="media" sz="quarter" idx="11"/>
          </p:nvPr>
        </p:nvSpPr>
        <p:spPr>
          <a:xfrm>
            <a:off x="711551" y="688479"/>
            <a:ext cx="7781152" cy="5416435"/>
          </a:xfrm>
          <a:prstGeom prst="rect">
            <a:avLst/>
          </a:prstGeom>
        </p:spPr>
        <p:txBody>
          <a:bodyPr vert="horz"/>
          <a:lstStyle>
            <a:lvl1pPr marL="0" indent="0">
              <a:buNone/>
              <a:defRPr>
                <a:latin typeface="Gill Sans MT" charset="0"/>
                <a:ea typeface="Gill Sans MT" charset="0"/>
                <a:cs typeface="Gill Sans MT" charset="0"/>
              </a:defRPr>
            </a:lvl1pPr>
          </a:lstStyle>
          <a:p>
            <a:r>
              <a:rPr lang="en-US"/>
              <a:t>Click icon to add media</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8_Title and Content w Video">
    <p:spTree>
      <p:nvGrpSpPr>
        <p:cNvPr id="1" name=""/>
        <p:cNvGrpSpPr/>
        <p:nvPr/>
      </p:nvGrpSpPr>
      <p:grpSpPr>
        <a:xfrm>
          <a:off x="0" y="0"/>
          <a:ext cx="0" cy="0"/>
          <a:chOff x="0" y="0"/>
          <a:chExt cx="0" cy="0"/>
        </a:xfrm>
      </p:grpSpPr>
      <p:sp>
        <p:nvSpPr>
          <p:cNvPr id="5" name="Rectangle 4"/>
          <p:cNvSpPr/>
          <p:nvPr/>
        </p:nvSpPr>
        <p:spPr>
          <a:xfrm>
            <a:off x="3" y="5875009"/>
            <a:ext cx="9143999" cy="982993"/>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p:cNvSpPr>
          <p:nvPr>
            <p:ph type="pic" sz="quarter" idx="10"/>
          </p:nvPr>
        </p:nvSpPr>
        <p:spPr>
          <a:xfrm>
            <a:off x="0" y="1"/>
            <a:ext cx="9144000" cy="5875007"/>
          </a:xfrm>
          <a:prstGeom prst="rect">
            <a:avLst/>
          </a:prstGeom>
        </p:spPr>
        <p:txBody>
          <a:bodyPr vert="horz"/>
          <a:lstStyle>
            <a:lvl1pPr marL="0" indent="0">
              <a:buNone/>
              <a:defRPr>
                <a:latin typeface="Gill Sans MT" charset="0"/>
                <a:ea typeface="Gill Sans MT" charset="0"/>
                <a:cs typeface="Gill Sans MT" charset="0"/>
              </a:defRPr>
            </a:lvl1pPr>
          </a:lstStyle>
          <a:p>
            <a:r>
              <a:rPr lang="en-US"/>
              <a:t>Drag picture to placeholder or click icon to add</a:t>
            </a:r>
            <a:endParaRPr lang="en-US" dirty="0"/>
          </a:p>
        </p:txBody>
      </p:sp>
      <p:sp>
        <p:nvSpPr>
          <p:cNvPr id="7" name="Text Placeholder 6"/>
          <p:cNvSpPr>
            <a:spLocks noGrp="1"/>
          </p:cNvSpPr>
          <p:nvPr>
            <p:ph type="body" sz="quarter" idx="11" hasCustomPrompt="1"/>
          </p:nvPr>
        </p:nvSpPr>
        <p:spPr>
          <a:xfrm>
            <a:off x="3" y="6072190"/>
            <a:ext cx="9143999" cy="612775"/>
          </a:xfrm>
          <a:prstGeom prst="rect">
            <a:avLst/>
          </a:prstGeom>
        </p:spPr>
        <p:txBody>
          <a:bodyPr vert="horz" anchor="ctr"/>
          <a:lstStyle>
            <a:lvl1pPr marL="0" indent="0" algn="ctr">
              <a:buNone/>
              <a:defRPr sz="2400" b="0" baseline="0">
                <a:solidFill>
                  <a:srgbClr val="F58420"/>
                </a:solidFill>
                <a:latin typeface="Gill Sans MT" charset="0"/>
                <a:ea typeface="Gill Sans MT" charset="0"/>
                <a:cs typeface="Gill Sans MT" charset="0"/>
              </a:defRPr>
            </a:lvl1pPr>
          </a:lstStyle>
          <a:p>
            <a:pPr lvl="0"/>
            <a:r>
              <a:rPr lang="en-US" dirty="0"/>
              <a:t>Add Text Here</a:t>
            </a:r>
          </a:p>
        </p:txBody>
      </p:sp>
    </p:spTree>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_Title and Content w Video">
    <p:spTree>
      <p:nvGrpSpPr>
        <p:cNvPr id="1" name=""/>
        <p:cNvGrpSpPr/>
        <p:nvPr/>
      </p:nvGrpSpPr>
      <p:grpSpPr>
        <a:xfrm>
          <a:off x="0" y="0"/>
          <a:ext cx="0" cy="0"/>
          <a:chOff x="0" y="0"/>
          <a:chExt cx="0" cy="0"/>
        </a:xfrm>
      </p:grpSpPr>
      <p:sp>
        <p:nvSpPr>
          <p:cNvPr id="10" name="Rectangle 9"/>
          <p:cNvSpPr/>
          <p:nvPr/>
        </p:nvSpPr>
        <p:spPr>
          <a:xfrm>
            <a:off x="1" y="0"/>
            <a:ext cx="1739900" cy="6858000"/>
          </a:xfrm>
          <a:prstGeom prst="rect">
            <a:avLst/>
          </a:prstGeom>
          <a:solidFill>
            <a:srgbClr val="01275D"/>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idx="1"/>
          </p:nvPr>
        </p:nvSpPr>
        <p:spPr>
          <a:xfrm>
            <a:off x="2019300" y="864108"/>
            <a:ext cx="6565900" cy="5120640"/>
          </a:xfrm>
          <a:prstGeom prst="rect">
            <a:avLst/>
          </a:prstGeom>
        </p:spPr>
        <p:txBody>
          <a:bodyPr anchor="t"/>
          <a:lstStyle>
            <a:lvl1pPr marL="25717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1pPr>
            <a:lvl2pPr marL="56578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8658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2087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551623"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a:spLocks noGrp="1"/>
          </p:cNvSpPr>
          <p:nvPr>
            <p:ph type="title"/>
          </p:nvPr>
        </p:nvSpPr>
        <p:spPr>
          <a:xfrm>
            <a:off x="138350" y="1123838"/>
            <a:ext cx="1601550" cy="4601183"/>
          </a:xfrm>
          <a:prstGeom prst="rect">
            <a:avLst/>
          </a:prstGeom>
        </p:spPr>
        <p:txBody>
          <a:bodyPr vert="horz" lIns="91440" tIns="45720" rIns="91440" bIns="45720" rtlCol="0" anchor="ctr">
            <a:noAutofit/>
          </a:bodyPr>
          <a:lstStyle>
            <a:lvl1pPr>
              <a:defRPr sz="2100" b="0">
                <a:solidFill>
                  <a:srgbClr val="E78734"/>
                </a:solidFill>
                <a:latin typeface="Apple Braille" charset="0"/>
                <a:ea typeface="Apple Braille" charset="0"/>
                <a:cs typeface="Apple Braille" charset="0"/>
              </a:defRPr>
            </a:lvl1pPr>
          </a:lstStyle>
          <a:p>
            <a:r>
              <a:rPr lang="en-US"/>
              <a:t>Click to edit Master title style</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w Video">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501" y="1135571"/>
            <a:ext cx="8007350" cy="5120640"/>
          </a:xfrm>
          <a:prstGeom prst="rect">
            <a:avLst/>
          </a:prstGeom>
        </p:spPr>
        <p:txBody>
          <a:bodyPr anchor="t"/>
          <a:lstStyle>
            <a:lvl1pPr marL="394335" indent="-257175">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chemeClr val="tx1">
                    <a:lumMod val="75000"/>
                    <a:lumOff val="25000"/>
                  </a:schemeClr>
                </a:solidFill>
                <a:latin typeface="Gill Sans MT" charset="0"/>
                <a:ea typeface="Gill Sans MT" charset="0"/>
                <a:cs typeface="Gill Sans M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p:cNvSpPr/>
          <p:nvPr/>
        </p:nvSpPr>
        <p:spPr>
          <a:xfrm flipH="1">
            <a:off x="2" y="885830"/>
            <a:ext cx="4832749" cy="45719"/>
          </a:xfrm>
          <a:prstGeom prst="rect">
            <a:avLst/>
          </a:prstGeom>
          <a:solidFill>
            <a:srgbClr val="F4812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dirty="0"/>
          </a:p>
        </p:txBody>
      </p:sp>
      <p:sp>
        <p:nvSpPr>
          <p:cNvPr id="5" name="Content Placeholder 2"/>
          <p:cNvSpPr>
            <a:spLocks noGrp="1"/>
          </p:cNvSpPr>
          <p:nvPr>
            <p:ph idx="10" hasCustomPrompt="1"/>
          </p:nvPr>
        </p:nvSpPr>
        <p:spPr>
          <a:xfrm>
            <a:off x="185738" y="257175"/>
            <a:ext cx="8007350" cy="628652"/>
          </a:xfrm>
          <a:prstGeom prst="rect">
            <a:avLst/>
          </a:prstGeom>
        </p:spPr>
        <p:txBody>
          <a:bodyPr anchor="t"/>
          <a:lstStyle>
            <a:lvl1pPr marL="137160" indent="0">
              <a:spcBef>
                <a:spcPts val="900"/>
              </a:spcBef>
              <a:buClr>
                <a:srgbClr val="0B194E"/>
              </a:buClr>
              <a:buFont typeface="Arial" charset="0"/>
              <a:buNone/>
              <a:defRPr sz="2700">
                <a:solidFill>
                  <a:srgbClr val="000000"/>
                </a:solidFill>
                <a:latin typeface="Gill Sans MT" charset="0"/>
                <a:ea typeface="Gill Sans MT" charset="0"/>
                <a:cs typeface="Gill Sans MT" charset="0"/>
              </a:defRPr>
            </a:lvl1pPr>
            <a:lvl2pPr marL="771525" indent="-257175">
              <a:spcBef>
                <a:spcPts val="900"/>
              </a:spcBef>
              <a:buClr>
                <a:srgbClr val="0B194E"/>
              </a:buClr>
              <a:buFont typeface="Arial" charset="0"/>
              <a:buChar char="•"/>
              <a:defRPr>
                <a:solidFill>
                  <a:srgbClr val="0B194E"/>
                </a:solidFill>
                <a:latin typeface="Gill Sans MT" charset="0"/>
                <a:ea typeface="Gill Sans MT" charset="0"/>
                <a:cs typeface="Gill Sans MT" charset="0"/>
              </a:defRPr>
            </a:lvl2pPr>
            <a:lvl3pPr marL="9858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3pPr>
            <a:lvl4pPr marL="13287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4pPr>
            <a:lvl5pPr marL="1671638" indent="-214313">
              <a:spcBef>
                <a:spcPts val="900"/>
              </a:spcBef>
              <a:buClr>
                <a:srgbClr val="0B194E"/>
              </a:buClr>
              <a:buFont typeface="Arial" charset="0"/>
              <a:buChar char="•"/>
              <a:defRPr>
                <a:solidFill>
                  <a:srgbClr val="0B194E"/>
                </a:solidFill>
                <a:latin typeface="Gill Sans MT" charset="0"/>
                <a:ea typeface="Gill Sans MT" charset="0"/>
                <a:cs typeface="Gill Sans MT" charset="0"/>
              </a:defRPr>
            </a:lvl5pPr>
          </a:lstStyle>
          <a:p>
            <a:pPr lvl="0"/>
            <a:r>
              <a:rPr lang="en-US" dirty="0"/>
              <a:t>Click to add Slide Title</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8567" y="6338364"/>
            <a:ext cx="318097" cy="372801"/>
          </a:xfrm>
          <a:prstGeom prst="rect">
            <a:avLst/>
          </a:prstGeom>
        </p:spPr>
      </p:pic>
    </p:spTree>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ro Image Left">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6948" y="5378981"/>
            <a:ext cx="5743574" cy="917660"/>
          </a:xfrm>
          <a:prstGeom prst="rect">
            <a:avLst/>
          </a:prstGeom>
          <a:gradFill flip="none" rotWithShape="1">
            <a:gsLst>
              <a:gs pos="41000">
                <a:srgbClr val="01275D"/>
              </a:gs>
              <a:gs pos="100000">
                <a:srgbClr val="013D73"/>
              </a:gs>
            </a:gsLst>
            <a:lin ang="2700000" scaled="1"/>
            <a:tileRect/>
          </a:gra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sz="1350" dirty="0"/>
          </a:p>
        </p:txBody>
      </p:sp>
      <p:sp>
        <p:nvSpPr>
          <p:cNvPr id="9" name="Rectangle 8"/>
          <p:cNvSpPr/>
          <p:nvPr/>
        </p:nvSpPr>
        <p:spPr>
          <a:xfrm flipV="1">
            <a:off x="6948" y="6261321"/>
            <a:ext cx="9148032" cy="56907"/>
          </a:xfrm>
          <a:prstGeom prst="rect">
            <a:avLst/>
          </a:prstGeom>
          <a:solidFill>
            <a:srgbClr val="DE550D"/>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11" name="Text Placeholder 10"/>
          <p:cNvSpPr>
            <a:spLocks noGrp="1"/>
          </p:cNvSpPr>
          <p:nvPr>
            <p:ph type="body" sz="quarter" idx="10" hasCustomPrompt="1"/>
          </p:nvPr>
        </p:nvSpPr>
        <p:spPr>
          <a:xfrm>
            <a:off x="246460" y="5607350"/>
            <a:ext cx="5300462" cy="514351"/>
          </a:xfrm>
          <a:prstGeom prst="rect">
            <a:avLst/>
          </a:prstGeom>
        </p:spPr>
        <p:txBody>
          <a:bodyPr/>
          <a:lstStyle>
            <a:lvl1pPr marL="0" indent="0" algn="r">
              <a:buNone/>
              <a:defRPr sz="2400" baseline="0">
                <a:solidFill>
                  <a:schemeClr val="bg1"/>
                </a:solidFill>
              </a:defRPr>
            </a:lvl1pPr>
          </a:lstStyle>
          <a:p>
            <a:pPr lvl="0"/>
            <a:r>
              <a:rPr lang="en-US" dirty="0"/>
              <a:t>Click to add title</a:t>
            </a:r>
          </a:p>
        </p:txBody>
      </p:sp>
    </p:spTree>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611191"/>
          </a:xfrm>
          <a:prstGeom prst="rect">
            <a:avLst/>
          </a:prstGeom>
        </p:spPr>
        <p:txBody>
          <a:bodyPr/>
          <a:lstStyle>
            <a:lvl1pPr>
              <a:defRPr>
                <a:solidFill>
                  <a:srgbClr val="000000"/>
                </a:solidFill>
              </a:defRPr>
            </a:lvl1pPr>
          </a:lstStyle>
          <a:p>
            <a:r>
              <a:rPr lang="en-US"/>
              <a:t>Click to edit Master title style</a:t>
            </a:r>
          </a:p>
        </p:txBody>
      </p:sp>
      <p:sp>
        <p:nvSpPr>
          <p:cNvPr id="3" name="Content Placeholder 2"/>
          <p:cNvSpPr>
            <a:spLocks noGrp="1"/>
          </p:cNvSpPr>
          <p:nvPr>
            <p:ph idx="1"/>
          </p:nvPr>
        </p:nvSpPr>
        <p:spPr>
          <a:xfrm>
            <a:off x="457200" y="1600201"/>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6553200" y="6356351"/>
            <a:ext cx="2133600" cy="365125"/>
          </a:xfrm>
          <a:prstGeom prst="rect">
            <a:avLst/>
          </a:prstGeom>
        </p:spPr>
        <p:txBody>
          <a:bodyPr/>
          <a:lstStyle/>
          <a:p>
            <a:fld id="{B57850E7-7C6C-754D-81F8-C814130E13C9}" type="slidenum">
              <a:rPr lang="en-US" smtClean="0"/>
              <a:t>‹#›</a:t>
            </a:fld>
            <a:endParaRPr lang="en-US"/>
          </a:p>
        </p:txBody>
      </p:sp>
      <p:sp>
        <p:nvSpPr>
          <p:cNvPr id="8" name="Rectangle 7"/>
          <p:cNvSpPr/>
          <p:nvPr userDrawn="1"/>
        </p:nvSpPr>
        <p:spPr>
          <a:xfrm flipH="1">
            <a:off x="2" y="885830"/>
            <a:ext cx="4832749" cy="45719"/>
          </a:xfrm>
          <a:prstGeom prst="rect">
            <a:avLst/>
          </a:prstGeom>
          <a:solidFill>
            <a:srgbClr val="F4812A"/>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dirty="0"/>
          </a:p>
        </p:txBody>
      </p:sp>
    </p:spTree>
    <p:extLst>
      <p:ext uri="{BB962C8B-B14F-4D97-AF65-F5344CB8AC3E}">
        <p14:creationId xmlns:p14="http://schemas.microsoft.com/office/powerpoint/2010/main" val="1525645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82452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alphaModFix amt="67000"/>
            <a:extLst>
              <a:ext uri="{BEBA8EAE-BF5A-486C-A8C5-ECC9F3942E4B}">
                <a14:imgProps xmlns:a14="http://schemas.microsoft.com/office/drawing/2010/main">
                  <a14:imgLayer r:embed="rId17">
                    <a14:imgEffect>
                      <a14:brightnessContrast bright="14000" contrast="-8000"/>
                    </a14:imgEffect>
                  </a14:imgLayer>
                </a14:imgProps>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94516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Lst>
  <p:hf hdr="0" ftr="0" dt="0"/>
  <p:txStyles>
    <p:titleStyle>
      <a:lvl1pPr algn="l" defTabSz="685800" rtl="0" eaLnBrk="1" latinLnBrk="0" hangingPunct="1">
        <a:lnSpc>
          <a:spcPct val="90000"/>
        </a:lnSpc>
        <a:spcBef>
          <a:spcPct val="0"/>
        </a:spcBef>
        <a:buNone/>
        <a:defRPr sz="2700" kern="1200" spc="-45" baseline="0">
          <a:solidFill>
            <a:srgbClr val="FFFFFF"/>
          </a:solidFill>
          <a:latin typeface="+mj-lt"/>
          <a:ea typeface="+mj-ea"/>
          <a:cs typeface="+mj-cs"/>
        </a:defRPr>
      </a:lvl1pPr>
    </p:titleStyle>
    <p:bodyStyle>
      <a:lvl1pPr marL="137160" indent="-137160" algn="l" defTabSz="685800" rtl="0" eaLnBrk="1" latinLnBrk="0" hangingPunct="1">
        <a:lnSpc>
          <a:spcPct val="90000"/>
        </a:lnSpc>
        <a:spcBef>
          <a:spcPts val="9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1pPr>
      <a:lvl2pPr marL="5143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500" kern="1200">
          <a:solidFill>
            <a:schemeClr val="tx1">
              <a:lumMod val="65000"/>
              <a:lumOff val="35000"/>
            </a:schemeClr>
          </a:solidFill>
          <a:latin typeface="+mn-lt"/>
          <a:ea typeface="+mn-ea"/>
          <a:cs typeface="+mn-cs"/>
        </a:defRPr>
      </a:lvl2pPr>
      <a:lvl3pPr marL="8572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350" kern="1200">
          <a:solidFill>
            <a:schemeClr val="tx1">
              <a:lumMod val="65000"/>
              <a:lumOff val="35000"/>
            </a:schemeClr>
          </a:solidFill>
          <a:latin typeface="+mn-lt"/>
          <a:ea typeface="+mn-ea"/>
          <a:cs typeface="+mn-cs"/>
        </a:defRPr>
      </a:lvl3pPr>
      <a:lvl4pPr marL="12001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200" kern="1200">
          <a:solidFill>
            <a:schemeClr val="tx1">
              <a:lumMod val="65000"/>
              <a:lumOff val="35000"/>
            </a:schemeClr>
          </a:solidFill>
          <a:latin typeface="+mn-lt"/>
          <a:ea typeface="+mn-ea"/>
          <a:cs typeface="+mn-cs"/>
        </a:defRPr>
      </a:lvl4pPr>
      <a:lvl5pPr marL="1543050" indent="-137160" algn="l" defTabSz="685800" rtl="0" eaLnBrk="1" latinLnBrk="0" hangingPunct="1">
        <a:lnSpc>
          <a:spcPct val="90000"/>
        </a:lnSpc>
        <a:spcBef>
          <a:spcPts val="188"/>
        </a:spcBef>
        <a:spcAft>
          <a:spcPts val="188"/>
        </a:spcAft>
        <a:buClr>
          <a:schemeClr val="accent1"/>
        </a:buClr>
        <a:buFont typeface="Wingdings 2" pitchFamily="18" charset="2"/>
        <a:buChar char=""/>
        <a:defRPr sz="1200"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6pPr>
      <a:lvl7pPr marL="22288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7pPr>
      <a:lvl8pPr marL="25717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8pPr>
      <a:lvl9pPr marL="2914650" indent="-171450" algn="l" defTabSz="685800" rtl="0" eaLnBrk="1" latinLnBrk="0" hangingPunct="1">
        <a:lnSpc>
          <a:spcPct val="90000"/>
        </a:lnSpc>
        <a:spcBef>
          <a:spcPts val="188"/>
        </a:spcBef>
        <a:spcAft>
          <a:spcPts val="188"/>
        </a:spcAft>
        <a:buClr>
          <a:schemeClr val="accent1"/>
        </a:buClr>
        <a:buFont typeface="Wingdings 2" pitchFamily="18" charset="2"/>
        <a:buChar char=""/>
        <a:defRPr sz="1050" kern="1200">
          <a:solidFill>
            <a:schemeClr val="tx1">
              <a:lumMod val="65000"/>
              <a:lumOff val="3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144">
          <p15:clr>
            <a:srgbClr val="F26B43"/>
          </p15:clr>
        </p15:guide>
        <p15:guide id="2" pos="2016">
          <p15:clr>
            <a:srgbClr val="F26B43"/>
          </p15:clr>
        </p15:guide>
        <p15:guide id="5" orient="horz" pos="648">
          <p15:clr>
            <a:srgbClr val="F26B43"/>
          </p15:clr>
        </p15:guide>
        <p15:guide id="6" orient="horz" pos="367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 File System	</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633514047"/>
      </p:ext>
    </p:extLst>
  </p:cSld>
  <p:clrMapOvr>
    <a:masterClrMapping/>
  </p:clrMapOvr>
  <mc:AlternateContent xmlns:mc="http://schemas.openxmlformats.org/markup-compatibility/2006" xmlns:p14="http://schemas.microsoft.com/office/powerpoint/2010/main">
    <mc:Choice Requires="p14">
      <p:transition spd="slow" p14:dur="2000" advTm="24686"/>
    </mc:Choice>
    <mc:Fallback xmlns="">
      <p:transition spd="slow" advTm="2468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eads.jpg"/>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20601"/>
          <a:stretch/>
        </p:blipFill>
        <p:spPr>
          <a:xfrm>
            <a:off x="153716" y="1543300"/>
            <a:ext cx="4339459" cy="1921533"/>
          </a:xfrm>
          <a:prstGeom prst="rect">
            <a:avLst/>
          </a:prstGeom>
        </p:spPr>
      </p:pic>
      <p:pic>
        <p:nvPicPr>
          <p:cNvPr id="6" name="Picture 5" descr="heads.jpg"/>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b="20601"/>
          <a:stretch/>
        </p:blipFill>
        <p:spPr>
          <a:xfrm>
            <a:off x="95536" y="2713644"/>
            <a:ext cx="4455814" cy="1973056"/>
          </a:xfrm>
          <a:prstGeom prst="rect">
            <a:avLst/>
          </a:prstGeom>
        </p:spPr>
      </p:pic>
      <p:sp>
        <p:nvSpPr>
          <p:cNvPr id="8" name="Text Placeholder 2"/>
          <p:cNvSpPr>
            <a:spLocks noGrp="1"/>
          </p:cNvSpPr>
          <p:nvPr>
            <p:ph type="body" sz="quarter" idx="12"/>
          </p:nvPr>
        </p:nvSpPr>
        <p:spPr>
          <a:xfrm>
            <a:off x="4714878" y="127432"/>
            <a:ext cx="4429125" cy="390525"/>
          </a:xfrm>
        </p:spPr>
        <p:txBody>
          <a:bodyPr/>
          <a:lstStyle/>
          <a:p>
            <a:r>
              <a:rPr lang="en-US" dirty="0">
                <a:ea typeface="Century Gothic"/>
                <a:sym typeface="Questrial"/>
              </a:rPr>
              <a:t>Overview</a:t>
            </a:r>
            <a:endParaRPr lang="en-US" dirty="0"/>
          </a:p>
        </p:txBody>
      </p:sp>
      <p:sp>
        <p:nvSpPr>
          <p:cNvPr id="9" name="Text Placeholder 9"/>
          <p:cNvSpPr>
            <a:spLocks noGrp="1"/>
          </p:cNvSpPr>
          <p:nvPr>
            <p:ph type="body" sz="quarter" idx="10"/>
          </p:nvPr>
        </p:nvSpPr>
        <p:spPr>
          <a:xfrm>
            <a:off x="4831557" y="576224"/>
            <a:ext cx="4215880" cy="5819181"/>
          </a:xfrm>
        </p:spPr>
        <p:txBody>
          <a:bodyPr/>
          <a:lstStyle/>
          <a:p>
            <a:pPr marL="137160" indent="0">
              <a:buNone/>
            </a:pPr>
            <a:r>
              <a:rPr lang="en-US" sz="2100" b="1" dirty="0"/>
              <a:t>Objectives</a:t>
            </a:r>
          </a:p>
          <a:p>
            <a:r>
              <a:rPr lang="en-US" dirty="0"/>
              <a:t>Review the </a:t>
            </a:r>
            <a:r>
              <a:rPr lang="en-US" dirty="0">
                <a:solidFill>
                  <a:srgbClr val="FF6600"/>
                </a:solidFill>
              </a:rPr>
              <a:t>mass storage (disk) structure and issues</a:t>
            </a:r>
            <a:r>
              <a:rPr lang="en-US" dirty="0"/>
              <a:t>.</a:t>
            </a:r>
            <a:endParaRPr lang="en-US" dirty="0">
              <a:solidFill>
                <a:srgbClr val="FFFFFF"/>
              </a:solidFill>
            </a:endParaRPr>
          </a:p>
          <a:p>
            <a:r>
              <a:rPr lang="en-US" dirty="0"/>
              <a:t>Learn and understand the </a:t>
            </a:r>
            <a:r>
              <a:rPr lang="en-US" dirty="0">
                <a:solidFill>
                  <a:srgbClr val="FF6600"/>
                </a:solidFill>
              </a:rPr>
              <a:t>disk scheduling</a:t>
            </a:r>
            <a:r>
              <a:rPr lang="en-US" dirty="0"/>
              <a:t>.</a:t>
            </a:r>
          </a:p>
          <a:p>
            <a:r>
              <a:rPr lang="en-US" dirty="0"/>
              <a:t>Learn and understand the </a:t>
            </a:r>
            <a:r>
              <a:rPr lang="en-US" dirty="0">
                <a:solidFill>
                  <a:srgbClr val="FF6600"/>
                </a:solidFill>
              </a:rPr>
              <a:t>disk allocation methods </a:t>
            </a:r>
            <a:endParaRPr lang="en-US" dirty="0"/>
          </a:p>
          <a:p>
            <a:endParaRPr lang="en-US" dirty="0"/>
          </a:p>
          <a:p>
            <a:pPr marL="137160" indent="0">
              <a:buNone/>
            </a:pPr>
            <a:r>
              <a:rPr lang="en-US" sz="2000" b="1" dirty="0"/>
              <a:t>Requirements</a:t>
            </a:r>
          </a:p>
          <a:p>
            <a:r>
              <a:rPr lang="en-US" dirty="0"/>
              <a:t>Basics from Computer Organization principles (COMP 3350 or equivalent)</a:t>
            </a:r>
          </a:p>
          <a:p>
            <a:r>
              <a:rPr lang="en-US" dirty="0"/>
              <a:t>Familiar with file interface.</a:t>
            </a:r>
          </a:p>
          <a:p>
            <a:r>
              <a:rPr lang="en-US" dirty="0"/>
              <a:t>Complete reading assignments: </a:t>
            </a:r>
          </a:p>
          <a:p>
            <a:pPr lvl="1"/>
            <a:r>
              <a:rPr lang="en-US" dirty="0"/>
              <a:t>Overview Mass Storage</a:t>
            </a:r>
          </a:p>
          <a:p>
            <a:pPr lvl="1"/>
            <a:r>
              <a:rPr lang="en-US" dirty="0"/>
              <a:t>Disk structure</a:t>
            </a:r>
          </a:p>
          <a:p>
            <a:pPr lvl="1"/>
            <a:r>
              <a:rPr lang="en-US" dirty="0"/>
              <a:t>Disk scheduling</a:t>
            </a:r>
          </a:p>
          <a:p>
            <a:pPr lvl="1"/>
            <a:r>
              <a:rPr lang="en-US" dirty="0"/>
              <a:t>(Disk) allocation methods</a:t>
            </a:r>
          </a:p>
        </p:txBody>
      </p:sp>
    </p:spTree>
    <p:extLst>
      <p:ext uri="{BB962C8B-B14F-4D97-AF65-F5344CB8AC3E}">
        <p14:creationId xmlns:p14="http://schemas.microsoft.com/office/powerpoint/2010/main" val="253089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574288"/>
          </a:xfrm>
        </p:spPr>
        <p:txBody>
          <a:bodyPr/>
          <a:lstStyle/>
          <a:p>
            <a:r>
              <a:rPr lang="en-US" b="1" dirty="0">
                <a:solidFill>
                  <a:srgbClr val="3366FF"/>
                </a:solidFill>
              </a:rPr>
              <a:t>Objectives</a:t>
            </a:r>
          </a:p>
          <a:p>
            <a:pPr marL="651510" lvl="1" indent="-342900">
              <a:buFont typeface="+mj-lt"/>
              <a:buAutoNum type="arabicPeriod"/>
            </a:pPr>
            <a:r>
              <a:rPr lang="en-US" dirty="0">
                <a:solidFill>
                  <a:schemeClr val="tx1">
                    <a:lumMod val="50000"/>
                    <a:lumOff val="50000"/>
                  </a:schemeClr>
                </a:solidFill>
              </a:rPr>
              <a:t>Describe the physical structure of secondary storage</a:t>
            </a:r>
            <a:endParaRPr lang="en-US" dirty="0">
              <a:solidFill>
                <a:srgbClr val="3366FF"/>
              </a:solidFill>
            </a:endParaRPr>
          </a:p>
          <a:p>
            <a:pPr marL="651510" lvl="1" indent="-342900">
              <a:buFont typeface="+mj-lt"/>
              <a:buAutoNum type="arabicPeriod"/>
            </a:pPr>
            <a:r>
              <a:rPr lang="en-US" dirty="0">
                <a:solidFill>
                  <a:schemeClr val="tx1">
                    <a:lumMod val="50000"/>
                    <a:lumOff val="50000"/>
                  </a:schemeClr>
                </a:solidFill>
              </a:rPr>
              <a:t>Understand the effects of the structure</a:t>
            </a:r>
          </a:p>
          <a:p>
            <a:pPr marL="651510" lvl="1" indent="-342900">
              <a:buFont typeface="+mj-lt"/>
              <a:buAutoNum type="arabicPeriod"/>
            </a:pPr>
            <a:r>
              <a:rPr lang="en-US" dirty="0">
                <a:solidFill>
                  <a:schemeClr val="tx1">
                    <a:lumMod val="50000"/>
                    <a:lumOff val="50000"/>
                  </a:schemeClr>
                </a:solidFill>
              </a:rPr>
              <a:t>Present the performance characteristics </a:t>
            </a:r>
          </a:p>
          <a:p>
            <a:pPr marL="0" indent="0">
              <a:buNone/>
              <a:defRPr/>
            </a:pPr>
            <a:endParaRPr lang="en-US" dirty="0">
              <a:solidFill>
                <a:schemeClr val="tx1">
                  <a:lumMod val="50000"/>
                  <a:lumOff val="50000"/>
                </a:schemeClr>
              </a:solidFill>
            </a:endParaRPr>
          </a:p>
          <a:p>
            <a:pPr marL="308610" lvl="1" indent="0">
              <a:buNone/>
            </a:pPr>
            <a:endParaRPr lang="en-US" dirty="0">
              <a:solidFill>
                <a:schemeClr val="tx1">
                  <a:lumMod val="50000"/>
                  <a:lumOff val="50000"/>
                </a:schemeClr>
              </a:solidFill>
            </a:endParaRPr>
          </a:p>
          <a:p>
            <a:pPr marL="308610" lvl="1" indent="0">
              <a:buNone/>
            </a:pPr>
            <a:endParaRPr lang="en-US" dirty="0">
              <a:solidFill>
                <a:schemeClr val="tx1">
                  <a:lumMod val="50000"/>
                  <a:lumOff val="50000"/>
                </a:schemeClr>
              </a:solidFill>
            </a:endParaRPr>
          </a:p>
          <a:p>
            <a:r>
              <a:rPr lang="en-US" dirty="0">
                <a:solidFill>
                  <a:srgbClr val="0000FF"/>
                </a:solidFill>
              </a:rPr>
              <a:t>Read (From Textbook))</a:t>
            </a:r>
          </a:p>
          <a:p>
            <a:pPr lvl="1"/>
            <a:r>
              <a:rPr lang="en-US" dirty="0">
                <a:solidFill>
                  <a:srgbClr val="0000FF"/>
                </a:solidFill>
              </a:rPr>
              <a:t>Overview of Mass-Storage Structure</a:t>
            </a:r>
          </a:p>
          <a:p>
            <a:pPr lvl="1"/>
            <a:r>
              <a:rPr lang="en-US" dirty="0">
                <a:solidFill>
                  <a:srgbClr val="0000FF"/>
                </a:solidFill>
              </a:rPr>
              <a:t>Disk Structure</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Structure</a:t>
            </a:r>
          </a:p>
        </p:txBody>
      </p:sp>
    </p:spTree>
    <p:extLst>
      <p:ext uri="{BB962C8B-B14F-4D97-AF65-F5344CB8AC3E}">
        <p14:creationId xmlns:p14="http://schemas.microsoft.com/office/powerpoint/2010/main" val="341895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3FF7FC8-B349-4B4A-B5AA-3444C7FFB6CB}"/>
              </a:ext>
            </a:extLst>
          </p:cNvPr>
          <p:cNvSpPr>
            <a:spLocks noGrp="1" noChangeArrowheads="1"/>
          </p:cNvSpPr>
          <p:nvPr>
            <p:ph type="title"/>
          </p:nvPr>
        </p:nvSpPr>
        <p:spPr>
          <a:xfrm>
            <a:off x="1154113" y="168275"/>
            <a:ext cx="7683500" cy="576263"/>
          </a:xfrm>
        </p:spPr>
        <p:txBody>
          <a:bodyPr/>
          <a:lstStyle/>
          <a:p>
            <a:pPr eaLnBrk="1" hangingPunct="1"/>
            <a:r>
              <a:rPr lang="en-US" altLang="en-US" dirty="0">
                <a:solidFill>
                  <a:schemeClr val="tx1">
                    <a:lumMod val="50000"/>
                    <a:lumOff val="50000"/>
                  </a:schemeClr>
                </a:solidFill>
              </a:rPr>
              <a:t>Overview of Mass Storage Structure</a:t>
            </a:r>
          </a:p>
        </p:txBody>
      </p:sp>
      <p:sp>
        <p:nvSpPr>
          <p:cNvPr id="6147" name="Rectangle 3">
            <a:extLst>
              <a:ext uri="{FF2B5EF4-FFF2-40B4-BE49-F238E27FC236}">
                <a16:creationId xmlns:a16="http://schemas.microsoft.com/office/drawing/2014/main" id="{733C4EF0-7C13-6945-BB34-075A1DF6D951}"/>
              </a:ext>
            </a:extLst>
          </p:cNvPr>
          <p:cNvSpPr>
            <a:spLocks noGrp="1" noChangeArrowheads="1"/>
          </p:cNvSpPr>
          <p:nvPr>
            <p:ph type="body" idx="1"/>
          </p:nvPr>
        </p:nvSpPr>
        <p:spPr>
          <a:xfrm>
            <a:off x="865188" y="1096963"/>
            <a:ext cx="7996237" cy="5270500"/>
          </a:xfrm>
        </p:spPr>
        <p:txBody>
          <a:bodyPr/>
          <a:lstStyle/>
          <a:p>
            <a:r>
              <a:rPr lang="en-US" altLang="en-US" b="1" dirty="0">
                <a:solidFill>
                  <a:srgbClr val="3366FF"/>
                </a:solidFill>
              </a:rPr>
              <a:t>Magnetic disks</a:t>
            </a:r>
            <a:r>
              <a:rPr lang="en-US" altLang="en-US" dirty="0">
                <a:solidFill>
                  <a:srgbClr val="3366FF"/>
                </a:solidFill>
              </a:rPr>
              <a:t> </a:t>
            </a:r>
            <a:r>
              <a:rPr lang="en-US" altLang="en-US" dirty="0"/>
              <a:t>provide bulk of secondary storage of modern computers</a:t>
            </a:r>
          </a:p>
          <a:p>
            <a:pPr lvl="1"/>
            <a:r>
              <a:rPr lang="en-US" altLang="en-US" dirty="0"/>
              <a:t>Drives rotate at 60 to 250 times per second</a:t>
            </a:r>
          </a:p>
          <a:p>
            <a:pPr lvl="1"/>
            <a:r>
              <a:rPr lang="en-US" altLang="en-US" b="1" dirty="0">
                <a:solidFill>
                  <a:srgbClr val="3366FF"/>
                </a:solidFill>
              </a:rPr>
              <a:t>Transfer rate</a:t>
            </a:r>
            <a:r>
              <a:rPr lang="en-US" altLang="en-US" dirty="0">
                <a:solidFill>
                  <a:srgbClr val="3366FF"/>
                </a:solidFill>
              </a:rPr>
              <a:t> </a:t>
            </a:r>
            <a:r>
              <a:rPr lang="en-US" altLang="en-US" dirty="0"/>
              <a:t>is rate at which data flow between drive and computer</a:t>
            </a:r>
          </a:p>
          <a:p>
            <a:pPr lvl="1"/>
            <a:r>
              <a:rPr lang="en-US" altLang="en-US" b="1" dirty="0">
                <a:solidFill>
                  <a:srgbClr val="3366FF"/>
                </a:solidFill>
              </a:rPr>
              <a:t>Positioning time</a:t>
            </a:r>
            <a:r>
              <a:rPr lang="en-US" altLang="en-US" dirty="0">
                <a:solidFill>
                  <a:srgbClr val="3366FF"/>
                </a:solidFill>
              </a:rPr>
              <a:t> </a:t>
            </a:r>
            <a:r>
              <a:rPr lang="en-US" altLang="en-US" dirty="0"/>
              <a:t>(</a:t>
            </a:r>
            <a:r>
              <a:rPr lang="en-US" altLang="en-US" b="1" dirty="0">
                <a:solidFill>
                  <a:srgbClr val="3366FF"/>
                </a:solidFill>
              </a:rPr>
              <a:t>random-access time</a:t>
            </a:r>
            <a:r>
              <a:rPr lang="en-US" altLang="en-US" dirty="0"/>
              <a:t>) is time to move disk arm to desired cylinder (</a:t>
            </a:r>
            <a:r>
              <a:rPr lang="en-US" altLang="en-US" b="1" dirty="0">
                <a:solidFill>
                  <a:srgbClr val="3366FF"/>
                </a:solidFill>
              </a:rPr>
              <a:t>seek time</a:t>
            </a:r>
            <a:r>
              <a:rPr lang="en-US" altLang="en-US" dirty="0"/>
              <a:t>) and time for desired sector to rotate under the disk head (</a:t>
            </a:r>
            <a:r>
              <a:rPr lang="en-US" altLang="en-US" b="1" dirty="0">
                <a:solidFill>
                  <a:srgbClr val="3366FF"/>
                </a:solidFill>
              </a:rPr>
              <a:t>rotational latency</a:t>
            </a:r>
            <a:r>
              <a:rPr lang="en-US" altLang="en-US" dirty="0"/>
              <a:t>)</a:t>
            </a:r>
          </a:p>
          <a:p>
            <a:pPr lvl="1"/>
            <a:r>
              <a:rPr lang="en-US" altLang="en-US" b="1" dirty="0">
                <a:solidFill>
                  <a:srgbClr val="3366FF"/>
                </a:solidFill>
              </a:rPr>
              <a:t>Head crash</a:t>
            </a:r>
            <a:r>
              <a:rPr lang="en-US" altLang="en-US" dirty="0">
                <a:solidFill>
                  <a:srgbClr val="3366FF"/>
                </a:solidFill>
              </a:rPr>
              <a:t> </a:t>
            </a:r>
            <a:r>
              <a:rPr lang="en-US" altLang="en-US" dirty="0"/>
              <a:t>results from disk head making contact with the disk surface  -- That</a:t>
            </a:r>
            <a:r>
              <a:rPr lang="ja-JP" altLang="en-US"/>
              <a:t>’</a:t>
            </a:r>
            <a:r>
              <a:rPr lang="en-US" altLang="ja-JP" dirty="0"/>
              <a:t>s bad</a:t>
            </a:r>
          </a:p>
          <a:p>
            <a:r>
              <a:rPr lang="en-US" altLang="en-US" dirty="0"/>
              <a:t>Disks can be removable</a:t>
            </a:r>
          </a:p>
          <a:p>
            <a:r>
              <a:rPr lang="en-US" altLang="en-US" dirty="0"/>
              <a:t>Drive attached to computer via </a:t>
            </a:r>
            <a:r>
              <a:rPr lang="en-US" altLang="en-US" b="1" dirty="0">
                <a:solidFill>
                  <a:srgbClr val="3366FF"/>
                </a:solidFill>
              </a:rPr>
              <a:t>I/O bus</a:t>
            </a:r>
          </a:p>
          <a:p>
            <a:pPr lvl="1"/>
            <a:r>
              <a:rPr lang="en-US" altLang="en-US" dirty="0"/>
              <a:t>Busses vary, including </a:t>
            </a:r>
            <a:r>
              <a:rPr lang="en-US" altLang="en-US" b="1" dirty="0">
                <a:solidFill>
                  <a:srgbClr val="3366FF"/>
                </a:solidFill>
              </a:rPr>
              <a:t>EIDE</a:t>
            </a:r>
            <a:r>
              <a:rPr lang="en-US" altLang="en-US" dirty="0"/>
              <a:t>,</a:t>
            </a:r>
            <a:r>
              <a:rPr lang="en-US" altLang="en-US" b="1" dirty="0">
                <a:solidFill>
                  <a:srgbClr val="3366FF"/>
                </a:solidFill>
              </a:rPr>
              <a:t> ATA</a:t>
            </a:r>
            <a:r>
              <a:rPr lang="en-US" altLang="en-US" dirty="0"/>
              <a:t>,</a:t>
            </a:r>
            <a:r>
              <a:rPr lang="en-US" altLang="en-US" b="1" dirty="0">
                <a:solidFill>
                  <a:srgbClr val="3366FF"/>
                </a:solidFill>
              </a:rPr>
              <a:t> SATA</a:t>
            </a:r>
            <a:r>
              <a:rPr lang="en-US" altLang="en-US" dirty="0"/>
              <a:t>,</a:t>
            </a:r>
            <a:r>
              <a:rPr lang="en-US" altLang="en-US" b="1" dirty="0">
                <a:solidFill>
                  <a:srgbClr val="3366FF"/>
                </a:solidFill>
              </a:rPr>
              <a:t> USB</a:t>
            </a:r>
            <a:r>
              <a:rPr lang="en-US" altLang="en-US" dirty="0"/>
              <a:t>,</a:t>
            </a:r>
            <a:r>
              <a:rPr lang="en-US" altLang="en-US" b="1" dirty="0">
                <a:solidFill>
                  <a:srgbClr val="3366FF"/>
                </a:solidFill>
              </a:rPr>
              <a:t> </a:t>
            </a:r>
            <a:r>
              <a:rPr lang="en-US" altLang="en-US" b="1" dirty="0" err="1">
                <a:solidFill>
                  <a:srgbClr val="3366FF"/>
                </a:solidFill>
              </a:rPr>
              <a:t>Fibre</a:t>
            </a:r>
            <a:r>
              <a:rPr lang="en-US" altLang="en-US" b="1" dirty="0">
                <a:solidFill>
                  <a:srgbClr val="3366FF"/>
                </a:solidFill>
              </a:rPr>
              <a:t> Channel</a:t>
            </a:r>
            <a:r>
              <a:rPr lang="en-US" altLang="en-US" dirty="0"/>
              <a:t>,</a:t>
            </a:r>
            <a:r>
              <a:rPr lang="en-US" altLang="en-US" b="1" dirty="0">
                <a:solidFill>
                  <a:srgbClr val="3366FF"/>
                </a:solidFill>
              </a:rPr>
              <a:t> SCSI, SAS, Firewire</a:t>
            </a:r>
          </a:p>
          <a:p>
            <a:pPr lvl="1"/>
            <a:r>
              <a:rPr lang="en-US" altLang="en-US" b="1" dirty="0">
                <a:solidFill>
                  <a:srgbClr val="3366FF"/>
                </a:solidFill>
              </a:rPr>
              <a:t>Host controller</a:t>
            </a:r>
            <a:r>
              <a:rPr lang="en-US" altLang="en-US" dirty="0">
                <a:solidFill>
                  <a:srgbClr val="3366FF"/>
                </a:solidFill>
              </a:rPr>
              <a:t> </a:t>
            </a:r>
            <a:r>
              <a:rPr lang="en-US" altLang="en-US" dirty="0"/>
              <a:t>in computer uses bus to talk to </a:t>
            </a:r>
            <a:r>
              <a:rPr lang="en-US" altLang="en-US" b="1" dirty="0">
                <a:solidFill>
                  <a:srgbClr val="3366FF"/>
                </a:solidFill>
              </a:rPr>
              <a:t>disk controller</a:t>
            </a:r>
            <a:r>
              <a:rPr lang="en-US" altLang="en-US" dirty="0">
                <a:solidFill>
                  <a:srgbClr val="3366FF"/>
                </a:solidFill>
              </a:rPr>
              <a:t> </a:t>
            </a:r>
            <a:r>
              <a:rPr lang="en-US" altLang="en-US" dirty="0"/>
              <a:t>built into drive or storage array</a:t>
            </a:r>
          </a:p>
        </p:txBody>
      </p:sp>
      <p:pic>
        <p:nvPicPr>
          <p:cNvPr id="4" name="Picture 1" descr="10_01.pdf">
            <a:extLst>
              <a:ext uri="{FF2B5EF4-FFF2-40B4-BE49-F238E27FC236}">
                <a16:creationId xmlns:a16="http://schemas.microsoft.com/office/drawing/2014/main" id="{F73B5B68-5DB0-1643-B758-E1CB5F0AE8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1763" y="4112215"/>
            <a:ext cx="3246437" cy="264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007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25A0E7D2-A4D3-894C-B98D-D8A39208CB8B}"/>
              </a:ext>
            </a:extLst>
          </p:cNvPr>
          <p:cNvSpPr>
            <a:spLocks noGrp="1" noChangeArrowheads="1"/>
          </p:cNvSpPr>
          <p:nvPr>
            <p:ph type="title"/>
          </p:nvPr>
        </p:nvSpPr>
        <p:spPr>
          <a:xfrm>
            <a:off x="1158875" y="182563"/>
            <a:ext cx="7527925" cy="576262"/>
          </a:xfrm>
        </p:spPr>
        <p:txBody>
          <a:bodyPr/>
          <a:lstStyle/>
          <a:p>
            <a:pPr eaLnBrk="1" hangingPunct="1"/>
            <a:r>
              <a:rPr lang="en-US" altLang="en-US" dirty="0">
                <a:solidFill>
                  <a:schemeClr val="tx1">
                    <a:lumMod val="50000"/>
                    <a:lumOff val="50000"/>
                  </a:schemeClr>
                </a:solidFill>
              </a:rPr>
              <a:t>Moving-head Disk Mechanism</a:t>
            </a:r>
          </a:p>
        </p:txBody>
      </p:sp>
      <p:pic>
        <p:nvPicPr>
          <p:cNvPr id="7171" name="Picture 1" descr="10_01.pdf">
            <a:extLst>
              <a:ext uri="{FF2B5EF4-FFF2-40B4-BE49-F238E27FC236}">
                <a16:creationId xmlns:a16="http://schemas.microsoft.com/office/drawing/2014/main" id="{62B1077E-129F-1E4C-9C6A-979020E165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52663" y="1200150"/>
            <a:ext cx="5157787"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5">
            <a:extLst>
              <a:ext uri="{FF2B5EF4-FFF2-40B4-BE49-F238E27FC236}">
                <a16:creationId xmlns:a16="http://schemas.microsoft.com/office/drawing/2014/main" id="{7DF9FBAB-837B-C342-9822-2845AB344613}"/>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47661675-6B18-FB40-AA2A-5AFDF69F0066}"/>
              </a:ext>
            </a:extLst>
          </p:cNvPr>
          <p:cNvSpPr/>
          <p:nvPr/>
        </p:nvSpPr>
        <p:spPr>
          <a:xfrm>
            <a:off x="4794248" y="3457574"/>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1DFA268-B8C0-B848-894A-4E246A049EA6}"/>
              </a:ext>
            </a:extLst>
          </p:cNvPr>
          <p:cNvSpPr/>
          <p:nvPr/>
        </p:nvSpPr>
        <p:spPr>
          <a:xfrm>
            <a:off x="2146290" y="4424366"/>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F4E0D0E-7D6D-2A44-A025-27DD95BA225D}"/>
              </a:ext>
            </a:extLst>
          </p:cNvPr>
          <p:cNvSpPr/>
          <p:nvPr/>
        </p:nvSpPr>
        <p:spPr>
          <a:xfrm>
            <a:off x="4325138" y="4631534"/>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F7DF2F1-688E-F944-9C23-AC375AB97D4E}"/>
              </a:ext>
            </a:extLst>
          </p:cNvPr>
          <p:cNvSpPr/>
          <p:nvPr/>
        </p:nvSpPr>
        <p:spPr>
          <a:xfrm>
            <a:off x="2252663" y="1104899"/>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71A16A0-B0AC-9144-9433-F1C34156CAFA}"/>
              </a:ext>
            </a:extLst>
          </p:cNvPr>
          <p:cNvSpPr/>
          <p:nvPr/>
        </p:nvSpPr>
        <p:spPr>
          <a:xfrm>
            <a:off x="180188" y="-2421736"/>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CDB8637-9B4C-4B47-8990-A202E725CA2F}"/>
              </a:ext>
            </a:extLst>
          </p:cNvPr>
          <p:cNvSpPr/>
          <p:nvPr/>
        </p:nvSpPr>
        <p:spPr>
          <a:xfrm>
            <a:off x="2119303" y="2214574"/>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BF6FBF4-7343-DD49-8A76-48986E5E5964}"/>
              </a:ext>
            </a:extLst>
          </p:cNvPr>
          <p:cNvSpPr/>
          <p:nvPr/>
        </p:nvSpPr>
        <p:spPr>
          <a:xfrm>
            <a:off x="2255828" y="3395685"/>
            <a:ext cx="906463" cy="500062"/>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5262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1"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C5A56C7-8977-134F-A854-D63D709B35E2}"/>
              </a:ext>
            </a:extLst>
          </p:cNvPr>
          <p:cNvSpPr>
            <a:spLocks noGrp="1"/>
          </p:cNvSpPr>
          <p:nvPr>
            <p:ph type="title"/>
          </p:nvPr>
        </p:nvSpPr>
        <p:spPr>
          <a:xfrm>
            <a:off x="457200" y="127000"/>
            <a:ext cx="8229600" cy="576263"/>
          </a:xfrm>
        </p:spPr>
        <p:txBody>
          <a:bodyPr/>
          <a:lstStyle/>
          <a:p>
            <a:r>
              <a:rPr lang="en-US" altLang="en-US" dirty="0">
                <a:solidFill>
                  <a:schemeClr val="tx1">
                    <a:lumMod val="50000"/>
                    <a:lumOff val="50000"/>
                  </a:schemeClr>
                </a:solidFill>
              </a:rPr>
              <a:t>Hard Disks</a:t>
            </a:r>
          </a:p>
        </p:txBody>
      </p:sp>
      <p:sp>
        <p:nvSpPr>
          <p:cNvPr id="8195" name="Content Placeholder 2">
            <a:extLst>
              <a:ext uri="{FF2B5EF4-FFF2-40B4-BE49-F238E27FC236}">
                <a16:creationId xmlns:a16="http://schemas.microsoft.com/office/drawing/2014/main" id="{A637537B-825C-3A42-A68A-68332AA3FF25}"/>
              </a:ext>
            </a:extLst>
          </p:cNvPr>
          <p:cNvSpPr>
            <a:spLocks noGrp="1"/>
          </p:cNvSpPr>
          <p:nvPr>
            <p:ph idx="1"/>
          </p:nvPr>
        </p:nvSpPr>
        <p:spPr>
          <a:xfrm>
            <a:off x="792163" y="1028700"/>
            <a:ext cx="5341937" cy="4935538"/>
          </a:xfrm>
        </p:spPr>
        <p:txBody>
          <a:bodyPr/>
          <a:lstStyle/>
          <a:p>
            <a:r>
              <a:rPr lang="en-US" altLang="en-US" dirty="0"/>
              <a:t>Platters range from .85</a:t>
            </a:r>
            <a:r>
              <a:rPr lang="ja-JP" altLang="en-US"/>
              <a:t>”</a:t>
            </a:r>
            <a:r>
              <a:rPr lang="en-US" altLang="ja-JP" dirty="0"/>
              <a:t> to 14</a:t>
            </a:r>
            <a:r>
              <a:rPr lang="ja-JP" altLang="en-US"/>
              <a:t>”</a:t>
            </a:r>
            <a:r>
              <a:rPr lang="en-US" altLang="ja-JP" dirty="0"/>
              <a:t> (historically)</a:t>
            </a:r>
          </a:p>
          <a:p>
            <a:pPr lvl="1"/>
            <a:r>
              <a:rPr lang="en-US" altLang="en-US" dirty="0"/>
              <a:t>Commonly 3.5</a:t>
            </a:r>
            <a:r>
              <a:rPr lang="ja-JP" altLang="en-US"/>
              <a:t>”</a:t>
            </a:r>
            <a:r>
              <a:rPr lang="en-US" altLang="ja-JP" dirty="0"/>
              <a:t>, 2.5</a:t>
            </a:r>
            <a:r>
              <a:rPr lang="ja-JP" altLang="en-US"/>
              <a:t>”</a:t>
            </a:r>
            <a:r>
              <a:rPr lang="en-US" altLang="ja-JP" dirty="0"/>
              <a:t>, and 1.8</a:t>
            </a:r>
            <a:r>
              <a:rPr lang="ja-JP" altLang="en-US"/>
              <a:t>”</a:t>
            </a:r>
            <a:endParaRPr lang="en-US" altLang="ja-JP" dirty="0"/>
          </a:p>
          <a:p>
            <a:r>
              <a:rPr lang="en-US" altLang="en-US" dirty="0"/>
              <a:t>Range from 30GB to 3TB per drive</a:t>
            </a:r>
          </a:p>
          <a:p>
            <a:r>
              <a:rPr lang="en-US" altLang="en-US" dirty="0"/>
              <a:t>Performance </a:t>
            </a:r>
          </a:p>
          <a:p>
            <a:pPr lvl="1"/>
            <a:r>
              <a:rPr lang="en-US" altLang="en-US" dirty="0"/>
              <a:t>Transfer Rate – theoretical – 6 Gb/sec</a:t>
            </a:r>
          </a:p>
          <a:p>
            <a:pPr lvl="1"/>
            <a:r>
              <a:rPr lang="en-US" altLang="en-US" dirty="0"/>
              <a:t>Effective Transfer Rate – real – 1Gb/sec</a:t>
            </a:r>
          </a:p>
          <a:p>
            <a:pPr lvl="1"/>
            <a:r>
              <a:rPr lang="en-US" altLang="en-US" dirty="0"/>
              <a:t>Seek time from 3ms to 12ms – 9ms common for desktop drives</a:t>
            </a:r>
          </a:p>
          <a:p>
            <a:pPr lvl="1"/>
            <a:r>
              <a:rPr lang="en-US" altLang="en-US" dirty="0"/>
              <a:t>(</a:t>
            </a:r>
            <a:r>
              <a:rPr lang="en-US" altLang="en-US" b="1" dirty="0"/>
              <a:t>Worst</a:t>
            </a:r>
            <a:r>
              <a:rPr lang="en-US" altLang="en-US" dirty="0"/>
              <a:t>) Latency based on spindle (rotational) speed</a:t>
            </a:r>
          </a:p>
          <a:p>
            <a:pPr lvl="2"/>
            <a:r>
              <a:rPr lang="en-US" altLang="en-US" dirty="0"/>
              <a:t>Time to perform one rotation</a:t>
            </a:r>
          </a:p>
          <a:p>
            <a:pPr lvl="2"/>
            <a:r>
              <a:rPr lang="en-US" altLang="en-US" dirty="0"/>
              <a:t>Convert speed from per minute to per second: w /60 </a:t>
            </a:r>
          </a:p>
          <a:p>
            <a:pPr lvl="2"/>
            <a:r>
              <a:rPr lang="en-US" altLang="en-US" dirty="0"/>
              <a:t>Find the time to perform one rotation: 1/(w/60)</a:t>
            </a:r>
          </a:p>
          <a:p>
            <a:pPr lvl="1"/>
            <a:r>
              <a:rPr lang="en-US" altLang="en-US" b="1" dirty="0"/>
              <a:t>Average</a:t>
            </a:r>
            <a:r>
              <a:rPr lang="en-US" altLang="en-US" dirty="0"/>
              <a:t> latency = ½ worst latency</a:t>
            </a:r>
          </a:p>
          <a:p>
            <a:pPr lvl="2"/>
            <a:r>
              <a:rPr lang="en-US" altLang="en-US" dirty="0"/>
              <a:t>Example: what is the average latency if spindle rotational speed is 15000 rpm</a:t>
            </a:r>
          </a:p>
          <a:p>
            <a:pPr lvl="2"/>
            <a:r>
              <a:rPr lang="en-US" altLang="en-US" dirty="0"/>
              <a:t>Step 1: convert speed to rotation per second: </a:t>
            </a:r>
            <a:r>
              <a:rPr lang="en-US" altLang="en-US" dirty="0" err="1"/>
              <a:t>rps</a:t>
            </a:r>
            <a:r>
              <a:rPr lang="en-US" altLang="en-US" dirty="0"/>
              <a:t> = 15000/60 = 250 rotations per second</a:t>
            </a:r>
          </a:p>
          <a:p>
            <a:pPr lvl="2"/>
            <a:r>
              <a:rPr lang="en-US" altLang="en-US" dirty="0"/>
              <a:t>Step 2: worst latency = time to complete one rotation = 1 second/250 = 4 </a:t>
            </a:r>
            <a:r>
              <a:rPr lang="en-US" altLang="en-US" dirty="0" err="1"/>
              <a:t>ms</a:t>
            </a:r>
            <a:endParaRPr lang="en-US" altLang="en-US" dirty="0"/>
          </a:p>
          <a:p>
            <a:pPr lvl="2"/>
            <a:r>
              <a:rPr lang="en-US" altLang="en-US" dirty="0"/>
              <a:t>Step 3: average latency = ½ worst latency = ½ 4ms = 2ms </a:t>
            </a:r>
          </a:p>
          <a:p>
            <a:pPr lvl="1"/>
            <a:endParaRPr lang="en-US" altLang="en-US" dirty="0"/>
          </a:p>
          <a:p>
            <a:endParaRPr lang="en-US" altLang="en-US" dirty="0"/>
          </a:p>
        </p:txBody>
      </p:sp>
      <p:grpSp>
        <p:nvGrpSpPr>
          <p:cNvPr id="2" name="Group 1">
            <a:extLst>
              <a:ext uri="{FF2B5EF4-FFF2-40B4-BE49-F238E27FC236}">
                <a16:creationId xmlns:a16="http://schemas.microsoft.com/office/drawing/2014/main" id="{3C0FBCEA-4C47-6A4A-BCB5-257410ABEFE6}"/>
              </a:ext>
            </a:extLst>
          </p:cNvPr>
          <p:cNvGrpSpPr/>
          <p:nvPr/>
        </p:nvGrpSpPr>
        <p:grpSpPr>
          <a:xfrm>
            <a:off x="5829300" y="896937"/>
            <a:ext cx="3314700" cy="2555874"/>
            <a:chOff x="5829300" y="896937"/>
            <a:chExt cx="3314700" cy="2555874"/>
          </a:xfrm>
        </p:grpSpPr>
        <p:pic>
          <p:nvPicPr>
            <p:cNvPr id="8196" name="Picture 3" descr="A table with a number of different numbers">
              <a:extLst>
                <a:ext uri="{FF2B5EF4-FFF2-40B4-BE49-F238E27FC236}">
                  <a16:creationId xmlns:a16="http://schemas.microsoft.com/office/drawing/2014/main" id="{AAD84734-B41D-CE48-812E-DC71CE37252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896937"/>
              <a:ext cx="33147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4">
              <a:extLst>
                <a:ext uri="{FF2B5EF4-FFF2-40B4-BE49-F238E27FC236}">
                  <a16:creationId xmlns:a16="http://schemas.microsoft.com/office/drawing/2014/main" id="{02F1BAD2-C865-1A4E-BE70-96E13B1D04E5}"/>
                </a:ext>
              </a:extLst>
            </p:cNvPr>
            <p:cNvSpPr txBox="1">
              <a:spLocks noChangeArrowheads="1"/>
            </p:cNvSpPr>
            <p:nvPr/>
          </p:nvSpPr>
          <p:spPr bwMode="auto">
            <a:xfrm>
              <a:off x="6134100" y="3111499"/>
              <a:ext cx="234156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5" tIns="32003" rIns="64005" bIns="32003">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r>
                <a:rPr lang="en-US" altLang="en-US" dirty="0"/>
                <a:t>(From Wikipedia)</a:t>
              </a:r>
            </a:p>
          </p:txBody>
        </p:sp>
      </p:grpSp>
    </p:spTree>
    <p:extLst>
      <p:ext uri="{BB962C8B-B14F-4D97-AF65-F5344CB8AC3E}">
        <p14:creationId xmlns:p14="http://schemas.microsoft.com/office/powerpoint/2010/main" val="294886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19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195">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195">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8195">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8195">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8195">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195">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19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bldLvl="3"/>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F7A5BCDA-E155-1F48-B808-DD025D151933}"/>
              </a:ext>
            </a:extLst>
          </p:cNvPr>
          <p:cNvSpPr>
            <a:spLocks noGrp="1"/>
          </p:cNvSpPr>
          <p:nvPr>
            <p:ph type="title"/>
          </p:nvPr>
        </p:nvSpPr>
        <p:spPr>
          <a:xfrm>
            <a:off x="457200" y="195263"/>
            <a:ext cx="8229600" cy="576262"/>
          </a:xfrm>
        </p:spPr>
        <p:txBody>
          <a:bodyPr/>
          <a:lstStyle/>
          <a:p>
            <a:r>
              <a:rPr lang="en-US" altLang="en-US" dirty="0">
                <a:solidFill>
                  <a:schemeClr val="tx1">
                    <a:lumMod val="50000"/>
                    <a:lumOff val="50000"/>
                  </a:schemeClr>
                </a:solidFill>
              </a:rPr>
              <a:t>Hard Disk Performance</a:t>
            </a:r>
          </a:p>
        </p:txBody>
      </p:sp>
      <p:sp>
        <p:nvSpPr>
          <p:cNvPr id="9219" name="Content Placeholder 2">
            <a:extLst>
              <a:ext uri="{FF2B5EF4-FFF2-40B4-BE49-F238E27FC236}">
                <a16:creationId xmlns:a16="http://schemas.microsoft.com/office/drawing/2014/main" id="{1BF0227E-3E70-E24F-BCBC-071438477D8D}"/>
              </a:ext>
            </a:extLst>
          </p:cNvPr>
          <p:cNvSpPr>
            <a:spLocks noGrp="1"/>
          </p:cNvSpPr>
          <p:nvPr>
            <p:ph idx="1"/>
          </p:nvPr>
        </p:nvSpPr>
        <p:spPr>
          <a:xfrm>
            <a:off x="847725" y="1082675"/>
            <a:ext cx="7839075" cy="5059363"/>
          </a:xfrm>
        </p:spPr>
        <p:txBody>
          <a:bodyPr/>
          <a:lstStyle/>
          <a:p>
            <a:r>
              <a:rPr lang="en-US" altLang="en-US" b="1" dirty="0">
                <a:solidFill>
                  <a:srgbClr val="3366FF"/>
                </a:solidFill>
              </a:rPr>
              <a:t>Average access time </a:t>
            </a:r>
            <a:r>
              <a:rPr lang="en-US" altLang="en-US" dirty="0"/>
              <a:t>= average seek time + average latency</a:t>
            </a:r>
          </a:p>
          <a:p>
            <a:pPr lvl="1"/>
            <a:r>
              <a:rPr lang="en-US" altLang="en-US" dirty="0"/>
              <a:t>For fastest disk 3ms + 2ms = 5ms</a:t>
            </a:r>
          </a:p>
          <a:p>
            <a:pPr lvl="1"/>
            <a:r>
              <a:rPr lang="en-US" altLang="en-US" dirty="0"/>
              <a:t>For slow disk 9ms + 5.56ms = 14.56ms</a:t>
            </a:r>
          </a:p>
          <a:p>
            <a:r>
              <a:rPr lang="en-US" altLang="en-US" dirty="0"/>
              <a:t>Recall:</a:t>
            </a:r>
          </a:p>
          <a:p>
            <a:pPr lvl="1"/>
            <a:r>
              <a:rPr lang="en-US" altLang="en-US" dirty="0"/>
              <a:t>seek time is related to head moves</a:t>
            </a:r>
          </a:p>
          <a:p>
            <a:pPr lvl="1"/>
            <a:r>
              <a:rPr lang="en-US" altLang="en-US" dirty="0"/>
              <a:t>latency related to platter/disk rotation</a:t>
            </a:r>
          </a:p>
          <a:p>
            <a:pPr lvl="1"/>
            <a:r>
              <a:rPr lang="en-US" altLang="en-US" dirty="0"/>
              <a:t>Access time is only the time to position the head at the beginning of a sector</a:t>
            </a:r>
          </a:p>
          <a:p>
            <a:pPr lvl="1"/>
            <a:r>
              <a:rPr lang="en-US" altLang="en-US" dirty="0"/>
              <a:t>We must add transfer time and disk controller overhead</a:t>
            </a:r>
          </a:p>
          <a:p>
            <a:r>
              <a:rPr lang="en-US" altLang="en-US" dirty="0"/>
              <a:t>Average I/O time = average access time + transfer time + controller overhead</a:t>
            </a:r>
          </a:p>
          <a:p>
            <a:r>
              <a:rPr lang="en-US" altLang="en-US" dirty="0"/>
              <a:t>transfer time = (amount to transfer / transfer rate)</a:t>
            </a:r>
          </a:p>
          <a:p>
            <a:r>
              <a:rPr lang="en-US" altLang="en-US" dirty="0"/>
              <a:t>For example to transfer a 4KB block on a 7200 RPM disk with a 5ms average seek time, 1Gb/sec transfer rate with a .1ms controller overhead =</a:t>
            </a:r>
          </a:p>
          <a:p>
            <a:pPr lvl="1"/>
            <a:r>
              <a:rPr lang="en-US" altLang="en-US" dirty="0"/>
              <a:t>5ms + 4.17ms + transfer time + 0.1ms =</a:t>
            </a:r>
          </a:p>
          <a:p>
            <a:pPr lvl="1"/>
            <a:r>
              <a:rPr lang="en-US" altLang="en-US" dirty="0"/>
              <a:t>Transfer time = 4KB / 1Gb/s * 8Gb = 0.032 </a:t>
            </a:r>
            <a:r>
              <a:rPr lang="en-US" altLang="en-US" dirty="0" err="1"/>
              <a:t>ms</a:t>
            </a:r>
            <a:r>
              <a:rPr lang="en-US" altLang="en-US" dirty="0"/>
              <a:t> </a:t>
            </a:r>
          </a:p>
          <a:p>
            <a:pPr lvl="1"/>
            <a:r>
              <a:rPr lang="en-US" altLang="en-US" dirty="0"/>
              <a:t>Average I/O time for 4KB block = 9.27ms + .032ms = 9.302ms</a:t>
            </a:r>
          </a:p>
          <a:p>
            <a:endParaRPr lang="en-US" altLang="en-US" dirty="0"/>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94952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21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21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21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9219">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219">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219">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01CE2070-10C4-2840-83DF-BC852B3E19BE}"/>
              </a:ext>
            </a:extLst>
          </p:cNvPr>
          <p:cNvSpPr>
            <a:spLocks noGrp="1"/>
          </p:cNvSpPr>
          <p:nvPr>
            <p:ph type="title"/>
          </p:nvPr>
        </p:nvSpPr>
        <p:spPr>
          <a:xfrm>
            <a:off x="457200" y="195263"/>
            <a:ext cx="8229600" cy="576262"/>
          </a:xfrm>
        </p:spPr>
        <p:txBody>
          <a:bodyPr/>
          <a:lstStyle/>
          <a:p>
            <a:r>
              <a:rPr lang="en-US" altLang="en-US" dirty="0">
                <a:solidFill>
                  <a:schemeClr val="tx1">
                    <a:lumMod val="50000"/>
                    <a:lumOff val="50000"/>
                  </a:schemeClr>
                </a:solidFill>
              </a:rPr>
              <a:t>Solid-State Disks</a:t>
            </a:r>
          </a:p>
        </p:txBody>
      </p:sp>
      <p:sp>
        <p:nvSpPr>
          <p:cNvPr id="11267" name="Content Placeholder 2">
            <a:extLst>
              <a:ext uri="{FF2B5EF4-FFF2-40B4-BE49-F238E27FC236}">
                <a16:creationId xmlns:a16="http://schemas.microsoft.com/office/drawing/2014/main" id="{04A75539-DCD2-DA4F-AA30-E1E9D26A0603}"/>
              </a:ext>
            </a:extLst>
          </p:cNvPr>
          <p:cNvSpPr>
            <a:spLocks noGrp="1"/>
          </p:cNvSpPr>
          <p:nvPr>
            <p:ph idx="1"/>
          </p:nvPr>
        </p:nvSpPr>
        <p:spPr>
          <a:xfrm>
            <a:off x="860425" y="1111250"/>
            <a:ext cx="7191375" cy="4530725"/>
          </a:xfrm>
        </p:spPr>
        <p:txBody>
          <a:bodyPr/>
          <a:lstStyle/>
          <a:p>
            <a:r>
              <a:rPr lang="en-US" altLang="en-US" dirty="0"/>
              <a:t>Nonvolatile memory used like a hard drive</a:t>
            </a:r>
          </a:p>
          <a:p>
            <a:pPr lvl="1"/>
            <a:r>
              <a:rPr lang="en-US" altLang="en-US" dirty="0"/>
              <a:t>Many technology variations</a:t>
            </a:r>
          </a:p>
          <a:p>
            <a:r>
              <a:rPr lang="en-US" altLang="en-US" dirty="0"/>
              <a:t>Can be more reliable than HDDs</a:t>
            </a:r>
          </a:p>
          <a:p>
            <a:r>
              <a:rPr lang="en-US" altLang="en-US" dirty="0"/>
              <a:t>More expensive per MB</a:t>
            </a:r>
          </a:p>
          <a:p>
            <a:r>
              <a:rPr lang="en-US" altLang="en-US" dirty="0"/>
              <a:t>Maybe have shorter life span </a:t>
            </a:r>
          </a:p>
          <a:p>
            <a:r>
              <a:rPr lang="en-US" altLang="en-US" dirty="0"/>
              <a:t>Less capacity</a:t>
            </a:r>
          </a:p>
          <a:p>
            <a:r>
              <a:rPr lang="en-US" altLang="en-US" dirty="0"/>
              <a:t>But much faster</a:t>
            </a:r>
          </a:p>
          <a:p>
            <a:r>
              <a:rPr lang="en-US" altLang="en-US" dirty="0"/>
              <a:t>Busses can be too slow -&gt; connect directly to PCI for example</a:t>
            </a:r>
          </a:p>
          <a:p>
            <a:r>
              <a:rPr lang="en-US" altLang="en-US" dirty="0"/>
              <a:t>No moving parts, so no seek time or rotational latency</a:t>
            </a:r>
          </a:p>
        </p:txBody>
      </p:sp>
    </p:spTree>
    <p:extLst>
      <p:ext uri="{BB962C8B-B14F-4D97-AF65-F5344CB8AC3E}">
        <p14:creationId xmlns:p14="http://schemas.microsoft.com/office/powerpoint/2010/main" val="147862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0DEC194-E150-0246-B6BF-3E1B3D1BDC81}"/>
              </a:ext>
            </a:extLst>
          </p:cNvPr>
          <p:cNvSpPr>
            <a:spLocks noGrp="1" noChangeArrowheads="1"/>
          </p:cNvSpPr>
          <p:nvPr>
            <p:ph type="title"/>
          </p:nvPr>
        </p:nvSpPr>
        <p:spPr>
          <a:xfrm>
            <a:off x="1049338" y="127000"/>
            <a:ext cx="7637462" cy="576263"/>
          </a:xfrm>
        </p:spPr>
        <p:txBody>
          <a:bodyPr/>
          <a:lstStyle/>
          <a:p>
            <a:pPr eaLnBrk="1" hangingPunct="1"/>
            <a:r>
              <a:rPr lang="en-US" altLang="en-US" dirty="0">
                <a:solidFill>
                  <a:schemeClr val="tx1">
                    <a:lumMod val="50000"/>
                    <a:lumOff val="50000"/>
                  </a:schemeClr>
                </a:solidFill>
              </a:rPr>
              <a:t>Magnetic Tape</a:t>
            </a:r>
          </a:p>
        </p:txBody>
      </p:sp>
      <p:sp>
        <p:nvSpPr>
          <p:cNvPr id="12291" name="Rectangle 3">
            <a:extLst>
              <a:ext uri="{FF2B5EF4-FFF2-40B4-BE49-F238E27FC236}">
                <a16:creationId xmlns:a16="http://schemas.microsoft.com/office/drawing/2014/main" id="{EFD1AD81-DFBA-0941-8DD3-202049916809}"/>
              </a:ext>
            </a:extLst>
          </p:cNvPr>
          <p:cNvSpPr>
            <a:spLocks noGrp="1" noChangeArrowheads="1"/>
          </p:cNvSpPr>
          <p:nvPr>
            <p:ph type="body" idx="1"/>
          </p:nvPr>
        </p:nvSpPr>
        <p:spPr>
          <a:xfrm>
            <a:off x="847725" y="1096963"/>
            <a:ext cx="6999288" cy="4530725"/>
          </a:xfrm>
        </p:spPr>
        <p:txBody>
          <a:bodyPr/>
          <a:lstStyle/>
          <a:p>
            <a:r>
              <a:rPr lang="en-US" altLang="en-US" dirty="0"/>
              <a:t>Was early secondary-storage medium</a:t>
            </a:r>
          </a:p>
          <a:p>
            <a:pPr lvl="1"/>
            <a:r>
              <a:rPr lang="en-US" altLang="en-US" dirty="0"/>
              <a:t>Evolved from open spools to cartridges</a:t>
            </a:r>
          </a:p>
          <a:p>
            <a:r>
              <a:rPr lang="en-US" altLang="en-US" dirty="0"/>
              <a:t>Relatively permanent and holds large quantities of data</a:t>
            </a:r>
          </a:p>
          <a:p>
            <a:r>
              <a:rPr lang="en-US" altLang="en-US" dirty="0"/>
              <a:t>Access time </a:t>
            </a:r>
            <a:r>
              <a:rPr lang="en-US" altLang="en-US" b="1" dirty="0">
                <a:solidFill>
                  <a:srgbClr val="FF0000"/>
                </a:solidFill>
              </a:rPr>
              <a:t>slow</a:t>
            </a:r>
          </a:p>
          <a:p>
            <a:r>
              <a:rPr lang="en-US" altLang="en-US" dirty="0"/>
              <a:t>Random access ~1000 times slower than disk</a:t>
            </a:r>
          </a:p>
          <a:p>
            <a:r>
              <a:rPr lang="en-US" altLang="en-US" dirty="0"/>
              <a:t>Mainly used for backup, storage of </a:t>
            </a:r>
            <a:r>
              <a:rPr lang="en-US" altLang="en-US" dirty="0">
                <a:solidFill>
                  <a:srgbClr val="FF0000"/>
                </a:solidFill>
              </a:rPr>
              <a:t>infrequently-used data, </a:t>
            </a:r>
            <a:r>
              <a:rPr lang="en-US" altLang="en-US" dirty="0"/>
              <a:t>transfer medium between systems</a:t>
            </a:r>
          </a:p>
          <a:p>
            <a:r>
              <a:rPr lang="en-US" altLang="en-US" dirty="0"/>
              <a:t>Kept in spool and wound or rewound past read-write head</a:t>
            </a:r>
          </a:p>
          <a:p>
            <a:r>
              <a:rPr lang="en-US" altLang="en-US" dirty="0"/>
              <a:t>Once data under head, transfer rates comparable to disk</a:t>
            </a:r>
          </a:p>
          <a:p>
            <a:pPr lvl="1"/>
            <a:r>
              <a:rPr lang="en-US" altLang="en-US" dirty="0"/>
              <a:t>140MB/sec and greater</a:t>
            </a:r>
          </a:p>
          <a:p>
            <a:r>
              <a:rPr lang="en-US" altLang="en-US" dirty="0"/>
              <a:t>200GB to 1.5TB typical storage</a:t>
            </a:r>
          </a:p>
          <a:p>
            <a:r>
              <a:rPr lang="en-US" altLang="en-US" dirty="0"/>
              <a:t>Common technologies are LTO-{3,4,5} and T10000</a:t>
            </a:r>
          </a:p>
        </p:txBody>
      </p:sp>
    </p:spTree>
    <p:extLst>
      <p:ext uri="{BB962C8B-B14F-4D97-AF65-F5344CB8AC3E}">
        <p14:creationId xmlns:p14="http://schemas.microsoft.com/office/powerpoint/2010/main" val="46049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291">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291">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291">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29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B3397028-9341-9D46-AD2A-EF1AC5A21EA2}"/>
              </a:ext>
            </a:extLst>
          </p:cNvPr>
          <p:cNvSpPr>
            <a:spLocks noGrp="1" noChangeArrowheads="1"/>
          </p:cNvSpPr>
          <p:nvPr>
            <p:ph type="title"/>
          </p:nvPr>
        </p:nvSpPr>
        <p:spPr>
          <a:xfrm>
            <a:off x="904875" y="155575"/>
            <a:ext cx="7781925" cy="576263"/>
          </a:xfrm>
        </p:spPr>
        <p:txBody>
          <a:bodyPr/>
          <a:lstStyle/>
          <a:p>
            <a:pPr eaLnBrk="1" hangingPunct="1"/>
            <a:r>
              <a:rPr lang="en-US" altLang="en-US">
                <a:solidFill>
                  <a:schemeClr val="tx1">
                    <a:lumMod val="50000"/>
                    <a:lumOff val="50000"/>
                  </a:schemeClr>
                </a:solidFill>
              </a:rPr>
              <a:t>Disk Structure</a:t>
            </a:r>
          </a:p>
        </p:txBody>
      </p:sp>
      <p:sp>
        <p:nvSpPr>
          <p:cNvPr id="13315" name="Rectangle 3">
            <a:extLst>
              <a:ext uri="{FF2B5EF4-FFF2-40B4-BE49-F238E27FC236}">
                <a16:creationId xmlns:a16="http://schemas.microsoft.com/office/drawing/2014/main" id="{7641C8CC-744C-3541-8359-778327962DF8}"/>
              </a:ext>
            </a:extLst>
          </p:cNvPr>
          <p:cNvSpPr>
            <a:spLocks noGrp="1" noChangeArrowheads="1"/>
          </p:cNvSpPr>
          <p:nvPr>
            <p:ph type="body" idx="1"/>
          </p:nvPr>
        </p:nvSpPr>
        <p:spPr>
          <a:xfrm>
            <a:off x="833438" y="1069975"/>
            <a:ext cx="7313612" cy="4530725"/>
          </a:xfrm>
        </p:spPr>
        <p:txBody>
          <a:bodyPr/>
          <a:lstStyle/>
          <a:p>
            <a:r>
              <a:rPr lang="en-US" altLang="en-US" dirty="0"/>
              <a:t>Disk drives are addressed as large 1-dimensional arrays of </a:t>
            </a:r>
            <a:r>
              <a:rPr lang="en-US" altLang="en-US" b="1" dirty="0">
                <a:solidFill>
                  <a:srgbClr val="3366FF"/>
                </a:solidFill>
              </a:rPr>
              <a:t>logical blocks</a:t>
            </a:r>
            <a:r>
              <a:rPr lang="en-US" altLang="en-US" dirty="0"/>
              <a:t>, where the logical block is the smallest unit of transfer</a:t>
            </a:r>
          </a:p>
          <a:p>
            <a:pPr lvl="1"/>
            <a:r>
              <a:rPr lang="en-US" altLang="en-US" dirty="0"/>
              <a:t>Low-level formatting creates </a:t>
            </a:r>
            <a:r>
              <a:rPr lang="en-US" altLang="en-US" b="1" dirty="0">
                <a:solidFill>
                  <a:srgbClr val="3366FF"/>
                </a:solidFill>
              </a:rPr>
              <a:t>logical blocks </a:t>
            </a:r>
            <a:r>
              <a:rPr lang="en-US" altLang="en-US" dirty="0"/>
              <a:t>on physical media</a:t>
            </a:r>
          </a:p>
          <a:p>
            <a:r>
              <a:rPr lang="en-US" altLang="en-US" dirty="0"/>
              <a:t>The 1-dimensional array of logical blocks is mapped into the sectors of the disk sequentially</a:t>
            </a:r>
          </a:p>
          <a:p>
            <a:pPr lvl="1"/>
            <a:r>
              <a:rPr lang="en-US" altLang="en-US" dirty="0"/>
              <a:t>Sector 0 is the first sector of the first track on the outermost cylinder</a:t>
            </a:r>
          </a:p>
          <a:p>
            <a:pPr lvl="1"/>
            <a:r>
              <a:rPr lang="en-US" altLang="en-US" dirty="0"/>
              <a:t>Mapping proceeds in order through that track, then the rest of the tracks in that cylinder, and then through the rest of the cylinders from outermost to innermost</a:t>
            </a:r>
          </a:p>
          <a:p>
            <a:pPr lvl="1"/>
            <a:r>
              <a:rPr lang="en-US" altLang="en-US" dirty="0"/>
              <a:t>Logical to physical address should be easy</a:t>
            </a:r>
          </a:p>
          <a:p>
            <a:pPr lvl="2"/>
            <a:r>
              <a:rPr lang="en-US" altLang="en-US" dirty="0"/>
              <a:t>Except for bad sectors</a:t>
            </a:r>
          </a:p>
          <a:p>
            <a:pPr lvl="2"/>
            <a:r>
              <a:rPr lang="en-US" altLang="en-US" dirty="0"/>
              <a:t>Non-constant # of sectors per track via constant angular velocity</a:t>
            </a:r>
          </a:p>
          <a:p>
            <a:endParaRPr lang="en-US" altLang="en-US" dirty="0"/>
          </a:p>
        </p:txBody>
      </p:sp>
      <p:grpSp>
        <p:nvGrpSpPr>
          <p:cNvPr id="4" name="Group 3">
            <a:extLst>
              <a:ext uri="{FF2B5EF4-FFF2-40B4-BE49-F238E27FC236}">
                <a16:creationId xmlns:a16="http://schemas.microsoft.com/office/drawing/2014/main" id="{A5B4F44B-212D-9C4E-90EC-8E84925A8117}"/>
              </a:ext>
            </a:extLst>
          </p:cNvPr>
          <p:cNvGrpSpPr/>
          <p:nvPr/>
        </p:nvGrpSpPr>
        <p:grpSpPr>
          <a:xfrm>
            <a:off x="628650" y="3857625"/>
            <a:ext cx="1952522" cy="2562236"/>
            <a:chOff x="628650" y="3857625"/>
            <a:chExt cx="1952522" cy="2562236"/>
          </a:xfrm>
        </p:grpSpPr>
        <p:sp>
          <p:nvSpPr>
            <p:cNvPr id="2" name="Rectangle 1">
              <a:extLst>
                <a:ext uri="{FF2B5EF4-FFF2-40B4-BE49-F238E27FC236}">
                  <a16:creationId xmlns:a16="http://schemas.microsoft.com/office/drawing/2014/main" id="{8DBE7E12-C365-4E45-8621-83BD74156C73}"/>
                </a:ext>
              </a:extLst>
            </p:cNvPr>
            <p:cNvSpPr/>
            <p:nvPr/>
          </p:nvSpPr>
          <p:spPr>
            <a:xfrm>
              <a:off x="904875" y="4257675"/>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9094CE58-85E6-024D-8D81-C21C2656D2A5}"/>
                </a:ext>
              </a:extLst>
            </p:cNvPr>
            <p:cNvSpPr/>
            <p:nvPr/>
          </p:nvSpPr>
          <p:spPr>
            <a:xfrm>
              <a:off x="904875" y="4438651"/>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8005792D-99D2-7A44-A3F8-AE5F6BB84393}"/>
                </a:ext>
              </a:extLst>
            </p:cNvPr>
            <p:cNvSpPr/>
            <p:nvPr/>
          </p:nvSpPr>
          <p:spPr>
            <a:xfrm>
              <a:off x="904875" y="4619627"/>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0C62CD0B-548B-D443-B036-93E8392D37B9}"/>
                </a:ext>
              </a:extLst>
            </p:cNvPr>
            <p:cNvSpPr/>
            <p:nvPr/>
          </p:nvSpPr>
          <p:spPr>
            <a:xfrm>
              <a:off x="904875" y="4800603"/>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1997302C-23D5-A843-8E94-3500FB795C00}"/>
                </a:ext>
              </a:extLst>
            </p:cNvPr>
            <p:cNvSpPr/>
            <p:nvPr/>
          </p:nvSpPr>
          <p:spPr>
            <a:xfrm>
              <a:off x="904875" y="4981579"/>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706302A-62D9-3044-8A09-CC1FF6BE0B17}"/>
                </a:ext>
              </a:extLst>
            </p:cNvPr>
            <p:cNvSpPr/>
            <p:nvPr/>
          </p:nvSpPr>
          <p:spPr>
            <a:xfrm>
              <a:off x="904875" y="5162555"/>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1690134-2C95-4D40-B7AA-57C6572DD1E9}"/>
                </a:ext>
              </a:extLst>
            </p:cNvPr>
            <p:cNvSpPr/>
            <p:nvPr/>
          </p:nvSpPr>
          <p:spPr>
            <a:xfrm>
              <a:off x="904875" y="5343531"/>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46348EF-3E48-2A4A-AD96-46EF93629AA4}"/>
                </a:ext>
              </a:extLst>
            </p:cNvPr>
            <p:cNvSpPr/>
            <p:nvPr/>
          </p:nvSpPr>
          <p:spPr>
            <a:xfrm>
              <a:off x="904875" y="5524507"/>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FA998E0B-6219-7D4C-9868-79EEE315EE15}"/>
                </a:ext>
              </a:extLst>
            </p:cNvPr>
            <p:cNvSpPr/>
            <p:nvPr/>
          </p:nvSpPr>
          <p:spPr>
            <a:xfrm>
              <a:off x="904875" y="5705483"/>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083D3EB-F8D6-454A-B09B-70673385EF8E}"/>
                </a:ext>
              </a:extLst>
            </p:cNvPr>
            <p:cNvSpPr/>
            <p:nvPr/>
          </p:nvSpPr>
          <p:spPr>
            <a:xfrm>
              <a:off x="904875" y="5886459"/>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905D45D-C35E-7E4F-B2F1-ECF438243348}"/>
                </a:ext>
              </a:extLst>
            </p:cNvPr>
            <p:cNvSpPr/>
            <p:nvPr/>
          </p:nvSpPr>
          <p:spPr>
            <a:xfrm>
              <a:off x="904875" y="6067435"/>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C50E585-EEAC-B24B-8F0D-C944CD10787D}"/>
                </a:ext>
              </a:extLst>
            </p:cNvPr>
            <p:cNvSpPr/>
            <p:nvPr/>
          </p:nvSpPr>
          <p:spPr>
            <a:xfrm>
              <a:off x="904875" y="6248411"/>
              <a:ext cx="709613" cy="1714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789C8B32-7B17-1D44-B611-04FC2C8FD83A}"/>
                </a:ext>
              </a:extLst>
            </p:cNvPr>
            <p:cNvSpPr txBox="1"/>
            <p:nvPr/>
          </p:nvSpPr>
          <p:spPr>
            <a:xfrm>
              <a:off x="628650" y="3857625"/>
              <a:ext cx="1952522" cy="369332"/>
            </a:xfrm>
            <a:prstGeom prst="rect">
              <a:avLst/>
            </a:prstGeom>
            <a:noFill/>
          </p:spPr>
          <p:txBody>
            <a:bodyPr wrap="none" rtlCol="0">
              <a:spAutoFit/>
            </a:bodyPr>
            <a:lstStyle/>
            <a:p>
              <a:r>
                <a:rPr lang="en-US" dirty="0"/>
                <a:t>I-dimensional array</a:t>
              </a:r>
            </a:p>
          </p:txBody>
        </p:sp>
      </p:grpSp>
      <p:cxnSp>
        <p:nvCxnSpPr>
          <p:cNvPr id="17" name="Straight Arrow Connector 16">
            <a:extLst>
              <a:ext uri="{FF2B5EF4-FFF2-40B4-BE49-F238E27FC236}">
                <a16:creationId xmlns:a16="http://schemas.microsoft.com/office/drawing/2014/main" id="{24CD9546-030A-4A4E-B461-1099249F1F88}"/>
              </a:ext>
            </a:extLst>
          </p:cNvPr>
          <p:cNvCxnSpPr/>
          <p:nvPr/>
        </p:nvCxnSpPr>
        <p:spPr>
          <a:xfrm>
            <a:off x="2271713" y="5086350"/>
            <a:ext cx="195738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20" name="Picture 1" descr="10_01.pdf">
            <a:extLst>
              <a:ext uri="{FF2B5EF4-FFF2-40B4-BE49-F238E27FC236}">
                <a16:creationId xmlns:a16="http://schemas.microsoft.com/office/drawing/2014/main" id="{0EE2CC7C-490F-FA46-AC21-DCF67D8B16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72050" y="3938596"/>
            <a:ext cx="3246437" cy="264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332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15">
                                            <p:txEl>
                                              <p:pRg st="5" end="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315">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bldLvl="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Minimize seek time</a:t>
            </a:r>
          </a:p>
          <a:p>
            <a:r>
              <a:rPr lang="en-US" dirty="0">
                <a:solidFill>
                  <a:schemeClr val="tx1">
                    <a:lumMod val="50000"/>
                    <a:lumOff val="50000"/>
                  </a:schemeClr>
                </a:solidFill>
              </a:rPr>
              <a:t>How to minimize seek time?</a:t>
            </a:r>
          </a:p>
          <a:p>
            <a:pPr lvl="1"/>
            <a:r>
              <a:rPr lang="en-US" dirty="0">
                <a:solidFill>
                  <a:schemeClr val="tx1">
                    <a:lumMod val="50000"/>
                    <a:lumOff val="50000"/>
                  </a:schemeClr>
                </a:solidFill>
              </a:rPr>
              <a:t>Sort block requests to minimize head moves</a:t>
            </a:r>
          </a:p>
          <a:p>
            <a:pPr lvl="1"/>
            <a:r>
              <a:rPr lang="en-US" dirty="0">
                <a:solidFill>
                  <a:schemeClr val="tx1">
                    <a:lumMod val="50000"/>
                    <a:lumOff val="50000"/>
                  </a:schemeClr>
                </a:solidFill>
              </a:rPr>
              <a:t>“Sorting” is scheduling</a:t>
            </a:r>
          </a:p>
          <a:p>
            <a:r>
              <a:rPr lang="en-US" dirty="0">
                <a:solidFill>
                  <a:schemeClr val="tx1">
                    <a:lumMod val="50000"/>
                    <a:lumOff val="50000"/>
                  </a:schemeClr>
                </a:solidFill>
              </a:rPr>
              <a:t>Disk Scheduling Policies</a:t>
            </a:r>
          </a:p>
          <a:p>
            <a:pPr lvl="1"/>
            <a:r>
              <a:rPr lang="en-US" dirty="0">
                <a:solidFill>
                  <a:srgbClr val="FF00FF"/>
                </a:solidFill>
              </a:rPr>
              <a:t>First Come First Serve</a:t>
            </a:r>
          </a:p>
          <a:p>
            <a:pPr lvl="1"/>
            <a:r>
              <a:rPr lang="en-US" dirty="0">
                <a:solidFill>
                  <a:schemeClr val="tx1">
                    <a:lumMod val="50000"/>
                    <a:lumOff val="50000"/>
                  </a:schemeClr>
                </a:solidFill>
              </a:rPr>
              <a:t>Shortest Seek Time First</a:t>
            </a:r>
          </a:p>
          <a:p>
            <a:pPr lvl="1"/>
            <a:r>
              <a:rPr lang="en-US" dirty="0">
                <a:solidFill>
                  <a:schemeClr val="tx1">
                    <a:lumMod val="50000"/>
                    <a:lumOff val="50000"/>
                  </a:schemeClr>
                </a:solidFill>
              </a:rPr>
              <a:t>SCAN</a:t>
            </a:r>
          </a:p>
          <a:p>
            <a:pPr lvl="1"/>
            <a:r>
              <a:rPr lang="en-US" dirty="0">
                <a:solidFill>
                  <a:schemeClr val="tx1">
                    <a:lumMod val="50000"/>
                    <a:lumOff val="50000"/>
                  </a:schemeClr>
                </a:solidFill>
              </a:rPr>
              <a:t>C-SCAN</a:t>
            </a:r>
          </a:p>
          <a:p>
            <a:pPr lvl="1"/>
            <a:r>
              <a:rPr lang="en-US" dirty="0">
                <a:solidFill>
                  <a:schemeClr val="tx1">
                    <a:lumMod val="50000"/>
                    <a:lumOff val="50000"/>
                  </a:schemeClr>
                </a:solidFill>
              </a:rPr>
              <a:t>LOOK</a:t>
            </a:r>
          </a:p>
          <a:p>
            <a:pPr lvl="1"/>
            <a:r>
              <a:rPr lang="en-US" dirty="0">
                <a:solidFill>
                  <a:schemeClr val="tx1">
                    <a:lumMod val="50000"/>
                    <a:lumOff val="50000"/>
                  </a:schemeClr>
                </a:solidFill>
              </a:rPr>
              <a:t>C-LOOK</a:t>
            </a:r>
          </a:p>
          <a:p>
            <a:r>
              <a:rPr lang="en-US" dirty="0">
                <a:solidFill>
                  <a:srgbClr val="0000FF"/>
                </a:solidFill>
              </a:rPr>
              <a:t>Read “Disk Scheduling”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Scheduling (1/3)</a:t>
            </a:r>
          </a:p>
        </p:txBody>
      </p:sp>
    </p:spTree>
    <p:extLst>
      <p:ext uri="{BB962C8B-B14F-4D97-AF65-F5344CB8AC3E}">
        <p14:creationId xmlns:p14="http://schemas.microsoft.com/office/powerpoint/2010/main" val="368983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B211CFD-140F-6D4F-87F4-6969BA7BF528}"/>
              </a:ext>
            </a:extLst>
          </p:cNvPr>
          <p:cNvSpPr>
            <a:spLocks noGrp="1" noChangeArrowheads="1"/>
          </p:cNvSpPr>
          <p:nvPr>
            <p:ph type="title"/>
          </p:nvPr>
        </p:nvSpPr>
        <p:spPr>
          <a:xfrm>
            <a:off x="457200" y="168275"/>
            <a:ext cx="8229600" cy="576263"/>
          </a:xfrm>
        </p:spPr>
        <p:txBody>
          <a:bodyPr/>
          <a:lstStyle/>
          <a:p>
            <a:pPr eaLnBrk="1" hangingPunct="1"/>
            <a:r>
              <a:rPr lang="en-US" altLang="en-US" dirty="0">
                <a:solidFill>
                  <a:schemeClr val="tx1">
                    <a:lumMod val="50000"/>
                    <a:lumOff val="50000"/>
                  </a:schemeClr>
                </a:solidFill>
              </a:rPr>
              <a:t>Disk Scheduling</a:t>
            </a:r>
          </a:p>
        </p:txBody>
      </p:sp>
      <p:sp>
        <p:nvSpPr>
          <p:cNvPr id="19459" name="Rectangle 3">
            <a:extLst>
              <a:ext uri="{FF2B5EF4-FFF2-40B4-BE49-F238E27FC236}">
                <a16:creationId xmlns:a16="http://schemas.microsoft.com/office/drawing/2014/main" id="{5D69B2F2-5E3F-9047-AD1E-8B23122373B9}"/>
              </a:ext>
            </a:extLst>
          </p:cNvPr>
          <p:cNvSpPr>
            <a:spLocks noGrp="1" noChangeArrowheads="1"/>
          </p:cNvSpPr>
          <p:nvPr>
            <p:ph type="body" idx="1"/>
          </p:nvPr>
        </p:nvSpPr>
        <p:spPr>
          <a:xfrm>
            <a:off x="889000" y="1123950"/>
            <a:ext cx="6945313" cy="5146675"/>
          </a:xfrm>
        </p:spPr>
        <p:txBody>
          <a:bodyPr/>
          <a:lstStyle/>
          <a:p>
            <a:r>
              <a:rPr lang="en-US" altLang="en-US" dirty="0"/>
              <a:t>The operating system is responsible for using hardware efficiently — for the disk drives, this means having a fast access time and disk bandwidth</a:t>
            </a:r>
            <a:endParaRPr lang="en-US" altLang="en-US" sz="800" dirty="0"/>
          </a:p>
          <a:p>
            <a:r>
              <a:rPr lang="en-US" altLang="en-US" dirty="0"/>
              <a:t>Minimize seek time</a:t>
            </a:r>
            <a:endParaRPr lang="en-US" altLang="en-US" sz="800" dirty="0"/>
          </a:p>
          <a:p>
            <a:r>
              <a:rPr lang="en-US" altLang="en-US" dirty="0"/>
              <a:t>Seek time </a:t>
            </a:r>
            <a:r>
              <a:rPr lang="en-US" altLang="en-US" dirty="0">
                <a:sym typeface="Symbol" pitchFamily="2" charset="2"/>
              </a:rPr>
              <a:t> seek distance</a:t>
            </a:r>
            <a:endParaRPr lang="en-US" altLang="en-US" sz="800" dirty="0">
              <a:sym typeface="Symbol" pitchFamily="2" charset="2"/>
            </a:endParaRPr>
          </a:p>
        </p:txBody>
      </p:sp>
      <p:pic>
        <p:nvPicPr>
          <p:cNvPr id="4" name="Picture 1" descr="10_01.pdf">
            <a:extLst>
              <a:ext uri="{FF2B5EF4-FFF2-40B4-BE49-F238E27FC236}">
                <a16:creationId xmlns:a16="http://schemas.microsoft.com/office/drawing/2014/main" id="{0FD77E40-BB39-D443-A15A-E57E95EF1BB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28963" y="2715214"/>
            <a:ext cx="4634658" cy="3774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Arrow Connector 2">
            <a:extLst>
              <a:ext uri="{FF2B5EF4-FFF2-40B4-BE49-F238E27FC236}">
                <a16:creationId xmlns:a16="http://schemas.microsoft.com/office/drawing/2014/main" id="{94867C90-BF35-124D-A171-197111D95691}"/>
              </a:ext>
            </a:extLst>
          </p:cNvPr>
          <p:cNvCxnSpPr/>
          <p:nvPr/>
        </p:nvCxnSpPr>
        <p:spPr>
          <a:xfrm>
            <a:off x="5443538" y="4257675"/>
            <a:ext cx="685800" cy="142875"/>
          </a:xfrm>
          <a:prstGeom prst="straightConnector1">
            <a:avLst/>
          </a:prstGeom>
          <a:ln w="381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584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FEF6CF0-F539-074B-87AD-1B1007C2A031}"/>
              </a:ext>
            </a:extLst>
          </p:cNvPr>
          <p:cNvSpPr>
            <a:spLocks noGrp="1" noChangeArrowheads="1"/>
          </p:cNvSpPr>
          <p:nvPr>
            <p:ph type="title"/>
          </p:nvPr>
        </p:nvSpPr>
        <p:spPr>
          <a:xfrm>
            <a:off x="711200" y="141288"/>
            <a:ext cx="7975600" cy="576262"/>
          </a:xfrm>
        </p:spPr>
        <p:txBody>
          <a:bodyPr/>
          <a:lstStyle/>
          <a:p>
            <a:pPr eaLnBrk="1" hangingPunct="1"/>
            <a:r>
              <a:rPr lang="en-US" altLang="en-US" dirty="0">
                <a:solidFill>
                  <a:schemeClr val="tx1">
                    <a:lumMod val="50000"/>
                    <a:lumOff val="50000"/>
                  </a:schemeClr>
                </a:solidFill>
              </a:rPr>
              <a:t>Disk Scheduling (Cont.)</a:t>
            </a:r>
          </a:p>
        </p:txBody>
      </p:sp>
      <p:sp>
        <p:nvSpPr>
          <p:cNvPr id="20483" name="Rectangle 3">
            <a:extLst>
              <a:ext uri="{FF2B5EF4-FFF2-40B4-BE49-F238E27FC236}">
                <a16:creationId xmlns:a16="http://schemas.microsoft.com/office/drawing/2014/main" id="{3FDFEDB2-4EE1-5445-BA36-465C0CBB85D8}"/>
              </a:ext>
            </a:extLst>
          </p:cNvPr>
          <p:cNvSpPr>
            <a:spLocks noGrp="1" noChangeArrowheads="1"/>
          </p:cNvSpPr>
          <p:nvPr>
            <p:ph type="body" idx="1"/>
          </p:nvPr>
        </p:nvSpPr>
        <p:spPr>
          <a:xfrm>
            <a:off x="889000" y="1023938"/>
            <a:ext cx="7394575" cy="4781550"/>
          </a:xfrm>
        </p:spPr>
        <p:txBody>
          <a:bodyPr/>
          <a:lstStyle/>
          <a:p>
            <a:pPr>
              <a:tabLst>
                <a:tab pos="1708150" algn="l"/>
              </a:tabLst>
            </a:pPr>
            <a:r>
              <a:rPr lang="en-US" altLang="en-US" dirty="0"/>
              <a:t>There are many sources of disk I/O request</a:t>
            </a:r>
          </a:p>
          <a:p>
            <a:pPr lvl="1">
              <a:tabLst>
                <a:tab pos="1708150" algn="l"/>
              </a:tabLst>
            </a:pPr>
            <a:r>
              <a:rPr lang="en-US" altLang="en-US" dirty="0"/>
              <a:t>OS</a:t>
            </a:r>
          </a:p>
          <a:p>
            <a:pPr lvl="1">
              <a:tabLst>
                <a:tab pos="1708150" algn="l"/>
              </a:tabLst>
            </a:pPr>
            <a:r>
              <a:rPr lang="en-US" altLang="en-US" dirty="0"/>
              <a:t>System processes</a:t>
            </a:r>
          </a:p>
          <a:p>
            <a:pPr lvl="1">
              <a:tabLst>
                <a:tab pos="1708150" algn="l"/>
              </a:tabLst>
            </a:pPr>
            <a:r>
              <a:rPr lang="en-US" altLang="en-US" dirty="0"/>
              <a:t>Users processes</a:t>
            </a:r>
          </a:p>
          <a:p>
            <a:pPr>
              <a:tabLst>
                <a:tab pos="1708150" algn="l"/>
              </a:tabLst>
            </a:pPr>
            <a:r>
              <a:rPr lang="en-US" altLang="en-US" dirty="0"/>
              <a:t>I/O request includes input or output mode, disk address, memory address, number of sectors to transfer</a:t>
            </a:r>
          </a:p>
          <a:p>
            <a:pPr>
              <a:tabLst>
                <a:tab pos="1708150" algn="l"/>
              </a:tabLst>
            </a:pPr>
            <a:r>
              <a:rPr lang="en-US" altLang="en-US" dirty="0"/>
              <a:t>OS maintains queue of requests, per disk or device</a:t>
            </a:r>
          </a:p>
          <a:p>
            <a:pPr>
              <a:tabLst>
                <a:tab pos="1708150" algn="l"/>
              </a:tabLst>
            </a:pPr>
            <a:r>
              <a:rPr lang="en-US" altLang="en-US" dirty="0"/>
              <a:t>Idle disk can immediately work on I/O request, busy disk means work must queue</a:t>
            </a:r>
          </a:p>
          <a:p>
            <a:pPr lvl="1">
              <a:tabLst>
                <a:tab pos="1708150" algn="l"/>
              </a:tabLst>
            </a:pPr>
            <a:r>
              <a:rPr lang="en-US" altLang="en-US" dirty="0"/>
              <a:t>Optimization algorithms only make sense when a queue exists</a:t>
            </a:r>
          </a:p>
        </p:txBody>
      </p:sp>
    </p:spTree>
    <p:extLst>
      <p:ext uri="{BB962C8B-B14F-4D97-AF65-F5344CB8AC3E}">
        <p14:creationId xmlns:p14="http://schemas.microsoft.com/office/powerpoint/2010/main" val="3940559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48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bldLvl="2"/>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6F33EC1-EF3C-F747-9F0F-0F62697B50F6}"/>
              </a:ext>
            </a:extLst>
          </p:cNvPr>
          <p:cNvSpPr>
            <a:spLocks noGrp="1" noChangeArrowheads="1"/>
          </p:cNvSpPr>
          <p:nvPr>
            <p:ph type="title"/>
          </p:nvPr>
        </p:nvSpPr>
        <p:spPr>
          <a:xfrm>
            <a:off x="711200" y="141288"/>
            <a:ext cx="7975600" cy="576262"/>
          </a:xfrm>
        </p:spPr>
        <p:txBody>
          <a:bodyPr/>
          <a:lstStyle/>
          <a:p>
            <a:pPr eaLnBrk="1" hangingPunct="1"/>
            <a:r>
              <a:rPr lang="en-US" altLang="en-US" dirty="0">
                <a:solidFill>
                  <a:schemeClr val="tx1">
                    <a:lumMod val="50000"/>
                    <a:lumOff val="50000"/>
                  </a:schemeClr>
                </a:solidFill>
              </a:rPr>
              <a:t>Disk Scheduling (Cont.)</a:t>
            </a:r>
          </a:p>
        </p:txBody>
      </p:sp>
      <p:sp>
        <p:nvSpPr>
          <p:cNvPr id="21507" name="Rectangle 3">
            <a:extLst>
              <a:ext uri="{FF2B5EF4-FFF2-40B4-BE49-F238E27FC236}">
                <a16:creationId xmlns:a16="http://schemas.microsoft.com/office/drawing/2014/main" id="{D015C270-CC5F-5C4B-A43A-C2419A6C7EBF}"/>
              </a:ext>
            </a:extLst>
          </p:cNvPr>
          <p:cNvSpPr>
            <a:spLocks noGrp="1" noChangeArrowheads="1"/>
          </p:cNvSpPr>
          <p:nvPr>
            <p:ph type="body" idx="1"/>
          </p:nvPr>
        </p:nvSpPr>
        <p:spPr>
          <a:xfrm>
            <a:off x="874713" y="1023938"/>
            <a:ext cx="7286625" cy="4781550"/>
          </a:xfrm>
        </p:spPr>
        <p:txBody>
          <a:bodyPr/>
          <a:lstStyle/>
          <a:p>
            <a:pPr>
              <a:tabLst>
                <a:tab pos="1708150" algn="l"/>
              </a:tabLst>
            </a:pPr>
            <a:r>
              <a:rPr lang="en-US" altLang="en-US" dirty="0"/>
              <a:t>Note that drive controllers have small buffers and can manage a queue of I/O requests (of varying </a:t>
            </a:r>
            <a:r>
              <a:rPr lang="ja-JP" altLang="en-US"/>
              <a:t>“</a:t>
            </a:r>
            <a:r>
              <a:rPr lang="en-US" altLang="ja-JP" dirty="0"/>
              <a:t>depth</a:t>
            </a:r>
            <a:r>
              <a:rPr lang="ja-JP" altLang="en-US"/>
              <a:t>”</a:t>
            </a:r>
            <a:r>
              <a:rPr lang="en-US" altLang="ja-JP" dirty="0"/>
              <a:t>)</a:t>
            </a:r>
            <a:endParaRPr lang="en-US" altLang="en-US" dirty="0"/>
          </a:p>
          <a:p>
            <a:pPr>
              <a:tabLst>
                <a:tab pos="1708150" algn="l"/>
              </a:tabLst>
            </a:pPr>
            <a:r>
              <a:rPr lang="en-US" altLang="en-US" dirty="0"/>
              <a:t>Several algorithms exist to schedule the servicing of disk I/O requests</a:t>
            </a:r>
          </a:p>
          <a:p>
            <a:pPr>
              <a:tabLst>
                <a:tab pos="1708150" algn="l"/>
              </a:tabLst>
            </a:pPr>
            <a:r>
              <a:rPr lang="en-US" altLang="en-US" dirty="0"/>
              <a:t>The analysis is true for one or many platters</a:t>
            </a:r>
          </a:p>
          <a:p>
            <a:pPr>
              <a:tabLst>
                <a:tab pos="1708150" algn="l"/>
              </a:tabLst>
            </a:pPr>
            <a:r>
              <a:rPr lang="en-US" altLang="en-US" dirty="0"/>
              <a:t>We illustrate scheduling algorithms with a request queue (0-199)</a:t>
            </a:r>
          </a:p>
          <a:p>
            <a:pPr>
              <a:buFont typeface="Monotype Sorts" pitchFamily="2" charset="2"/>
              <a:buNone/>
              <a:tabLst>
                <a:tab pos="1708150" algn="l"/>
              </a:tabLst>
            </a:pPr>
            <a:r>
              <a:rPr lang="en-US" altLang="en-US" dirty="0"/>
              <a:t>		</a:t>
            </a:r>
            <a:br>
              <a:rPr lang="en-US" altLang="en-US" dirty="0"/>
            </a:br>
            <a:r>
              <a:rPr lang="en-US" altLang="en-US" dirty="0"/>
              <a:t>	98, 183, 37, 122, 14, 124, 65, 67</a:t>
            </a:r>
          </a:p>
          <a:p>
            <a:pPr>
              <a:buFont typeface="Monotype Sorts" pitchFamily="2" charset="2"/>
              <a:buNone/>
              <a:tabLst>
                <a:tab pos="1708150" algn="l"/>
              </a:tabLst>
            </a:pPr>
            <a:r>
              <a:rPr lang="en-US" altLang="en-US" dirty="0"/>
              <a:t>	Head pointer is at Position 53</a:t>
            </a:r>
          </a:p>
        </p:txBody>
      </p:sp>
    </p:spTree>
    <p:extLst>
      <p:ext uri="{BB962C8B-B14F-4D97-AF65-F5344CB8AC3E}">
        <p14:creationId xmlns:p14="http://schemas.microsoft.com/office/powerpoint/2010/main" val="28083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5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7268A58-01E7-1147-8D88-A78D225AF777}"/>
              </a:ext>
            </a:extLst>
          </p:cNvPr>
          <p:cNvSpPr>
            <a:spLocks noGrp="1" noChangeArrowheads="1"/>
          </p:cNvSpPr>
          <p:nvPr>
            <p:ph type="title"/>
          </p:nvPr>
        </p:nvSpPr>
        <p:spPr>
          <a:xfrm>
            <a:off x="982663" y="155575"/>
            <a:ext cx="6950075" cy="576263"/>
          </a:xfrm>
        </p:spPr>
        <p:txBody>
          <a:bodyPr/>
          <a:lstStyle/>
          <a:p>
            <a:pPr eaLnBrk="1" hangingPunct="1"/>
            <a:r>
              <a:rPr lang="en-US" altLang="en-US" dirty="0">
                <a:solidFill>
                  <a:schemeClr val="tx1">
                    <a:lumMod val="50000"/>
                    <a:lumOff val="50000"/>
                  </a:schemeClr>
                </a:solidFill>
              </a:rPr>
              <a:t>FCFS</a:t>
            </a:r>
          </a:p>
        </p:txBody>
      </p:sp>
      <p:sp>
        <p:nvSpPr>
          <p:cNvPr id="22531" name="Text Box 4">
            <a:extLst>
              <a:ext uri="{FF2B5EF4-FFF2-40B4-BE49-F238E27FC236}">
                <a16:creationId xmlns:a16="http://schemas.microsoft.com/office/drawing/2014/main" id="{972666C5-2785-E24C-A363-A6BBEDB5CF52}"/>
              </a:ext>
            </a:extLst>
          </p:cNvPr>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itchFamily="2" charset="0"/>
              </a:rPr>
              <a:t>Illustration shows total head movement of 640 cylinders</a:t>
            </a:r>
          </a:p>
        </p:txBody>
      </p:sp>
      <p:pic>
        <p:nvPicPr>
          <p:cNvPr id="22532" name="Picture 6" descr="A graph that shows the number of nodes in a network">
            <a:extLst>
              <a:ext uri="{FF2B5EF4-FFF2-40B4-BE49-F238E27FC236}">
                <a16:creationId xmlns:a16="http://schemas.microsoft.com/office/drawing/2014/main" id="{38634FD1-118A-2D49-B633-7C555DF06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C2A7C400-E6A6-A042-A293-77A4C0DDEC83}"/>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6F6BCC8-3DE6-274A-97C6-1DCF77230A54}"/>
              </a:ext>
            </a:extLst>
          </p:cNvPr>
          <p:cNvSpPr/>
          <p:nvPr/>
        </p:nvSpPr>
        <p:spPr>
          <a:xfrm>
            <a:off x="1171576" y="1103313"/>
            <a:ext cx="5851525" cy="3698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407891-80F8-4140-B38D-7C4F489D6F34}"/>
              </a:ext>
            </a:extLst>
          </p:cNvPr>
          <p:cNvSpPr txBox="1"/>
          <p:nvPr/>
        </p:nvSpPr>
        <p:spPr>
          <a:xfrm>
            <a:off x="3302281" y="2971803"/>
            <a:ext cx="1215397" cy="369332"/>
          </a:xfrm>
          <a:prstGeom prst="rect">
            <a:avLst/>
          </a:prstGeom>
          <a:noFill/>
        </p:spPr>
        <p:txBody>
          <a:bodyPr wrap="none" rtlCol="0">
            <a:spAutoFit/>
          </a:bodyPr>
          <a:lstStyle/>
          <a:p>
            <a:r>
              <a:rPr lang="en-US" dirty="0"/>
              <a:t>45 = 98-53</a:t>
            </a:r>
          </a:p>
        </p:txBody>
      </p:sp>
      <p:sp>
        <p:nvSpPr>
          <p:cNvPr id="9" name="TextBox 8">
            <a:extLst>
              <a:ext uri="{FF2B5EF4-FFF2-40B4-BE49-F238E27FC236}">
                <a16:creationId xmlns:a16="http://schemas.microsoft.com/office/drawing/2014/main" id="{E60092E4-8B39-6E48-9D2B-AC63AEE5FE60}"/>
              </a:ext>
            </a:extLst>
          </p:cNvPr>
          <p:cNvSpPr txBox="1"/>
          <p:nvPr/>
        </p:nvSpPr>
        <p:spPr>
          <a:xfrm>
            <a:off x="4711981" y="3056453"/>
            <a:ext cx="1330814" cy="369332"/>
          </a:xfrm>
          <a:prstGeom prst="rect">
            <a:avLst/>
          </a:prstGeom>
          <a:noFill/>
        </p:spPr>
        <p:txBody>
          <a:bodyPr wrap="none" rtlCol="0">
            <a:spAutoFit/>
          </a:bodyPr>
          <a:lstStyle/>
          <a:p>
            <a:r>
              <a:rPr lang="en-US" dirty="0"/>
              <a:t>85 = 183-98</a:t>
            </a:r>
          </a:p>
        </p:txBody>
      </p:sp>
      <p:sp>
        <p:nvSpPr>
          <p:cNvPr id="10" name="TextBox 9">
            <a:extLst>
              <a:ext uri="{FF2B5EF4-FFF2-40B4-BE49-F238E27FC236}">
                <a16:creationId xmlns:a16="http://schemas.microsoft.com/office/drawing/2014/main" id="{10D84C9E-85FB-D24F-A075-5813FFF30D5E}"/>
              </a:ext>
            </a:extLst>
          </p:cNvPr>
          <p:cNvSpPr txBox="1"/>
          <p:nvPr/>
        </p:nvSpPr>
        <p:spPr>
          <a:xfrm>
            <a:off x="3115425" y="3570007"/>
            <a:ext cx="1446230" cy="369332"/>
          </a:xfrm>
          <a:prstGeom prst="rect">
            <a:avLst/>
          </a:prstGeom>
          <a:noFill/>
        </p:spPr>
        <p:txBody>
          <a:bodyPr wrap="none" rtlCol="0">
            <a:spAutoFit/>
          </a:bodyPr>
          <a:lstStyle/>
          <a:p>
            <a:r>
              <a:rPr lang="en-US" dirty="0"/>
              <a:t>146 = 183-37</a:t>
            </a:r>
          </a:p>
        </p:txBody>
      </p:sp>
      <p:sp>
        <p:nvSpPr>
          <p:cNvPr id="11" name="TextBox 10">
            <a:extLst>
              <a:ext uri="{FF2B5EF4-FFF2-40B4-BE49-F238E27FC236}">
                <a16:creationId xmlns:a16="http://schemas.microsoft.com/office/drawing/2014/main" id="{FC481D93-DD6A-014C-8391-D7437C85B52B}"/>
              </a:ext>
            </a:extLst>
          </p:cNvPr>
          <p:cNvSpPr txBox="1"/>
          <p:nvPr/>
        </p:nvSpPr>
        <p:spPr>
          <a:xfrm>
            <a:off x="2833329" y="3997833"/>
            <a:ext cx="1330814" cy="369332"/>
          </a:xfrm>
          <a:prstGeom prst="rect">
            <a:avLst/>
          </a:prstGeom>
          <a:noFill/>
        </p:spPr>
        <p:txBody>
          <a:bodyPr wrap="none" rtlCol="0">
            <a:spAutoFit/>
          </a:bodyPr>
          <a:lstStyle/>
          <a:p>
            <a:r>
              <a:rPr lang="en-US" dirty="0"/>
              <a:t>85 = 122-37</a:t>
            </a:r>
          </a:p>
        </p:txBody>
      </p:sp>
      <p:sp>
        <p:nvSpPr>
          <p:cNvPr id="12" name="TextBox 11">
            <a:extLst>
              <a:ext uri="{FF2B5EF4-FFF2-40B4-BE49-F238E27FC236}">
                <a16:creationId xmlns:a16="http://schemas.microsoft.com/office/drawing/2014/main" id="{585817E6-43EA-FD43-BFC9-7997E67CB3FF}"/>
              </a:ext>
            </a:extLst>
          </p:cNvPr>
          <p:cNvSpPr txBox="1"/>
          <p:nvPr/>
        </p:nvSpPr>
        <p:spPr>
          <a:xfrm>
            <a:off x="2271349" y="4335974"/>
            <a:ext cx="1446230" cy="369332"/>
          </a:xfrm>
          <a:prstGeom prst="rect">
            <a:avLst/>
          </a:prstGeom>
          <a:noFill/>
        </p:spPr>
        <p:txBody>
          <a:bodyPr wrap="none" rtlCol="0">
            <a:spAutoFit/>
          </a:bodyPr>
          <a:lstStyle/>
          <a:p>
            <a:r>
              <a:rPr lang="en-US" dirty="0"/>
              <a:t>108 = 122-14</a:t>
            </a:r>
          </a:p>
        </p:txBody>
      </p:sp>
      <p:sp>
        <p:nvSpPr>
          <p:cNvPr id="13" name="TextBox 12">
            <a:extLst>
              <a:ext uri="{FF2B5EF4-FFF2-40B4-BE49-F238E27FC236}">
                <a16:creationId xmlns:a16="http://schemas.microsoft.com/office/drawing/2014/main" id="{022607FF-9BCE-864D-854C-B2C6513BFA26}"/>
              </a:ext>
            </a:extLst>
          </p:cNvPr>
          <p:cNvSpPr txBox="1"/>
          <p:nvPr/>
        </p:nvSpPr>
        <p:spPr>
          <a:xfrm>
            <a:off x="3038113" y="4674115"/>
            <a:ext cx="1446230" cy="369332"/>
          </a:xfrm>
          <a:prstGeom prst="rect">
            <a:avLst/>
          </a:prstGeom>
          <a:noFill/>
        </p:spPr>
        <p:txBody>
          <a:bodyPr wrap="none" rtlCol="0">
            <a:spAutoFit/>
          </a:bodyPr>
          <a:lstStyle/>
          <a:p>
            <a:r>
              <a:rPr lang="en-US" dirty="0"/>
              <a:t>110 = 124-14</a:t>
            </a:r>
          </a:p>
        </p:txBody>
      </p:sp>
      <p:sp>
        <p:nvSpPr>
          <p:cNvPr id="14" name="TextBox 13">
            <a:extLst>
              <a:ext uri="{FF2B5EF4-FFF2-40B4-BE49-F238E27FC236}">
                <a16:creationId xmlns:a16="http://schemas.microsoft.com/office/drawing/2014/main" id="{CE999905-21A3-0A46-BFD1-E11AFD8137E4}"/>
              </a:ext>
            </a:extLst>
          </p:cNvPr>
          <p:cNvSpPr txBox="1"/>
          <p:nvPr/>
        </p:nvSpPr>
        <p:spPr>
          <a:xfrm>
            <a:off x="3190507" y="5026544"/>
            <a:ext cx="1330814" cy="369332"/>
          </a:xfrm>
          <a:prstGeom prst="rect">
            <a:avLst/>
          </a:prstGeom>
          <a:noFill/>
        </p:spPr>
        <p:txBody>
          <a:bodyPr wrap="none" rtlCol="0">
            <a:spAutoFit/>
          </a:bodyPr>
          <a:lstStyle/>
          <a:p>
            <a:r>
              <a:rPr lang="en-US" dirty="0"/>
              <a:t>59 = 124-65</a:t>
            </a:r>
          </a:p>
        </p:txBody>
      </p:sp>
      <p:sp>
        <p:nvSpPr>
          <p:cNvPr id="15" name="TextBox 14">
            <a:extLst>
              <a:ext uri="{FF2B5EF4-FFF2-40B4-BE49-F238E27FC236}">
                <a16:creationId xmlns:a16="http://schemas.microsoft.com/office/drawing/2014/main" id="{5A5DE159-C56E-3145-B5C1-0895DE769FDB}"/>
              </a:ext>
            </a:extLst>
          </p:cNvPr>
          <p:cNvSpPr txBox="1"/>
          <p:nvPr/>
        </p:nvSpPr>
        <p:spPr>
          <a:xfrm>
            <a:off x="2799969" y="5364685"/>
            <a:ext cx="1164101" cy="369332"/>
          </a:xfrm>
          <a:prstGeom prst="rect">
            <a:avLst/>
          </a:prstGeom>
          <a:noFill/>
        </p:spPr>
        <p:txBody>
          <a:bodyPr wrap="none" rtlCol="0">
            <a:spAutoFit/>
          </a:bodyPr>
          <a:lstStyle/>
          <a:p>
            <a:r>
              <a:rPr lang="en-US" dirty="0"/>
              <a:t>2 = 67 -65</a:t>
            </a:r>
          </a:p>
        </p:txBody>
      </p:sp>
      <p:sp>
        <p:nvSpPr>
          <p:cNvPr id="16" name="TextBox 15">
            <a:extLst>
              <a:ext uri="{FF2B5EF4-FFF2-40B4-BE49-F238E27FC236}">
                <a16:creationId xmlns:a16="http://schemas.microsoft.com/office/drawing/2014/main" id="{8659AA12-A5EC-0247-9EC3-5629F1129A1C}"/>
              </a:ext>
            </a:extLst>
          </p:cNvPr>
          <p:cNvSpPr txBox="1"/>
          <p:nvPr/>
        </p:nvSpPr>
        <p:spPr>
          <a:xfrm>
            <a:off x="1261599" y="5926104"/>
            <a:ext cx="4711546" cy="369332"/>
          </a:xfrm>
          <a:prstGeom prst="rect">
            <a:avLst/>
          </a:prstGeom>
          <a:solidFill>
            <a:schemeClr val="bg1"/>
          </a:solidFill>
        </p:spPr>
        <p:txBody>
          <a:bodyPr wrap="none" rtlCol="0">
            <a:spAutoFit/>
          </a:bodyPr>
          <a:lstStyle/>
          <a:p>
            <a:r>
              <a:rPr lang="en-US" dirty="0"/>
              <a:t>45 + 85 + 146 + 85 + 108 + 110 + 59 + 2 = 640</a:t>
            </a:r>
          </a:p>
        </p:txBody>
      </p:sp>
      <p:sp>
        <p:nvSpPr>
          <p:cNvPr id="4" name="Rectangle 3">
            <a:extLst>
              <a:ext uri="{FF2B5EF4-FFF2-40B4-BE49-F238E27FC236}">
                <a16:creationId xmlns:a16="http://schemas.microsoft.com/office/drawing/2014/main" id="{65178831-D3E6-4C4A-87C0-08542AD805C3}"/>
              </a:ext>
            </a:extLst>
          </p:cNvPr>
          <p:cNvSpPr/>
          <p:nvPr/>
        </p:nvSpPr>
        <p:spPr>
          <a:xfrm>
            <a:off x="1093135" y="3056452"/>
            <a:ext cx="6536390" cy="32389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58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P spid="13" grpId="0"/>
      <p:bldP spid="14" grpId="0"/>
      <p:bldP spid="15" grpId="0"/>
      <p:bldP spid="16"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7268A58-01E7-1147-8D88-A78D225AF777}"/>
              </a:ext>
            </a:extLst>
          </p:cNvPr>
          <p:cNvSpPr>
            <a:spLocks noGrp="1" noChangeArrowheads="1"/>
          </p:cNvSpPr>
          <p:nvPr>
            <p:ph type="title"/>
          </p:nvPr>
        </p:nvSpPr>
        <p:spPr>
          <a:xfrm>
            <a:off x="982663" y="155575"/>
            <a:ext cx="6950075" cy="576263"/>
          </a:xfrm>
        </p:spPr>
        <p:txBody>
          <a:bodyPr/>
          <a:lstStyle/>
          <a:p>
            <a:pPr eaLnBrk="1" hangingPunct="1"/>
            <a:r>
              <a:rPr lang="en-US" altLang="en-US" dirty="0">
                <a:solidFill>
                  <a:schemeClr val="tx1">
                    <a:lumMod val="50000"/>
                    <a:lumOff val="50000"/>
                  </a:schemeClr>
                </a:solidFill>
              </a:rPr>
              <a:t>FCFS</a:t>
            </a:r>
          </a:p>
        </p:txBody>
      </p:sp>
      <p:sp>
        <p:nvSpPr>
          <p:cNvPr id="22531" name="Text Box 4">
            <a:extLst>
              <a:ext uri="{FF2B5EF4-FFF2-40B4-BE49-F238E27FC236}">
                <a16:creationId xmlns:a16="http://schemas.microsoft.com/office/drawing/2014/main" id="{972666C5-2785-E24C-A363-A6BBEDB5CF52}"/>
              </a:ext>
            </a:extLst>
          </p:cNvPr>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a:latin typeface="Helvetica" pitchFamily="2" charset="0"/>
              </a:rPr>
              <a:t>Illustration shows total head movement of 640 cylinders</a:t>
            </a:r>
          </a:p>
        </p:txBody>
      </p:sp>
      <p:pic>
        <p:nvPicPr>
          <p:cNvPr id="22532" name="Picture 6" descr="A graph that shows the number of nodes in a network">
            <a:extLst>
              <a:ext uri="{FF2B5EF4-FFF2-40B4-BE49-F238E27FC236}">
                <a16:creationId xmlns:a16="http://schemas.microsoft.com/office/drawing/2014/main" id="{38634FD1-118A-2D49-B633-7C555DF06C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C2A7C400-E6A6-A042-A293-77A4C0DDEC83}"/>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6F6BCC8-3DE6-274A-97C6-1DCF77230A54}"/>
              </a:ext>
            </a:extLst>
          </p:cNvPr>
          <p:cNvSpPr/>
          <p:nvPr/>
        </p:nvSpPr>
        <p:spPr>
          <a:xfrm>
            <a:off x="1171576" y="1103313"/>
            <a:ext cx="5851525" cy="3698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407891-80F8-4140-B38D-7C4F489D6F34}"/>
              </a:ext>
            </a:extLst>
          </p:cNvPr>
          <p:cNvSpPr txBox="1"/>
          <p:nvPr/>
        </p:nvSpPr>
        <p:spPr>
          <a:xfrm>
            <a:off x="3302281" y="2971803"/>
            <a:ext cx="1215397" cy="369332"/>
          </a:xfrm>
          <a:prstGeom prst="rect">
            <a:avLst/>
          </a:prstGeom>
          <a:noFill/>
        </p:spPr>
        <p:txBody>
          <a:bodyPr wrap="none" rtlCol="0">
            <a:spAutoFit/>
          </a:bodyPr>
          <a:lstStyle/>
          <a:p>
            <a:r>
              <a:rPr lang="en-US" dirty="0"/>
              <a:t>45 = 98-53</a:t>
            </a:r>
          </a:p>
        </p:txBody>
      </p:sp>
      <p:sp>
        <p:nvSpPr>
          <p:cNvPr id="9" name="TextBox 8">
            <a:extLst>
              <a:ext uri="{FF2B5EF4-FFF2-40B4-BE49-F238E27FC236}">
                <a16:creationId xmlns:a16="http://schemas.microsoft.com/office/drawing/2014/main" id="{E60092E4-8B39-6E48-9D2B-AC63AEE5FE60}"/>
              </a:ext>
            </a:extLst>
          </p:cNvPr>
          <p:cNvSpPr txBox="1"/>
          <p:nvPr/>
        </p:nvSpPr>
        <p:spPr>
          <a:xfrm>
            <a:off x="4711981" y="3056453"/>
            <a:ext cx="1330814" cy="369332"/>
          </a:xfrm>
          <a:prstGeom prst="rect">
            <a:avLst/>
          </a:prstGeom>
          <a:noFill/>
        </p:spPr>
        <p:txBody>
          <a:bodyPr wrap="none" rtlCol="0">
            <a:spAutoFit/>
          </a:bodyPr>
          <a:lstStyle/>
          <a:p>
            <a:r>
              <a:rPr lang="en-US" dirty="0"/>
              <a:t>85 = 183-98</a:t>
            </a:r>
          </a:p>
        </p:txBody>
      </p:sp>
      <p:sp>
        <p:nvSpPr>
          <p:cNvPr id="10" name="TextBox 9">
            <a:extLst>
              <a:ext uri="{FF2B5EF4-FFF2-40B4-BE49-F238E27FC236}">
                <a16:creationId xmlns:a16="http://schemas.microsoft.com/office/drawing/2014/main" id="{10D84C9E-85FB-D24F-A075-5813FFF30D5E}"/>
              </a:ext>
            </a:extLst>
          </p:cNvPr>
          <p:cNvSpPr txBox="1"/>
          <p:nvPr/>
        </p:nvSpPr>
        <p:spPr>
          <a:xfrm>
            <a:off x="3115425" y="3570007"/>
            <a:ext cx="1446230" cy="369332"/>
          </a:xfrm>
          <a:prstGeom prst="rect">
            <a:avLst/>
          </a:prstGeom>
          <a:noFill/>
        </p:spPr>
        <p:txBody>
          <a:bodyPr wrap="none" rtlCol="0">
            <a:spAutoFit/>
          </a:bodyPr>
          <a:lstStyle/>
          <a:p>
            <a:r>
              <a:rPr lang="en-US" dirty="0"/>
              <a:t>146 = 183-37</a:t>
            </a:r>
          </a:p>
        </p:txBody>
      </p:sp>
      <p:sp>
        <p:nvSpPr>
          <p:cNvPr id="11" name="TextBox 10">
            <a:extLst>
              <a:ext uri="{FF2B5EF4-FFF2-40B4-BE49-F238E27FC236}">
                <a16:creationId xmlns:a16="http://schemas.microsoft.com/office/drawing/2014/main" id="{FC481D93-DD6A-014C-8391-D7437C85B52B}"/>
              </a:ext>
            </a:extLst>
          </p:cNvPr>
          <p:cNvSpPr txBox="1"/>
          <p:nvPr/>
        </p:nvSpPr>
        <p:spPr>
          <a:xfrm>
            <a:off x="2833329" y="3997833"/>
            <a:ext cx="1330814" cy="369332"/>
          </a:xfrm>
          <a:prstGeom prst="rect">
            <a:avLst/>
          </a:prstGeom>
          <a:noFill/>
        </p:spPr>
        <p:txBody>
          <a:bodyPr wrap="none" rtlCol="0">
            <a:spAutoFit/>
          </a:bodyPr>
          <a:lstStyle/>
          <a:p>
            <a:r>
              <a:rPr lang="en-US" dirty="0"/>
              <a:t>85 = 122-37</a:t>
            </a:r>
          </a:p>
        </p:txBody>
      </p:sp>
      <p:sp>
        <p:nvSpPr>
          <p:cNvPr id="12" name="TextBox 11">
            <a:extLst>
              <a:ext uri="{FF2B5EF4-FFF2-40B4-BE49-F238E27FC236}">
                <a16:creationId xmlns:a16="http://schemas.microsoft.com/office/drawing/2014/main" id="{585817E6-43EA-FD43-BFC9-7997E67CB3FF}"/>
              </a:ext>
            </a:extLst>
          </p:cNvPr>
          <p:cNvSpPr txBox="1"/>
          <p:nvPr/>
        </p:nvSpPr>
        <p:spPr>
          <a:xfrm>
            <a:off x="2271349" y="4335974"/>
            <a:ext cx="1446230" cy="369332"/>
          </a:xfrm>
          <a:prstGeom prst="rect">
            <a:avLst/>
          </a:prstGeom>
          <a:noFill/>
        </p:spPr>
        <p:txBody>
          <a:bodyPr wrap="none" rtlCol="0">
            <a:spAutoFit/>
          </a:bodyPr>
          <a:lstStyle/>
          <a:p>
            <a:r>
              <a:rPr lang="en-US" dirty="0"/>
              <a:t>108 = 122-14</a:t>
            </a:r>
          </a:p>
        </p:txBody>
      </p:sp>
      <p:sp>
        <p:nvSpPr>
          <p:cNvPr id="13" name="TextBox 12">
            <a:extLst>
              <a:ext uri="{FF2B5EF4-FFF2-40B4-BE49-F238E27FC236}">
                <a16:creationId xmlns:a16="http://schemas.microsoft.com/office/drawing/2014/main" id="{022607FF-9BCE-864D-854C-B2C6513BFA26}"/>
              </a:ext>
            </a:extLst>
          </p:cNvPr>
          <p:cNvSpPr txBox="1"/>
          <p:nvPr/>
        </p:nvSpPr>
        <p:spPr>
          <a:xfrm>
            <a:off x="3038113" y="4674115"/>
            <a:ext cx="1446230" cy="369332"/>
          </a:xfrm>
          <a:prstGeom prst="rect">
            <a:avLst/>
          </a:prstGeom>
          <a:noFill/>
        </p:spPr>
        <p:txBody>
          <a:bodyPr wrap="none" rtlCol="0">
            <a:spAutoFit/>
          </a:bodyPr>
          <a:lstStyle/>
          <a:p>
            <a:r>
              <a:rPr lang="en-US" dirty="0"/>
              <a:t>110 = 124-14</a:t>
            </a:r>
          </a:p>
        </p:txBody>
      </p:sp>
      <p:sp>
        <p:nvSpPr>
          <p:cNvPr id="14" name="TextBox 13">
            <a:extLst>
              <a:ext uri="{FF2B5EF4-FFF2-40B4-BE49-F238E27FC236}">
                <a16:creationId xmlns:a16="http://schemas.microsoft.com/office/drawing/2014/main" id="{CE999905-21A3-0A46-BFD1-E11AFD8137E4}"/>
              </a:ext>
            </a:extLst>
          </p:cNvPr>
          <p:cNvSpPr txBox="1"/>
          <p:nvPr/>
        </p:nvSpPr>
        <p:spPr>
          <a:xfrm>
            <a:off x="3190507" y="5026544"/>
            <a:ext cx="1330814" cy="369332"/>
          </a:xfrm>
          <a:prstGeom prst="rect">
            <a:avLst/>
          </a:prstGeom>
          <a:noFill/>
        </p:spPr>
        <p:txBody>
          <a:bodyPr wrap="none" rtlCol="0">
            <a:spAutoFit/>
          </a:bodyPr>
          <a:lstStyle/>
          <a:p>
            <a:r>
              <a:rPr lang="en-US" dirty="0"/>
              <a:t>59 = 124-65</a:t>
            </a:r>
          </a:p>
        </p:txBody>
      </p:sp>
      <p:sp>
        <p:nvSpPr>
          <p:cNvPr id="15" name="TextBox 14">
            <a:extLst>
              <a:ext uri="{FF2B5EF4-FFF2-40B4-BE49-F238E27FC236}">
                <a16:creationId xmlns:a16="http://schemas.microsoft.com/office/drawing/2014/main" id="{5A5DE159-C56E-3145-B5C1-0895DE769FDB}"/>
              </a:ext>
            </a:extLst>
          </p:cNvPr>
          <p:cNvSpPr txBox="1"/>
          <p:nvPr/>
        </p:nvSpPr>
        <p:spPr>
          <a:xfrm>
            <a:off x="2799969" y="5364685"/>
            <a:ext cx="1164101" cy="369332"/>
          </a:xfrm>
          <a:prstGeom prst="rect">
            <a:avLst/>
          </a:prstGeom>
          <a:noFill/>
        </p:spPr>
        <p:txBody>
          <a:bodyPr wrap="none" rtlCol="0">
            <a:spAutoFit/>
          </a:bodyPr>
          <a:lstStyle/>
          <a:p>
            <a:r>
              <a:rPr lang="en-US" dirty="0"/>
              <a:t>2 = 67 -65</a:t>
            </a:r>
          </a:p>
        </p:txBody>
      </p:sp>
      <p:sp>
        <p:nvSpPr>
          <p:cNvPr id="16" name="TextBox 15">
            <a:extLst>
              <a:ext uri="{FF2B5EF4-FFF2-40B4-BE49-F238E27FC236}">
                <a16:creationId xmlns:a16="http://schemas.microsoft.com/office/drawing/2014/main" id="{8659AA12-A5EC-0247-9EC3-5629F1129A1C}"/>
              </a:ext>
            </a:extLst>
          </p:cNvPr>
          <p:cNvSpPr txBox="1"/>
          <p:nvPr/>
        </p:nvSpPr>
        <p:spPr>
          <a:xfrm>
            <a:off x="1261599" y="5926104"/>
            <a:ext cx="4711546" cy="369332"/>
          </a:xfrm>
          <a:prstGeom prst="rect">
            <a:avLst/>
          </a:prstGeom>
          <a:solidFill>
            <a:schemeClr val="bg1"/>
          </a:solidFill>
        </p:spPr>
        <p:txBody>
          <a:bodyPr wrap="none" rtlCol="0">
            <a:spAutoFit/>
          </a:bodyPr>
          <a:lstStyle/>
          <a:p>
            <a:r>
              <a:rPr lang="en-US" dirty="0"/>
              <a:t>45 + 85 + 146 + 85 + 108 + 110 + 59 + 2 = 640</a:t>
            </a:r>
          </a:p>
        </p:txBody>
      </p:sp>
    </p:spTree>
    <p:extLst>
      <p:ext uri="{BB962C8B-B14F-4D97-AF65-F5344CB8AC3E}">
        <p14:creationId xmlns:p14="http://schemas.microsoft.com/office/powerpoint/2010/main" val="260969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0" grpId="0"/>
      <p:bldP spid="11" grpId="0"/>
      <p:bldP spid="12" grpId="0"/>
      <p:bldP spid="13" grpId="0"/>
      <p:bldP spid="14" grpId="0"/>
      <p:bldP spid="15" grpId="0"/>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Minimize seek time</a:t>
            </a:r>
          </a:p>
          <a:p>
            <a:r>
              <a:rPr lang="en-US" dirty="0">
                <a:solidFill>
                  <a:schemeClr val="tx1">
                    <a:lumMod val="50000"/>
                    <a:lumOff val="50000"/>
                  </a:schemeClr>
                </a:solidFill>
              </a:rPr>
              <a:t>How to minimize seek time?</a:t>
            </a:r>
          </a:p>
          <a:p>
            <a:pPr lvl="1"/>
            <a:r>
              <a:rPr lang="en-US" dirty="0">
                <a:solidFill>
                  <a:schemeClr val="tx1">
                    <a:lumMod val="50000"/>
                    <a:lumOff val="50000"/>
                  </a:schemeClr>
                </a:solidFill>
              </a:rPr>
              <a:t>Sort requests to minimize head moves</a:t>
            </a:r>
          </a:p>
          <a:p>
            <a:pPr lvl="1"/>
            <a:r>
              <a:rPr lang="en-US" dirty="0">
                <a:solidFill>
                  <a:schemeClr val="tx1">
                    <a:lumMod val="50000"/>
                    <a:lumOff val="50000"/>
                  </a:schemeClr>
                </a:solidFill>
              </a:rPr>
              <a:t>“Sorting” is scheduling</a:t>
            </a:r>
          </a:p>
          <a:p>
            <a:r>
              <a:rPr lang="en-US" dirty="0">
                <a:solidFill>
                  <a:schemeClr val="tx1">
                    <a:lumMod val="50000"/>
                    <a:lumOff val="50000"/>
                  </a:schemeClr>
                </a:solidFill>
              </a:rPr>
              <a:t>Disk Scheduling Policies</a:t>
            </a:r>
          </a:p>
          <a:p>
            <a:pPr lvl="1"/>
            <a:r>
              <a:rPr lang="en-US" dirty="0">
                <a:solidFill>
                  <a:schemeClr val="tx1">
                    <a:lumMod val="50000"/>
                    <a:lumOff val="50000"/>
                  </a:schemeClr>
                </a:solidFill>
              </a:rPr>
              <a:t>First Come First Serve</a:t>
            </a:r>
          </a:p>
          <a:p>
            <a:pPr lvl="1"/>
            <a:r>
              <a:rPr lang="en-US" dirty="0">
                <a:solidFill>
                  <a:srgbClr val="FF00FF"/>
                </a:solidFill>
              </a:rPr>
              <a:t>Shortest Seek Time First</a:t>
            </a:r>
          </a:p>
          <a:p>
            <a:pPr lvl="1"/>
            <a:r>
              <a:rPr lang="en-US" dirty="0">
                <a:solidFill>
                  <a:srgbClr val="FF00FF"/>
                </a:solidFill>
              </a:rPr>
              <a:t>SCAN</a:t>
            </a:r>
          </a:p>
          <a:p>
            <a:pPr lvl="1"/>
            <a:r>
              <a:rPr lang="en-US" dirty="0">
                <a:solidFill>
                  <a:schemeClr val="tx1">
                    <a:lumMod val="50000"/>
                    <a:lumOff val="50000"/>
                  </a:schemeClr>
                </a:solidFill>
              </a:rPr>
              <a:t>C-SCAN</a:t>
            </a:r>
          </a:p>
          <a:p>
            <a:pPr lvl="1"/>
            <a:r>
              <a:rPr lang="en-US" dirty="0">
                <a:solidFill>
                  <a:schemeClr val="tx1">
                    <a:lumMod val="50000"/>
                    <a:lumOff val="50000"/>
                  </a:schemeClr>
                </a:solidFill>
              </a:rPr>
              <a:t>LOOK</a:t>
            </a:r>
          </a:p>
          <a:p>
            <a:pPr lvl="1"/>
            <a:r>
              <a:rPr lang="en-US" dirty="0">
                <a:solidFill>
                  <a:schemeClr val="tx1">
                    <a:lumMod val="50000"/>
                    <a:lumOff val="50000"/>
                  </a:schemeClr>
                </a:solidFill>
              </a:rPr>
              <a:t>C-LOOK</a:t>
            </a:r>
          </a:p>
          <a:p>
            <a:r>
              <a:rPr lang="en-US" dirty="0">
                <a:solidFill>
                  <a:srgbClr val="0000FF"/>
                </a:solidFill>
              </a:rPr>
              <a:t>Read “Disk Scheduling”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Scheduling (2/3)</a:t>
            </a:r>
          </a:p>
        </p:txBody>
      </p:sp>
    </p:spTree>
    <p:extLst>
      <p:ext uri="{BB962C8B-B14F-4D97-AF65-F5344CB8AC3E}">
        <p14:creationId xmlns:p14="http://schemas.microsoft.com/office/powerpoint/2010/main" val="3677589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A23B9C8-78DE-6345-91AA-C977ED40DD7F}"/>
              </a:ext>
            </a:extLst>
          </p:cNvPr>
          <p:cNvSpPr>
            <a:spLocks noGrp="1" noChangeArrowheads="1"/>
          </p:cNvSpPr>
          <p:nvPr>
            <p:ph type="title"/>
          </p:nvPr>
        </p:nvSpPr>
        <p:spPr>
          <a:xfrm>
            <a:off x="457200" y="141288"/>
            <a:ext cx="8229600" cy="576262"/>
          </a:xfrm>
        </p:spPr>
        <p:txBody>
          <a:bodyPr/>
          <a:lstStyle/>
          <a:p>
            <a:pPr eaLnBrk="1" hangingPunct="1"/>
            <a:r>
              <a:rPr lang="en-US" altLang="en-US" dirty="0">
                <a:solidFill>
                  <a:schemeClr val="tx1">
                    <a:lumMod val="50000"/>
                    <a:lumOff val="50000"/>
                  </a:schemeClr>
                </a:solidFill>
              </a:rPr>
              <a:t>SSTF</a:t>
            </a:r>
          </a:p>
        </p:txBody>
      </p:sp>
      <p:sp>
        <p:nvSpPr>
          <p:cNvPr id="23555" name="Rectangle 3">
            <a:extLst>
              <a:ext uri="{FF2B5EF4-FFF2-40B4-BE49-F238E27FC236}">
                <a16:creationId xmlns:a16="http://schemas.microsoft.com/office/drawing/2014/main" id="{15697B06-C6C0-6540-B353-E30B10E84044}"/>
              </a:ext>
            </a:extLst>
          </p:cNvPr>
          <p:cNvSpPr>
            <a:spLocks noGrp="1" noChangeArrowheads="1"/>
          </p:cNvSpPr>
          <p:nvPr>
            <p:ph type="body" idx="1"/>
          </p:nvPr>
        </p:nvSpPr>
        <p:spPr>
          <a:xfrm>
            <a:off x="874713" y="1111250"/>
            <a:ext cx="7081837" cy="4530725"/>
          </a:xfrm>
        </p:spPr>
        <p:txBody>
          <a:bodyPr/>
          <a:lstStyle/>
          <a:p>
            <a:r>
              <a:rPr lang="en-US" altLang="en-US" dirty="0"/>
              <a:t>Shortest Seek Time First selects the request with the minimum seek time from the current head position</a:t>
            </a:r>
          </a:p>
          <a:p>
            <a:r>
              <a:rPr lang="en-US" altLang="en-US" dirty="0"/>
              <a:t>SSTF scheduling is a form of SJF scheduling; may cause </a:t>
            </a:r>
            <a:r>
              <a:rPr lang="en-US" altLang="en-US" b="1" dirty="0">
                <a:solidFill>
                  <a:srgbClr val="FF0000"/>
                </a:solidFill>
              </a:rPr>
              <a:t>starvation</a:t>
            </a:r>
            <a:r>
              <a:rPr lang="en-US" altLang="en-US" dirty="0"/>
              <a:t> of some requests</a:t>
            </a:r>
          </a:p>
          <a:p>
            <a:r>
              <a:rPr lang="en-US" altLang="en-US" b="1" dirty="0">
                <a:solidFill>
                  <a:srgbClr val="00B0F0"/>
                </a:solidFill>
              </a:rPr>
              <a:t>Illustration shows total head movement of 236 cylinders</a:t>
            </a:r>
          </a:p>
        </p:txBody>
      </p:sp>
      <p:pic>
        <p:nvPicPr>
          <p:cNvPr id="23556" name="Picture 4" descr="12">
            <a:extLst>
              <a:ext uri="{FF2B5EF4-FFF2-40B4-BE49-F238E27FC236}">
                <a16:creationId xmlns:a16="http://schemas.microsoft.com/office/drawing/2014/main" id="{168E372B-AEB1-4C47-850B-89FC33FFF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5" y="2938463"/>
            <a:ext cx="4811713"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6B2B5DB-611B-C44C-91A1-20E993C724CF}"/>
              </a:ext>
            </a:extLst>
          </p:cNvPr>
          <p:cNvSpPr txBox="1"/>
          <p:nvPr/>
        </p:nvSpPr>
        <p:spPr>
          <a:xfrm>
            <a:off x="3202265" y="3829053"/>
            <a:ext cx="1215397" cy="369332"/>
          </a:xfrm>
          <a:prstGeom prst="rect">
            <a:avLst/>
          </a:prstGeom>
          <a:noFill/>
        </p:spPr>
        <p:txBody>
          <a:bodyPr wrap="none" rtlCol="0">
            <a:spAutoFit/>
          </a:bodyPr>
          <a:lstStyle/>
          <a:p>
            <a:r>
              <a:rPr lang="en-US" dirty="0"/>
              <a:t>12 = 65-53</a:t>
            </a:r>
          </a:p>
        </p:txBody>
      </p:sp>
      <p:sp>
        <p:nvSpPr>
          <p:cNvPr id="6" name="TextBox 5">
            <a:extLst>
              <a:ext uri="{FF2B5EF4-FFF2-40B4-BE49-F238E27FC236}">
                <a16:creationId xmlns:a16="http://schemas.microsoft.com/office/drawing/2014/main" id="{BE8BD578-6A77-D049-B44E-9E409E65694B}"/>
              </a:ext>
            </a:extLst>
          </p:cNvPr>
          <p:cNvSpPr txBox="1"/>
          <p:nvPr/>
        </p:nvSpPr>
        <p:spPr>
          <a:xfrm>
            <a:off x="3526096" y="4085158"/>
            <a:ext cx="1099981" cy="369332"/>
          </a:xfrm>
          <a:prstGeom prst="rect">
            <a:avLst/>
          </a:prstGeom>
          <a:noFill/>
        </p:spPr>
        <p:txBody>
          <a:bodyPr wrap="none" rtlCol="0">
            <a:spAutoFit/>
          </a:bodyPr>
          <a:lstStyle/>
          <a:p>
            <a:r>
              <a:rPr lang="en-US" dirty="0"/>
              <a:t>2 = 67-65</a:t>
            </a:r>
          </a:p>
        </p:txBody>
      </p:sp>
      <p:sp>
        <p:nvSpPr>
          <p:cNvPr id="7" name="TextBox 6">
            <a:extLst>
              <a:ext uri="{FF2B5EF4-FFF2-40B4-BE49-F238E27FC236}">
                <a16:creationId xmlns:a16="http://schemas.microsoft.com/office/drawing/2014/main" id="{BA3C026C-D601-A54E-9CD1-77BFE2EF8E3C}"/>
              </a:ext>
            </a:extLst>
          </p:cNvPr>
          <p:cNvSpPr txBox="1"/>
          <p:nvPr/>
        </p:nvSpPr>
        <p:spPr>
          <a:xfrm>
            <a:off x="3015409" y="4427257"/>
            <a:ext cx="1215397" cy="369332"/>
          </a:xfrm>
          <a:prstGeom prst="rect">
            <a:avLst/>
          </a:prstGeom>
          <a:noFill/>
        </p:spPr>
        <p:txBody>
          <a:bodyPr wrap="none" rtlCol="0">
            <a:spAutoFit/>
          </a:bodyPr>
          <a:lstStyle/>
          <a:p>
            <a:r>
              <a:rPr lang="en-US" dirty="0"/>
              <a:t>30 = 67-37</a:t>
            </a:r>
          </a:p>
        </p:txBody>
      </p:sp>
      <p:sp>
        <p:nvSpPr>
          <p:cNvPr id="8" name="TextBox 7">
            <a:extLst>
              <a:ext uri="{FF2B5EF4-FFF2-40B4-BE49-F238E27FC236}">
                <a16:creationId xmlns:a16="http://schemas.microsoft.com/office/drawing/2014/main" id="{8372692B-BD9E-6A4A-B96B-9B97222116F3}"/>
              </a:ext>
            </a:extLst>
          </p:cNvPr>
          <p:cNvSpPr txBox="1"/>
          <p:nvPr/>
        </p:nvSpPr>
        <p:spPr>
          <a:xfrm>
            <a:off x="2476134" y="4755067"/>
            <a:ext cx="1215397" cy="369332"/>
          </a:xfrm>
          <a:prstGeom prst="rect">
            <a:avLst/>
          </a:prstGeom>
          <a:noFill/>
        </p:spPr>
        <p:txBody>
          <a:bodyPr wrap="none" rtlCol="0">
            <a:spAutoFit/>
          </a:bodyPr>
          <a:lstStyle/>
          <a:p>
            <a:r>
              <a:rPr lang="en-US" dirty="0"/>
              <a:t>23 = 37-14</a:t>
            </a:r>
          </a:p>
        </p:txBody>
      </p:sp>
      <p:sp>
        <p:nvSpPr>
          <p:cNvPr id="9" name="TextBox 8">
            <a:extLst>
              <a:ext uri="{FF2B5EF4-FFF2-40B4-BE49-F238E27FC236}">
                <a16:creationId xmlns:a16="http://schemas.microsoft.com/office/drawing/2014/main" id="{FC554F22-D76A-5B48-AC0E-DC61EE6CFA0C}"/>
              </a:ext>
            </a:extLst>
          </p:cNvPr>
          <p:cNvSpPr txBox="1"/>
          <p:nvPr/>
        </p:nvSpPr>
        <p:spPr>
          <a:xfrm>
            <a:off x="2514237" y="5021770"/>
            <a:ext cx="1215397" cy="369332"/>
          </a:xfrm>
          <a:prstGeom prst="rect">
            <a:avLst/>
          </a:prstGeom>
          <a:noFill/>
        </p:spPr>
        <p:txBody>
          <a:bodyPr wrap="none" rtlCol="0">
            <a:spAutoFit/>
          </a:bodyPr>
          <a:lstStyle/>
          <a:p>
            <a:r>
              <a:rPr lang="en-US" dirty="0"/>
              <a:t>84 = 98-14</a:t>
            </a:r>
          </a:p>
        </p:txBody>
      </p:sp>
      <p:sp>
        <p:nvSpPr>
          <p:cNvPr id="10" name="TextBox 9">
            <a:extLst>
              <a:ext uri="{FF2B5EF4-FFF2-40B4-BE49-F238E27FC236}">
                <a16:creationId xmlns:a16="http://schemas.microsoft.com/office/drawing/2014/main" id="{6D221111-C5FE-F643-815D-68B3DF3EB1E7}"/>
              </a:ext>
            </a:extLst>
          </p:cNvPr>
          <p:cNvSpPr txBox="1"/>
          <p:nvPr/>
        </p:nvSpPr>
        <p:spPr>
          <a:xfrm>
            <a:off x="4297590" y="5123678"/>
            <a:ext cx="1330814" cy="369332"/>
          </a:xfrm>
          <a:prstGeom prst="rect">
            <a:avLst/>
          </a:prstGeom>
          <a:noFill/>
        </p:spPr>
        <p:txBody>
          <a:bodyPr wrap="none" rtlCol="0">
            <a:spAutoFit/>
          </a:bodyPr>
          <a:lstStyle/>
          <a:p>
            <a:r>
              <a:rPr lang="en-US" dirty="0"/>
              <a:t>24 = 122-98</a:t>
            </a:r>
          </a:p>
        </p:txBody>
      </p:sp>
      <p:sp>
        <p:nvSpPr>
          <p:cNvPr id="11" name="TextBox 10">
            <a:extLst>
              <a:ext uri="{FF2B5EF4-FFF2-40B4-BE49-F238E27FC236}">
                <a16:creationId xmlns:a16="http://schemas.microsoft.com/office/drawing/2014/main" id="{9B90B9D0-154D-2646-8E26-AB520FD68C1A}"/>
              </a:ext>
            </a:extLst>
          </p:cNvPr>
          <p:cNvSpPr txBox="1"/>
          <p:nvPr/>
        </p:nvSpPr>
        <p:spPr>
          <a:xfrm>
            <a:off x="4724996" y="5382827"/>
            <a:ext cx="1330814" cy="369332"/>
          </a:xfrm>
          <a:prstGeom prst="rect">
            <a:avLst/>
          </a:prstGeom>
          <a:noFill/>
        </p:spPr>
        <p:txBody>
          <a:bodyPr wrap="none" rtlCol="0">
            <a:spAutoFit/>
          </a:bodyPr>
          <a:lstStyle/>
          <a:p>
            <a:r>
              <a:rPr lang="en-US" dirty="0"/>
              <a:t>2 = 124-122</a:t>
            </a:r>
          </a:p>
        </p:txBody>
      </p:sp>
      <p:sp>
        <p:nvSpPr>
          <p:cNvPr id="12" name="TextBox 11">
            <a:extLst>
              <a:ext uri="{FF2B5EF4-FFF2-40B4-BE49-F238E27FC236}">
                <a16:creationId xmlns:a16="http://schemas.microsoft.com/office/drawing/2014/main" id="{9E856DA6-49A1-7447-B74B-A5007959C5DC}"/>
              </a:ext>
            </a:extLst>
          </p:cNvPr>
          <p:cNvSpPr txBox="1"/>
          <p:nvPr/>
        </p:nvSpPr>
        <p:spPr>
          <a:xfrm>
            <a:off x="4808352" y="5752159"/>
            <a:ext cx="1446230" cy="369332"/>
          </a:xfrm>
          <a:prstGeom prst="rect">
            <a:avLst/>
          </a:prstGeom>
          <a:noFill/>
        </p:spPr>
        <p:txBody>
          <a:bodyPr wrap="none" rtlCol="0">
            <a:spAutoFit/>
          </a:bodyPr>
          <a:lstStyle/>
          <a:p>
            <a:r>
              <a:rPr lang="en-US" dirty="0"/>
              <a:t>59 = 183-124</a:t>
            </a:r>
          </a:p>
        </p:txBody>
      </p:sp>
      <p:sp>
        <p:nvSpPr>
          <p:cNvPr id="2" name="Rectangle 1">
            <a:extLst>
              <a:ext uri="{FF2B5EF4-FFF2-40B4-BE49-F238E27FC236}">
                <a16:creationId xmlns:a16="http://schemas.microsoft.com/office/drawing/2014/main" id="{D044E57E-23B9-424E-B650-736C8DB655E1}"/>
              </a:ext>
            </a:extLst>
          </p:cNvPr>
          <p:cNvSpPr/>
          <p:nvPr/>
        </p:nvSpPr>
        <p:spPr>
          <a:xfrm>
            <a:off x="271463" y="4085158"/>
            <a:ext cx="7929562" cy="22299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3056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P spid="5" grpId="0"/>
      <p:bldP spid="6" grpId="0"/>
      <p:bldP spid="7" grpId="0"/>
      <p:bldP spid="8" grpId="0"/>
      <p:bldP spid="9" grpId="0"/>
      <p:bldP spid="10" grpId="0"/>
      <p:bldP spid="11" grpId="0"/>
      <p:bldP spid="12"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A23B9C8-78DE-6345-91AA-C977ED40DD7F}"/>
              </a:ext>
            </a:extLst>
          </p:cNvPr>
          <p:cNvSpPr>
            <a:spLocks noGrp="1" noChangeArrowheads="1"/>
          </p:cNvSpPr>
          <p:nvPr>
            <p:ph type="title"/>
          </p:nvPr>
        </p:nvSpPr>
        <p:spPr>
          <a:xfrm>
            <a:off x="457200" y="141288"/>
            <a:ext cx="8229600" cy="576262"/>
          </a:xfrm>
        </p:spPr>
        <p:txBody>
          <a:bodyPr/>
          <a:lstStyle/>
          <a:p>
            <a:pPr eaLnBrk="1" hangingPunct="1"/>
            <a:r>
              <a:rPr lang="en-US" altLang="en-US" dirty="0">
                <a:solidFill>
                  <a:schemeClr val="tx1">
                    <a:lumMod val="50000"/>
                    <a:lumOff val="50000"/>
                  </a:schemeClr>
                </a:solidFill>
              </a:rPr>
              <a:t>SSTF</a:t>
            </a:r>
          </a:p>
        </p:txBody>
      </p:sp>
      <p:sp>
        <p:nvSpPr>
          <p:cNvPr id="23555" name="Rectangle 3">
            <a:extLst>
              <a:ext uri="{FF2B5EF4-FFF2-40B4-BE49-F238E27FC236}">
                <a16:creationId xmlns:a16="http://schemas.microsoft.com/office/drawing/2014/main" id="{15697B06-C6C0-6540-B353-E30B10E84044}"/>
              </a:ext>
            </a:extLst>
          </p:cNvPr>
          <p:cNvSpPr>
            <a:spLocks noGrp="1" noChangeArrowheads="1"/>
          </p:cNvSpPr>
          <p:nvPr>
            <p:ph type="body" idx="1"/>
          </p:nvPr>
        </p:nvSpPr>
        <p:spPr>
          <a:xfrm>
            <a:off x="874713" y="1111250"/>
            <a:ext cx="7081837" cy="4530725"/>
          </a:xfrm>
        </p:spPr>
        <p:txBody>
          <a:bodyPr/>
          <a:lstStyle/>
          <a:p>
            <a:r>
              <a:rPr lang="en-US" altLang="en-US" dirty="0"/>
              <a:t>Shortest Seek Time First selects the request with the minimum seek time from the current head position</a:t>
            </a:r>
          </a:p>
          <a:p>
            <a:r>
              <a:rPr lang="en-US" altLang="en-US" dirty="0"/>
              <a:t>SSTF scheduling is a form of SJF scheduling; may cause </a:t>
            </a:r>
            <a:r>
              <a:rPr lang="en-US" altLang="en-US" b="1" dirty="0">
                <a:solidFill>
                  <a:srgbClr val="FF0000"/>
                </a:solidFill>
              </a:rPr>
              <a:t>starvation</a:t>
            </a:r>
            <a:r>
              <a:rPr lang="en-US" altLang="en-US" dirty="0"/>
              <a:t> of some requests</a:t>
            </a:r>
          </a:p>
          <a:p>
            <a:r>
              <a:rPr lang="en-US" altLang="en-US" b="1" dirty="0">
                <a:solidFill>
                  <a:srgbClr val="00B0F0"/>
                </a:solidFill>
              </a:rPr>
              <a:t>Illustration shows total head movement of 236 cylinders</a:t>
            </a:r>
          </a:p>
        </p:txBody>
      </p:sp>
      <p:pic>
        <p:nvPicPr>
          <p:cNvPr id="23556" name="Picture 4" descr="12">
            <a:extLst>
              <a:ext uri="{FF2B5EF4-FFF2-40B4-BE49-F238E27FC236}">
                <a16:creationId xmlns:a16="http://schemas.microsoft.com/office/drawing/2014/main" id="{168E372B-AEB1-4C47-850B-89FC33FFF7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5" y="2938463"/>
            <a:ext cx="4811713"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6B2B5DB-611B-C44C-91A1-20E993C724CF}"/>
              </a:ext>
            </a:extLst>
          </p:cNvPr>
          <p:cNvSpPr txBox="1"/>
          <p:nvPr/>
        </p:nvSpPr>
        <p:spPr>
          <a:xfrm>
            <a:off x="3202265" y="3829053"/>
            <a:ext cx="1215397" cy="369332"/>
          </a:xfrm>
          <a:prstGeom prst="rect">
            <a:avLst/>
          </a:prstGeom>
          <a:noFill/>
        </p:spPr>
        <p:txBody>
          <a:bodyPr wrap="none" rtlCol="0">
            <a:spAutoFit/>
          </a:bodyPr>
          <a:lstStyle/>
          <a:p>
            <a:r>
              <a:rPr lang="en-US" dirty="0"/>
              <a:t>12 = 65-53</a:t>
            </a:r>
          </a:p>
        </p:txBody>
      </p:sp>
      <p:sp>
        <p:nvSpPr>
          <p:cNvPr id="6" name="TextBox 5">
            <a:extLst>
              <a:ext uri="{FF2B5EF4-FFF2-40B4-BE49-F238E27FC236}">
                <a16:creationId xmlns:a16="http://schemas.microsoft.com/office/drawing/2014/main" id="{BE8BD578-6A77-D049-B44E-9E409E65694B}"/>
              </a:ext>
            </a:extLst>
          </p:cNvPr>
          <p:cNvSpPr txBox="1"/>
          <p:nvPr/>
        </p:nvSpPr>
        <p:spPr>
          <a:xfrm>
            <a:off x="3526096" y="4085158"/>
            <a:ext cx="1099981" cy="369332"/>
          </a:xfrm>
          <a:prstGeom prst="rect">
            <a:avLst/>
          </a:prstGeom>
          <a:noFill/>
        </p:spPr>
        <p:txBody>
          <a:bodyPr wrap="none" rtlCol="0">
            <a:spAutoFit/>
          </a:bodyPr>
          <a:lstStyle/>
          <a:p>
            <a:r>
              <a:rPr lang="en-US" dirty="0"/>
              <a:t>2 = 67-65</a:t>
            </a:r>
          </a:p>
        </p:txBody>
      </p:sp>
      <p:sp>
        <p:nvSpPr>
          <p:cNvPr id="7" name="TextBox 6">
            <a:extLst>
              <a:ext uri="{FF2B5EF4-FFF2-40B4-BE49-F238E27FC236}">
                <a16:creationId xmlns:a16="http://schemas.microsoft.com/office/drawing/2014/main" id="{BA3C026C-D601-A54E-9CD1-77BFE2EF8E3C}"/>
              </a:ext>
            </a:extLst>
          </p:cNvPr>
          <p:cNvSpPr txBox="1"/>
          <p:nvPr/>
        </p:nvSpPr>
        <p:spPr>
          <a:xfrm>
            <a:off x="3015409" y="4427257"/>
            <a:ext cx="1215397" cy="369332"/>
          </a:xfrm>
          <a:prstGeom prst="rect">
            <a:avLst/>
          </a:prstGeom>
          <a:noFill/>
        </p:spPr>
        <p:txBody>
          <a:bodyPr wrap="none" rtlCol="0">
            <a:spAutoFit/>
          </a:bodyPr>
          <a:lstStyle/>
          <a:p>
            <a:r>
              <a:rPr lang="en-US" dirty="0"/>
              <a:t>30 = 67-37</a:t>
            </a:r>
          </a:p>
        </p:txBody>
      </p:sp>
      <p:sp>
        <p:nvSpPr>
          <p:cNvPr id="8" name="TextBox 7">
            <a:extLst>
              <a:ext uri="{FF2B5EF4-FFF2-40B4-BE49-F238E27FC236}">
                <a16:creationId xmlns:a16="http://schemas.microsoft.com/office/drawing/2014/main" id="{8372692B-BD9E-6A4A-B96B-9B97222116F3}"/>
              </a:ext>
            </a:extLst>
          </p:cNvPr>
          <p:cNvSpPr txBox="1"/>
          <p:nvPr/>
        </p:nvSpPr>
        <p:spPr>
          <a:xfrm>
            <a:off x="2476134" y="4755067"/>
            <a:ext cx="1215397" cy="369332"/>
          </a:xfrm>
          <a:prstGeom prst="rect">
            <a:avLst/>
          </a:prstGeom>
          <a:noFill/>
        </p:spPr>
        <p:txBody>
          <a:bodyPr wrap="none" rtlCol="0">
            <a:spAutoFit/>
          </a:bodyPr>
          <a:lstStyle/>
          <a:p>
            <a:r>
              <a:rPr lang="en-US" dirty="0"/>
              <a:t>23 = 37-14</a:t>
            </a:r>
          </a:p>
        </p:txBody>
      </p:sp>
      <p:sp>
        <p:nvSpPr>
          <p:cNvPr id="9" name="TextBox 8">
            <a:extLst>
              <a:ext uri="{FF2B5EF4-FFF2-40B4-BE49-F238E27FC236}">
                <a16:creationId xmlns:a16="http://schemas.microsoft.com/office/drawing/2014/main" id="{FC554F22-D76A-5B48-AC0E-DC61EE6CFA0C}"/>
              </a:ext>
            </a:extLst>
          </p:cNvPr>
          <p:cNvSpPr txBox="1"/>
          <p:nvPr/>
        </p:nvSpPr>
        <p:spPr>
          <a:xfrm>
            <a:off x="2514237" y="5021770"/>
            <a:ext cx="1215397" cy="369332"/>
          </a:xfrm>
          <a:prstGeom prst="rect">
            <a:avLst/>
          </a:prstGeom>
          <a:noFill/>
        </p:spPr>
        <p:txBody>
          <a:bodyPr wrap="none" rtlCol="0">
            <a:spAutoFit/>
          </a:bodyPr>
          <a:lstStyle/>
          <a:p>
            <a:r>
              <a:rPr lang="en-US" dirty="0"/>
              <a:t>84 = 98-14</a:t>
            </a:r>
          </a:p>
        </p:txBody>
      </p:sp>
      <p:sp>
        <p:nvSpPr>
          <p:cNvPr id="10" name="TextBox 9">
            <a:extLst>
              <a:ext uri="{FF2B5EF4-FFF2-40B4-BE49-F238E27FC236}">
                <a16:creationId xmlns:a16="http://schemas.microsoft.com/office/drawing/2014/main" id="{6D221111-C5FE-F643-815D-68B3DF3EB1E7}"/>
              </a:ext>
            </a:extLst>
          </p:cNvPr>
          <p:cNvSpPr txBox="1"/>
          <p:nvPr/>
        </p:nvSpPr>
        <p:spPr>
          <a:xfrm>
            <a:off x="4297590" y="5123678"/>
            <a:ext cx="1330814" cy="369332"/>
          </a:xfrm>
          <a:prstGeom prst="rect">
            <a:avLst/>
          </a:prstGeom>
          <a:noFill/>
        </p:spPr>
        <p:txBody>
          <a:bodyPr wrap="none" rtlCol="0">
            <a:spAutoFit/>
          </a:bodyPr>
          <a:lstStyle/>
          <a:p>
            <a:r>
              <a:rPr lang="en-US" dirty="0"/>
              <a:t>24 = 122-98</a:t>
            </a:r>
          </a:p>
        </p:txBody>
      </p:sp>
      <p:sp>
        <p:nvSpPr>
          <p:cNvPr id="11" name="TextBox 10">
            <a:extLst>
              <a:ext uri="{FF2B5EF4-FFF2-40B4-BE49-F238E27FC236}">
                <a16:creationId xmlns:a16="http://schemas.microsoft.com/office/drawing/2014/main" id="{9B90B9D0-154D-2646-8E26-AB520FD68C1A}"/>
              </a:ext>
            </a:extLst>
          </p:cNvPr>
          <p:cNvSpPr txBox="1"/>
          <p:nvPr/>
        </p:nvSpPr>
        <p:spPr>
          <a:xfrm>
            <a:off x="4724996" y="5382827"/>
            <a:ext cx="1330814" cy="369332"/>
          </a:xfrm>
          <a:prstGeom prst="rect">
            <a:avLst/>
          </a:prstGeom>
          <a:noFill/>
        </p:spPr>
        <p:txBody>
          <a:bodyPr wrap="none" rtlCol="0">
            <a:spAutoFit/>
          </a:bodyPr>
          <a:lstStyle/>
          <a:p>
            <a:r>
              <a:rPr lang="en-US" dirty="0"/>
              <a:t>2 = 124-122</a:t>
            </a:r>
          </a:p>
        </p:txBody>
      </p:sp>
      <p:sp>
        <p:nvSpPr>
          <p:cNvPr id="12" name="TextBox 11">
            <a:extLst>
              <a:ext uri="{FF2B5EF4-FFF2-40B4-BE49-F238E27FC236}">
                <a16:creationId xmlns:a16="http://schemas.microsoft.com/office/drawing/2014/main" id="{9E856DA6-49A1-7447-B74B-A5007959C5DC}"/>
              </a:ext>
            </a:extLst>
          </p:cNvPr>
          <p:cNvSpPr txBox="1"/>
          <p:nvPr/>
        </p:nvSpPr>
        <p:spPr>
          <a:xfrm>
            <a:off x="4808352" y="5752159"/>
            <a:ext cx="1446230" cy="369332"/>
          </a:xfrm>
          <a:prstGeom prst="rect">
            <a:avLst/>
          </a:prstGeom>
          <a:noFill/>
        </p:spPr>
        <p:txBody>
          <a:bodyPr wrap="none" rtlCol="0">
            <a:spAutoFit/>
          </a:bodyPr>
          <a:lstStyle/>
          <a:p>
            <a:r>
              <a:rPr lang="en-US" dirty="0"/>
              <a:t>59 = 183-124</a:t>
            </a:r>
          </a:p>
        </p:txBody>
      </p:sp>
    </p:spTree>
    <p:extLst>
      <p:ext uri="{BB962C8B-B14F-4D97-AF65-F5344CB8AC3E}">
        <p14:creationId xmlns:p14="http://schemas.microsoft.com/office/powerpoint/2010/main" val="211983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5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uiExpand="1" build="p"/>
      <p:bldP spid="5" grpId="0"/>
      <p:bldP spid="6" grpId="0"/>
      <p:bldP spid="7" grpId="0"/>
      <p:bldP spid="8" grpId="0"/>
      <p:bldP spid="9" grpId="0"/>
      <p:bldP spid="10" grpId="0"/>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163CE711-3EC1-F141-8F92-513BDB85C700}"/>
              </a:ext>
            </a:extLst>
          </p:cNvPr>
          <p:cNvSpPr>
            <a:spLocks noGrp="1" noChangeArrowheads="1"/>
          </p:cNvSpPr>
          <p:nvPr>
            <p:ph type="title"/>
          </p:nvPr>
        </p:nvSpPr>
        <p:spPr>
          <a:xfrm>
            <a:off x="457200" y="155575"/>
            <a:ext cx="7840663" cy="576263"/>
          </a:xfrm>
        </p:spPr>
        <p:txBody>
          <a:bodyPr/>
          <a:lstStyle/>
          <a:p>
            <a:pPr eaLnBrk="1" hangingPunct="1"/>
            <a:r>
              <a:rPr lang="en-US" altLang="en-US" dirty="0">
                <a:solidFill>
                  <a:schemeClr val="tx1">
                    <a:lumMod val="50000"/>
                    <a:lumOff val="50000"/>
                  </a:schemeClr>
                </a:solidFill>
              </a:rPr>
              <a:t>SCAN</a:t>
            </a:r>
          </a:p>
        </p:txBody>
      </p:sp>
      <p:sp>
        <p:nvSpPr>
          <p:cNvPr id="24579" name="Rectangle 3">
            <a:extLst>
              <a:ext uri="{FF2B5EF4-FFF2-40B4-BE49-F238E27FC236}">
                <a16:creationId xmlns:a16="http://schemas.microsoft.com/office/drawing/2014/main" id="{C3121121-9185-C64C-BE6F-61D12F7D4E60}"/>
              </a:ext>
            </a:extLst>
          </p:cNvPr>
          <p:cNvSpPr>
            <a:spLocks noGrp="1" noChangeArrowheads="1"/>
          </p:cNvSpPr>
          <p:nvPr>
            <p:ph type="body" idx="1"/>
          </p:nvPr>
        </p:nvSpPr>
        <p:spPr>
          <a:xfrm>
            <a:off x="860425" y="1150938"/>
            <a:ext cx="7205663" cy="4530725"/>
          </a:xfrm>
        </p:spPr>
        <p:txBody>
          <a:bodyPr/>
          <a:lstStyle/>
          <a:p>
            <a:r>
              <a:rPr lang="en-US" altLang="en-US"/>
              <a:t>The disk arm starts at one end of the disk, and moves toward the other end, servicing requests until it gets to the other end of the disk, where the head movement is reversed and servicing continues.</a:t>
            </a:r>
          </a:p>
          <a:p>
            <a:r>
              <a:rPr lang="en-US" altLang="en-US" b="1">
                <a:solidFill>
                  <a:srgbClr val="3366FF"/>
                </a:solidFill>
              </a:rPr>
              <a:t>SCAN algorithm</a:t>
            </a:r>
            <a:r>
              <a:rPr lang="en-US" altLang="en-US">
                <a:solidFill>
                  <a:srgbClr val="3366FF"/>
                </a:solidFill>
              </a:rPr>
              <a:t> </a:t>
            </a:r>
            <a:r>
              <a:rPr lang="en-US" altLang="en-US"/>
              <a:t>Sometimes called the </a:t>
            </a:r>
            <a:r>
              <a:rPr lang="en-US" altLang="en-US" b="1">
                <a:solidFill>
                  <a:srgbClr val="3366FF"/>
                </a:solidFill>
              </a:rPr>
              <a:t>elevator algorithm</a:t>
            </a:r>
          </a:p>
          <a:p>
            <a:r>
              <a:rPr lang="en-US" altLang="en-US"/>
              <a:t>Illustration shows total head movement of 208 cylinders</a:t>
            </a:r>
          </a:p>
          <a:p>
            <a:r>
              <a:rPr lang="en-US" altLang="en-US"/>
              <a:t>But note that if requests are uniformly dense, largest density at other end of disk and those wait the longest</a:t>
            </a:r>
          </a:p>
        </p:txBody>
      </p:sp>
    </p:spTree>
    <p:extLst>
      <p:ext uri="{BB962C8B-B14F-4D97-AF65-F5344CB8AC3E}">
        <p14:creationId xmlns:p14="http://schemas.microsoft.com/office/powerpoint/2010/main" val="2245031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2F00F76F-D015-654D-B43B-11DFC9531A41}"/>
              </a:ext>
            </a:extLst>
          </p:cNvPr>
          <p:cNvSpPr>
            <a:spLocks noGrp="1" noChangeArrowheads="1"/>
          </p:cNvSpPr>
          <p:nvPr>
            <p:ph type="title"/>
          </p:nvPr>
        </p:nvSpPr>
        <p:spPr>
          <a:xfrm>
            <a:off x="457200" y="195263"/>
            <a:ext cx="8229600" cy="576262"/>
          </a:xfrm>
        </p:spPr>
        <p:txBody>
          <a:bodyPr/>
          <a:lstStyle/>
          <a:p>
            <a:pPr eaLnBrk="1" hangingPunct="1"/>
            <a:r>
              <a:rPr lang="en-US" altLang="en-US" dirty="0">
                <a:solidFill>
                  <a:schemeClr val="tx1">
                    <a:lumMod val="50000"/>
                    <a:lumOff val="50000"/>
                  </a:schemeClr>
                </a:solidFill>
              </a:rPr>
              <a:t>SCAN (Cont.)</a:t>
            </a:r>
          </a:p>
        </p:txBody>
      </p:sp>
      <p:pic>
        <p:nvPicPr>
          <p:cNvPr id="25603" name="Picture 6" descr="A line graph with a blue line and a white line">
            <a:extLst>
              <a:ext uri="{FF2B5EF4-FFF2-40B4-BE49-F238E27FC236}">
                <a16:creationId xmlns:a16="http://schemas.microsoft.com/office/drawing/2014/main" id="{86F0532A-B573-254E-8661-E74104884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1236663"/>
            <a:ext cx="5981700"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a:extLst>
              <a:ext uri="{FF2B5EF4-FFF2-40B4-BE49-F238E27FC236}">
                <a16:creationId xmlns:a16="http://schemas.microsoft.com/office/drawing/2014/main" id="{33F17C47-D5E4-7447-B59C-12A1958A685E}"/>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C462861-BA9B-EA43-BEF7-30A345C3D91B}"/>
              </a:ext>
            </a:extLst>
          </p:cNvPr>
          <p:cNvSpPr txBox="1"/>
          <p:nvPr/>
        </p:nvSpPr>
        <p:spPr>
          <a:xfrm>
            <a:off x="2770465" y="2914653"/>
            <a:ext cx="1099981" cy="369332"/>
          </a:xfrm>
          <a:prstGeom prst="rect">
            <a:avLst/>
          </a:prstGeom>
          <a:noFill/>
        </p:spPr>
        <p:txBody>
          <a:bodyPr wrap="none" rtlCol="0">
            <a:spAutoFit/>
          </a:bodyPr>
          <a:lstStyle/>
          <a:p>
            <a:r>
              <a:rPr lang="en-US" dirty="0"/>
              <a:t>53 = 53-0</a:t>
            </a:r>
          </a:p>
        </p:txBody>
      </p:sp>
      <p:sp>
        <p:nvSpPr>
          <p:cNvPr id="7" name="TextBox 6">
            <a:extLst>
              <a:ext uri="{FF2B5EF4-FFF2-40B4-BE49-F238E27FC236}">
                <a16:creationId xmlns:a16="http://schemas.microsoft.com/office/drawing/2014/main" id="{FBC13F5C-CE26-8C4E-B7D5-4A2753FB1A8A}"/>
              </a:ext>
            </a:extLst>
          </p:cNvPr>
          <p:cNvSpPr txBox="1"/>
          <p:nvPr/>
        </p:nvSpPr>
        <p:spPr>
          <a:xfrm>
            <a:off x="4015065" y="4070353"/>
            <a:ext cx="1330814" cy="369332"/>
          </a:xfrm>
          <a:prstGeom prst="rect">
            <a:avLst/>
          </a:prstGeom>
          <a:noFill/>
        </p:spPr>
        <p:txBody>
          <a:bodyPr wrap="none" rtlCol="0">
            <a:spAutoFit/>
          </a:bodyPr>
          <a:lstStyle/>
          <a:p>
            <a:r>
              <a:rPr lang="en-US" dirty="0"/>
              <a:t>183 = 183-0</a:t>
            </a:r>
          </a:p>
        </p:txBody>
      </p:sp>
      <p:sp>
        <p:nvSpPr>
          <p:cNvPr id="8" name="TextBox 7">
            <a:extLst>
              <a:ext uri="{FF2B5EF4-FFF2-40B4-BE49-F238E27FC236}">
                <a16:creationId xmlns:a16="http://schemas.microsoft.com/office/drawing/2014/main" id="{F07C9EBE-2D45-7748-BB95-FFD2EA187C65}"/>
              </a:ext>
            </a:extLst>
          </p:cNvPr>
          <p:cNvSpPr txBox="1"/>
          <p:nvPr/>
        </p:nvSpPr>
        <p:spPr>
          <a:xfrm>
            <a:off x="2884765" y="5844144"/>
            <a:ext cx="3639330" cy="369332"/>
          </a:xfrm>
          <a:prstGeom prst="rect">
            <a:avLst/>
          </a:prstGeom>
          <a:noFill/>
        </p:spPr>
        <p:txBody>
          <a:bodyPr wrap="none" rtlCol="0">
            <a:spAutoFit/>
          </a:bodyPr>
          <a:lstStyle/>
          <a:p>
            <a:r>
              <a:rPr lang="en-US" dirty="0"/>
              <a:t>Total Head Moves  = 53 + 183 = 236</a:t>
            </a:r>
          </a:p>
        </p:txBody>
      </p:sp>
    </p:spTree>
    <p:extLst>
      <p:ext uri="{BB962C8B-B14F-4D97-AF65-F5344CB8AC3E}">
        <p14:creationId xmlns:p14="http://schemas.microsoft.com/office/powerpoint/2010/main" val="121693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Minimize seek time</a:t>
            </a:r>
          </a:p>
          <a:p>
            <a:r>
              <a:rPr lang="en-US" dirty="0">
                <a:solidFill>
                  <a:schemeClr val="tx1">
                    <a:lumMod val="50000"/>
                    <a:lumOff val="50000"/>
                  </a:schemeClr>
                </a:solidFill>
              </a:rPr>
              <a:t>How to minimize seek time?</a:t>
            </a:r>
          </a:p>
          <a:p>
            <a:pPr lvl="1"/>
            <a:r>
              <a:rPr lang="en-US" dirty="0">
                <a:solidFill>
                  <a:schemeClr val="tx1">
                    <a:lumMod val="50000"/>
                    <a:lumOff val="50000"/>
                  </a:schemeClr>
                </a:solidFill>
              </a:rPr>
              <a:t>Sort requests to minimize head moves</a:t>
            </a:r>
          </a:p>
          <a:p>
            <a:pPr lvl="1"/>
            <a:r>
              <a:rPr lang="en-US" dirty="0">
                <a:solidFill>
                  <a:schemeClr val="tx1">
                    <a:lumMod val="50000"/>
                    <a:lumOff val="50000"/>
                  </a:schemeClr>
                </a:solidFill>
              </a:rPr>
              <a:t>“Sorting” is scheduling</a:t>
            </a:r>
          </a:p>
          <a:p>
            <a:r>
              <a:rPr lang="en-US" dirty="0">
                <a:solidFill>
                  <a:schemeClr val="tx1">
                    <a:lumMod val="50000"/>
                    <a:lumOff val="50000"/>
                  </a:schemeClr>
                </a:solidFill>
              </a:rPr>
              <a:t>Disk Scheduling Policies</a:t>
            </a:r>
          </a:p>
          <a:p>
            <a:pPr lvl="1"/>
            <a:r>
              <a:rPr lang="en-US" dirty="0">
                <a:solidFill>
                  <a:schemeClr val="tx1">
                    <a:lumMod val="50000"/>
                    <a:lumOff val="50000"/>
                  </a:schemeClr>
                </a:solidFill>
              </a:rPr>
              <a:t>First Come First Serve</a:t>
            </a:r>
          </a:p>
          <a:p>
            <a:pPr lvl="1"/>
            <a:r>
              <a:rPr lang="en-US" dirty="0">
                <a:solidFill>
                  <a:schemeClr val="tx1">
                    <a:lumMod val="50000"/>
                    <a:lumOff val="50000"/>
                  </a:schemeClr>
                </a:solidFill>
              </a:rPr>
              <a:t>Shortest Seek Time First</a:t>
            </a:r>
          </a:p>
          <a:p>
            <a:pPr lvl="1"/>
            <a:r>
              <a:rPr lang="en-US" dirty="0">
                <a:solidFill>
                  <a:schemeClr val="tx1">
                    <a:lumMod val="50000"/>
                    <a:lumOff val="50000"/>
                  </a:schemeClr>
                </a:solidFill>
              </a:rPr>
              <a:t>SCAN</a:t>
            </a:r>
          </a:p>
          <a:p>
            <a:pPr lvl="1"/>
            <a:r>
              <a:rPr lang="en-US" dirty="0">
                <a:solidFill>
                  <a:srgbClr val="FF00FF"/>
                </a:solidFill>
              </a:rPr>
              <a:t>C-SCAN</a:t>
            </a:r>
          </a:p>
          <a:p>
            <a:pPr lvl="1"/>
            <a:r>
              <a:rPr lang="en-US" dirty="0">
                <a:solidFill>
                  <a:srgbClr val="FF00FF"/>
                </a:solidFill>
              </a:rPr>
              <a:t>LOOK</a:t>
            </a:r>
          </a:p>
          <a:p>
            <a:pPr lvl="1"/>
            <a:r>
              <a:rPr lang="en-US" dirty="0">
                <a:solidFill>
                  <a:srgbClr val="FF00FF"/>
                </a:solidFill>
              </a:rPr>
              <a:t>C-LOOK</a:t>
            </a:r>
          </a:p>
          <a:p>
            <a:r>
              <a:rPr lang="en-US" dirty="0">
                <a:solidFill>
                  <a:srgbClr val="0000FF"/>
                </a:solidFill>
              </a:rPr>
              <a:t>Read “Disk Scheduling”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Disk Scheduling (3/3)</a:t>
            </a:r>
          </a:p>
        </p:txBody>
      </p:sp>
    </p:spTree>
    <p:extLst>
      <p:ext uri="{BB962C8B-B14F-4D97-AF65-F5344CB8AC3E}">
        <p14:creationId xmlns:p14="http://schemas.microsoft.com/office/powerpoint/2010/main" val="29873320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2F7EF0CE-01BD-4A48-A102-22364BFE041E}"/>
              </a:ext>
            </a:extLst>
          </p:cNvPr>
          <p:cNvSpPr>
            <a:spLocks noGrp="1" noChangeArrowheads="1"/>
          </p:cNvSpPr>
          <p:nvPr>
            <p:ph type="title"/>
          </p:nvPr>
        </p:nvSpPr>
        <p:spPr>
          <a:xfrm>
            <a:off x="457200" y="155575"/>
            <a:ext cx="7869238" cy="576263"/>
          </a:xfrm>
        </p:spPr>
        <p:txBody>
          <a:bodyPr/>
          <a:lstStyle/>
          <a:p>
            <a:pPr eaLnBrk="1" hangingPunct="1"/>
            <a:r>
              <a:rPr lang="en-US" altLang="en-US" dirty="0">
                <a:solidFill>
                  <a:schemeClr val="tx1">
                    <a:lumMod val="50000"/>
                    <a:lumOff val="50000"/>
                  </a:schemeClr>
                </a:solidFill>
              </a:rPr>
              <a:t>C-SCAN</a:t>
            </a:r>
          </a:p>
        </p:txBody>
      </p:sp>
      <p:sp>
        <p:nvSpPr>
          <p:cNvPr id="26627" name="Rectangle 3">
            <a:extLst>
              <a:ext uri="{FF2B5EF4-FFF2-40B4-BE49-F238E27FC236}">
                <a16:creationId xmlns:a16="http://schemas.microsoft.com/office/drawing/2014/main" id="{90DCFAD7-FEBC-FD49-BBAA-5358B1643B56}"/>
              </a:ext>
            </a:extLst>
          </p:cNvPr>
          <p:cNvSpPr>
            <a:spLocks noGrp="1" noChangeArrowheads="1"/>
          </p:cNvSpPr>
          <p:nvPr>
            <p:ph type="body" idx="1"/>
          </p:nvPr>
        </p:nvSpPr>
        <p:spPr>
          <a:xfrm>
            <a:off x="889000" y="1138238"/>
            <a:ext cx="7040563" cy="4530725"/>
          </a:xfrm>
        </p:spPr>
        <p:txBody>
          <a:bodyPr/>
          <a:lstStyle/>
          <a:p>
            <a:r>
              <a:rPr lang="en-US" altLang="en-US" dirty="0"/>
              <a:t>Provides a more uniform wait time than SCAN</a:t>
            </a:r>
          </a:p>
          <a:p>
            <a:r>
              <a:rPr lang="en-US" altLang="en-US" dirty="0"/>
              <a:t>The head moves from one end of the disk to the other, servicing requests as it goes</a:t>
            </a:r>
          </a:p>
          <a:p>
            <a:pPr lvl="1"/>
            <a:r>
              <a:rPr lang="en-US" altLang="en-US" dirty="0"/>
              <a:t>When it reaches the other end, however, it immediately returns to the beginning of the disk, without servicing any requests on the return trip</a:t>
            </a:r>
          </a:p>
          <a:p>
            <a:r>
              <a:rPr lang="en-US" altLang="en-US" dirty="0"/>
              <a:t>Treats the cylinders as a circular list that wraps around from the last cylinder to the first one</a:t>
            </a:r>
          </a:p>
        </p:txBody>
      </p:sp>
    </p:spTree>
    <p:extLst>
      <p:ext uri="{BB962C8B-B14F-4D97-AF65-F5344CB8AC3E}">
        <p14:creationId xmlns:p14="http://schemas.microsoft.com/office/powerpoint/2010/main" val="3367607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BDDE6BD1-7FDB-A245-A196-614372C069CF}"/>
              </a:ext>
            </a:extLst>
          </p:cNvPr>
          <p:cNvSpPr>
            <a:spLocks noGrp="1" noChangeArrowheads="1"/>
          </p:cNvSpPr>
          <p:nvPr>
            <p:ph type="title"/>
          </p:nvPr>
        </p:nvSpPr>
        <p:spPr>
          <a:xfrm>
            <a:off x="457200" y="182563"/>
            <a:ext cx="8229600" cy="576262"/>
          </a:xfrm>
        </p:spPr>
        <p:txBody>
          <a:bodyPr/>
          <a:lstStyle/>
          <a:p>
            <a:pPr eaLnBrk="1" hangingPunct="1"/>
            <a:r>
              <a:rPr lang="en-US" altLang="en-US" dirty="0">
                <a:solidFill>
                  <a:schemeClr val="tx1">
                    <a:lumMod val="50000"/>
                    <a:lumOff val="50000"/>
                  </a:schemeClr>
                </a:solidFill>
              </a:rPr>
              <a:t>C-SCAN (Cont.)</a:t>
            </a:r>
          </a:p>
        </p:txBody>
      </p:sp>
      <p:pic>
        <p:nvPicPr>
          <p:cNvPr id="27651" name="Picture 4" descr="A graph with a line graph and a line graph on it">
            <a:extLst>
              <a:ext uri="{FF2B5EF4-FFF2-40B4-BE49-F238E27FC236}">
                <a16:creationId xmlns:a16="http://schemas.microsoft.com/office/drawing/2014/main" id="{025283A1-42D5-6F4D-8B07-F0F890F2B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4875676D-F368-B843-9232-E9D7F7704209}"/>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6244B7C-8162-C446-A0C7-1716962A77E1}"/>
              </a:ext>
            </a:extLst>
          </p:cNvPr>
          <p:cNvSpPr txBox="1"/>
          <p:nvPr/>
        </p:nvSpPr>
        <p:spPr>
          <a:xfrm>
            <a:off x="3849965" y="2779718"/>
            <a:ext cx="1446230" cy="369332"/>
          </a:xfrm>
          <a:prstGeom prst="rect">
            <a:avLst/>
          </a:prstGeom>
          <a:noFill/>
        </p:spPr>
        <p:txBody>
          <a:bodyPr wrap="none" rtlCol="0">
            <a:spAutoFit/>
          </a:bodyPr>
          <a:lstStyle/>
          <a:p>
            <a:r>
              <a:rPr lang="en-US" dirty="0"/>
              <a:t>146 = 199-53</a:t>
            </a:r>
          </a:p>
        </p:txBody>
      </p:sp>
      <p:sp>
        <p:nvSpPr>
          <p:cNvPr id="6" name="TextBox 5">
            <a:extLst>
              <a:ext uri="{FF2B5EF4-FFF2-40B4-BE49-F238E27FC236}">
                <a16:creationId xmlns:a16="http://schemas.microsoft.com/office/drawing/2014/main" id="{28198616-9487-314F-8151-740BCABA2A4E}"/>
              </a:ext>
            </a:extLst>
          </p:cNvPr>
          <p:cNvSpPr txBox="1"/>
          <p:nvPr/>
        </p:nvSpPr>
        <p:spPr>
          <a:xfrm>
            <a:off x="3564242" y="4294198"/>
            <a:ext cx="1330814" cy="369332"/>
          </a:xfrm>
          <a:prstGeom prst="rect">
            <a:avLst/>
          </a:prstGeom>
          <a:noFill/>
        </p:spPr>
        <p:txBody>
          <a:bodyPr wrap="none" rtlCol="0">
            <a:spAutoFit/>
          </a:bodyPr>
          <a:lstStyle/>
          <a:p>
            <a:r>
              <a:rPr lang="en-US" dirty="0"/>
              <a:t>199 = 199-0</a:t>
            </a:r>
          </a:p>
        </p:txBody>
      </p:sp>
      <p:sp>
        <p:nvSpPr>
          <p:cNvPr id="7" name="TextBox 6">
            <a:extLst>
              <a:ext uri="{FF2B5EF4-FFF2-40B4-BE49-F238E27FC236}">
                <a16:creationId xmlns:a16="http://schemas.microsoft.com/office/drawing/2014/main" id="{3E24E7AC-A826-9F49-95AD-D35C231D294A}"/>
              </a:ext>
            </a:extLst>
          </p:cNvPr>
          <p:cNvSpPr txBox="1"/>
          <p:nvPr/>
        </p:nvSpPr>
        <p:spPr>
          <a:xfrm>
            <a:off x="2884765" y="5844144"/>
            <a:ext cx="4248471" cy="369332"/>
          </a:xfrm>
          <a:prstGeom prst="rect">
            <a:avLst/>
          </a:prstGeom>
          <a:noFill/>
        </p:spPr>
        <p:txBody>
          <a:bodyPr wrap="none" rtlCol="0">
            <a:spAutoFit/>
          </a:bodyPr>
          <a:lstStyle/>
          <a:p>
            <a:r>
              <a:rPr lang="en-US" dirty="0"/>
              <a:t>Total Head Moves  = 146 + 199 + 37 = 382</a:t>
            </a:r>
          </a:p>
        </p:txBody>
      </p:sp>
      <p:sp>
        <p:nvSpPr>
          <p:cNvPr id="8" name="TextBox 7">
            <a:extLst>
              <a:ext uri="{FF2B5EF4-FFF2-40B4-BE49-F238E27FC236}">
                <a16:creationId xmlns:a16="http://schemas.microsoft.com/office/drawing/2014/main" id="{9B3706DA-5987-E441-A902-A757F82A1FA3}"/>
              </a:ext>
            </a:extLst>
          </p:cNvPr>
          <p:cNvSpPr txBox="1"/>
          <p:nvPr/>
        </p:nvSpPr>
        <p:spPr>
          <a:xfrm>
            <a:off x="2155238" y="4777354"/>
            <a:ext cx="1099981" cy="369332"/>
          </a:xfrm>
          <a:prstGeom prst="rect">
            <a:avLst/>
          </a:prstGeom>
          <a:noFill/>
        </p:spPr>
        <p:txBody>
          <a:bodyPr wrap="none" rtlCol="0">
            <a:spAutoFit/>
          </a:bodyPr>
          <a:lstStyle/>
          <a:p>
            <a:r>
              <a:rPr lang="en-US" dirty="0"/>
              <a:t>37 = 37-0</a:t>
            </a:r>
          </a:p>
        </p:txBody>
      </p:sp>
    </p:spTree>
    <p:extLst>
      <p:ext uri="{BB962C8B-B14F-4D97-AF65-F5344CB8AC3E}">
        <p14:creationId xmlns:p14="http://schemas.microsoft.com/office/powerpoint/2010/main" val="2130390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7D331D7-64CD-CE40-A4B7-B579495F8543}"/>
              </a:ext>
            </a:extLst>
          </p:cNvPr>
          <p:cNvSpPr>
            <a:spLocks noGrp="1" noChangeArrowheads="1"/>
          </p:cNvSpPr>
          <p:nvPr>
            <p:ph type="title"/>
          </p:nvPr>
        </p:nvSpPr>
        <p:spPr>
          <a:xfrm>
            <a:off x="457200" y="195263"/>
            <a:ext cx="8229600" cy="576262"/>
          </a:xfrm>
        </p:spPr>
        <p:txBody>
          <a:bodyPr/>
          <a:lstStyle/>
          <a:p>
            <a:pPr eaLnBrk="1" hangingPunct="1"/>
            <a:r>
              <a:rPr lang="en-US" altLang="en-US" dirty="0">
                <a:solidFill>
                  <a:schemeClr val="tx1">
                    <a:lumMod val="50000"/>
                    <a:lumOff val="50000"/>
                  </a:schemeClr>
                </a:solidFill>
              </a:rPr>
              <a:t>LOOK</a:t>
            </a:r>
          </a:p>
        </p:txBody>
      </p:sp>
      <p:sp>
        <p:nvSpPr>
          <p:cNvPr id="28675" name="Rectangle 3">
            <a:extLst>
              <a:ext uri="{FF2B5EF4-FFF2-40B4-BE49-F238E27FC236}">
                <a16:creationId xmlns:a16="http://schemas.microsoft.com/office/drawing/2014/main" id="{347C1C33-F63D-1C47-A472-3D4414053FCD}"/>
              </a:ext>
            </a:extLst>
          </p:cNvPr>
          <p:cNvSpPr>
            <a:spLocks noGrp="1" noChangeArrowheads="1"/>
          </p:cNvSpPr>
          <p:nvPr>
            <p:ph type="body" idx="1"/>
          </p:nvPr>
        </p:nvSpPr>
        <p:spPr>
          <a:xfrm>
            <a:off x="901700" y="1138238"/>
            <a:ext cx="6659563" cy="3257550"/>
          </a:xfrm>
        </p:spPr>
        <p:txBody>
          <a:bodyPr/>
          <a:lstStyle/>
          <a:p>
            <a:r>
              <a:rPr lang="en-US" altLang="en-US" dirty="0"/>
              <a:t>Improvement of SCAN</a:t>
            </a:r>
          </a:p>
          <a:p>
            <a:r>
              <a:rPr lang="en-US" altLang="en-US" dirty="0"/>
              <a:t>Problem with SCAN?</a:t>
            </a:r>
          </a:p>
          <a:p>
            <a:pPr lvl="1"/>
            <a:r>
              <a:rPr lang="en-US" altLang="en-US" dirty="0"/>
              <a:t>Unnecessary moves of the head to </a:t>
            </a:r>
            <a:r>
              <a:rPr lang="en-US" altLang="en-US" dirty="0" err="1"/>
              <a:t>extremeties</a:t>
            </a:r>
            <a:endParaRPr lang="en-US" altLang="en-US" dirty="0"/>
          </a:p>
          <a:p>
            <a:r>
              <a:rPr lang="en-US" altLang="en-US" dirty="0"/>
              <a:t>LOOK: Arm only goes as far as the last request in each direction, then reverses direction immediately, without first going all the way to the end of the disk </a:t>
            </a:r>
          </a:p>
          <a:p>
            <a:r>
              <a:rPr lang="en-US" altLang="en-US" dirty="0"/>
              <a:t>Total number of cylinders?</a:t>
            </a:r>
          </a:p>
        </p:txBody>
      </p:sp>
    </p:spTree>
    <p:extLst>
      <p:ext uri="{BB962C8B-B14F-4D97-AF65-F5344CB8AC3E}">
        <p14:creationId xmlns:p14="http://schemas.microsoft.com/office/powerpoint/2010/main" val="2720211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7D331D7-64CD-CE40-A4B7-B579495F8543}"/>
              </a:ext>
            </a:extLst>
          </p:cNvPr>
          <p:cNvSpPr>
            <a:spLocks noGrp="1" noChangeArrowheads="1"/>
          </p:cNvSpPr>
          <p:nvPr>
            <p:ph type="title"/>
          </p:nvPr>
        </p:nvSpPr>
        <p:spPr>
          <a:xfrm>
            <a:off x="457200" y="195263"/>
            <a:ext cx="8229600" cy="576262"/>
          </a:xfrm>
        </p:spPr>
        <p:txBody>
          <a:bodyPr/>
          <a:lstStyle/>
          <a:p>
            <a:pPr eaLnBrk="1" hangingPunct="1"/>
            <a:r>
              <a:rPr lang="en-US" altLang="en-US" dirty="0">
                <a:solidFill>
                  <a:schemeClr val="tx1">
                    <a:lumMod val="50000"/>
                    <a:lumOff val="50000"/>
                  </a:schemeClr>
                </a:solidFill>
              </a:rPr>
              <a:t>C-LOOK</a:t>
            </a:r>
          </a:p>
        </p:txBody>
      </p:sp>
      <p:sp>
        <p:nvSpPr>
          <p:cNvPr id="28675" name="Rectangle 3">
            <a:extLst>
              <a:ext uri="{FF2B5EF4-FFF2-40B4-BE49-F238E27FC236}">
                <a16:creationId xmlns:a16="http://schemas.microsoft.com/office/drawing/2014/main" id="{347C1C33-F63D-1C47-A472-3D4414053FCD}"/>
              </a:ext>
            </a:extLst>
          </p:cNvPr>
          <p:cNvSpPr>
            <a:spLocks noGrp="1" noChangeArrowheads="1"/>
          </p:cNvSpPr>
          <p:nvPr>
            <p:ph type="body" idx="1"/>
          </p:nvPr>
        </p:nvSpPr>
        <p:spPr>
          <a:xfrm>
            <a:off x="901700" y="1138238"/>
            <a:ext cx="6659563" cy="3257550"/>
          </a:xfrm>
        </p:spPr>
        <p:txBody>
          <a:bodyPr/>
          <a:lstStyle/>
          <a:p>
            <a:r>
              <a:rPr lang="en-US" altLang="en-US" dirty="0"/>
              <a:t>Arm only goes as far as the last request in each direction, then reverses direction immediately, without first going all the way to the end of the disk </a:t>
            </a:r>
          </a:p>
          <a:p>
            <a:r>
              <a:rPr lang="en-US" altLang="en-US" dirty="0"/>
              <a:t>…. and serves requests only in one direction (like C-SCAN)</a:t>
            </a:r>
          </a:p>
        </p:txBody>
      </p:sp>
    </p:spTree>
    <p:extLst>
      <p:ext uri="{BB962C8B-B14F-4D97-AF65-F5344CB8AC3E}">
        <p14:creationId xmlns:p14="http://schemas.microsoft.com/office/powerpoint/2010/main" val="4029946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CFB7B2AD-4C98-B44F-8A41-2982C70D9BE0}"/>
              </a:ext>
            </a:extLst>
          </p:cNvPr>
          <p:cNvSpPr>
            <a:spLocks noGrp="1" noChangeArrowheads="1"/>
          </p:cNvSpPr>
          <p:nvPr>
            <p:ph type="title"/>
          </p:nvPr>
        </p:nvSpPr>
        <p:spPr>
          <a:xfrm>
            <a:off x="798513" y="277813"/>
            <a:ext cx="7888287" cy="576262"/>
          </a:xfrm>
        </p:spPr>
        <p:txBody>
          <a:bodyPr/>
          <a:lstStyle/>
          <a:p>
            <a:pPr eaLnBrk="1" hangingPunct="1"/>
            <a:r>
              <a:rPr lang="en-US" altLang="en-US" dirty="0">
                <a:solidFill>
                  <a:schemeClr val="tx1">
                    <a:lumMod val="50000"/>
                    <a:lumOff val="50000"/>
                  </a:schemeClr>
                </a:solidFill>
              </a:rPr>
              <a:t>C-LOOK (Cont.)</a:t>
            </a:r>
          </a:p>
        </p:txBody>
      </p:sp>
      <p:pic>
        <p:nvPicPr>
          <p:cNvPr id="29699" name="Picture 4" descr="12">
            <a:extLst>
              <a:ext uri="{FF2B5EF4-FFF2-40B4-BE49-F238E27FC236}">
                <a16:creationId xmlns:a16="http://schemas.microsoft.com/office/drawing/2014/main" id="{4C3B894F-8CDD-614D-A972-0C80BC06C3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011238"/>
            <a:ext cx="7312025"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7B58A0F3-5EE4-DF43-B011-C028B6B3DC9D}"/>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24F8F60-2372-DE43-9AF9-1DBDFA956986}"/>
              </a:ext>
            </a:extLst>
          </p:cNvPr>
          <p:cNvSpPr txBox="1"/>
          <p:nvPr/>
        </p:nvSpPr>
        <p:spPr>
          <a:xfrm>
            <a:off x="4641850" y="3519225"/>
            <a:ext cx="1446230" cy="369332"/>
          </a:xfrm>
          <a:prstGeom prst="rect">
            <a:avLst/>
          </a:prstGeom>
          <a:noFill/>
        </p:spPr>
        <p:txBody>
          <a:bodyPr wrap="none" rtlCol="0">
            <a:spAutoFit/>
          </a:bodyPr>
          <a:lstStyle/>
          <a:p>
            <a:r>
              <a:rPr lang="en-US" dirty="0"/>
              <a:t>130 = 183-53</a:t>
            </a:r>
          </a:p>
        </p:txBody>
      </p:sp>
      <p:sp>
        <p:nvSpPr>
          <p:cNvPr id="6" name="TextBox 5">
            <a:extLst>
              <a:ext uri="{FF2B5EF4-FFF2-40B4-BE49-F238E27FC236}">
                <a16:creationId xmlns:a16="http://schemas.microsoft.com/office/drawing/2014/main" id="{51FFA1EF-FECF-E74F-B915-0B030C51DD94}"/>
              </a:ext>
            </a:extLst>
          </p:cNvPr>
          <p:cNvSpPr txBox="1"/>
          <p:nvPr/>
        </p:nvSpPr>
        <p:spPr>
          <a:xfrm>
            <a:off x="3311036" y="4840298"/>
            <a:ext cx="1446230" cy="369332"/>
          </a:xfrm>
          <a:prstGeom prst="rect">
            <a:avLst/>
          </a:prstGeom>
          <a:noFill/>
        </p:spPr>
        <p:txBody>
          <a:bodyPr wrap="none" rtlCol="0">
            <a:spAutoFit/>
          </a:bodyPr>
          <a:lstStyle/>
          <a:p>
            <a:r>
              <a:rPr lang="en-US" dirty="0"/>
              <a:t>169 = 183-14</a:t>
            </a:r>
          </a:p>
        </p:txBody>
      </p:sp>
      <p:sp>
        <p:nvSpPr>
          <p:cNvPr id="7" name="TextBox 6">
            <a:extLst>
              <a:ext uri="{FF2B5EF4-FFF2-40B4-BE49-F238E27FC236}">
                <a16:creationId xmlns:a16="http://schemas.microsoft.com/office/drawing/2014/main" id="{FBB600B4-FEF7-FE47-85E9-1F9BE59F66DD}"/>
              </a:ext>
            </a:extLst>
          </p:cNvPr>
          <p:cNvSpPr txBox="1"/>
          <p:nvPr/>
        </p:nvSpPr>
        <p:spPr>
          <a:xfrm>
            <a:off x="2884765" y="5844144"/>
            <a:ext cx="4248471" cy="369332"/>
          </a:xfrm>
          <a:prstGeom prst="rect">
            <a:avLst/>
          </a:prstGeom>
          <a:noFill/>
        </p:spPr>
        <p:txBody>
          <a:bodyPr wrap="none" rtlCol="0">
            <a:spAutoFit/>
          </a:bodyPr>
          <a:lstStyle/>
          <a:p>
            <a:r>
              <a:rPr lang="en-US" dirty="0"/>
              <a:t>Total Head Moves  = 130 + 169 + 23 = 322</a:t>
            </a:r>
          </a:p>
        </p:txBody>
      </p:sp>
      <p:sp>
        <p:nvSpPr>
          <p:cNvPr id="8" name="TextBox 7">
            <a:extLst>
              <a:ext uri="{FF2B5EF4-FFF2-40B4-BE49-F238E27FC236}">
                <a16:creationId xmlns:a16="http://schemas.microsoft.com/office/drawing/2014/main" id="{AB26D8FE-EC6E-D343-9DC3-D7F4949C426E}"/>
              </a:ext>
            </a:extLst>
          </p:cNvPr>
          <p:cNvSpPr txBox="1"/>
          <p:nvPr/>
        </p:nvSpPr>
        <p:spPr>
          <a:xfrm>
            <a:off x="1875709" y="5412899"/>
            <a:ext cx="1215397" cy="369332"/>
          </a:xfrm>
          <a:prstGeom prst="rect">
            <a:avLst/>
          </a:prstGeom>
          <a:noFill/>
        </p:spPr>
        <p:txBody>
          <a:bodyPr wrap="none" rtlCol="0">
            <a:spAutoFit/>
          </a:bodyPr>
          <a:lstStyle/>
          <a:p>
            <a:r>
              <a:rPr lang="en-US" dirty="0"/>
              <a:t>23 = 37-14</a:t>
            </a:r>
          </a:p>
        </p:txBody>
      </p:sp>
    </p:spTree>
    <p:extLst>
      <p:ext uri="{BB962C8B-B14F-4D97-AF65-F5344CB8AC3E}">
        <p14:creationId xmlns:p14="http://schemas.microsoft.com/office/powerpoint/2010/main" val="3112661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F90CF04D-1EAF-A146-B3B4-CB06CE48D31E}"/>
              </a:ext>
            </a:extLst>
          </p:cNvPr>
          <p:cNvSpPr>
            <a:spLocks noGrp="1" noChangeArrowheads="1"/>
          </p:cNvSpPr>
          <p:nvPr>
            <p:ph type="title"/>
          </p:nvPr>
        </p:nvSpPr>
        <p:spPr>
          <a:xfrm>
            <a:off x="1276350" y="150813"/>
            <a:ext cx="7712075" cy="576262"/>
          </a:xfrm>
        </p:spPr>
        <p:txBody>
          <a:bodyPr/>
          <a:lstStyle/>
          <a:p>
            <a:pPr eaLnBrk="1" hangingPunct="1"/>
            <a:r>
              <a:rPr lang="en-US" altLang="en-US" sz="3000" dirty="0">
                <a:solidFill>
                  <a:schemeClr val="tx1">
                    <a:lumMod val="50000"/>
                    <a:lumOff val="50000"/>
                  </a:schemeClr>
                </a:solidFill>
              </a:rPr>
              <a:t>Selecting a Disk-Scheduling Algorithm</a:t>
            </a:r>
          </a:p>
        </p:txBody>
      </p:sp>
      <p:sp>
        <p:nvSpPr>
          <p:cNvPr id="30723" name="Rectangle 3">
            <a:extLst>
              <a:ext uri="{FF2B5EF4-FFF2-40B4-BE49-F238E27FC236}">
                <a16:creationId xmlns:a16="http://schemas.microsoft.com/office/drawing/2014/main" id="{B1570470-73CD-2449-98D8-AD2844C1DA8C}"/>
              </a:ext>
            </a:extLst>
          </p:cNvPr>
          <p:cNvSpPr>
            <a:spLocks noGrp="1" noChangeArrowheads="1"/>
          </p:cNvSpPr>
          <p:nvPr>
            <p:ph type="body" idx="1"/>
          </p:nvPr>
        </p:nvSpPr>
        <p:spPr>
          <a:xfrm>
            <a:off x="844550" y="1081088"/>
            <a:ext cx="7092950" cy="4530725"/>
          </a:xfrm>
        </p:spPr>
        <p:txBody>
          <a:bodyPr/>
          <a:lstStyle/>
          <a:p>
            <a:r>
              <a:rPr lang="en-US" altLang="en-US" sz="1600" dirty="0"/>
              <a:t>SSTF is common and has a natural appeal</a:t>
            </a:r>
          </a:p>
          <a:p>
            <a:r>
              <a:rPr lang="en-US" altLang="en-US" sz="1600" dirty="0"/>
              <a:t>SCAN and C-SCAN perform better for systems that place a heavy load on the disk</a:t>
            </a:r>
          </a:p>
          <a:p>
            <a:pPr lvl="1"/>
            <a:r>
              <a:rPr lang="en-US" altLang="en-US" sz="1600" dirty="0"/>
              <a:t>Less starvation</a:t>
            </a:r>
          </a:p>
          <a:p>
            <a:r>
              <a:rPr lang="en-US" altLang="en-US" sz="1600" dirty="0"/>
              <a:t>Performance depends on the number and types of requests</a:t>
            </a:r>
          </a:p>
          <a:p>
            <a:r>
              <a:rPr lang="en-US" altLang="en-US" sz="1600" dirty="0"/>
              <a:t>Requests for disk service can be influenced by the file-allocation method</a:t>
            </a:r>
          </a:p>
          <a:p>
            <a:pPr lvl="1"/>
            <a:r>
              <a:rPr lang="en-US" altLang="en-US" sz="1600" dirty="0"/>
              <a:t>And metadata layout</a:t>
            </a:r>
          </a:p>
          <a:p>
            <a:r>
              <a:rPr lang="en-US" altLang="en-US" sz="1600" dirty="0"/>
              <a:t>The disk-scheduling algorithm should be written as a separate module of the operating system, allowing it to be replaced with a different algorithm if necessary</a:t>
            </a:r>
          </a:p>
          <a:p>
            <a:r>
              <a:rPr lang="en-US" altLang="en-US" sz="1600" dirty="0"/>
              <a:t>Either SSTF or LOOK is a reasonable choice for the default algorithm</a:t>
            </a:r>
          </a:p>
          <a:p>
            <a:r>
              <a:rPr lang="en-US" altLang="en-US" sz="1600" dirty="0"/>
              <a:t>What about rotational latency?</a:t>
            </a:r>
          </a:p>
          <a:p>
            <a:pPr lvl="1"/>
            <a:r>
              <a:rPr lang="en-US" altLang="en-US" sz="1600" dirty="0"/>
              <a:t>Difficult for OS to calculate</a:t>
            </a:r>
          </a:p>
          <a:p>
            <a:r>
              <a:rPr lang="en-US" altLang="en-US" sz="1600" dirty="0"/>
              <a:t>How does disk-based queueing effect OS queue ordering efforts?</a:t>
            </a:r>
          </a:p>
          <a:p>
            <a:endParaRPr lang="en-US" altLang="en-US" dirty="0"/>
          </a:p>
        </p:txBody>
      </p:sp>
    </p:spTree>
    <p:extLst>
      <p:ext uri="{BB962C8B-B14F-4D97-AF65-F5344CB8AC3E}">
        <p14:creationId xmlns:p14="http://schemas.microsoft.com/office/powerpoint/2010/main" val="1772563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72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72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2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72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7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How to allocate blocks for a file?</a:t>
            </a:r>
          </a:p>
          <a:p>
            <a:r>
              <a:rPr lang="en-US" dirty="0">
                <a:solidFill>
                  <a:schemeClr val="tx1">
                    <a:lumMod val="50000"/>
                    <a:lumOff val="50000"/>
                  </a:schemeClr>
                </a:solidFill>
              </a:rPr>
              <a:t>Allocation Methods</a:t>
            </a:r>
          </a:p>
          <a:p>
            <a:pPr lvl="1"/>
            <a:r>
              <a:rPr lang="en-US" dirty="0">
                <a:solidFill>
                  <a:srgbClr val="FF00FF"/>
                </a:solidFill>
              </a:rPr>
              <a:t>Contiguous allocation</a:t>
            </a:r>
          </a:p>
          <a:p>
            <a:pPr lvl="1"/>
            <a:r>
              <a:rPr lang="en-US" dirty="0">
                <a:solidFill>
                  <a:srgbClr val="FF00FF"/>
                </a:solidFill>
              </a:rPr>
              <a:t>Linked allocation</a:t>
            </a:r>
          </a:p>
          <a:p>
            <a:pPr lvl="2"/>
            <a:r>
              <a:rPr lang="en-US" dirty="0">
                <a:solidFill>
                  <a:srgbClr val="FF00FF"/>
                </a:solidFill>
              </a:rPr>
              <a:t>File Allocation Table (FAT)</a:t>
            </a:r>
          </a:p>
          <a:p>
            <a:pPr lvl="1"/>
            <a:r>
              <a:rPr lang="en-US" dirty="0">
                <a:solidFill>
                  <a:schemeClr val="tx1">
                    <a:lumMod val="50000"/>
                    <a:lumOff val="50000"/>
                  </a:schemeClr>
                </a:solidFill>
              </a:rPr>
              <a:t>Indexed allocation</a:t>
            </a:r>
          </a:p>
          <a:p>
            <a:pPr lvl="1"/>
            <a:r>
              <a:rPr lang="en-US" dirty="0">
                <a:solidFill>
                  <a:schemeClr val="tx1">
                    <a:lumMod val="50000"/>
                    <a:lumOff val="50000"/>
                  </a:schemeClr>
                </a:solidFill>
              </a:rPr>
              <a:t>Combined (indexed) scheme: Unix file system</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r>
              <a:rPr lang="en-US" dirty="0">
                <a:solidFill>
                  <a:srgbClr val="0000FF"/>
                </a:solidFill>
              </a:rPr>
              <a:t>Read “Allocation Methods” 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Allocation Methods</a:t>
            </a:r>
          </a:p>
        </p:txBody>
      </p:sp>
    </p:spTree>
    <p:extLst>
      <p:ext uri="{BB962C8B-B14F-4D97-AF65-F5344CB8AC3E}">
        <p14:creationId xmlns:p14="http://schemas.microsoft.com/office/powerpoint/2010/main" val="240059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9347668C-FC50-8349-955E-6C5D62E2BEEF}"/>
              </a:ext>
            </a:extLst>
          </p:cNvPr>
          <p:cNvSpPr>
            <a:spLocks noGrp="1" noChangeArrowheads="1"/>
          </p:cNvSpPr>
          <p:nvPr>
            <p:ph type="title"/>
          </p:nvPr>
        </p:nvSpPr>
        <p:spPr>
          <a:xfrm>
            <a:off x="1144588" y="198438"/>
            <a:ext cx="7731125" cy="576262"/>
          </a:xfrm>
        </p:spPr>
        <p:txBody>
          <a:bodyPr/>
          <a:lstStyle/>
          <a:p>
            <a:pPr eaLnBrk="1" hangingPunct="1"/>
            <a:r>
              <a:rPr lang="en-US" altLang="en-US" dirty="0">
                <a:solidFill>
                  <a:schemeClr val="tx1">
                    <a:lumMod val="50000"/>
                    <a:lumOff val="50000"/>
                  </a:schemeClr>
                </a:solidFill>
              </a:rPr>
              <a:t>Allocation Methods - Contiguous</a:t>
            </a:r>
          </a:p>
        </p:txBody>
      </p:sp>
      <p:sp>
        <p:nvSpPr>
          <p:cNvPr id="34818" name="Rectangle 3">
            <a:extLst>
              <a:ext uri="{FF2B5EF4-FFF2-40B4-BE49-F238E27FC236}">
                <a16:creationId xmlns:a16="http://schemas.microsoft.com/office/drawing/2014/main" id="{572A4EB7-4993-084A-9A8E-BCF38A8D2FD7}"/>
              </a:ext>
            </a:extLst>
          </p:cNvPr>
          <p:cNvSpPr>
            <a:spLocks noGrp="1" noChangeArrowheads="1"/>
          </p:cNvSpPr>
          <p:nvPr>
            <p:ph type="body" idx="1"/>
          </p:nvPr>
        </p:nvSpPr>
        <p:spPr>
          <a:xfrm>
            <a:off x="917575" y="1233488"/>
            <a:ext cx="7075488" cy="4530725"/>
          </a:xfrm>
        </p:spPr>
        <p:txBody>
          <a:bodyPr/>
          <a:lstStyle/>
          <a:p>
            <a:r>
              <a:rPr lang="en-US" altLang="en-US" dirty="0"/>
              <a:t>An allocation method refers to how disk blocks are allocated for files:</a:t>
            </a:r>
          </a:p>
          <a:p>
            <a:r>
              <a:rPr lang="en-US" altLang="en-US" b="1" dirty="0">
                <a:solidFill>
                  <a:srgbClr val="3366FF"/>
                </a:solidFill>
              </a:rPr>
              <a:t>Contiguous allocation </a:t>
            </a:r>
            <a:r>
              <a:rPr lang="en-US" altLang="en-US" dirty="0">
                <a:solidFill>
                  <a:srgbClr val="000000"/>
                </a:solidFill>
              </a:rPr>
              <a:t>– </a:t>
            </a:r>
            <a:r>
              <a:rPr lang="en-US" altLang="en-US" dirty="0"/>
              <a:t>each file occupies set of contiguous blocks</a:t>
            </a:r>
          </a:p>
          <a:p>
            <a:pPr lvl="1"/>
            <a:r>
              <a:rPr lang="en-US" altLang="en-US" dirty="0"/>
              <a:t>Best performance in most cases</a:t>
            </a:r>
          </a:p>
          <a:p>
            <a:pPr lvl="1"/>
            <a:r>
              <a:rPr lang="en-US" altLang="en-US" dirty="0"/>
              <a:t>Simple – only starting location (block #) and length (number of blocks) are required</a:t>
            </a:r>
          </a:p>
          <a:p>
            <a:pPr lvl="1"/>
            <a:r>
              <a:rPr lang="en-US" altLang="en-US" dirty="0"/>
              <a:t>Problems include finding space for file, knowing file size, </a:t>
            </a:r>
            <a:r>
              <a:rPr lang="en-US" altLang="en-US" b="1" dirty="0">
                <a:solidFill>
                  <a:srgbClr val="0070C0"/>
                </a:solidFill>
              </a:rPr>
              <a:t>external</a:t>
            </a:r>
            <a:r>
              <a:rPr lang="en-US" altLang="en-US" dirty="0"/>
              <a:t> fragmentation, need for </a:t>
            </a:r>
            <a:r>
              <a:rPr lang="en-US" altLang="en-US" b="1" dirty="0">
                <a:solidFill>
                  <a:srgbClr val="3366FF"/>
                </a:solidFill>
              </a:rPr>
              <a:t>compaction off-line</a:t>
            </a:r>
            <a:r>
              <a:rPr lang="en-US" altLang="en-US" dirty="0"/>
              <a:t> (</a:t>
            </a:r>
            <a:r>
              <a:rPr lang="en-US" altLang="en-US" b="1" dirty="0">
                <a:solidFill>
                  <a:srgbClr val="3366FF"/>
                </a:solidFill>
              </a:rPr>
              <a:t>downtime</a:t>
            </a:r>
            <a:r>
              <a:rPr lang="en-US" altLang="en-US" dirty="0"/>
              <a:t>) or </a:t>
            </a:r>
            <a:r>
              <a:rPr lang="en-US" altLang="en-US" b="1" dirty="0">
                <a:solidFill>
                  <a:srgbClr val="3366FF"/>
                </a:solidFill>
              </a:rPr>
              <a:t>on-line</a:t>
            </a:r>
          </a:p>
          <a:p>
            <a:pPr lvl="1"/>
            <a:r>
              <a:rPr lang="en-US" altLang="en-US" dirty="0">
                <a:solidFill>
                  <a:srgbClr val="00B0F0"/>
                </a:solidFill>
              </a:rPr>
              <a:t>Is this allocation method good for sequential and random access?</a:t>
            </a:r>
            <a:endParaRPr lang="en-US" altLang="en-US" b="1" dirty="0">
              <a:solidFill>
                <a:srgbClr val="3366FF"/>
              </a:solidFill>
            </a:endParaRPr>
          </a:p>
          <a:p>
            <a:endParaRPr lang="en-US" altLang="en-US" dirty="0"/>
          </a:p>
        </p:txBody>
      </p:sp>
    </p:spTree>
    <p:extLst>
      <p:ext uri="{BB962C8B-B14F-4D97-AF65-F5344CB8AC3E}">
        <p14:creationId xmlns:p14="http://schemas.microsoft.com/office/powerpoint/2010/main" val="3691652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8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81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81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81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8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uild="p" bldLvl="2"/>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2334AEEB-F9EA-4344-B547-DB32C982BB56}"/>
              </a:ext>
            </a:extLst>
          </p:cNvPr>
          <p:cNvSpPr>
            <a:spLocks noGrp="1" noChangeArrowheads="1"/>
          </p:cNvSpPr>
          <p:nvPr>
            <p:ph type="title"/>
          </p:nvPr>
        </p:nvSpPr>
        <p:spPr>
          <a:xfrm>
            <a:off x="473075" y="198438"/>
            <a:ext cx="8229600" cy="576262"/>
          </a:xfrm>
        </p:spPr>
        <p:txBody>
          <a:bodyPr/>
          <a:lstStyle/>
          <a:p>
            <a:pPr eaLnBrk="1" hangingPunct="1"/>
            <a:r>
              <a:rPr lang="en-US" altLang="en-US" dirty="0">
                <a:solidFill>
                  <a:schemeClr val="tx1">
                    <a:lumMod val="50000"/>
                    <a:lumOff val="50000"/>
                  </a:schemeClr>
                </a:solidFill>
              </a:rPr>
              <a:t>Contiguous Allocation</a:t>
            </a:r>
          </a:p>
        </p:txBody>
      </p:sp>
      <p:sp>
        <p:nvSpPr>
          <p:cNvPr id="36866" name="Rectangle 3">
            <a:extLst>
              <a:ext uri="{FF2B5EF4-FFF2-40B4-BE49-F238E27FC236}">
                <a16:creationId xmlns:a16="http://schemas.microsoft.com/office/drawing/2014/main" id="{629B6C6E-A6DE-2A4B-9202-1E95034F7AB5}"/>
              </a:ext>
            </a:extLst>
          </p:cNvPr>
          <p:cNvSpPr>
            <a:spLocks noGrp="1" noChangeArrowheads="1"/>
          </p:cNvSpPr>
          <p:nvPr>
            <p:ph type="body" idx="1"/>
          </p:nvPr>
        </p:nvSpPr>
        <p:spPr>
          <a:xfrm>
            <a:off x="806450" y="1233488"/>
            <a:ext cx="6508750" cy="3575050"/>
          </a:xfrm>
        </p:spPr>
        <p:txBody>
          <a:bodyPr/>
          <a:lstStyle/>
          <a:p>
            <a:r>
              <a:rPr lang="en-US" altLang="en-US" dirty="0">
                <a:solidFill>
                  <a:srgbClr val="00B0F0"/>
                </a:solidFill>
              </a:rPr>
              <a:t>Mapping from logical to physical (LA is Logical Address)</a:t>
            </a:r>
          </a:p>
        </p:txBody>
      </p:sp>
      <p:grpSp>
        <p:nvGrpSpPr>
          <p:cNvPr id="36867" name="Group 1">
            <a:extLst>
              <a:ext uri="{FF2B5EF4-FFF2-40B4-BE49-F238E27FC236}">
                <a16:creationId xmlns:a16="http://schemas.microsoft.com/office/drawing/2014/main" id="{EEFFF624-AA6D-E54D-81DE-D701511503C9}"/>
              </a:ext>
            </a:extLst>
          </p:cNvPr>
          <p:cNvGrpSpPr>
            <a:grpSpLocks/>
          </p:cNvGrpSpPr>
          <p:nvPr/>
        </p:nvGrpSpPr>
        <p:grpSpPr bwMode="auto">
          <a:xfrm>
            <a:off x="1176223" y="2226443"/>
            <a:ext cx="3223951" cy="1268953"/>
            <a:chOff x="2655888" y="2243906"/>
            <a:chExt cx="3223951" cy="1268953"/>
          </a:xfrm>
        </p:grpSpPr>
        <p:sp>
          <p:nvSpPr>
            <p:cNvPr id="36870" name="Text Box 4">
              <a:extLst>
                <a:ext uri="{FF2B5EF4-FFF2-40B4-BE49-F238E27FC236}">
                  <a16:creationId xmlns:a16="http://schemas.microsoft.com/office/drawing/2014/main" id="{D32CC7F7-F060-B049-93E1-26150CD6B590}"/>
                </a:ext>
              </a:extLst>
            </p:cNvPr>
            <p:cNvSpPr txBox="1">
              <a:spLocks noChangeArrowheads="1"/>
            </p:cNvSpPr>
            <p:nvPr/>
          </p:nvSpPr>
          <p:spPr bwMode="auto">
            <a:xfrm>
              <a:off x="2655888" y="2584450"/>
              <a:ext cx="1265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LA/512</a:t>
              </a:r>
            </a:p>
          </p:txBody>
        </p:sp>
        <p:sp>
          <p:nvSpPr>
            <p:cNvPr id="36871" name="Text Box 5">
              <a:extLst>
                <a:ext uri="{FF2B5EF4-FFF2-40B4-BE49-F238E27FC236}">
                  <a16:creationId xmlns:a16="http://schemas.microsoft.com/office/drawing/2014/main" id="{7205DB03-EAAF-4948-81F7-258B394F21B2}"/>
                </a:ext>
              </a:extLst>
            </p:cNvPr>
            <p:cNvSpPr txBox="1">
              <a:spLocks noChangeArrowheads="1"/>
            </p:cNvSpPr>
            <p:nvPr/>
          </p:nvSpPr>
          <p:spPr bwMode="auto">
            <a:xfrm>
              <a:off x="3768725" y="2243906"/>
              <a:ext cx="1817427" cy="3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Q (quotient</a:t>
              </a:r>
            </a:p>
          </p:txBody>
        </p:sp>
        <p:sp>
          <p:nvSpPr>
            <p:cNvPr id="36872" name="Text Box 6">
              <a:extLst>
                <a:ext uri="{FF2B5EF4-FFF2-40B4-BE49-F238E27FC236}">
                  <a16:creationId xmlns:a16="http://schemas.microsoft.com/office/drawing/2014/main" id="{9D37D3BC-9A2E-214B-BC91-620B6A0BDB6B}"/>
                </a:ext>
              </a:extLst>
            </p:cNvPr>
            <p:cNvSpPr txBox="1">
              <a:spLocks noChangeArrowheads="1"/>
            </p:cNvSpPr>
            <p:nvPr/>
          </p:nvSpPr>
          <p:spPr bwMode="auto">
            <a:xfrm>
              <a:off x="3825875" y="3143531"/>
              <a:ext cx="2053964" cy="3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R (remainder)</a:t>
              </a:r>
            </a:p>
          </p:txBody>
        </p:sp>
        <p:sp>
          <p:nvSpPr>
            <p:cNvPr id="36873" name="Line 7">
              <a:extLst>
                <a:ext uri="{FF2B5EF4-FFF2-40B4-BE49-F238E27FC236}">
                  <a16:creationId xmlns:a16="http://schemas.microsoft.com/office/drawing/2014/main" id="{F83E4900-57FC-BC4F-B1C0-43B9FFF008A6}"/>
                </a:ext>
              </a:extLst>
            </p:cNvPr>
            <p:cNvSpPr>
              <a:spLocks noChangeShapeType="1"/>
            </p:cNvSpPr>
            <p:nvPr/>
          </p:nvSpPr>
          <p:spPr bwMode="auto">
            <a:xfrm flipV="1">
              <a:off x="3675327" y="2437022"/>
              <a:ext cx="309298"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sp>
          <p:nvSpPr>
            <p:cNvPr id="36874" name="Line 8">
              <a:extLst>
                <a:ext uri="{FF2B5EF4-FFF2-40B4-BE49-F238E27FC236}">
                  <a16:creationId xmlns:a16="http://schemas.microsoft.com/office/drawing/2014/main" id="{9E00044B-9681-634B-A483-25C4E1B38FED}"/>
                </a:ext>
              </a:extLst>
            </p:cNvPr>
            <p:cNvSpPr>
              <a:spLocks noChangeShapeType="1"/>
            </p:cNvSpPr>
            <p:nvPr/>
          </p:nvSpPr>
          <p:spPr bwMode="auto">
            <a:xfrm>
              <a:off x="3711575" y="2954338"/>
              <a:ext cx="27305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grpSp>
      <p:sp>
        <p:nvSpPr>
          <p:cNvPr id="36868" name="Rectangle 10">
            <a:extLst>
              <a:ext uri="{FF2B5EF4-FFF2-40B4-BE49-F238E27FC236}">
                <a16:creationId xmlns:a16="http://schemas.microsoft.com/office/drawing/2014/main" id="{085D9FB9-45EB-8142-8F53-0B3DD04E12C1}"/>
              </a:ext>
            </a:extLst>
          </p:cNvPr>
          <p:cNvSpPr>
            <a:spLocks noChangeArrowheads="1"/>
          </p:cNvSpPr>
          <p:nvPr/>
        </p:nvSpPr>
        <p:spPr bwMode="auto">
          <a:xfrm>
            <a:off x="599583" y="5139335"/>
            <a:ext cx="7231005"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342900" indent="-342900">
              <a:defRPr sz="2400">
                <a:solidFill>
                  <a:schemeClr val="tx1"/>
                </a:solidFill>
                <a:latin typeface="Verdana" panose="020B0604030504040204" pitchFamily="34" charset="0"/>
                <a:ea typeface="MS PGothic" panose="020B0600070205080204" pitchFamily="34" charset="-128"/>
              </a:defRPr>
            </a:lvl1pPr>
            <a:lvl2pPr>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lvl="1" eaLnBrk="1" hangingPunct="1"/>
            <a:r>
              <a:rPr lang="en-US" altLang="en-US" sz="1800" dirty="0">
                <a:solidFill>
                  <a:schemeClr val="tx1">
                    <a:lumMod val="50000"/>
                    <a:lumOff val="50000"/>
                  </a:schemeClr>
                </a:solidFill>
                <a:latin typeface="Helvetica" pitchFamily="2" charset="0"/>
              </a:rPr>
              <a:t>Block to be accessed = Q + starting address</a:t>
            </a:r>
          </a:p>
          <a:p>
            <a:pPr lvl="1" eaLnBrk="1" hangingPunct="1"/>
            <a:r>
              <a:rPr lang="en-US" altLang="en-US" sz="1800" dirty="0">
                <a:solidFill>
                  <a:schemeClr val="tx1">
                    <a:lumMod val="50000"/>
                    <a:lumOff val="50000"/>
                  </a:schemeClr>
                </a:solidFill>
                <a:latin typeface="Helvetica" pitchFamily="2" charset="0"/>
              </a:rPr>
              <a:t>Displacement into block = R</a:t>
            </a:r>
          </a:p>
        </p:txBody>
      </p:sp>
      <p:pic>
        <p:nvPicPr>
          <p:cNvPr id="36869" name="Picture 5" descr="A diagram of a cylinder with the number of the cylinder">
            <a:extLst>
              <a:ext uri="{FF2B5EF4-FFF2-40B4-BE49-F238E27FC236}">
                <a16:creationId xmlns:a16="http://schemas.microsoft.com/office/drawing/2014/main" id="{0DD5E89B-1BFA-764C-8790-22038BD58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75225" y="1624013"/>
            <a:ext cx="3576638" cy="324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2081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7D33CD2A-FFC0-7540-BFF4-A5F5997C834B}"/>
              </a:ext>
            </a:extLst>
          </p:cNvPr>
          <p:cNvSpPr>
            <a:spLocks noGrp="1" noChangeArrowheads="1"/>
          </p:cNvSpPr>
          <p:nvPr>
            <p:ph type="title"/>
          </p:nvPr>
        </p:nvSpPr>
        <p:spPr>
          <a:xfrm>
            <a:off x="942975" y="198438"/>
            <a:ext cx="7743825" cy="576262"/>
          </a:xfrm>
        </p:spPr>
        <p:txBody>
          <a:bodyPr/>
          <a:lstStyle/>
          <a:p>
            <a:pPr eaLnBrk="1" hangingPunct="1"/>
            <a:r>
              <a:rPr lang="en-US" altLang="en-US" dirty="0">
                <a:solidFill>
                  <a:schemeClr val="tx1">
                    <a:lumMod val="50000"/>
                    <a:lumOff val="50000"/>
                  </a:schemeClr>
                </a:solidFill>
              </a:rPr>
              <a:t>Extent-Based Systems</a:t>
            </a:r>
          </a:p>
        </p:txBody>
      </p:sp>
      <p:sp>
        <p:nvSpPr>
          <p:cNvPr id="38914" name="Rectangle 3">
            <a:extLst>
              <a:ext uri="{FF2B5EF4-FFF2-40B4-BE49-F238E27FC236}">
                <a16:creationId xmlns:a16="http://schemas.microsoft.com/office/drawing/2014/main" id="{88913F6B-C38B-5C42-8ADA-E31DEBCA85D4}"/>
              </a:ext>
            </a:extLst>
          </p:cNvPr>
          <p:cNvSpPr>
            <a:spLocks noGrp="1" noChangeArrowheads="1"/>
          </p:cNvSpPr>
          <p:nvPr>
            <p:ph type="body" idx="1"/>
          </p:nvPr>
        </p:nvSpPr>
        <p:spPr>
          <a:xfrm>
            <a:off x="885825" y="1233488"/>
            <a:ext cx="6965950" cy="4530725"/>
          </a:xfrm>
        </p:spPr>
        <p:txBody>
          <a:bodyPr/>
          <a:lstStyle/>
          <a:p>
            <a:r>
              <a:rPr lang="en-US" altLang="en-US" dirty="0"/>
              <a:t>Many newer file systems (i.e., Veritas File System) use a modified contiguous allocation scheme</a:t>
            </a:r>
          </a:p>
          <a:p>
            <a:endParaRPr lang="en-US" altLang="en-US" dirty="0"/>
          </a:p>
          <a:p>
            <a:r>
              <a:rPr lang="en-US" altLang="en-US" dirty="0"/>
              <a:t>Extent-based file systems allocate disk blocks in extents</a:t>
            </a:r>
          </a:p>
          <a:p>
            <a:endParaRPr lang="en-US" altLang="en-US" dirty="0"/>
          </a:p>
          <a:p>
            <a:r>
              <a:rPr lang="en-US" altLang="en-US" dirty="0"/>
              <a:t>An </a:t>
            </a:r>
            <a:r>
              <a:rPr lang="en-US" altLang="en-US" b="1" dirty="0">
                <a:solidFill>
                  <a:srgbClr val="3366FF"/>
                </a:solidFill>
              </a:rPr>
              <a:t>extent</a:t>
            </a:r>
            <a:r>
              <a:rPr lang="en-US" altLang="en-US" dirty="0">
                <a:solidFill>
                  <a:srgbClr val="3366FF"/>
                </a:solidFill>
              </a:rPr>
              <a:t> </a:t>
            </a:r>
            <a:r>
              <a:rPr lang="en-US" altLang="en-US" dirty="0"/>
              <a:t>is a contiguous block of disks</a:t>
            </a:r>
          </a:p>
          <a:p>
            <a:pPr lvl="1"/>
            <a:r>
              <a:rPr lang="en-US" altLang="en-US" dirty="0"/>
              <a:t>Extents are allocated for file allocation</a:t>
            </a:r>
          </a:p>
          <a:p>
            <a:pPr lvl="1"/>
            <a:r>
              <a:rPr lang="en-US" altLang="en-US" dirty="0"/>
              <a:t>A file consists of one or more extents</a:t>
            </a:r>
          </a:p>
        </p:txBody>
      </p:sp>
    </p:spTree>
    <p:extLst>
      <p:ext uri="{BB962C8B-B14F-4D97-AF65-F5344CB8AC3E}">
        <p14:creationId xmlns:p14="http://schemas.microsoft.com/office/powerpoint/2010/main" val="746613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9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9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E186033C-64F9-CC47-A240-36654144F1AF}"/>
              </a:ext>
            </a:extLst>
          </p:cNvPr>
          <p:cNvSpPr>
            <a:spLocks noGrp="1"/>
          </p:cNvSpPr>
          <p:nvPr>
            <p:ph type="title"/>
          </p:nvPr>
        </p:nvSpPr>
        <p:spPr>
          <a:xfrm>
            <a:off x="457200" y="182563"/>
            <a:ext cx="8229600" cy="576262"/>
          </a:xfrm>
        </p:spPr>
        <p:txBody>
          <a:bodyPr/>
          <a:lstStyle/>
          <a:p>
            <a:r>
              <a:rPr lang="en-US" altLang="en-US" dirty="0">
                <a:solidFill>
                  <a:schemeClr val="tx1">
                    <a:lumMod val="50000"/>
                    <a:lumOff val="50000"/>
                  </a:schemeClr>
                </a:solidFill>
              </a:rPr>
              <a:t>Allocation Methods - Linked</a:t>
            </a:r>
          </a:p>
        </p:txBody>
      </p:sp>
      <p:sp>
        <p:nvSpPr>
          <p:cNvPr id="40962" name="Content Placeholder 2">
            <a:extLst>
              <a:ext uri="{FF2B5EF4-FFF2-40B4-BE49-F238E27FC236}">
                <a16:creationId xmlns:a16="http://schemas.microsoft.com/office/drawing/2014/main" id="{79F89354-B618-E24B-AD56-A0B0FA870992}"/>
              </a:ext>
            </a:extLst>
          </p:cNvPr>
          <p:cNvSpPr>
            <a:spLocks noGrp="1"/>
          </p:cNvSpPr>
          <p:nvPr>
            <p:ph idx="1"/>
          </p:nvPr>
        </p:nvSpPr>
        <p:spPr>
          <a:xfrm>
            <a:off x="838200" y="1060450"/>
            <a:ext cx="7265988" cy="4530725"/>
          </a:xfrm>
        </p:spPr>
        <p:txBody>
          <a:bodyPr/>
          <a:lstStyle/>
          <a:p>
            <a:r>
              <a:rPr lang="en-US" altLang="en-US" b="1" dirty="0">
                <a:solidFill>
                  <a:schemeClr val="tx1">
                    <a:lumMod val="50000"/>
                    <a:lumOff val="50000"/>
                  </a:schemeClr>
                </a:solidFill>
              </a:rPr>
              <a:t>Linked allocation </a:t>
            </a:r>
            <a:r>
              <a:rPr lang="en-US" altLang="en-US" dirty="0">
                <a:solidFill>
                  <a:schemeClr val="tx1">
                    <a:lumMod val="50000"/>
                    <a:lumOff val="50000"/>
                  </a:schemeClr>
                </a:solidFill>
              </a:rPr>
              <a:t>– each file a linked list of blocks</a:t>
            </a:r>
          </a:p>
          <a:p>
            <a:pPr lvl="1"/>
            <a:r>
              <a:rPr lang="en-US" altLang="en-US" dirty="0">
                <a:solidFill>
                  <a:schemeClr val="tx1">
                    <a:lumMod val="50000"/>
                    <a:lumOff val="50000"/>
                  </a:schemeClr>
                </a:solidFill>
              </a:rPr>
              <a:t>File ends at nil pointer</a:t>
            </a:r>
          </a:p>
          <a:p>
            <a:pPr lvl="1"/>
            <a:r>
              <a:rPr lang="en-US" altLang="en-US" dirty="0">
                <a:solidFill>
                  <a:schemeClr val="tx1">
                    <a:lumMod val="50000"/>
                    <a:lumOff val="50000"/>
                  </a:schemeClr>
                </a:solidFill>
              </a:rPr>
              <a:t>No external fragmentation</a:t>
            </a:r>
          </a:p>
          <a:p>
            <a:pPr lvl="1"/>
            <a:r>
              <a:rPr lang="en-US" altLang="en-US" dirty="0">
                <a:solidFill>
                  <a:schemeClr val="tx1">
                    <a:lumMod val="50000"/>
                    <a:lumOff val="50000"/>
                  </a:schemeClr>
                </a:solidFill>
              </a:rPr>
              <a:t>Each block contains pointer to next block</a:t>
            </a:r>
          </a:p>
          <a:p>
            <a:pPr lvl="1"/>
            <a:r>
              <a:rPr lang="en-US" altLang="en-US" dirty="0">
                <a:solidFill>
                  <a:schemeClr val="tx1">
                    <a:lumMod val="50000"/>
                    <a:lumOff val="50000"/>
                  </a:schemeClr>
                </a:solidFill>
              </a:rPr>
              <a:t>No compaction, external fragmentation</a:t>
            </a:r>
          </a:p>
          <a:p>
            <a:pPr lvl="1"/>
            <a:r>
              <a:rPr lang="en-US" altLang="en-US" dirty="0">
                <a:solidFill>
                  <a:schemeClr val="tx1">
                    <a:lumMod val="50000"/>
                    <a:lumOff val="50000"/>
                  </a:schemeClr>
                </a:solidFill>
              </a:rPr>
              <a:t>Improve efficiency by clustering blocks into groups but increases internal fragmentation</a:t>
            </a:r>
          </a:p>
          <a:p>
            <a:pPr lvl="1"/>
            <a:r>
              <a:rPr lang="en-US" altLang="en-US" dirty="0">
                <a:solidFill>
                  <a:schemeClr val="tx1">
                    <a:lumMod val="50000"/>
                    <a:lumOff val="50000"/>
                  </a:schemeClr>
                </a:solidFill>
              </a:rPr>
              <a:t>Reliability can be a problem</a:t>
            </a:r>
          </a:p>
          <a:p>
            <a:pPr lvl="1"/>
            <a:r>
              <a:rPr lang="en-US" altLang="en-US" dirty="0">
                <a:solidFill>
                  <a:schemeClr val="tx1">
                    <a:lumMod val="50000"/>
                    <a:lumOff val="50000"/>
                  </a:schemeClr>
                </a:solidFill>
              </a:rPr>
              <a:t>Locating a block can take many I/</a:t>
            </a:r>
            <a:r>
              <a:rPr lang="en-US" altLang="en-US" dirty="0" err="1">
                <a:solidFill>
                  <a:schemeClr val="tx1">
                    <a:lumMod val="50000"/>
                    <a:lumOff val="50000"/>
                  </a:schemeClr>
                </a:solidFill>
              </a:rPr>
              <a:t>Os</a:t>
            </a:r>
            <a:r>
              <a:rPr lang="en-US" altLang="en-US" dirty="0">
                <a:solidFill>
                  <a:schemeClr val="tx1">
                    <a:lumMod val="50000"/>
                    <a:lumOff val="50000"/>
                  </a:schemeClr>
                </a:solidFill>
              </a:rPr>
              <a:t> and disk seeks</a:t>
            </a:r>
            <a:endParaRPr lang="en-US" altLang="en-US" dirty="0"/>
          </a:p>
          <a:p>
            <a:pPr lvl="1"/>
            <a:r>
              <a:rPr lang="en-US" altLang="en-US" dirty="0">
                <a:solidFill>
                  <a:srgbClr val="00B0F0"/>
                </a:solidFill>
              </a:rPr>
              <a:t>Is this allocation method good for sequential and random access?</a:t>
            </a:r>
          </a:p>
          <a:p>
            <a:pPr>
              <a:buFont typeface="Monotype Sorts" pitchFamily="2" charset="2"/>
              <a:buNone/>
            </a:pPr>
            <a:endParaRPr lang="en-US" altLang="en-US" dirty="0">
              <a:solidFill>
                <a:schemeClr val="tx1">
                  <a:lumMod val="50000"/>
                  <a:lumOff val="50000"/>
                </a:schemeClr>
              </a:solidFill>
            </a:endParaRPr>
          </a:p>
          <a:p>
            <a:endParaRPr lang="en-US" altLang="en-US" dirty="0">
              <a:solidFill>
                <a:schemeClr val="tx1">
                  <a:lumMod val="50000"/>
                  <a:lumOff val="50000"/>
                </a:schemeClr>
              </a:solidFill>
            </a:endParaRPr>
          </a:p>
        </p:txBody>
      </p:sp>
    </p:spTree>
    <p:extLst>
      <p:ext uri="{BB962C8B-B14F-4D97-AF65-F5344CB8AC3E}">
        <p14:creationId xmlns:p14="http://schemas.microsoft.com/office/powerpoint/2010/main" val="266639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6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96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96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96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96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bldLvl="2"/>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E40087DC-CD8F-DB41-80E7-40E7D07227CD}"/>
              </a:ext>
            </a:extLst>
          </p:cNvPr>
          <p:cNvSpPr>
            <a:spLocks noGrp="1" noChangeArrowheads="1"/>
          </p:cNvSpPr>
          <p:nvPr>
            <p:ph type="title"/>
          </p:nvPr>
        </p:nvSpPr>
        <p:spPr>
          <a:xfrm>
            <a:off x="1041400" y="214313"/>
            <a:ext cx="7645400" cy="576262"/>
          </a:xfrm>
        </p:spPr>
        <p:txBody>
          <a:bodyPr/>
          <a:lstStyle/>
          <a:p>
            <a:pPr eaLnBrk="1" hangingPunct="1"/>
            <a:r>
              <a:rPr lang="en-US" altLang="en-US" dirty="0">
                <a:solidFill>
                  <a:schemeClr val="tx1">
                    <a:lumMod val="50000"/>
                    <a:lumOff val="50000"/>
                  </a:schemeClr>
                </a:solidFill>
              </a:rPr>
              <a:t>Linked Allocation</a:t>
            </a:r>
            <a:endParaRPr lang="en-US" altLang="en-US" sz="2400" dirty="0">
              <a:solidFill>
                <a:schemeClr val="tx1">
                  <a:lumMod val="50000"/>
                  <a:lumOff val="50000"/>
                </a:schemeClr>
              </a:solidFill>
            </a:endParaRPr>
          </a:p>
        </p:txBody>
      </p:sp>
      <p:pic>
        <p:nvPicPr>
          <p:cNvPr id="45058" name="Picture 5" descr="A diagram of a relay with two switches and two switches">
            <a:extLst>
              <a:ext uri="{FF2B5EF4-FFF2-40B4-BE49-F238E27FC236}">
                <a16:creationId xmlns:a16="http://schemas.microsoft.com/office/drawing/2014/main" id="{F81E305D-A54C-CA48-88A9-D78E2FA68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513" y="1308100"/>
            <a:ext cx="4543425"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0596491B-73FE-1641-99F3-81D6BF9627FA}"/>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8568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E02DAF18-03EC-0B4C-8268-E91FF84D8147}"/>
              </a:ext>
            </a:extLst>
          </p:cNvPr>
          <p:cNvSpPr>
            <a:spLocks noGrp="1" noChangeArrowheads="1"/>
          </p:cNvSpPr>
          <p:nvPr>
            <p:ph type="title"/>
          </p:nvPr>
        </p:nvSpPr>
        <p:spPr>
          <a:xfrm>
            <a:off x="671513" y="277813"/>
            <a:ext cx="8015287" cy="576262"/>
          </a:xfrm>
        </p:spPr>
        <p:txBody>
          <a:bodyPr/>
          <a:lstStyle/>
          <a:p>
            <a:pPr eaLnBrk="1" hangingPunct="1"/>
            <a:r>
              <a:rPr lang="en-US" altLang="en-US">
                <a:solidFill>
                  <a:schemeClr val="tx1">
                    <a:lumMod val="50000"/>
                    <a:lumOff val="50000"/>
                  </a:schemeClr>
                </a:solidFill>
              </a:rPr>
              <a:t>Linked Allocation</a:t>
            </a:r>
          </a:p>
        </p:txBody>
      </p:sp>
      <p:sp>
        <p:nvSpPr>
          <p:cNvPr id="43010" name="Rectangle 3">
            <a:extLst>
              <a:ext uri="{FF2B5EF4-FFF2-40B4-BE49-F238E27FC236}">
                <a16:creationId xmlns:a16="http://schemas.microsoft.com/office/drawing/2014/main" id="{83A277E0-1187-9449-97B0-A13A077709C5}"/>
              </a:ext>
            </a:extLst>
          </p:cNvPr>
          <p:cNvSpPr>
            <a:spLocks noGrp="1" noChangeArrowheads="1"/>
          </p:cNvSpPr>
          <p:nvPr>
            <p:ph type="body" idx="1"/>
          </p:nvPr>
        </p:nvSpPr>
        <p:spPr>
          <a:xfrm>
            <a:off x="806450" y="1233488"/>
            <a:ext cx="7577138" cy="749300"/>
          </a:xfrm>
        </p:spPr>
        <p:txBody>
          <a:bodyPr/>
          <a:lstStyle/>
          <a:p>
            <a:r>
              <a:rPr lang="en-US" altLang="en-US">
                <a:solidFill>
                  <a:schemeClr val="tx1">
                    <a:lumMod val="50000"/>
                    <a:lumOff val="50000"/>
                  </a:schemeClr>
                </a:solidFill>
              </a:rPr>
              <a:t>Each file is a linked list of disk blocks: blocks may be scattered anywhere on the disk</a:t>
            </a:r>
          </a:p>
        </p:txBody>
      </p:sp>
      <p:grpSp>
        <p:nvGrpSpPr>
          <p:cNvPr id="43011" name="Group 4">
            <a:extLst>
              <a:ext uri="{FF2B5EF4-FFF2-40B4-BE49-F238E27FC236}">
                <a16:creationId xmlns:a16="http://schemas.microsoft.com/office/drawing/2014/main" id="{6B13A8D6-F37B-5644-BA81-555A20E0A13A}"/>
              </a:ext>
            </a:extLst>
          </p:cNvPr>
          <p:cNvGrpSpPr>
            <a:grpSpLocks/>
          </p:cNvGrpSpPr>
          <p:nvPr/>
        </p:nvGrpSpPr>
        <p:grpSpPr bwMode="auto">
          <a:xfrm>
            <a:off x="2673350" y="1843088"/>
            <a:ext cx="3109913" cy="1500187"/>
            <a:chOff x="1684" y="1576"/>
            <a:chExt cx="1959" cy="945"/>
          </a:xfrm>
        </p:grpSpPr>
        <p:sp>
          <p:nvSpPr>
            <p:cNvPr id="43020" name="Rectangle 5">
              <a:extLst>
                <a:ext uri="{FF2B5EF4-FFF2-40B4-BE49-F238E27FC236}">
                  <a16:creationId xmlns:a16="http://schemas.microsoft.com/office/drawing/2014/main" id="{0D4B9BA1-3709-AD4C-AA35-DCAC3A23C03F}"/>
                </a:ext>
              </a:extLst>
            </p:cNvPr>
            <p:cNvSpPr>
              <a:spLocks noChangeArrowheads="1"/>
            </p:cNvSpPr>
            <p:nvPr/>
          </p:nvSpPr>
          <p:spPr bwMode="auto">
            <a:xfrm>
              <a:off x="2481" y="1576"/>
              <a:ext cx="1162" cy="27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r>
                <a:rPr lang="en-US" altLang="en-US" sz="1800" dirty="0">
                  <a:solidFill>
                    <a:schemeClr val="tx1">
                      <a:lumMod val="50000"/>
                      <a:lumOff val="50000"/>
                    </a:schemeClr>
                  </a:solidFill>
                  <a:latin typeface="Helvetica" pitchFamily="2" charset="0"/>
                </a:rPr>
                <a:t>pointer to next</a:t>
              </a:r>
            </a:p>
          </p:txBody>
        </p:sp>
        <p:sp>
          <p:nvSpPr>
            <p:cNvPr id="43021" name="Rectangle 6">
              <a:extLst>
                <a:ext uri="{FF2B5EF4-FFF2-40B4-BE49-F238E27FC236}">
                  <a16:creationId xmlns:a16="http://schemas.microsoft.com/office/drawing/2014/main" id="{161A877A-10A1-A749-B9A4-BDC802F4911F}"/>
                </a:ext>
              </a:extLst>
            </p:cNvPr>
            <p:cNvSpPr>
              <a:spLocks noChangeArrowheads="1"/>
            </p:cNvSpPr>
            <p:nvPr/>
          </p:nvSpPr>
          <p:spPr bwMode="auto">
            <a:xfrm>
              <a:off x="2481" y="1848"/>
              <a:ext cx="1162" cy="673"/>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r>
                <a:rPr lang="en-US" altLang="en-US" sz="1800" dirty="0">
                  <a:solidFill>
                    <a:schemeClr val="tx1">
                      <a:lumMod val="50000"/>
                      <a:lumOff val="50000"/>
                    </a:schemeClr>
                  </a:solidFill>
                </a:rPr>
                <a:t>Data </a:t>
              </a:r>
              <a:r>
                <a:rPr lang="en-US" altLang="en-US" sz="1400" dirty="0">
                  <a:solidFill>
                    <a:schemeClr val="tx1">
                      <a:lumMod val="50000"/>
                      <a:lumOff val="50000"/>
                    </a:schemeClr>
                  </a:solidFill>
                </a:rPr>
                <a:t>(508 bytes)</a:t>
              </a:r>
            </a:p>
          </p:txBody>
        </p:sp>
        <p:sp>
          <p:nvSpPr>
            <p:cNvPr id="43022" name="Text Box 7">
              <a:extLst>
                <a:ext uri="{FF2B5EF4-FFF2-40B4-BE49-F238E27FC236}">
                  <a16:creationId xmlns:a16="http://schemas.microsoft.com/office/drawing/2014/main" id="{E81CEE46-51A1-1148-A620-00D77AF40747}"/>
                </a:ext>
              </a:extLst>
            </p:cNvPr>
            <p:cNvSpPr txBox="1">
              <a:spLocks noChangeArrowheads="1"/>
            </p:cNvSpPr>
            <p:nvPr/>
          </p:nvSpPr>
          <p:spPr bwMode="auto">
            <a:xfrm>
              <a:off x="1684" y="1596"/>
              <a:ext cx="78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block      =</a:t>
              </a:r>
            </a:p>
          </p:txBody>
        </p:sp>
      </p:grpSp>
      <p:sp>
        <p:nvSpPr>
          <p:cNvPr id="8" name="Rectangle 3">
            <a:extLst>
              <a:ext uri="{FF2B5EF4-FFF2-40B4-BE49-F238E27FC236}">
                <a16:creationId xmlns:a16="http://schemas.microsoft.com/office/drawing/2014/main" id="{6B82F918-4073-1C4A-BAC8-F7FEA1E23358}"/>
              </a:ext>
            </a:extLst>
          </p:cNvPr>
          <p:cNvSpPr txBox="1">
            <a:spLocks noChangeArrowheads="1"/>
          </p:cNvSpPr>
          <p:nvPr/>
        </p:nvSpPr>
        <p:spPr bwMode="auto">
          <a:xfrm>
            <a:off x="806450" y="3109913"/>
            <a:ext cx="7370763" cy="906462"/>
          </a:xfrm>
          <a:prstGeom prst="rect">
            <a:avLst/>
          </a:prstGeom>
          <a:noFill/>
          <a:ln>
            <a:noFill/>
          </a:ln>
          <a:extLst/>
        </p:spPr>
        <p:txBody>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Font typeface="Monotype Sorts" pitchFamily="-84" charset="2"/>
              <a:buNone/>
              <a:defRPr/>
            </a:pPr>
            <a:endParaRPr lang="en-US" altLang="en-US" kern="0" dirty="0">
              <a:solidFill>
                <a:schemeClr val="tx1">
                  <a:lumMod val="50000"/>
                  <a:lumOff val="50000"/>
                </a:schemeClr>
              </a:solidFill>
            </a:endParaRPr>
          </a:p>
          <a:p>
            <a:r>
              <a:rPr lang="en-US" altLang="en-US" dirty="0">
                <a:solidFill>
                  <a:srgbClr val="00B0F0"/>
                </a:solidFill>
              </a:rPr>
              <a:t>Mapping from logical to physical (LA is Logical Address)</a:t>
            </a:r>
          </a:p>
        </p:txBody>
      </p:sp>
      <p:sp>
        <p:nvSpPr>
          <p:cNvPr id="43013" name="Rectangle 4">
            <a:extLst>
              <a:ext uri="{FF2B5EF4-FFF2-40B4-BE49-F238E27FC236}">
                <a16:creationId xmlns:a16="http://schemas.microsoft.com/office/drawing/2014/main" id="{787EFFF3-6F3C-7141-9668-DD6D05DE6F2B}"/>
              </a:ext>
            </a:extLst>
          </p:cNvPr>
          <p:cNvSpPr>
            <a:spLocks noChangeArrowheads="1"/>
          </p:cNvSpPr>
          <p:nvPr/>
        </p:nvSpPr>
        <p:spPr bwMode="auto">
          <a:xfrm>
            <a:off x="685800" y="4933950"/>
            <a:ext cx="7837488" cy="163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342900" indent="-342900">
              <a:defRPr sz="2400">
                <a:solidFill>
                  <a:schemeClr val="tx1"/>
                </a:solidFill>
                <a:latin typeface="Verdana" panose="020B0604030504040204" pitchFamily="34" charset="0"/>
                <a:ea typeface="MS PGothic" panose="020B0600070205080204" pitchFamily="34" charset="-128"/>
              </a:defRPr>
            </a:lvl1pPr>
            <a:lvl2pPr>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marL="742950" lvl="1" indent="-285750">
              <a:buClr>
                <a:schemeClr val="accent2"/>
              </a:buClr>
              <a:buSzPct val="90000"/>
              <a:buFont typeface="Arial" panose="020B0604020202020204" pitchFamily="34" charset="0"/>
              <a:buChar char="•"/>
            </a:pPr>
            <a:r>
              <a:rPr kumimoji="1" lang="en-US" altLang="en-US" sz="1800" dirty="0">
                <a:solidFill>
                  <a:schemeClr val="tx1">
                    <a:lumMod val="50000"/>
                    <a:lumOff val="50000"/>
                  </a:schemeClr>
                </a:solidFill>
                <a:latin typeface="Helvetica" pitchFamily="2" charset="0"/>
              </a:rPr>
              <a:t>Block to be accessed is the </a:t>
            </a:r>
            <a:r>
              <a:rPr kumimoji="1" lang="en-US" altLang="en-US" sz="1800" dirty="0" err="1">
                <a:solidFill>
                  <a:schemeClr val="tx1">
                    <a:lumMod val="50000"/>
                    <a:lumOff val="50000"/>
                  </a:schemeClr>
                </a:solidFill>
                <a:latin typeface="Helvetica" pitchFamily="2" charset="0"/>
              </a:rPr>
              <a:t>Qth</a:t>
            </a:r>
            <a:r>
              <a:rPr kumimoji="1" lang="en-US" altLang="en-US" sz="1800" dirty="0">
                <a:solidFill>
                  <a:schemeClr val="tx1">
                    <a:lumMod val="50000"/>
                    <a:lumOff val="50000"/>
                  </a:schemeClr>
                </a:solidFill>
                <a:latin typeface="Helvetica" pitchFamily="2" charset="0"/>
              </a:rPr>
              <a:t> block in the linked chain of blocks representing the file.</a:t>
            </a:r>
          </a:p>
          <a:p>
            <a:pPr marL="742950" lvl="1" indent="-285750">
              <a:buClr>
                <a:schemeClr val="accent2"/>
              </a:buClr>
              <a:buSzPct val="90000"/>
              <a:buFont typeface="Arial" panose="020B0604020202020204" pitchFamily="34" charset="0"/>
              <a:buChar char="•"/>
            </a:pPr>
            <a:endParaRPr kumimoji="1" lang="en-US" altLang="en-US" sz="1800" dirty="0">
              <a:solidFill>
                <a:schemeClr val="tx1">
                  <a:lumMod val="50000"/>
                  <a:lumOff val="50000"/>
                </a:schemeClr>
              </a:solidFill>
              <a:latin typeface="Helvetica" pitchFamily="2" charset="0"/>
            </a:endParaRPr>
          </a:p>
          <a:p>
            <a:pPr marL="742950" lvl="1" indent="-285750">
              <a:buClr>
                <a:schemeClr val="accent2"/>
              </a:buClr>
              <a:buSzPct val="90000"/>
              <a:buFont typeface="Arial" panose="020B0604020202020204" pitchFamily="34" charset="0"/>
              <a:buChar char="•"/>
            </a:pPr>
            <a:r>
              <a:rPr kumimoji="1" lang="en-US" altLang="en-US" sz="1800" dirty="0">
                <a:solidFill>
                  <a:schemeClr val="tx1">
                    <a:lumMod val="50000"/>
                    <a:lumOff val="50000"/>
                  </a:schemeClr>
                </a:solidFill>
                <a:latin typeface="Helvetica" pitchFamily="2" charset="0"/>
              </a:rPr>
              <a:t>Key issue: each block must  be read until block found</a:t>
            </a:r>
          </a:p>
          <a:p>
            <a:pPr marL="742950" lvl="1" indent="-285750">
              <a:buClr>
                <a:schemeClr val="accent2"/>
              </a:buClr>
              <a:buSzPct val="90000"/>
              <a:buFont typeface="Arial" panose="020B0604020202020204" pitchFamily="34" charset="0"/>
              <a:buChar char="•"/>
            </a:pPr>
            <a:endParaRPr kumimoji="1" lang="en-US" altLang="en-US" sz="1800" dirty="0">
              <a:solidFill>
                <a:schemeClr val="tx1">
                  <a:lumMod val="50000"/>
                  <a:lumOff val="50000"/>
                </a:schemeClr>
              </a:solidFill>
              <a:latin typeface="Helvetica" pitchFamily="2" charset="0"/>
            </a:endParaRPr>
          </a:p>
          <a:p>
            <a:pPr marL="742950" lvl="1" indent="-285750">
              <a:buClr>
                <a:schemeClr val="accent2"/>
              </a:buClr>
              <a:buSzPct val="90000"/>
              <a:buFont typeface="Arial" panose="020B0604020202020204" pitchFamily="34" charset="0"/>
              <a:buChar char="•"/>
            </a:pPr>
            <a:r>
              <a:rPr kumimoji="1" lang="en-US" altLang="en-US" sz="1800" dirty="0">
                <a:solidFill>
                  <a:schemeClr val="tx1">
                    <a:lumMod val="50000"/>
                    <a:lumOff val="50000"/>
                  </a:schemeClr>
                </a:solidFill>
                <a:latin typeface="Helvetica" pitchFamily="2" charset="0"/>
              </a:rPr>
              <a:t>Displacement into block = R + 4 (jump the pointer)</a:t>
            </a:r>
          </a:p>
        </p:txBody>
      </p:sp>
      <p:grpSp>
        <p:nvGrpSpPr>
          <p:cNvPr id="43014" name="Group 1">
            <a:extLst>
              <a:ext uri="{FF2B5EF4-FFF2-40B4-BE49-F238E27FC236}">
                <a16:creationId xmlns:a16="http://schemas.microsoft.com/office/drawing/2014/main" id="{3DCAE637-F681-394D-9C7E-8730903BD8A1}"/>
              </a:ext>
            </a:extLst>
          </p:cNvPr>
          <p:cNvGrpSpPr>
            <a:grpSpLocks/>
          </p:cNvGrpSpPr>
          <p:nvPr/>
        </p:nvGrpSpPr>
        <p:grpSpPr bwMode="auto">
          <a:xfrm>
            <a:off x="3222629" y="3935413"/>
            <a:ext cx="1384295" cy="985837"/>
            <a:chOff x="3224078" y="3935037"/>
            <a:chExt cx="1382847" cy="985838"/>
          </a:xfrm>
        </p:grpSpPr>
        <p:sp>
          <p:nvSpPr>
            <p:cNvPr id="43015" name="Text Box 5">
              <a:extLst>
                <a:ext uri="{FF2B5EF4-FFF2-40B4-BE49-F238E27FC236}">
                  <a16:creationId xmlns:a16="http://schemas.microsoft.com/office/drawing/2014/main" id="{DFF333B8-CEA1-FF42-A902-E51A8CF6A46A}"/>
                </a:ext>
              </a:extLst>
            </p:cNvPr>
            <p:cNvSpPr txBox="1">
              <a:spLocks noChangeArrowheads="1"/>
            </p:cNvSpPr>
            <p:nvPr/>
          </p:nvSpPr>
          <p:spPr bwMode="auto">
            <a:xfrm>
              <a:off x="3224078" y="4251229"/>
              <a:ext cx="914667" cy="369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LA/</a:t>
              </a:r>
              <a:r>
                <a:rPr lang="en-US" altLang="en-US" sz="1800" b="1" dirty="0">
                  <a:solidFill>
                    <a:srgbClr val="FF0000"/>
                  </a:solidFill>
                  <a:latin typeface="Helvetica" pitchFamily="2" charset="0"/>
                </a:rPr>
                <a:t>508</a:t>
              </a:r>
            </a:p>
          </p:txBody>
        </p:sp>
        <p:sp>
          <p:nvSpPr>
            <p:cNvPr id="43016" name="Text Box 6">
              <a:extLst>
                <a:ext uri="{FF2B5EF4-FFF2-40B4-BE49-F238E27FC236}">
                  <a16:creationId xmlns:a16="http://schemas.microsoft.com/office/drawing/2014/main" id="{BF0E7BA6-7F20-2849-B6AC-641D9BD13C18}"/>
                </a:ext>
              </a:extLst>
            </p:cNvPr>
            <p:cNvSpPr txBox="1">
              <a:spLocks noChangeArrowheads="1"/>
            </p:cNvSpPr>
            <p:nvPr/>
          </p:nvSpPr>
          <p:spPr bwMode="auto">
            <a:xfrm>
              <a:off x="4241800" y="3935037"/>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a:solidFill>
                    <a:schemeClr val="tx1">
                      <a:lumMod val="50000"/>
                      <a:lumOff val="50000"/>
                    </a:schemeClr>
                  </a:solidFill>
                  <a:latin typeface="Helvetica" pitchFamily="2" charset="0"/>
                </a:rPr>
                <a:t>Q</a:t>
              </a:r>
            </a:p>
          </p:txBody>
        </p:sp>
        <p:sp>
          <p:nvSpPr>
            <p:cNvPr id="43017" name="Text Box 7">
              <a:extLst>
                <a:ext uri="{FF2B5EF4-FFF2-40B4-BE49-F238E27FC236}">
                  <a16:creationId xmlns:a16="http://schemas.microsoft.com/office/drawing/2014/main" id="{EA50D92A-F8A4-0641-99C1-0E5FC93591F2}"/>
                </a:ext>
              </a:extLst>
            </p:cNvPr>
            <p:cNvSpPr txBox="1">
              <a:spLocks noChangeArrowheads="1"/>
            </p:cNvSpPr>
            <p:nvPr/>
          </p:nvSpPr>
          <p:spPr bwMode="auto">
            <a:xfrm>
              <a:off x="4241800" y="4550987"/>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a:solidFill>
                    <a:schemeClr val="tx1">
                      <a:lumMod val="50000"/>
                      <a:lumOff val="50000"/>
                    </a:schemeClr>
                  </a:solidFill>
                  <a:latin typeface="Helvetica" pitchFamily="2" charset="0"/>
                </a:rPr>
                <a:t>R</a:t>
              </a:r>
            </a:p>
          </p:txBody>
        </p:sp>
        <p:sp>
          <p:nvSpPr>
            <p:cNvPr id="43018" name="Line 8">
              <a:extLst>
                <a:ext uri="{FF2B5EF4-FFF2-40B4-BE49-F238E27FC236}">
                  <a16:creationId xmlns:a16="http://schemas.microsoft.com/office/drawing/2014/main" id="{400E42F9-EC70-234D-B57E-82788AD347E4}"/>
                </a:ext>
              </a:extLst>
            </p:cNvPr>
            <p:cNvSpPr>
              <a:spLocks noChangeShapeType="1"/>
            </p:cNvSpPr>
            <p:nvPr/>
          </p:nvSpPr>
          <p:spPr bwMode="auto">
            <a:xfrm flipV="1">
              <a:off x="4049713" y="4177925"/>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sp>
          <p:nvSpPr>
            <p:cNvPr id="43019" name="Line 9">
              <a:extLst>
                <a:ext uri="{FF2B5EF4-FFF2-40B4-BE49-F238E27FC236}">
                  <a16:creationId xmlns:a16="http://schemas.microsoft.com/office/drawing/2014/main" id="{C4ADF550-5487-F54B-A14C-7D507D6B87CB}"/>
                </a:ext>
              </a:extLst>
            </p:cNvPr>
            <p:cNvSpPr>
              <a:spLocks noChangeShapeType="1"/>
            </p:cNvSpPr>
            <p:nvPr/>
          </p:nvSpPr>
          <p:spPr bwMode="auto">
            <a:xfrm>
              <a:off x="4057650" y="4489075"/>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975906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0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3013"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E12D28B9-8210-3840-B352-139E9D8C01BA}"/>
              </a:ext>
            </a:extLst>
          </p:cNvPr>
          <p:cNvSpPr>
            <a:spLocks noGrp="1"/>
          </p:cNvSpPr>
          <p:nvPr>
            <p:ph type="title"/>
          </p:nvPr>
        </p:nvSpPr>
        <p:spPr>
          <a:xfrm>
            <a:off x="946150" y="182563"/>
            <a:ext cx="8229600" cy="576262"/>
          </a:xfrm>
        </p:spPr>
        <p:txBody>
          <a:bodyPr/>
          <a:lstStyle/>
          <a:p>
            <a:r>
              <a:rPr lang="en-US" altLang="en-US" dirty="0">
                <a:solidFill>
                  <a:schemeClr val="tx1">
                    <a:lumMod val="50000"/>
                    <a:lumOff val="50000"/>
                  </a:schemeClr>
                </a:solidFill>
              </a:rPr>
              <a:t>File Allocation Table (FAT)– (Linked Allocation Variation)</a:t>
            </a:r>
          </a:p>
        </p:txBody>
      </p:sp>
      <p:sp>
        <p:nvSpPr>
          <p:cNvPr id="41986" name="Content Placeholder 2">
            <a:extLst>
              <a:ext uri="{FF2B5EF4-FFF2-40B4-BE49-F238E27FC236}">
                <a16:creationId xmlns:a16="http://schemas.microsoft.com/office/drawing/2014/main" id="{8519280E-01A2-804A-BDF9-361C3A46146E}"/>
              </a:ext>
            </a:extLst>
          </p:cNvPr>
          <p:cNvSpPr>
            <a:spLocks noGrp="1"/>
          </p:cNvSpPr>
          <p:nvPr>
            <p:ph idx="1"/>
          </p:nvPr>
        </p:nvSpPr>
        <p:spPr>
          <a:xfrm>
            <a:off x="838200" y="1060450"/>
            <a:ext cx="8229600" cy="4530725"/>
          </a:xfrm>
        </p:spPr>
        <p:txBody>
          <a:bodyPr/>
          <a:lstStyle/>
          <a:p>
            <a:r>
              <a:rPr lang="en-US" altLang="en-US" dirty="0">
                <a:solidFill>
                  <a:schemeClr val="tx1">
                    <a:lumMod val="50000"/>
                    <a:lumOff val="50000"/>
                  </a:schemeClr>
                </a:solidFill>
              </a:rPr>
              <a:t>FAT (File Allocation Table) variation</a:t>
            </a:r>
          </a:p>
          <a:p>
            <a:pPr lvl="1"/>
            <a:r>
              <a:rPr lang="en-US" altLang="en-US" dirty="0">
                <a:solidFill>
                  <a:schemeClr val="tx1">
                    <a:lumMod val="50000"/>
                    <a:lumOff val="50000"/>
                  </a:schemeClr>
                </a:solidFill>
              </a:rPr>
              <a:t>Beginning of volume has table, indexed by block number</a:t>
            </a:r>
          </a:p>
          <a:p>
            <a:pPr lvl="1"/>
            <a:r>
              <a:rPr lang="en-US" altLang="en-US" dirty="0">
                <a:solidFill>
                  <a:schemeClr val="tx1">
                    <a:lumMod val="50000"/>
                    <a:lumOff val="50000"/>
                  </a:schemeClr>
                </a:solidFill>
              </a:rPr>
              <a:t>Much like a linked list, but faster on disk and cacheable </a:t>
            </a:r>
          </a:p>
          <a:p>
            <a:pPr lvl="1"/>
            <a:r>
              <a:rPr lang="en-US" altLang="en-US" dirty="0">
                <a:solidFill>
                  <a:schemeClr val="tx1">
                    <a:lumMod val="50000"/>
                    <a:lumOff val="50000"/>
                  </a:schemeClr>
                </a:solidFill>
              </a:rPr>
              <a:t>New block allocation simple</a:t>
            </a:r>
          </a:p>
          <a:p>
            <a:pPr>
              <a:buFont typeface="Monotype Sorts" pitchFamily="2" charset="2"/>
              <a:buNone/>
            </a:pPr>
            <a:endParaRPr lang="en-US" altLang="en-US" dirty="0">
              <a:solidFill>
                <a:schemeClr val="tx1">
                  <a:lumMod val="50000"/>
                  <a:lumOff val="50000"/>
                </a:schemeClr>
              </a:solidFill>
            </a:endParaRPr>
          </a:p>
          <a:p>
            <a:endParaRPr lang="en-US" altLang="en-US" dirty="0">
              <a:solidFill>
                <a:schemeClr val="tx1">
                  <a:lumMod val="50000"/>
                  <a:lumOff val="50000"/>
                </a:schemeClr>
              </a:solidFill>
            </a:endParaRPr>
          </a:p>
        </p:txBody>
      </p:sp>
      <p:pic>
        <p:nvPicPr>
          <p:cNvPr id="4" name="Picture 5" descr="A block diagram with the same block and the same block">
            <a:extLst>
              <a:ext uri="{FF2B5EF4-FFF2-40B4-BE49-F238E27FC236}">
                <a16:creationId xmlns:a16="http://schemas.microsoft.com/office/drawing/2014/main" id="{1E31CF7D-34EF-C94D-96A1-B5F7AD920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150" y="2440951"/>
            <a:ext cx="5010150" cy="40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0A75319-5F2C-CE44-9C4D-623E7966E4FE}"/>
              </a:ext>
            </a:extLst>
          </p:cNvPr>
          <p:cNvSpPr/>
          <p:nvPr/>
        </p:nvSpPr>
        <p:spPr>
          <a:xfrm>
            <a:off x="2443942" y="6018415"/>
            <a:ext cx="1496291" cy="332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5D222D5-1DCC-5E45-9BBF-F42575668CF1}"/>
              </a:ext>
            </a:extLst>
          </p:cNvPr>
          <p:cNvSpPr/>
          <p:nvPr/>
        </p:nvSpPr>
        <p:spPr>
          <a:xfrm>
            <a:off x="3351475" y="2660794"/>
            <a:ext cx="2696150" cy="38587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7365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uiExpand="1" build="p" bldLvl="2"/>
      <p:bldP spid="6"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E12D28B9-8210-3840-B352-139E9D8C01BA}"/>
              </a:ext>
            </a:extLst>
          </p:cNvPr>
          <p:cNvSpPr>
            <a:spLocks noGrp="1"/>
          </p:cNvSpPr>
          <p:nvPr>
            <p:ph type="title"/>
          </p:nvPr>
        </p:nvSpPr>
        <p:spPr>
          <a:xfrm>
            <a:off x="946150" y="182563"/>
            <a:ext cx="8229600" cy="576262"/>
          </a:xfrm>
        </p:spPr>
        <p:txBody>
          <a:bodyPr/>
          <a:lstStyle/>
          <a:p>
            <a:r>
              <a:rPr lang="en-US" altLang="en-US" dirty="0">
                <a:solidFill>
                  <a:schemeClr val="tx1">
                    <a:lumMod val="50000"/>
                    <a:lumOff val="50000"/>
                  </a:schemeClr>
                </a:solidFill>
              </a:rPr>
              <a:t>File Allocation Table (FAT)– (Linked Allocation Variation)</a:t>
            </a:r>
          </a:p>
        </p:txBody>
      </p:sp>
      <p:sp>
        <p:nvSpPr>
          <p:cNvPr id="41986" name="Content Placeholder 2">
            <a:extLst>
              <a:ext uri="{FF2B5EF4-FFF2-40B4-BE49-F238E27FC236}">
                <a16:creationId xmlns:a16="http://schemas.microsoft.com/office/drawing/2014/main" id="{8519280E-01A2-804A-BDF9-361C3A46146E}"/>
              </a:ext>
            </a:extLst>
          </p:cNvPr>
          <p:cNvSpPr>
            <a:spLocks noGrp="1"/>
          </p:cNvSpPr>
          <p:nvPr>
            <p:ph idx="1"/>
          </p:nvPr>
        </p:nvSpPr>
        <p:spPr>
          <a:xfrm>
            <a:off x="838200" y="1060450"/>
            <a:ext cx="8229600" cy="4530725"/>
          </a:xfrm>
        </p:spPr>
        <p:txBody>
          <a:bodyPr/>
          <a:lstStyle/>
          <a:p>
            <a:r>
              <a:rPr lang="en-US" altLang="en-US" dirty="0">
                <a:solidFill>
                  <a:schemeClr val="tx1">
                    <a:lumMod val="50000"/>
                    <a:lumOff val="50000"/>
                  </a:schemeClr>
                </a:solidFill>
              </a:rPr>
              <a:t>FAT (File Allocation Table) variation</a:t>
            </a:r>
          </a:p>
          <a:p>
            <a:pPr lvl="1"/>
            <a:r>
              <a:rPr lang="en-US" altLang="en-US" dirty="0">
                <a:solidFill>
                  <a:schemeClr val="tx1">
                    <a:lumMod val="50000"/>
                    <a:lumOff val="50000"/>
                  </a:schemeClr>
                </a:solidFill>
              </a:rPr>
              <a:t>Beginning of volume has table, indexed by block number</a:t>
            </a:r>
          </a:p>
          <a:p>
            <a:pPr lvl="1"/>
            <a:r>
              <a:rPr lang="en-US" altLang="en-US" dirty="0">
                <a:solidFill>
                  <a:schemeClr val="tx1">
                    <a:lumMod val="50000"/>
                    <a:lumOff val="50000"/>
                  </a:schemeClr>
                </a:solidFill>
              </a:rPr>
              <a:t>Much like a linked list, but faster on disk and cacheable </a:t>
            </a:r>
          </a:p>
          <a:p>
            <a:pPr lvl="1"/>
            <a:r>
              <a:rPr lang="en-US" altLang="en-US" dirty="0">
                <a:solidFill>
                  <a:schemeClr val="tx1">
                    <a:lumMod val="50000"/>
                    <a:lumOff val="50000"/>
                  </a:schemeClr>
                </a:solidFill>
              </a:rPr>
              <a:t>New block allocation simple</a:t>
            </a:r>
          </a:p>
          <a:p>
            <a:pPr>
              <a:buFont typeface="Monotype Sorts" pitchFamily="2" charset="2"/>
              <a:buNone/>
            </a:pPr>
            <a:endParaRPr lang="en-US" altLang="en-US" dirty="0">
              <a:solidFill>
                <a:schemeClr val="tx1">
                  <a:lumMod val="50000"/>
                  <a:lumOff val="50000"/>
                </a:schemeClr>
              </a:solidFill>
            </a:endParaRPr>
          </a:p>
          <a:p>
            <a:endParaRPr lang="en-US" altLang="en-US" dirty="0">
              <a:solidFill>
                <a:schemeClr val="tx1">
                  <a:lumMod val="50000"/>
                  <a:lumOff val="50000"/>
                </a:schemeClr>
              </a:solidFill>
            </a:endParaRPr>
          </a:p>
        </p:txBody>
      </p:sp>
      <p:pic>
        <p:nvPicPr>
          <p:cNvPr id="4" name="Picture 5" descr="A block diagram with the same block and the same block">
            <a:extLst>
              <a:ext uri="{FF2B5EF4-FFF2-40B4-BE49-F238E27FC236}">
                <a16:creationId xmlns:a16="http://schemas.microsoft.com/office/drawing/2014/main" id="{1E31CF7D-34EF-C94D-96A1-B5F7AD920B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150" y="2440951"/>
            <a:ext cx="5010150" cy="40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0A75319-5F2C-CE44-9C4D-623E7966E4FE}"/>
              </a:ext>
            </a:extLst>
          </p:cNvPr>
          <p:cNvSpPr/>
          <p:nvPr/>
        </p:nvSpPr>
        <p:spPr>
          <a:xfrm>
            <a:off x="2443942" y="6018415"/>
            <a:ext cx="1496291" cy="3325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63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uiExpand="1" build="p" bldLvl="2"/>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813051" y="972312"/>
            <a:ext cx="5898734" cy="3180588"/>
          </a:xfrm>
        </p:spPr>
        <p:txBody>
          <a:bodyPr/>
          <a:lstStyle/>
          <a:p>
            <a:r>
              <a:rPr lang="en-US" dirty="0">
                <a:solidFill>
                  <a:schemeClr val="tx1">
                    <a:lumMod val="50000"/>
                    <a:lumOff val="50000"/>
                  </a:schemeClr>
                </a:solidFill>
              </a:rPr>
              <a:t>Objective</a:t>
            </a:r>
          </a:p>
          <a:p>
            <a:pPr lvl="1"/>
            <a:r>
              <a:rPr lang="en-US" dirty="0">
                <a:solidFill>
                  <a:schemeClr val="tx1">
                    <a:lumMod val="50000"/>
                    <a:lumOff val="50000"/>
                  </a:schemeClr>
                </a:solidFill>
              </a:rPr>
              <a:t>How to allocate blocks for a file?</a:t>
            </a:r>
          </a:p>
          <a:p>
            <a:r>
              <a:rPr lang="en-US" dirty="0">
                <a:solidFill>
                  <a:schemeClr val="tx1">
                    <a:lumMod val="50000"/>
                    <a:lumOff val="50000"/>
                  </a:schemeClr>
                </a:solidFill>
              </a:rPr>
              <a:t>Allocation Methods</a:t>
            </a:r>
          </a:p>
          <a:p>
            <a:pPr lvl="1"/>
            <a:r>
              <a:rPr lang="en-US" dirty="0">
                <a:solidFill>
                  <a:schemeClr val="tx1">
                    <a:lumMod val="50000"/>
                    <a:lumOff val="50000"/>
                  </a:schemeClr>
                </a:solidFill>
              </a:rPr>
              <a:t>Contiguous allocation</a:t>
            </a:r>
          </a:p>
          <a:p>
            <a:pPr lvl="1"/>
            <a:r>
              <a:rPr lang="en-US" dirty="0">
                <a:solidFill>
                  <a:schemeClr val="tx1">
                    <a:lumMod val="50000"/>
                    <a:lumOff val="50000"/>
                  </a:schemeClr>
                </a:solidFill>
              </a:rPr>
              <a:t>Linked allocation</a:t>
            </a:r>
          </a:p>
          <a:p>
            <a:pPr lvl="2"/>
            <a:r>
              <a:rPr lang="en-US" dirty="0">
                <a:solidFill>
                  <a:schemeClr val="tx1">
                    <a:lumMod val="50000"/>
                    <a:lumOff val="50000"/>
                  </a:schemeClr>
                </a:solidFill>
              </a:rPr>
              <a:t>File Allocation Table (FAT)</a:t>
            </a:r>
          </a:p>
          <a:p>
            <a:pPr lvl="1"/>
            <a:r>
              <a:rPr lang="en-US" dirty="0">
                <a:solidFill>
                  <a:srgbClr val="FF00FF"/>
                </a:solidFill>
              </a:rPr>
              <a:t>Indexed allocation</a:t>
            </a:r>
          </a:p>
          <a:p>
            <a:pPr lvl="1"/>
            <a:r>
              <a:rPr lang="en-US" dirty="0">
                <a:solidFill>
                  <a:srgbClr val="FF00FF"/>
                </a:solidFill>
              </a:rPr>
              <a:t>Combined (indexed) scheme: Unix file system</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r>
              <a:rPr lang="en-US" dirty="0">
                <a:solidFill>
                  <a:srgbClr val="0000FF"/>
                </a:solidFill>
              </a:rPr>
              <a:t>Read </a:t>
            </a:r>
            <a:r>
              <a:rPr lang="en-US">
                <a:solidFill>
                  <a:srgbClr val="0000FF"/>
                </a:solidFill>
              </a:rPr>
              <a:t>Section “Allocation Methods” </a:t>
            </a:r>
            <a:r>
              <a:rPr lang="en-US" dirty="0">
                <a:solidFill>
                  <a:srgbClr val="0000FF"/>
                </a:solidFill>
              </a:rPr>
              <a:t>Section</a:t>
            </a:r>
          </a:p>
          <a:p>
            <a:pPr marL="308610" lvl="1" indent="0">
              <a:buNone/>
            </a:pPr>
            <a:r>
              <a:rPr lang="en-US" dirty="0">
                <a:solidFill>
                  <a:schemeClr val="tx1">
                    <a:lumMod val="50000"/>
                    <a:lumOff val="50000"/>
                  </a:schemeClr>
                </a:solidFill>
              </a:rPr>
              <a:t>                                                                                                                                                                                                                                                                                                                                                                                                                                                                                                                                                                                                                                                                                                                                                                                                                                                                                                                                                                                                                                                                                                                                                                                                                                                                                        </a:t>
            </a:r>
          </a:p>
          <a:p>
            <a:pPr lvl="1"/>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Allocation Methods</a:t>
            </a:r>
          </a:p>
        </p:txBody>
      </p:sp>
    </p:spTree>
    <p:extLst>
      <p:ext uri="{BB962C8B-B14F-4D97-AF65-F5344CB8AC3E}">
        <p14:creationId xmlns:p14="http://schemas.microsoft.com/office/powerpoint/2010/main" val="29543264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06FC7333-0318-4244-A964-CC2F87B9885D}"/>
              </a:ext>
            </a:extLst>
          </p:cNvPr>
          <p:cNvSpPr>
            <a:spLocks noGrp="1"/>
          </p:cNvSpPr>
          <p:nvPr>
            <p:ph type="title"/>
          </p:nvPr>
        </p:nvSpPr>
        <p:spPr>
          <a:xfrm>
            <a:off x="457200" y="182563"/>
            <a:ext cx="8229600" cy="576262"/>
          </a:xfrm>
        </p:spPr>
        <p:txBody>
          <a:bodyPr/>
          <a:lstStyle/>
          <a:p>
            <a:r>
              <a:rPr lang="en-US" altLang="en-US" dirty="0">
                <a:solidFill>
                  <a:schemeClr val="tx1">
                    <a:lumMod val="50000"/>
                    <a:lumOff val="50000"/>
                  </a:schemeClr>
                </a:solidFill>
              </a:rPr>
              <a:t>Allocation Methods - Indexed</a:t>
            </a:r>
          </a:p>
        </p:txBody>
      </p:sp>
      <p:sp>
        <p:nvSpPr>
          <p:cNvPr id="49154" name="Content Placeholder 2">
            <a:extLst>
              <a:ext uri="{FF2B5EF4-FFF2-40B4-BE49-F238E27FC236}">
                <a16:creationId xmlns:a16="http://schemas.microsoft.com/office/drawing/2014/main" id="{FC1B3BE3-6FF2-3D4E-934B-8DE813E56A78}"/>
              </a:ext>
            </a:extLst>
          </p:cNvPr>
          <p:cNvSpPr>
            <a:spLocks noGrp="1"/>
          </p:cNvSpPr>
          <p:nvPr>
            <p:ph idx="1"/>
          </p:nvPr>
        </p:nvSpPr>
        <p:spPr/>
        <p:txBody>
          <a:bodyPr/>
          <a:lstStyle/>
          <a:p>
            <a:r>
              <a:rPr lang="en-US" altLang="en-US" b="1" dirty="0">
                <a:solidFill>
                  <a:srgbClr val="3366FF"/>
                </a:solidFill>
              </a:rPr>
              <a:t>Indexed allocation</a:t>
            </a:r>
          </a:p>
          <a:p>
            <a:pPr lvl="1"/>
            <a:r>
              <a:rPr lang="en-US" altLang="en-US" dirty="0">
                <a:solidFill>
                  <a:schemeClr val="tx1">
                    <a:lumMod val="50000"/>
                    <a:lumOff val="50000"/>
                  </a:schemeClr>
                </a:solidFill>
              </a:rPr>
              <a:t>Each file has its own </a:t>
            </a:r>
            <a:r>
              <a:rPr lang="en-US" altLang="en-US" b="1" dirty="0">
                <a:solidFill>
                  <a:srgbClr val="3366FF"/>
                </a:solidFill>
              </a:rPr>
              <a:t>index block</a:t>
            </a:r>
            <a:r>
              <a:rPr lang="en-US" altLang="en-US" dirty="0">
                <a:solidFill>
                  <a:schemeClr val="tx1">
                    <a:lumMod val="50000"/>
                    <a:lumOff val="50000"/>
                  </a:schemeClr>
                </a:solidFill>
              </a:rPr>
              <a:t>(s) of pointers to its data blocks</a:t>
            </a:r>
          </a:p>
          <a:p>
            <a:endParaRPr lang="en-US" altLang="en-US" dirty="0">
              <a:solidFill>
                <a:srgbClr val="000000"/>
              </a:solidFill>
            </a:endParaRPr>
          </a:p>
          <a:p>
            <a:r>
              <a:rPr lang="en-US" altLang="en-US" dirty="0">
                <a:solidFill>
                  <a:schemeClr val="tx1">
                    <a:lumMod val="50000"/>
                    <a:lumOff val="50000"/>
                  </a:schemeClr>
                </a:solidFill>
              </a:rPr>
              <a:t>Logical view</a:t>
            </a:r>
          </a:p>
          <a:p>
            <a:endParaRPr lang="en-US" altLang="en-US" dirty="0"/>
          </a:p>
        </p:txBody>
      </p:sp>
      <p:pic>
        <p:nvPicPr>
          <p:cNvPr id="49155" name="Picture 2" descr="Image on slide 39">
            <a:extLst>
              <a:ext uri="{FF2B5EF4-FFF2-40B4-BE49-F238E27FC236}">
                <a16:creationId xmlns:a16="http://schemas.microsoft.com/office/drawing/2014/main" id="{A165F104-536A-C04E-9AE1-5FD00F6C36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95638" y="2843213"/>
            <a:ext cx="228600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9710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C91E86E4-3917-C84B-9679-B2D52E33D4E3}"/>
              </a:ext>
            </a:extLst>
          </p:cNvPr>
          <p:cNvSpPr>
            <a:spLocks noGrp="1" noChangeArrowheads="1"/>
          </p:cNvSpPr>
          <p:nvPr>
            <p:ph type="title"/>
          </p:nvPr>
        </p:nvSpPr>
        <p:spPr>
          <a:xfrm>
            <a:off x="457200" y="198438"/>
            <a:ext cx="8229600" cy="576262"/>
          </a:xfrm>
        </p:spPr>
        <p:txBody>
          <a:bodyPr/>
          <a:lstStyle/>
          <a:p>
            <a:pPr eaLnBrk="1" hangingPunct="1"/>
            <a:r>
              <a:rPr lang="en-US" altLang="en-US" dirty="0">
                <a:solidFill>
                  <a:schemeClr val="tx1">
                    <a:lumMod val="50000"/>
                    <a:lumOff val="50000"/>
                  </a:schemeClr>
                </a:solidFill>
              </a:rPr>
              <a:t>Example of Indexed Allocation</a:t>
            </a:r>
            <a:endParaRPr lang="en-US" altLang="en-US" sz="2400" dirty="0">
              <a:solidFill>
                <a:schemeClr val="tx1">
                  <a:lumMod val="50000"/>
                  <a:lumOff val="50000"/>
                </a:schemeClr>
              </a:solidFill>
            </a:endParaRPr>
          </a:p>
        </p:txBody>
      </p:sp>
      <p:pic>
        <p:nvPicPr>
          <p:cNvPr id="50178" name="Picture 4" descr="11">
            <a:extLst>
              <a:ext uri="{FF2B5EF4-FFF2-40B4-BE49-F238E27FC236}">
                <a16:creationId xmlns:a16="http://schemas.microsoft.com/office/drawing/2014/main" id="{23D0C149-7281-7842-B684-A771878DB8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4088" y="1230313"/>
            <a:ext cx="4967287"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a:extLst>
              <a:ext uri="{FF2B5EF4-FFF2-40B4-BE49-F238E27FC236}">
                <a16:creationId xmlns:a16="http://schemas.microsoft.com/office/drawing/2014/main" id="{F54E8BB7-DDE9-F042-BE1D-6B36FC2DF69D}"/>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83367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B3D8230-F6E2-8443-AD49-31FF36BA67C1}"/>
              </a:ext>
            </a:extLst>
          </p:cNvPr>
          <p:cNvSpPr>
            <a:spLocks noGrp="1" noChangeArrowheads="1"/>
          </p:cNvSpPr>
          <p:nvPr>
            <p:ph type="title"/>
          </p:nvPr>
        </p:nvSpPr>
        <p:spPr>
          <a:xfrm>
            <a:off x="1008063" y="182563"/>
            <a:ext cx="7694612" cy="576262"/>
          </a:xfrm>
        </p:spPr>
        <p:txBody>
          <a:bodyPr/>
          <a:lstStyle/>
          <a:p>
            <a:pPr eaLnBrk="1" hangingPunct="1"/>
            <a:r>
              <a:rPr lang="en-US" altLang="en-US" dirty="0">
                <a:solidFill>
                  <a:schemeClr val="tx1">
                    <a:lumMod val="50000"/>
                    <a:lumOff val="50000"/>
                  </a:schemeClr>
                </a:solidFill>
              </a:rPr>
              <a:t>Indexed Allocation (Cont.)</a:t>
            </a:r>
          </a:p>
        </p:txBody>
      </p:sp>
      <p:sp>
        <p:nvSpPr>
          <p:cNvPr id="52226" name="Rectangle 3">
            <a:extLst>
              <a:ext uri="{FF2B5EF4-FFF2-40B4-BE49-F238E27FC236}">
                <a16:creationId xmlns:a16="http://schemas.microsoft.com/office/drawing/2014/main" id="{2EB6C3D6-185C-894A-A462-708788E814E7}"/>
              </a:ext>
            </a:extLst>
          </p:cNvPr>
          <p:cNvSpPr>
            <a:spLocks noGrp="1" noChangeArrowheads="1"/>
          </p:cNvSpPr>
          <p:nvPr>
            <p:ph type="body" idx="1"/>
          </p:nvPr>
        </p:nvSpPr>
        <p:spPr>
          <a:xfrm>
            <a:off x="806450" y="1233488"/>
            <a:ext cx="7370763" cy="3205162"/>
          </a:xfrm>
        </p:spPr>
        <p:txBody>
          <a:bodyPr/>
          <a:lstStyle/>
          <a:p>
            <a:pPr>
              <a:lnSpc>
                <a:spcPct val="90000"/>
              </a:lnSpc>
            </a:pPr>
            <a:r>
              <a:rPr lang="en-US" altLang="en-US" dirty="0"/>
              <a:t>Need index table</a:t>
            </a:r>
            <a:endParaRPr lang="en-US" altLang="en-US" sz="800" dirty="0"/>
          </a:p>
          <a:p>
            <a:pPr>
              <a:lnSpc>
                <a:spcPct val="90000"/>
              </a:lnSpc>
            </a:pPr>
            <a:r>
              <a:rPr lang="en-US" altLang="en-US" dirty="0"/>
              <a:t>Random access</a:t>
            </a:r>
            <a:endParaRPr lang="en-US" altLang="en-US" sz="800" dirty="0"/>
          </a:p>
          <a:p>
            <a:pPr>
              <a:lnSpc>
                <a:spcPct val="90000"/>
              </a:lnSpc>
            </a:pPr>
            <a:r>
              <a:rPr lang="en-US" altLang="en-US" dirty="0"/>
              <a:t>Dynamic access without external fragmentation, but have overhead of index block</a:t>
            </a:r>
          </a:p>
          <a:p>
            <a:r>
              <a:rPr lang="en-US" altLang="en-US" dirty="0">
                <a:solidFill>
                  <a:srgbClr val="00B0F0"/>
                </a:solidFill>
              </a:rPr>
              <a:t>Is this allocation method good for sequential and random access?</a:t>
            </a:r>
            <a:endParaRPr lang="en-US" altLang="en-US" dirty="0"/>
          </a:p>
          <a:p>
            <a:pPr>
              <a:lnSpc>
                <a:spcPct val="90000"/>
              </a:lnSpc>
            </a:pPr>
            <a:endParaRPr lang="en-US" altLang="en-US" sz="800" dirty="0"/>
          </a:p>
          <a:p>
            <a:pPr>
              <a:lnSpc>
                <a:spcPct val="90000"/>
              </a:lnSpc>
            </a:pPr>
            <a:r>
              <a:rPr lang="en-US" altLang="en-US" b="1" dirty="0">
                <a:solidFill>
                  <a:srgbClr val="00B0F0"/>
                </a:solidFill>
              </a:rPr>
              <a:t>Mapping from logical to physical </a:t>
            </a:r>
          </a:p>
          <a:p>
            <a:pPr lvl="1"/>
            <a:r>
              <a:rPr lang="en-US" altLang="en-US" b="1" dirty="0">
                <a:solidFill>
                  <a:srgbClr val="00B0F0"/>
                </a:solidFill>
              </a:rPr>
              <a:t>Example: </a:t>
            </a:r>
            <a:r>
              <a:rPr lang="en-US" altLang="en-US" dirty="0">
                <a:solidFill>
                  <a:schemeClr val="tx1">
                    <a:lumMod val="50000"/>
                    <a:lumOff val="50000"/>
                  </a:schemeClr>
                </a:solidFill>
              </a:rPr>
              <a:t>block size = 512 bytes, File maximum size : 64 KB. Index table takes one block. </a:t>
            </a:r>
          </a:p>
          <a:p>
            <a:pPr lvl="1"/>
            <a:r>
              <a:rPr lang="en-US" altLang="en-US" dirty="0">
                <a:solidFill>
                  <a:schemeClr val="tx1">
                    <a:lumMod val="50000"/>
                    <a:lumOff val="50000"/>
                  </a:schemeClr>
                </a:solidFill>
              </a:rPr>
              <a:t>A 64KB contains 64KB/512 blocks = 2</a:t>
            </a:r>
            <a:r>
              <a:rPr lang="en-US" altLang="en-US" baseline="30000" dirty="0">
                <a:solidFill>
                  <a:schemeClr val="tx1">
                    <a:lumMod val="50000"/>
                    <a:lumOff val="50000"/>
                  </a:schemeClr>
                </a:solidFill>
              </a:rPr>
              <a:t>16</a:t>
            </a:r>
            <a:r>
              <a:rPr lang="en-US" altLang="en-US" dirty="0">
                <a:solidFill>
                  <a:schemeClr val="tx1">
                    <a:lumMod val="50000"/>
                    <a:lumOff val="50000"/>
                  </a:schemeClr>
                </a:solidFill>
              </a:rPr>
              <a:t>/2</a:t>
            </a:r>
            <a:r>
              <a:rPr lang="en-US" altLang="en-US" baseline="30000" dirty="0">
                <a:solidFill>
                  <a:schemeClr val="tx1">
                    <a:lumMod val="50000"/>
                    <a:lumOff val="50000"/>
                  </a:schemeClr>
                </a:solidFill>
              </a:rPr>
              <a:t>9</a:t>
            </a:r>
            <a:r>
              <a:rPr lang="en-US" altLang="en-US" dirty="0">
                <a:solidFill>
                  <a:schemeClr val="tx1">
                    <a:lumMod val="50000"/>
                    <a:lumOff val="50000"/>
                  </a:schemeClr>
                </a:solidFill>
              </a:rPr>
              <a:t> blocks = 2</a:t>
            </a:r>
            <a:r>
              <a:rPr lang="en-US" altLang="en-US" baseline="30000" dirty="0">
                <a:solidFill>
                  <a:schemeClr val="tx1">
                    <a:lumMod val="50000"/>
                    <a:lumOff val="50000"/>
                  </a:schemeClr>
                </a:solidFill>
              </a:rPr>
              <a:t>7</a:t>
            </a:r>
            <a:r>
              <a:rPr lang="en-US" altLang="en-US" dirty="0">
                <a:solidFill>
                  <a:schemeClr val="tx1">
                    <a:lumMod val="50000"/>
                    <a:lumOff val="50000"/>
                  </a:schemeClr>
                </a:solidFill>
              </a:rPr>
              <a:t> blocks = 128 blocks</a:t>
            </a:r>
          </a:p>
          <a:p>
            <a:pPr lvl="1"/>
            <a:r>
              <a:rPr lang="en-US" altLang="en-US" dirty="0">
                <a:solidFill>
                  <a:schemeClr val="tx1">
                    <a:lumMod val="50000"/>
                    <a:lumOff val="50000"/>
                  </a:schemeClr>
                </a:solidFill>
              </a:rPr>
              <a:t>Each block pointer takes 4 bytes</a:t>
            </a:r>
          </a:p>
          <a:p>
            <a:pPr lvl="1"/>
            <a:r>
              <a:rPr lang="en-US" altLang="en-US" dirty="0">
                <a:solidFill>
                  <a:schemeClr val="tx1">
                    <a:lumMod val="50000"/>
                    <a:lumOff val="50000"/>
                  </a:schemeClr>
                </a:solidFill>
              </a:rPr>
              <a:t>You need 4*128 bytes to store 128 pointers = 512 bytes = 1 block</a:t>
            </a:r>
            <a:endParaRPr lang="en-US" altLang="en-US" dirty="0"/>
          </a:p>
        </p:txBody>
      </p:sp>
      <p:grpSp>
        <p:nvGrpSpPr>
          <p:cNvPr id="52227" name="Group 1">
            <a:extLst>
              <a:ext uri="{FF2B5EF4-FFF2-40B4-BE49-F238E27FC236}">
                <a16:creationId xmlns:a16="http://schemas.microsoft.com/office/drawing/2014/main" id="{6EA25FB5-6154-B546-8416-A76182F46C0D}"/>
              </a:ext>
            </a:extLst>
          </p:cNvPr>
          <p:cNvGrpSpPr>
            <a:grpSpLocks/>
          </p:cNvGrpSpPr>
          <p:nvPr/>
        </p:nvGrpSpPr>
        <p:grpSpPr bwMode="auto">
          <a:xfrm>
            <a:off x="2984500" y="4874977"/>
            <a:ext cx="1382713" cy="985837"/>
            <a:chOff x="2984500" y="3600450"/>
            <a:chExt cx="1382713" cy="985838"/>
          </a:xfrm>
        </p:grpSpPr>
        <p:sp>
          <p:nvSpPr>
            <p:cNvPr id="52229" name="Text Box 4">
              <a:extLst>
                <a:ext uri="{FF2B5EF4-FFF2-40B4-BE49-F238E27FC236}">
                  <a16:creationId xmlns:a16="http://schemas.microsoft.com/office/drawing/2014/main" id="{D1F82B64-74DB-A04D-A063-C6FF3028905B}"/>
                </a:ext>
              </a:extLst>
            </p:cNvPr>
            <p:cNvSpPr txBox="1">
              <a:spLocks noChangeArrowheads="1"/>
            </p:cNvSpPr>
            <p:nvPr/>
          </p:nvSpPr>
          <p:spPr bwMode="auto">
            <a:xfrm>
              <a:off x="2984500" y="3916363"/>
              <a:ext cx="91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LA/512</a:t>
              </a:r>
            </a:p>
          </p:txBody>
        </p:sp>
        <p:sp>
          <p:nvSpPr>
            <p:cNvPr id="52230" name="Text Box 5">
              <a:extLst>
                <a:ext uri="{FF2B5EF4-FFF2-40B4-BE49-F238E27FC236}">
                  <a16:creationId xmlns:a16="http://schemas.microsoft.com/office/drawing/2014/main" id="{010FF6B7-D119-F94C-9D99-DA487E9E3384}"/>
                </a:ext>
              </a:extLst>
            </p:cNvPr>
            <p:cNvSpPr txBox="1">
              <a:spLocks noChangeArrowheads="1"/>
            </p:cNvSpPr>
            <p:nvPr/>
          </p:nvSpPr>
          <p:spPr bwMode="auto">
            <a:xfrm>
              <a:off x="4002088" y="3600450"/>
              <a:ext cx="36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a:solidFill>
                    <a:schemeClr val="tx1">
                      <a:lumMod val="50000"/>
                      <a:lumOff val="50000"/>
                    </a:schemeClr>
                  </a:solidFill>
                  <a:latin typeface="Helvetica" pitchFamily="2" charset="0"/>
                </a:rPr>
                <a:t>Q</a:t>
              </a:r>
            </a:p>
          </p:txBody>
        </p:sp>
        <p:sp>
          <p:nvSpPr>
            <p:cNvPr id="52231" name="Text Box 6">
              <a:extLst>
                <a:ext uri="{FF2B5EF4-FFF2-40B4-BE49-F238E27FC236}">
                  <a16:creationId xmlns:a16="http://schemas.microsoft.com/office/drawing/2014/main" id="{9A94D2D6-311A-9B43-A3FB-869986D1BB87}"/>
                </a:ext>
              </a:extLst>
            </p:cNvPr>
            <p:cNvSpPr txBox="1">
              <a:spLocks noChangeArrowheads="1"/>
            </p:cNvSpPr>
            <p:nvPr/>
          </p:nvSpPr>
          <p:spPr bwMode="auto">
            <a:xfrm>
              <a:off x="4002088" y="4216400"/>
              <a:ext cx="352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800" dirty="0">
                  <a:solidFill>
                    <a:schemeClr val="tx1">
                      <a:lumMod val="50000"/>
                      <a:lumOff val="50000"/>
                    </a:schemeClr>
                  </a:solidFill>
                  <a:latin typeface="Helvetica" pitchFamily="2" charset="0"/>
                </a:rPr>
                <a:t>R</a:t>
              </a:r>
            </a:p>
          </p:txBody>
        </p:sp>
        <p:sp>
          <p:nvSpPr>
            <p:cNvPr id="52232" name="Line 7">
              <a:extLst>
                <a:ext uri="{FF2B5EF4-FFF2-40B4-BE49-F238E27FC236}">
                  <a16:creationId xmlns:a16="http://schemas.microsoft.com/office/drawing/2014/main" id="{BDF7A646-A4C7-0E49-B3A9-AF0DF2F4FFD9}"/>
                </a:ext>
              </a:extLst>
            </p:cNvPr>
            <p:cNvSpPr>
              <a:spLocks noChangeShapeType="1"/>
            </p:cNvSpPr>
            <p:nvPr/>
          </p:nvSpPr>
          <p:spPr bwMode="auto">
            <a:xfrm flipV="1">
              <a:off x="3810000" y="3843338"/>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sp>
          <p:nvSpPr>
            <p:cNvPr id="52233" name="Line 8">
              <a:extLst>
                <a:ext uri="{FF2B5EF4-FFF2-40B4-BE49-F238E27FC236}">
                  <a16:creationId xmlns:a16="http://schemas.microsoft.com/office/drawing/2014/main" id="{E2394C1A-3DA7-1C40-93D6-FED55C9F8D1D}"/>
                </a:ext>
              </a:extLst>
            </p:cNvPr>
            <p:cNvSpPr>
              <a:spLocks noChangeShapeType="1"/>
            </p:cNvSpPr>
            <p:nvPr/>
          </p:nvSpPr>
          <p:spPr bwMode="auto">
            <a:xfrm>
              <a:off x="3817938" y="4154488"/>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1435" tIns="45718" rIns="91435" bIns="45718" anchor="ctr"/>
            <a:lstStyle/>
            <a:p>
              <a:endParaRPr lang="en-US">
                <a:solidFill>
                  <a:schemeClr val="tx1">
                    <a:lumMod val="50000"/>
                    <a:lumOff val="50000"/>
                  </a:schemeClr>
                </a:solidFill>
              </a:endParaRPr>
            </a:p>
          </p:txBody>
        </p:sp>
      </p:grpSp>
      <p:sp>
        <p:nvSpPr>
          <p:cNvPr id="52228" name="Rectangle 9">
            <a:extLst>
              <a:ext uri="{FF2B5EF4-FFF2-40B4-BE49-F238E27FC236}">
                <a16:creationId xmlns:a16="http://schemas.microsoft.com/office/drawing/2014/main" id="{E8D0AD11-2BA3-B443-AB37-152B793FF63E}"/>
              </a:ext>
            </a:extLst>
          </p:cNvPr>
          <p:cNvSpPr>
            <a:spLocks noChangeArrowheads="1"/>
          </p:cNvSpPr>
          <p:nvPr/>
        </p:nvSpPr>
        <p:spPr bwMode="auto">
          <a:xfrm>
            <a:off x="1457325" y="5859168"/>
            <a:ext cx="702945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lstStyle>
            <a:lvl1pPr marL="325438" indent="-325438">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pPr>
              <a:buClr>
                <a:schemeClr val="accent2"/>
              </a:buClr>
              <a:buFont typeface="Arial" panose="020B0604020202020204" pitchFamily="34" charset="0"/>
              <a:buChar char="•"/>
            </a:pPr>
            <a:r>
              <a:rPr lang="en-US" altLang="en-US" sz="1800" dirty="0">
                <a:solidFill>
                  <a:schemeClr val="tx1">
                    <a:lumMod val="50000"/>
                    <a:lumOff val="50000"/>
                  </a:schemeClr>
                </a:solidFill>
                <a:latin typeface="Helvetica" pitchFamily="2" charset="0"/>
              </a:rPr>
              <a:t>Q = displacement into index table</a:t>
            </a:r>
          </a:p>
          <a:p>
            <a:pPr>
              <a:buClr>
                <a:schemeClr val="accent2"/>
              </a:buClr>
              <a:buFont typeface="Arial" panose="020B0604020202020204" pitchFamily="34" charset="0"/>
              <a:buChar char="•"/>
            </a:pPr>
            <a:r>
              <a:rPr lang="en-US" altLang="en-US" sz="1800" dirty="0">
                <a:solidFill>
                  <a:schemeClr val="tx1">
                    <a:lumMod val="50000"/>
                    <a:lumOff val="50000"/>
                  </a:schemeClr>
                </a:solidFill>
                <a:latin typeface="Helvetica" pitchFamily="2" charset="0"/>
              </a:rPr>
              <a:t>R = displacement into block</a:t>
            </a:r>
          </a:p>
        </p:txBody>
      </p:sp>
    </p:spTree>
    <p:extLst>
      <p:ext uri="{BB962C8B-B14F-4D97-AF65-F5344CB8AC3E}">
        <p14:creationId xmlns:p14="http://schemas.microsoft.com/office/powerpoint/2010/main" val="19679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2226">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226">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22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222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222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bldLvl="2"/>
      <p:bldP spid="52228"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5B3D8230-F6E2-8443-AD49-31FF36BA67C1}"/>
              </a:ext>
            </a:extLst>
          </p:cNvPr>
          <p:cNvSpPr>
            <a:spLocks noGrp="1" noChangeArrowheads="1"/>
          </p:cNvSpPr>
          <p:nvPr>
            <p:ph type="title"/>
          </p:nvPr>
        </p:nvSpPr>
        <p:spPr>
          <a:xfrm>
            <a:off x="1008063" y="182563"/>
            <a:ext cx="7694612" cy="576262"/>
          </a:xfrm>
        </p:spPr>
        <p:txBody>
          <a:bodyPr/>
          <a:lstStyle/>
          <a:p>
            <a:pPr eaLnBrk="1" hangingPunct="1"/>
            <a:r>
              <a:rPr lang="en-US" altLang="en-US" dirty="0">
                <a:solidFill>
                  <a:schemeClr val="tx1">
                    <a:lumMod val="50000"/>
                    <a:lumOff val="50000"/>
                  </a:schemeClr>
                </a:solidFill>
              </a:rPr>
              <a:t>Indexed Allocation</a:t>
            </a:r>
          </a:p>
        </p:txBody>
      </p:sp>
      <p:sp>
        <p:nvSpPr>
          <p:cNvPr id="52226" name="Rectangle 3">
            <a:extLst>
              <a:ext uri="{FF2B5EF4-FFF2-40B4-BE49-F238E27FC236}">
                <a16:creationId xmlns:a16="http://schemas.microsoft.com/office/drawing/2014/main" id="{2EB6C3D6-185C-894A-A462-708788E814E7}"/>
              </a:ext>
            </a:extLst>
          </p:cNvPr>
          <p:cNvSpPr>
            <a:spLocks noGrp="1" noChangeArrowheads="1"/>
          </p:cNvSpPr>
          <p:nvPr>
            <p:ph type="body" idx="1"/>
          </p:nvPr>
        </p:nvSpPr>
        <p:spPr>
          <a:xfrm>
            <a:off x="806450" y="1233488"/>
            <a:ext cx="7370763" cy="3205162"/>
          </a:xfrm>
        </p:spPr>
        <p:txBody>
          <a:bodyPr/>
          <a:lstStyle/>
          <a:p>
            <a:pPr>
              <a:lnSpc>
                <a:spcPct val="90000"/>
              </a:lnSpc>
            </a:pPr>
            <a:r>
              <a:rPr lang="en-US" altLang="en-US" dirty="0"/>
              <a:t>Simple indexed allocation</a:t>
            </a:r>
          </a:p>
          <a:p>
            <a:pPr>
              <a:lnSpc>
                <a:spcPct val="90000"/>
              </a:lnSpc>
            </a:pPr>
            <a:endParaRPr lang="en-US" altLang="en-US" dirty="0"/>
          </a:p>
          <a:p>
            <a:pPr>
              <a:lnSpc>
                <a:spcPct val="90000"/>
              </a:lnSpc>
            </a:pPr>
            <a:endParaRPr lang="en-US" altLang="en-US" sz="800" dirty="0"/>
          </a:p>
          <a:p>
            <a:pPr>
              <a:lnSpc>
                <a:spcPct val="90000"/>
              </a:lnSpc>
            </a:pPr>
            <a:r>
              <a:rPr lang="en-US" altLang="en-US" dirty="0"/>
              <a:t>Multilevel indexed allocation</a:t>
            </a:r>
          </a:p>
          <a:p>
            <a:pPr>
              <a:lnSpc>
                <a:spcPct val="90000"/>
              </a:lnSpc>
            </a:pPr>
            <a:endParaRPr lang="en-US" altLang="en-US" dirty="0"/>
          </a:p>
          <a:p>
            <a:pPr>
              <a:lnSpc>
                <a:spcPct val="90000"/>
              </a:lnSpc>
            </a:pPr>
            <a:r>
              <a:rPr lang="en-US" altLang="en-US" dirty="0"/>
              <a:t>Combined scheme (direct and multilevel): Unix file system</a:t>
            </a:r>
          </a:p>
        </p:txBody>
      </p:sp>
    </p:spTree>
    <p:extLst>
      <p:ext uri="{BB962C8B-B14F-4D97-AF65-F5344CB8AC3E}">
        <p14:creationId xmlns:p14="http://schemas.microsoft.com/office/powerpoint/2010/main" val="326932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288712FF-02C6-8943-AD5D-7F5FCF3D19BB}"/>
              </a:ext>
            </a:extLst>
          </p:cNvPr>
          <p:cNvSpPr>
            <a:spLocks noGrp="1" noChangeArrowheads="1"/>
          </p:cNvSpPr>
          <p:nvPr>
            <p:ph type="title"/>
          </p:nvPr>
        </p:nvSpPr>
        <p:spPr>
          <a:xfrm>
            <a:off x="669925" y="230188"/>
            <a:ext cx="8229600" cy="1050925"/>
          </a:xfrm>
        </p:spPr>
        <p:txBody>
          <a:bodyPr/>
          <a:lstStyle/>
          <a:p>
            <a:pPr eaLnBrk="1" hangingPunct="1"/>
            <a:r>
              <a:rPr lang="en-US" altLang="en-US" dirty="0">
                <a:solidFill>
                  <a:schemeClr val="tx1">
                    <a:lumMod val="50000"/>
                    <a:lumOff val="50000"/>
                  </a:schemeClr>
                </a:solidFill>
              </a:rPr>
              <a:t>Combined Scheme:  UNIX UFS </a:t>
            </a:r>
            <a:br>
              <a:rPr lang="en-US" altLang="en-US" sz="2800" dirty="0">
                <a:solidFill>
                  <a:schemeClr val="tx1">
                    <a:lumMod val="50000"/>
                    <a:lumOff val="50000"/>
                  </a:schemeClr>
                </a:solidFill>
              </a:rPr>
            </a:br>
            <a:endParaRPr lang="en-US" altLang="en-US" sz="2800" dirty="0">
              <a:solidFill>
                <a:schemeClr val="tx1">
                  <a:lumMod val="50000"/>
                  <a:lumOff val="50000"/>
                </a:schemeClr>
              </a:solidFill>
            </a:endParaRPr>
          </a:p>
        </p:txBody>
      </p:sp>
      <p:pic>
        <p:nvPicPr>
          <p:cNvPr id="56322" name="Picture 5" descr="A block diagram with a block and a block">
            <a:extLst>
              <a:ext uri="{FF2B5EF4-FFF2-40B4-BE49-F238E27FC236}">
                <a16:creationId xmlns:a16="http://schemas.microsoft.com/office/drawing/2014/main" id="{FDB3A855-EC19-734D-B5C7-E9C546F02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00" y="1684338"/>
            <a:ext cx="5175250" cy="388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3" name="TextBox 3">
            <a:extLst>
              <a:ext uri="{FF2B5EF4-FFF2-40B4-BE49-F238E27FC236}">
                <a16:creationId xmlns:a16="http://schemas.microsoft.com/office/drawing/2014/main" id="{E30C46CE-73C2-1449-95BD-5547848D2403}"/>
              </a:ext>
            </a:extLst>
          </p:cNvPr>
          <p:cNvSpPr txBox="1">
            <a:spLocks noChangeArrowheads="1"/>
          </p:cNvSpPr>
          <p:nvPr/>
        </p:nvSpPr>
        <p:spPr bwMode="auto">
          <a:xfrm>
            <a:off x="819150" y="5788025"/>
            <a:ext cx="7931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r>
              <a:rPr lang="en-US" altLang="en-US" sz="1800"/>
              <a:t>More index blocks than can be addressed with 32-bit file pointer</a:t>
            </a:r>
          </a:p>
        </p:txBody>
      </p:sp>
      <p:sp>
        <p:nvSpPr>
          <p:cNvPr id="56324" name="TextBox 1">
            <a:extLst>
              <a:ext uri="{FF2B5EF4-FFF2-40B4-BE49-F238E27FC236}">
                <a16:creationId xmlns:a16="http://schemas.microsoft.com/office/drawing/2014/main" id="{47E3FA29-480E-C745-B244-E8178A7A3B71}"/>
              </a:ext>
            </a:extLst>
          </p:cNvPr>
          <p:cNvSpPr txBox="1">
            <a:spLocks noChangeArrowheads="1"/>
          </p:cNvSpPr>
          <p:nvPr/>
        </p:nvSpPr>
        <p:spPr bwMode="auto">
          <a:xfrm>
            <a:off x="811213" y="1111250"/>
            <a:ext cx="7512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ea typeface="MS PGothic" panose="020B0600070205080204" pitchFamily="34" charset="-128"/>
              </a:defRPr>
            </a:lvl1pPr>
            <a:lvl2pPr marL="742950" indent="-285750">
              <a:defRPr sz="2400">
                <a:solidFill>
                  <a:schemeClr val="tx1"/>
                </a:solidFill>
                <a:latin typeface="Verdana" panose="020B0604030504040204" pitchFamily="34" charset="0"/>
                <a:ea typeface="MS PGothic" panose="020B0600070205080204" pitchFamily="34" charset="-128"/>
              </a:defRPr>
            </a:lvl2pPr>
            <a:lvl3pPr marL="1143000" indent="-228600">
              <a:defRPr sz="2400">
                <a:solidFill>
                  <a:schemeClr val="tx1"/>
                </a:solidFill>
                <a:latin typeface="Verdana" panose="020B0604030504040204" pitchFamily="34" charset="0"/>
                <a:ea typeface="MS PGothic" panose="020B0600070205080204" pitchFamily="34" charset="-128"/>
              </a:defRPr>
            </a:lvl3pPr>
            <a:lvl4pPr marL="1600200" indent="-228600">
              <a:defRPr sz="2400">
                <a:solidFill>
                  <a:schemeClr val="tx1"/>
                </a:solidFill>
                <a:latin typeface="Verdana" panose="020B0604030504040204" pitchFamily="34" charset="0"/>
                <a:ea typeface="MS PGothic" panose="020B0600070205080204" pitchFamily="34" charset="-128"/>
              </a:defRPr>
            </a:lvl4pPr>
            <a:lvl5pPr marL="2057400" indent="-228600">
              <a:defRPr sz="2400">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Verdana" panose="020B0604030504040204" pitchFamily="34" charset="0"/>
                <a:ea typeface="MS PGothic" panose="020B0600070205080204" pitchFamily="34" charset="-128"/>
              </a:defRPr>
            </a:lvl9pPr>
          </a:lstStyle>
          <a:p>
            <a:r>
              <a:rPr lang="en-US" altLang="en-US" sz="1800"/>
              <a:t>4K bytes per block, 32-bit addresses</a:t>
            </a:r>
          </a:p>
        </p:txBody>
      </p:sp>
      <p:cxnSp>
        <p:nvCxnSpPr>
          <p:cNvPr id="6" name="Straight Connector 5">
            <a:extLst>
              <a:ext uri="{FF2B5EF4-FFF2-40B4-BE49-F238E27FC236}">
                <a16:creationId xmlns:a16="http://schemas.microsoft.com/office/drawing/2014/main" id="{8FDB1D96-1752-7B43-B584-7848497CAF5C}"/>
              </a:ext>
            </a:extLst>
          </p:cNvPr>
          <p:cNvCxnSpPr>
            <a:cxnSpLocks/>
          </p:cNvCxnSpPr>
          <p:nvPr/>
        </p:nvCxnSpPr>
        <p:spPr>
          <a:xfrm>
            <a:off x="0" y="825500"/>
            <a:ext cx="4851400" cy="0"/>
          </a:xfrm>
          <a:prstGeom prst="line">
            <a:avLst/>
          </a:prstGeom>
          <a:ln w="38100">
            <a:solidFill>
              <a:srgbClr val="FF8D4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51070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79B7789D-950D-704B-8FD4-2B3AB0FCD543}"/>
              </a:ext>
            </a:extLst>
          </p:cNvPr>
          <p:cNvSpPr>
            <a:spLocks noGrp="1"/>
          </p:cNvSpPr>
          <p:nvPr>
            <p:ph type="title"/>
          </p:nvPr>
        </p:nvSpPr>
        <p:spPr>
          <a:xfrm>
            <a:off x="457200" y="182563"/>
            <a:ext cx="8229600" cy="576262"/>
          </a:xfrm>
        </p:spPr>
        <p:txBody>
          <a:bodyPr/>
          <a:lstStyle/>
          <a:p>
            <a:r>
              <a:rPr lang="en-US" altLang="en-US"/>
              <a:t>Performance </a:t>
            </a:r>
          </a:p>
        </p:txBody>
      </p:sp>
      <p:sp>
        <p:nvSpPr>
          <p:cNvPr id="58370" name="Content Placeholder 2">
            <a:extLst>
              <a:ext uri="{FF2B5EF4-FFF2-40B4-BE49-F238E27FC236}">
                <a16:creationId xmlns:a16="http://schemas.microsoft.com/office/drawing/2014/main" id="{BB217FF3-D429-B846-8C81-3E4C63373686}"/>
              </a:ext>
            </a:extLst>
          </p:cNvPr>
          <p:cNvSpPr>
            <a:spLocks noGrp="1"/>
          </p:cNvSpPr>
          <p:nvPr>
            <p:ph idx="1"/>
          </p:nvPr>
        </p:nvSpPr>
        <p:spPr>
          <a:xfrm>
            <a:off x="869950" y="1138238"/>
            <a:ext cx="7154863" cy="4530725"/>
          </a:xfrm>
        </p:spPr>
        <p:txBody>
          <a:bodyPr/>
          <a:lstStyle/>
          <a:p>
            <a:r>
              <a:rPr lang="en-US" altLang="en-US" dirty="0"/>
              <a:t>Best method depends on file access type (random or sequential)</a:t>
            </a:r>
          </a:p>
          <a:p>
            <a:pPr lvl="1"/>
            <a:r>
              <a:rPr lang="en-US" altLang="en-US" dirty="0"/>
              <a:t>Contiguous great for sequential and random</a:t>
            </a:r>
          </a:p>
          <a:p>
            <a:r>
              <a:rPr lang="en-US" altLang="en-US" dirty="0"/>
              <a:t>Linked good for sequential, not random</a:t>
            </a:r>
          </a:p>
          <a:p>
            <a:r>
              <a:rPr lang="en-US" altLang="en-US" dirty="0"/>
              <a:t>Declare access type at creation -&gt; select either contiguous or linked</a:t>
            </a:r>
          </a:p>
          <a:p>
            <a:r>
              <a:rPr lang="en-US" altLang="en-US" dirty="0"/>
              <a:t>Indexed more complex</a:t>
            </a:r>
          </a:p>
          <a:p>
            <a:pPr lvl="1"/>
            <a:r>
              <a:rPr lang="en-US" altLang="en-US" dirty="0"/>
              <a:t>Single block access could require 2 index block reads then data block read</a:t>
            </a:r>
          </a:p>
          <a:p>
            <a:pPr lvl="1"/>
            <a:r>
              <a:rPr lang="en-US" altLang="en-US" dirty="0">
                <a:solidFill>
                  <a:srgbClr val="00B0F0"/>
                </a:solidFill>
              </a:rPr>
              <a:t>Clustering</a:t>
            </a:r>
            <a:r>
              <a:rPr lang="en-US" altLang="en-US" dirty="0"/>
              <a:t> can help improve throughput, reduce CPU overhead</a:t>
            </a:r>
          </a:p>
          <a:p>
            <a:pPr marL="377190" lvl="1" indent="0">
              <a:buNone/>
            </a:pPr>
            <a:endParaRPr lang="en-US" altLang="en-US" dirty="0"/>
          </a:p>
        </p:txBody>
      </p:sp>
    </p:spTree>
    <p:extLst>
      <p:ext uri="{BB962C8B-B14F-4D97-AF65-F5344CB8AC3E}">
        <p14:creationId xmlns:p14="http://schemas.microsoft.com/office/powerpoint/2010/main" val="16313589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2768947" y="332554"/>
            <a:ext cx="5898734" cy="5519605"/>
          </a:xfrm>
        </p:spPr>
        <p:txBody>
          <a:bodyPr/>
          <a:lstStyle/>
          <a:p>
            <a:r>
              <a:rPr lang="en-US" dirty="0"/>
              <a:t>Review the </a:t>
            </a:r>
            <a:r>
              <a:rPr lang="en-US" dirty="0">
                <a:solidFill>
                  <a:srgbClr val="FF6600"/>
                </a:solidFill>
              </a:rPr>
              <a:t>mass storage (disk) structure and issues</a:t>
            </a:r>
            <a:r>
              <a:rPr lang="en-US" dirty="0"/>
              <a:t>.</a:t>
            </a:r>
          </a:p>
          <a:p>
            <a:pPr lvl="1"/>
            <a:r>
              <a:rPr lang="en-US" dirty="0">
                <a:solidFill>
                  <a:schemeClr val="tx1">
                    <a:lumMod val="50000"/>
                    <a:lumOff val="50000"/>
                  </a:schemeClr>
                </a:solidFill>
              </a:rPr>
              <a:t>Platters, arm, head…</a:t>
            </a:r>
          </a:p>
          <a:p>
            <a:pPr lvl="1"/>
            <a:r>
              <a:rPr lang="en-US" dirty="0">
                <a:solidFill>
                  <a:schemeClr val="tx1">
                    <a:lumMod val="50000"/>
                    <a:lumOff val="50000"/>
                  </a:schemeClr>
                </a:solidFill>
              </a:rPr>
              <a:t>Relationship structure and access time</a:t>
            </a:r>
          </a:p>
          <a:p>
            <a:pPr lvl="1"/>
            <a:r>
              <a:rPr lang="en-US" dirty="0">
                <a:solidFill>
                  <a:schemeClr val="tx1">
                    <a:lumMod val="50000"/>
                    <a:lumOff val="50000"/>
                  </a:schemeClr>
                </a:solidFill>
              </a:rPr>
              <a:t>seek time, average latency</a:t>
            </a:r>
          </a:p>
          <a:p>
            <a:r>
              <a:rPr lang="en-US" dirty="0"/>
              <a:t>Learn and understand the </a:t>
            </a:r>
            <a:r>
              <a:rPr lang="en-US" dirty="0">
                <a:solidFill>
                  <a:srgbClr val="FF6600"/>
                </a:solidFill>
              </a:rPr>
              <a:t>disk scheduling </a:t>
            </a:r>
            <a:r>
              <a:rPr lang="en-US" dirty="0"/>
              <a:t>to hierarchical memory.</a:t>
            </a:r>
          </a:p>
          <a:p>
            <a:pPr lvl="1"/>
            <a:r>
              <a:rPr lang="en-US" dirty="0">
                <a:solidFill>
                  <a:schemeClr val="tx1">
                    <a:lumMod val="50000"/>
                    <a:lumOff val="50000"/>
                  </a:schemeClr>
                </a:solidFill>
              </a:rPr>
              <a:t>FCFS</a:t>
            </a:r>
          </a:p>
          <a:p>
            <a:pPr lvl="1"/>
            <a:r>
              <a:rPr lang="en-US" dirty="0">
                <a:solidFill>
                  <a:schemeClr val="tx1">
                    <a:lumMod val="50000"/>
                    <a:lumOff val="50000"/>
                  </a:schemeClr>
                </a:solidFill>
              </a:rPr>
              <a:t> SSTF</a:t>
            </a:r>
          </a:p>
          <a:p>
            <a:pPr lvl="1"/>
            <a:r>
              <a:rPr lang="en-US" dirty="0">
                <a:solidFill>
                  <a:schemeClr val="tx1">
                    <a:lumMod val="50000"/>
                    <a:lumOff val="50000"/>
                  </a:schemeClr>
                </a:solidFill>
              </a:rPr>
              <a:t>SCAN, C-SCAN</a:t>
            </a:r>
          </a:p>
          <a:p>
            <a:pPr lvl="1"/>
            <a:r>
              <a:rPr lang="en-US" dirty="0">
                <a:solidFill>
                  <a:schemeClr val="tx1">
                    <a:lumMod val="50000"/>
                    <a:lumOff val="50000"/>
                  </a:schemeClr>
                </a:solidFill>
              </a:rPr>
              <a:t>LOOK, C-LOOK</a:t>
            </a:r>
          </a:p>
          <a:p>
            <a:r>
              <a:rPr lang="en-US" dirty="0"/>
              <a:t>Describe, discuss and evaluate </a:t>
            </a:r>
            <a:r>
              <a:rPr lang="en-US" dirty="0">
                <a:solidFill>
                  <a:srgbClr val="FF6600"/>
                </a:solidFill>
              </a:rPr>
              <a:t>the disk space allocations methods</a:t>
            </a:r>
            <a:r>
              <a:rPr lang="en-US" dirty="0"/>
              <a:t>.</a:t>
            </a:r>
          </a:p>
          <a:p>
            <a:pPr lvl="1"/>
            <a:r>
              <a:rPr lang="en-US" dirty="0">
                <a:solidFill>
                  <a:schemeClr val="tx1">
                    <a:lumMod val="50000"/>
                    <a:lumOff val="50000"/>
                  </a:schemeClr>
                </a:solidFill>
              </a:rPr>
              <a:t>Contiguous</a:t>
            </a:r>
          </a:p>
          <a:p>
            <a:pPr lvl="1"/>
            <a:r>
              <a:rPr lang="en-US" dirty="0">
                <a:solidFill>
                  <a:schemeClr val="tx1">
                    <a:lumMod val="50000"/>
                    <a:lumOff val="50000"/>
                  </a:schemeClr>
                </a:solidFill>
              </a:rPr>
              <a:t>Linked</a:t>
            </a:r>
          </a:p>
          <a:p>
            <a:pPr lvl="1"/>
            <a:r>
              <a:rPr lang="en-US" dirty="0">
                <a:solidFill>
                  <a:schemeClr val="tx1">
                    <a:lumMod val="50000"/>
                    <a:lumOff val="50000"/>
                  </a:schemeClr>
                </a:solidFill>
              </a:rPr>
              <a:t>Indexed</a:t>
            </a:r>
          </a:p>
          <a:p>
            <a:pPr lvl="2"/>
            <a:r>
              <a:rPr lang="en-US" dirty="0">
                <a:solidFill>
                  <a:schemeClr val="tx1">
                    <a:lumMod val="50000"/>
                    <a:lumOff val="50000"/>
                  </a:schemeClr>
                </a:solidFill>
              </a:rPr>
              <a:t>Simple</a:t>
            </a:r>
          </a:p>
          <a:p>
            <a:pPr lvl="2"/>
            <a:r>
              <a:rPr lang="en-US" dirty="0">
                <a:solidFill>
                  <a:schemeClr val="tx1">
                    <a:lumMod val="50000"/>
                    <a:lumOff val="50000"/>
                  </a:schemeClr>
                </a:solidFill>
              </a:rPr>
              <a:t>Multilevel</a:t>
            </a:r>
          </a:p>
          <a:p>
            <a:pPr lvl="2"/>
            <a:r>
              <a:rPr lang="en-US" dirty="0">
                <a:solidFill>
                  <a:schemeClr val="tx1">
                    <a:lumMod val="50000"/>
                    <a:lumOff val="50000"/>
                  </a:schemeClr>
                </a:solidFill>
              </a:rPr>
              <a:t>Combined</a:t>
            </a:r>
          </a:p>
          <a:p>
            <a:endParaRPr lang="en-US" dirty="0">
              <a:solidFill>
                <a:schemeClr val="tx1">
                  <a:lumMod val="50000"/>
                  <a:lumOff val="50000"/>
                </a:schemeClr>
              </a:solidFill>
            </a:endParaRPr>
          </a:p>
          <a:p>
            <a:pPr marL="0" indent="0">
              <a:buNone/>
            </a:pPr>
            <a:endParaRPr lang="en-US" dirty="0">
              <a:solidFill>
                <a:schemeClr val="tx1">
                  <a:lumMod val="50000"/>
                  <a:lumOff val="50000"/>
                </a:schemeClr>
              </a:solidFill>
            </a:endParaRPr>
          </a:p>
          <a:p>
            <a:pPr lvl="1"/>
            <a:endParaRPr lang="en-US" dirty="0">
              <a:solidFill>
                <a:schemeClr val="tx1">
                  <a:lumMod val="50000"/>
                  <a:lumOff val="50000"/>
                </a:schemeClr>
              </a:solidFill>
            </a:endParaRPr>
          </a:p>
          <a:p>
            <a:endParaRPr lang="en-US" dirty="0">
              <a:solidFill>
                <a:schemeClr val="tx1">
                  <a:lumMod val="50000"/>
                  <a:lumOff val="50000"/>
                </a:schemeClr>
              </a:solidFill>
            </a:endParaRPr>
          </a:p>
          <a:p>
            <a:pPr marL="308610" lvl="1" indent="0">
              <a:buNone/>
            </a:pPr>
            <a:endParaRPr lang="en-US" dirty="0">
              <a:solidFill>
                <a:schemeClr val="tx1"/>
              </a:solidFill>
            </a:endParaRPr>
          </a:p>
          <a:p>
            <a:endParaRPr lang="en-US" dirty="0"/>
          </a:p>
          <a:p>
            <a:pPr lvl="2"/>
            <a:endParaRPr lang="en-US" dirty="0"/>
          </a:p>
          <a:p>
            <a:endParaRPr lang="en-US" dirty="0"/>
          </a:p>
        </p:txBody>
      </p:sp>
      <p:sp>
        <p:nvSpPr>
          <p:cNvPr id="5" name="Title 4"/>
          <p:cNvSpPr>
            <a:spLocks noGrp="1"/>
          </p:cNvSpPr>
          <p:nvPr>
            <p:ph type="title"/>
          </p:nvPr>
        </p:nvSpPr>
        <p:spPr/>
        <p:txBody>
          <a:bodyPr/>
          <a:lstStyle/>
          <a:p>
            <a:r>
              <a:rPr lang="en-US" dirty="0"/>
              <a:t>Wrap Up</a:t>
            </a:r>
          </a:p>
        </p:txBody>
      </p:sp>
    </p:spTree>
    <p:extLst>
      <p:ext uri="{BB962C8B-B14F-4D97-AF65-F5344CB8AC3E}">
        <p14:creationId xmlns:p14="http://schemas.microsoft.com/office/powerpoint/2010/main" val="5514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3"/>
    </p:bldLst>
  </p:timing>
</p:sld>
</file>

<file path=ppt/theme/theme1.xml><?xml version="1.0" encoding="utf-8"?>
<a:theme xmlns:a="http://schemas.openxmlformats.org/drawingml/2006/main" name="WM_SlideTemplateA_Template">
  <a:themeElements>
    <a:clrScheme name="Custom 1">
      <a:dk1>
        <a:srgbClr val="000000"/>
      </a:dk1>
      <a:lt1>
        <a:sysClr val="window" lastClr="FFFFFF"/>
      </a:lt1>
      <a:dk2>
        <a:srgbClr val="5E5E5E"/>
      </a:dk2>
      <a:lt2>
        <a:srgbClr val="DDDDDD"/>
      </a:lt2>
      <a:accent1>
        <a:srgbClr val="004065"/>
      </a:accent1>
      <a:accent2>
        <a:srgbClr val="9593B9"/>
      </a:accent2>
      <a:accent3>
        <a:srgbClr val="DEC258"/>
      </a:accent3>
      <a:accent4>
        <a:srgbClr val="96CBB2"/>
      </a:accent4>
      <a:accent5>
        <a:srgbClr val="88A8C2"/>
      </a:accent5>
      <a:accent6>
        <a:srgbClr val="E2BBA2"/>
      </a:accent6>
      <a:hlink>
        <a:srgbClr val="6A938A"/>
      </a:hlink>
      <a:folHlink>
        <a:srgbClr val="B2B2B2"/>
      </a:folHlink>
    </a:clrScheme>
    <a:fontScheme name="Gill Sans MT">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Auburn_ExampleSlides_OptionA_Demo_ML" id="{4F358B03-E485-B847-841D-66421C1D2BD5}" vid="{44E32B64-2C70-EB4E-B445-56D689BF2F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Auburn_ExampleSlides_OptionA_Template</Template>
  <TotalTime>51971</TotalTime>
  <Words>2702</Words>
  <Application>Microsoft Macintosh PowerPoint</Application>
  <PresentationFormat>On-screen Show (4:3)</PresentationFormat>
  <Paragraphs>482</Paragraphs>
  <Slides>45</Slides>
  <Notes>37</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45</vt:i4>
      </vt:variant>
    </vt:vector>
  </HeadingPairs>
  <TitlesOfParts>
    <vt:vector size="61" baseType="lpstr">
      <vt:lpstr>HGｺﾞｼｯｸE</vt:lpstr>
      <vt:lpstr>ＭＳ Ｐゴシック</vt:lpstr>
      <vt:lpstr>ＭＳ Ｐゴシック</vt:lpstr>
      <vt:lpstr>Apple Braille</vt:lpstr>
      <vt:lpstr>Arial</vt:lpstr>
      <vt:lpstr>Calibri</vt:lpstr>
      <vt:lpstr>Century Gothic</vt:lpstr>
      <vt:lpstr>Gill Sans MT</vt:lpstr>
      <vt:lpstr>Helvetica</vt:lpstr>
      <vt:lpstr>Monotype Sorts</vt:lpstr>
      <vt:lpstr>Questrial</vt:lpstr>
      <vt:lpstr>Symbol</vt:lpstr>
      <vt:lpstr>Times New Roman</vt:lpstr>
      <vt:lpstr>Verdana</vt:lpstr>
      <vt:lpstr>Wingdings 2</vt:lpstr>
      <vt:lpstr>WM_SlideTemplateA_Template</vt:lpstr>
      <vt:lpstr> File System </vt:lpstr>
      <vt:lpstr>PowerPoint Presentation</vt:lpstr>
      <vt:lpstr>Disk Structure</vt:lpstr>
      <vt:lpstr>Overview of Mass Storage Structure</vt:lpstr>
      <vt:lpstr>Moving-head Disk Mechanism</vt:lpstr>
      <vt:lpstr>Hard Disks</vt:lpstr>
      <vt:lpstr>Hard Disk Performance</vt:lpstr>
      <vt:lpstr>Solid-State Disks</vt:lpstr>
      <vt:lpstr>Magnetic Tape</vt:lpstr>
      <vt:lpstr>Disk Structure</vt:lpstr>
      <vt:lpstr>Disk Scheduling (1/3)</vt:lpstr>
      <vt:lpstr>Disk Scheduling</vt:lpstr>
      <vt:lpstr>Disk Scheduling (Cont.)</vt:lpstr>
      <vt:lpstr>Disk Scheduling (Cont.)</vt:lpstr>
      <vt:lpstr>FCFS</vt:lpstr>
      <vt:lpstr>FCFS</vt:lpstr>
      <vt:lpstr>Disk Scheduling (2/3)</vt:lpstr>
      <vt:lpstr>SSTF</vt:lpstr>
      <vt:lpstr>SSTF</vt:lpstr>
      <vt:lpstr>SCAN</vt:lpstr>
      <vt:lpstr>SCAN (Cont.)</vt:lpstr>
      <vt:lpstr>Disk Scheduling (3/3)</vt:lpstr>
      <vt:lpstr>C-SCAN</vt:lpstr>
      <vt:lpstr>C-SCAN (Cont.)</vt:lpstr>
      <vt:lpstr>LOOK</vt:lpstr>
      <vt:lpstr>C-LOOK</vt:lpstr>
      <vt:lpstr>C-LOOK (Cont.)</vt:lpstr>
      <vt:lpstr>Selecting a Disk-Scheduling Algorithm</vt:lpstr>
      <vt:lpstr>Allocation Methods</vt:lpstr>
      <vt:lpstr>Allocation Methods - Contiguous</vt:lpstr>
      <vt:lpstr>Contiguous Allocation</vt:lpstr>
      <vt:lpstr>Extent-Based Systems</vt:lpstr>
      <vt:lpstr>Allocation Methods - Linked</vt:lpstr>
      <vt:lpstr>Linked Allocation</vt:lpstr>
      <vt:lpstr>Linked Allocation</vt:lpstr>
      <vt:lpstr>File Allocation Table (FAT)– (Linked Allocation Variation)</vt:lpstr>
      <vt:lpstr>File Allocation Table (FAT)– (Linked Allocation Variation)</vt:lpstr>
      <vt:lpstr>Allocation Methods</vt:lpstr>
      <vt:lpstr>Allocation Methods - Indexed</vt:lpstr>
      <vt:lpstr>Example of Indexed Allocation</vt:lpstr>
      <vt:lpstr>Indexed Allocation (Cont.)</vt:lpstr>
      <vt:lpstr>Indexed Allocation</vt:lpstr>
      <vt:lpstr>Combined Scheme:  UNIX UFS  </vt:lpstr>
      <vt:lpstr>Performance </vt:lpstr>
      <vt:lpstr>Wrap Up</vt:lpstr>
    </vt:vector>
  </TitlesOfParts>
  <Company>Auburn University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Basics: Understanding the Computer’s Language 0s and 1s  </dc:title>
  <dc:creator>Saad Biaz</dc:creator>
  <cp:lastModifiedBy>Saad Biaz</cp:lastModifiedBy>
  <cp:revision>1326</cp:revision>
  <cp:lastPrinted>2018-05-18T14:00:12Z</cp:lastPrinted>
  <dcterms:created xsi:type="dcterms:W3CDTF">2017-11-05T19:40:43Z</dcterms:created>
  <dcterms:modified xsi:type="dcterms:W3CDTF">2021-06-14T05:08:14Z</dcterms:modified>
</cp:coreProperties>
</file>