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sldIdLst>
    <p:sldId id="256" r:id="rId2"/>
    <p:sldId id="264" r:id="rId3"/>
    <p:sldId id="266" r:id="rId4"/>
    <p:sldId id="274" r:id="rId5"/>
    <p:sldId id="275" r:id="rId6"/>
    <p:sldId id="257" r:id="rId7"/>
    <p:sldId id="260" r:id="rId8"/>
    <p:sldId id="281" r:id="rId9"/>
    <p:sldId id="282" r:id="rId10"/>
    <p:sldId id="283" r:id="rId11"/>
    <p:sldId id="284" r:id="rId12"/>
    <p:sldId id="258" r:id="rId13"/>
    <p:sldId id="265" r:id="rId14"/>
    <p:sldId id="278" r:id="rId15"/>
    <p:sldId id="279" r:id="rId16"/>
    <p:sldId id="280" r:id="rId17"/>
    <p:sldId id="261" r:id="rId18"/>
    <p:sldId id="263" r:id="rId19"/>
    <p:sldId id="267" r:id="rId20"/>
    <p:sldId id="268" r:id="rId21"/>
    <p:sldId id="269" r:id="rId22"/>
    <p:sldId id="259" r:id="rId23"/>
    <p:sldId id="262" r:id="rId24"/>
    <p:sldId id="276" r:id="rId25"/>
    <p:sldId id="272" r:id="rId26"/>
    <p:sldId id="273" r:id="rId27"/>
    <p:sldId id="286" r:id="rId28"/>
    <p:sldId id="277"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61BAC6-722E-ED49-8F68-C93023964BF3}" v="15" dt="2025-10-21T01:51:08.740"/>
    <p1510:client id="{C47964B5-92B5-CA0C-75C0-B0C33A0A1B12}" v="5" dt="2025-10-21T02:31:13.9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24D0AB-4AE2-468A-BD61-78DFFB3793EC}" type="datetimeFigureOut">
              <a:t>10/20/2025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4D8152-7AD0-4ED9-9137-87DAEE0446EE}" type="slidenum">
              <a:t>‹#›</a:t>
            </a:fld>
            <a:endParaRPr lang="en-GB"/>
          </a:p>
        </p:txBody>
      </p:sp>
    </p:spTree>
    <p:extLst>
      <p:ext uri="{BB962C8B-B14F-4D97-AF65-F5344CB8AC3E}">
        <p14:creationId xmlns:p14="http://schemas.microsoft.com/office/powerpoint/2010/main" val="306101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Interaction design is about shaping digital experiences in the real world. Designers work in fast-paced business and commercial environments, often with limited time and resources. They collaborate with professionals from various roles — developers, marketers, and product managers — to bring design ideas into practice. The real challenge lies in translating design principles into solutions that actually work for users in everyday contexts.</a:t>
            </a:r>
          </a:p>
        </p:txBody>
      </p:sp>
      <p:sp>
        <p:nvSpPr>
          <p:cNvPr id="4" name="Slide Number Placeholder 3"/>
          <p:cNvSpPr>
            <a:spLocks noGrp="1"/>
          </p:cNvSpPr>
          <p:nvPr>
            <p:ph type="sldNum" sz="quarter" idx="5"/>
          </p:nvPr>
        </p:nvSpPr>
        <p:spPr/>
        <p:txBody>
          <a:bodyPr/>
          <a:lstStyle/>
          <a:p>
            <a:fld id="{904D8152-7AD0-4ED9-9137-87DAEE0446EE}" type="slidenum">
              <a:t>3</a:t>
            </a:fld>
            <a:endParaRPr lang="en-GB"/>
          </a:p>
        </p:txBody>
      </p:sp>
    </p:spTree>
    <p:extLst>
      <p:ext uri="{BB962C8B-B14F-4D97-AF65-F5344CB8AC3E}">
        <p14:creationId xmlns:p14="http://schemas.microsoft.com/office/powerpoint/2010/main" val="3158418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Harry </a:t>
            </a:r>
            <a:r>
              <a:rPr lang="en-US" err="1"/>
              <a:t>Brignull</a:t>
            </a:r>
            <a:r>
              <a:rPr lang="en-US"/>
              <a:t> said, “Research and design are naturally messy.” This means that in real-world practice, designers frequently step outside their comfort zones. They must constantly adapt, communicate effectively with teams, and advocate for user needs even when business goals or deadlines conflict with them. Professional growth in interaction design comes from learning continuously, experimenting, and handling uncertainty.</a:t>
            </a:r>
          </a:p>
        </p:txBody>
      </p:sp>
      <p:sp>
        <p:nvSpPr>
          <p:cNvPr id="4" name="Slide Number Placeholder 3"/>
          <p:cNvSpPr>
            <a:spLocks noGrp="1"/>
          </p:cNvSpPr>
          <p:nvPr>
            <p:ph type="sldNum" sz="quarter" idx="5"/>
          </p:nvPr>
        </p:nvSpPr>
        <p:spPr/>
        <p:txBody>
          <a:bodyPr/>
          <a:lstStyle/>
          <a:p>
            <a:fld id="{904D8152-7AD0-4ED9-9137-87DAEE0446EE}" type="slidenum">
              <a:t>4</a:t>
            </a:fld>
            <a:endParaRPr lang="en-GB"/>
          </a:p>
        </p:txBody>
      </p:sp>
    </p:spTree>
    <p:extLst>
      <p:ext uri="{BB962C8B-B14F-4D97-AF65-F5344CB8AC3E}">
        <p14:creationId xmlns:p14="http://schemas.microsoft.com/office/powerpoint/2010/main" val="1312463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industry, interaction designers go by many titles such as UX Designer, Interface Designer, Usability Engineer, or Information Architect. Among these, </a:t>
            </a:r>
            <a:r>
              <a:rPr lang="en-US" i="1"/>
              <a:t>UX Designer</a:t>
            </a:r>
            <a:r>
              <a:rPr lang="en-US"/>
              <a:t> is the most common title today. Their work involves user research, interface design, usability testing, and product evaluation. Successful designers combine empathy and collaboration to understand user behavior and build designs that make technology easy and enjoyable to use.</a:t>
            </a:r>
          </a:p>
        </p:txBody>
      </p:sp>
      <p:sp>
        <p:nvSpPr>
          <p:cNvPr id="4" name="Slide Number Placeholder 3"/>
          <p:cNvSpPr>
            <a:spLocks noGrp="1"/>
          </p:cNvSpPr>
          <p:nvPr>
            <p:ph type="sldNum" sz="quarter" idx="5"/>
          </p:nvPr>
        </p:nvSpPr>
        <p:spPr/>
        <p:txBody>
          <a:bodyPr/>
          <a:lstStyle/>
          <a:p>
            <a:fld id="{904D8152-7AD0-4ED9-9137-87DAEE0446EE}" type="slidenum">
              <a:t>5</a:t>
            </a:fld>
            <a:endParaRPr lang="en-GB"/>
          </a:p>
        </p:txBody>
      </p:sp>
    </p:spTree>
    <p:extLst>
      <p:ext uri="{BB962C8B-B14F-4D97-AF65-F5344CB8AC3E}">
        <p14:creationId xmlns:p14="http://schemas.microsoft.com/office/powerpoint/2010/main" val="770916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my name is </a:t>
            </a:r>
            <a:r>
              <a:rPr lang="en-US" err="1"/>
              <a:t>meghan</a:t>
            </a:r>
            <a:r>
              <a:rPr lang="en-US"/>
              <a:t> murphy and </a:t>
            </a:r>
            <a:r>
              <a:rPr lang="en-US" err="1"/>
              <a:t>i'm</a:t>
            </a:r>
            <a:r>
              <a:rPr lang="en-US"/>
              <a:t> going to be covering Agile UX </a:t>
            </a:r>
          </a:p>
        </p:txBody>
      </p:sp>
      <p:sp>
        <p:nvSpPr>
          <p:cNvPr id="4" name="Slide Number Placeholder 3"/>
          <p:cNvSpPr>
            <a:spLocks noGrp="1"/>
          </p:cNvSpPr>
          <p:nvPr>
            <p:ph type="sldNum" sz="quarter" idx="5"/>
          </p:nvPr>
        </p:nvSpPr>
        <p:spPr/>
        <p:txBody>
          <a:bodyPr/>
          <a:lstStyle/>
          <a:p>
            <a:fld id="{904D8152-7AD0-4ED9-9137-87DAEE0446EE}" type="slidenum">
              <a:rPr lang="en-US" smtClean="0"/>
              <a:t>6</a:t>
            </a:fld>
            <a:endParaRPr lang="en-US"/>
          </a:p>
        </p:txBody>
      </p:sp>
    </p:spTree>
    <p:extLst>
      <p:ext uri="{BB962C8B-B14F-4D97-AF65-F5344CB8AC3E}">
        <p14:creationId xmlns:p14="http://schemas.microsoft.com/office/powerpoint/2010/main" val="3048976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Agile UX combines UX design with agile software development methods such as designing, testing, and implementing improvements within products. It focuses on continuous collaboration, iteration, and user feedback to create something user friendly, functional, and adaptive. Usually, Agile User experience is implemented within short, agile cycles called sprints to further improve the product.</a:t>
            </a:r>
          </a:p>
        </p:txBody>
      </p:sp>
      <p:sp>
        <p:nvSpPr>
          <p:cNvPr id="4" name="Slide Number Placeholder 3"/>
          <p:cNvSpPr>
            <a:spLocks noGrp="1"/>
          </p:cNvSpPr>
          <p:nvPr>
            <p:ph type="sldNum" sz="quarter" idx="5"/>
          </p:nvPr>
        </p:nvSpPr>
        <p:spPr/>
        <p:txBody>
          <a:bodyPr/>
          <a:lstStyle/>
          <a:p>
            <a:fld id="{904D8152-7AD0-4ED9-9137-87DAEE0446EE}" type="slidenum">
              <a:rPr lang="en-US" smtClean="0"/>
              <a:t>7</a:t>
            </a:fld>
            <a:endParaRPr lang="en-US"/>
          </a:p>
        </p:txBody>
      </p:sp>
    </p:spTree>
    <p:extLst>
      <p:ext uri="{BB962C8B-B14F-4D97-AF65-F5344CB8AC3E}">
        <p14:creationId xmlns:p14="http://schemas.microsoft.com/office/powerpoint/2010/main" val="2203999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User research is basically where a product is distributed into a a research group of users and they test the usability of the product. It's normally used before and during development, but Donald Norman recommends that it's implemented before development. Iteration zero is an early project phase to sort of set the beginning stepping stones of the product, in this case primarily for user research and system design.</a:t>
            </a:r>
          </a:p>
        </p:txBody>
      </p:sp>
      <p:sp>
        <p:nvSpPr>
          <p:cNvPr id="4" name="Slide Number Placeholder 3"/>
          <p:cNvSpPr>
            <a:spLocks noGrp="1"/>
          </p:cNvSpPr>
          <p:nvPr>
            <p:ph type="sldNum" sz="quarter" idx="5"/>
          </p:nvPr>
        </p:nvSpPr>
        <p:spPr/>
        <p:txBody>
          <a:bodyPr/>
          <a:lstStyle/>
          <a:p>
            <a:fld id="{904D8152-7AD0-4ED9-9137-87DAEE0446EE}" type="slidenum">
              <a:rPr lang="en-US" smtClean="0"/>
              <a:t>8</a:t>
            </a:fld>
            <a:endParaRPr lang="en-US"/>
          </a:p>
        </p:txBody>
      </p:sp>
    </p:spTree>
    <p:extLst>
      <p:ext uri="{BB962C8B-B14F-4D97-AF65-F5344CB8AC3E}">
        <p14:creationId xmlns:p14="http://schemas.microsoft.com/office/powerpoint/2010/main" val="4236227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Lean UX is a little bit different than lean user research as mentioned in the last slide. Lean UX is more about combining agile </a:t>
            </a:r>
            <a:r>
              <a:rPr lang="en-US" err="1"/>
              <a:t>ux</a:t>
            </a:r>
            <a:r>
              <a:rPr lang="en-US"/>
              <a:t> with lean user research by completing the step by step used for lean user research, while also including the sprint cycles implemented in agile ux. It's also more focused on user impact rather than product efficiency.</a:t>
            </a:r>
          </a:p>
        </p:txBody>
      </p:sp>
      <p:sp>
        <p:nvSpPr>
          <p:cNvPr id="4" name="Slide Number Placeholder 3"/>
          <p:cNvSpPr>
            <a:spLocks noGrp="1"/>
          </p:cNvSpPr>
          <p:nvPr>
            <p:ph type="sldNum" sz="quarter" idx="5"/>
          </p:nvPr>
        </p:nvSpPr>
        <p:spPr/>
        <p:txBody>
          <a:bodyPr/>
          <a:lstStyle/>
          <a:p>
            <a:fld id="{904D8152-7AD0-4ED9-9137-87DAEE0446EE}" type="slidenum">
              <a:rPr lang="en-US" smtClean="0"/>
              <a:t>9</a:t>
            </a:fld>
            <a:endParaRPr lang="en-US"/>
          </a:p>
        </p:txBody>
      </p:sp>
    </p:spTree>
    <p:extLst>
      <p:ext uri="{BB962C8B-B14F-4D97-AF65-F5344CB8AC3E}">
        <p14:creationId xmlns:p14="http://schemas.microsoft.com/office/powerpoint/2010/main" val="3805504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goes through the steps of a typical Lean UX layout. It begins with a problem, then discussing the desired outcome, targeted users, and potential user benefits to using the product. Then it starts going into "how could we fix the problem in the product?" starting with solution ideas, then going into how could we implement those ideas with hypotheses. Then into riskiest assumptions to what those solutions could do, and then experiments. as you can tell it's very similar to the scientific method.</a:t>
            </a:r>
          </a:p>
        </p:txBody>
      </p:sp>
      <p:sp>
        <p:nvSpPr>
          <p:cNvPr id="4" name="Slide Number Placeholder 3"/>
          <p:cNvSpPr>
            <a:spLocks noGrp="1"/>
          </p:cNvSpPr>
          <p:nvPr>
            <p:ph type="sldNum" sz="quarter" idx="5"/>
          </p:nvPr>
        </p:nvSpPr>
        <p:spPr/>
        <p:txBody>
          <a:bodyPr/>
          <a:lstStyle/>
          <a:p>
            <a:fld id="{904D8152-7AD0-4ED9-9137-87DAEE0446EE}" type="slidenum">
              <a:rPr lang="en-US" smtClean="0"/>
              <a:t>10</a:t>
            </a:fld>
            <a:endParaRPr lang="en-US"/>
          </a:p>
        </p:txBody>
      </p:sp>
    </p:spTree>
    <p:extLst>
      <p:ext uri="{BB962C8B-B14F-4D97-AF65-F5344CB8AC3E}">
        <p14:creationId xmlns:p14="http://schemas.microsoft.com/office/powerpoint/2010/main" val="2348619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Aligning work practices is basically combining all aspects of Agile UX together to create one large solution to any problems within the product. This means combining the ideas of using sprints, user research, and lean UX for a better outcome than using only a couple of the methods. One of the things on here that was not previously mentioned is the Dual tracks approach, which is basically where you design and research a cycle or sprint ahead of the current cycle in development. Cycle 0 implements the idea of iteration zero, but in terms of Agile UX with cycles. With aligning work practices, there is less wasted effort, faster feedback, and better collaboration overall.</a:t>
            </a:r>
          </a:p>
        </p:txBody>
      </p:sp>
      <p:sp>
        <p:nvSpPr>
          <p:cNvPr id="4" name="Slide Number Placeholder 3"/>
          <p:cNvSpPr>
            <a:spLocks noGrp="1"/>
          </p:cNvSpPr>
          <p:nvPr>
            <p:ph type="sldNum" sz="quarter" idx="5"/>
          </p:nvPr>
        </p:nvSpPr>
        <p:spPr/>
        <p:txBody>
          <a:bodyPr/>
          <a:lstStyle/>
          <a:p>
            <a:fld id="{904D8152-7AD0-4ED9-9137-87DAEE0446EE}" type="slidenum">
              <a:rPr lang="en-US" smtClean="0"/>
              <a:t>11</a:t>
            </a:fld>
            <a:endParaRPr lang="en-US"/>
          </a:p>
        </p:txBody>
      </p:sp>
    </p:spTree>
    <p:extLst>
      <p:ext uri="{BB962C8B-B14F-4D97-AF65-F5344CB8AC3E}">
        <p14:creationId xmlns:p14="http://schemas.microsoft.com/office/powerpoint/2010/main" val="1210110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Open-source resources are tools or platforms that make their source code freely available for anyone to use, modify, and share. They are the backbone of many digital infrastructures — for example, Linux, Eclipse, and PHP. The open-source movement promotes collaboration, transparency, and continuous innovation, which are essential qualities in the interaction design community.</a:t>
            </a:r>
          </a:p>
        </p:txBody>
      </p:sp>
      <p:sp>
        <p:nvSpPr>
          <p:cNvPr id="4" name="Slide Number Placeholder 3"/>
          <p:cNvSpPr>
            <a:spLocks noGrp="1"/>
          </p:cNvSpPr>
          <p:nvPr>
            <p:ph type="sldNum" sz="quarter" idx="5"/>
          </p:nvPr>
        </p:nvSpPr>
        <p:spPr/>
        <p:txBody>
          <a:bodyPr/>
          <a:lstStyle/>
          <a:p>
            <a:fld id="{904D8152-7AD0-4ED9-9137-87DAEE0446EE}" type="slidenum">
              <a:t>18</a:t>
            </a:fld>
            <a:endParaRPr lang="en-GB"/>
          </a:p>
        </p:txBody>
      </p:sp>
    </p:spTree>
    <p:extLst>
      <p:ext uri="{BB962C8B-B14F-4D97-AF65-F5344CB8AC3E}">
        <p14:creationId xmlns:p14="http://schemas.microsoft.com/office/powerpoint/2010/main" val="788575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interaction design, open-source software helps designers build better user experiences quickly. It allows them to reuse existing UI frameworks and design patterns instead of creating everything from scratch. This not only saves time but also helps maintain design consistency across projects. Moreover, community contributions lead to regular updates and peer reviews, improving the overall quality of design tools.</a:t>
            </a:r>
          </a:p>
        </p:txBody>
      </p:sp>
      <p:sp>
        <p:nvSpPr>
          <p:cNvPr id="4" name="Slide Number Placeholder 3"/>
          <p:cNvSpPr>
            <a:spLocks noGrp="1"/>
          </p:cNvSpPr>
          <p:nvPr>
            <p:ph type="sldNum" sz="quarter" idx="5"/>
          </p:nvPr>
        </p:nvSpPr>
        <p:spPr/>
        <p:txBody>
          <a:bodyPr/>
          <a:lstStyle/>
          <a:p>
            <a:fld id="{904D8152-7AD0-4ED9-9137-87DAEE0446EE}" type="slidenum">
              <a:t>19</a:t>
            </a:fld>
            <a:endParaRPr lang="en-GB"/>
          </a:p>
        </p:txBody>
      </p:sp>
    </p:spTree>
    <p:extLst>
      <p:ext uri="{BB962C8B-B14F-4D97-AF65-F5344CB8AC3E}">
        <p14:creationId xmlns:p14="http://schemas.microsoft.com/office/powerpoint/2010/main" val="3781941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examples include </a:t>
            </a:r>
            <a:r>
              <a:rPr lang="en-US" b="1"/>
              <a:t>Bootstrap</a:t>
            </a:r>
            <a:r>
              <a:rPr lang="en-US"/>
              <a:t>, which offers ready-to-use grids, layouts, and UI components for responsive design, and </a:t>
            </a:r>
            <a:r>
              <a:rPr lang="en-US" b="1"/>
              <a:t>GitHub</a:t>
            </a:r>
            <a:r>
              <a:rPr lang="en-US"/>
              <a:t>, the leading platform for hosting and collaborating on open-source projects. With over 80 million users, GitHub enables version control, documentation, and collective problem-solving — all crucial for teamwork in UX and development.</a:t>
            </a:r>
          </a:p>
        </p:txBody>
      </p:sp>
      <p:sp>
        <p:nvSpPr>
          <p:cNvPr id="4" name="Slide Number Placeholder 3"/>
          <p:cNvSpPr>
            <a:spLocks noGrp="1"/>
          </p:cNvSpPr>
          <p:nvPr>
            <p:ph type="sldNum" sz="quarter" idx="5"/>
          </p:nvPr>
        </p:nvSpPr>
        <p:spPr/>
        <p:txBody>
          <a:bodyPr/>
          <a:lstStyle/>
          <a:p>
            <a:fld id="{904D8152-7AD0-4ED9-9137-87DAEE0446EE}" type="slidenum">
              <a:t>20</a:t>
            </a:fld>
            <a:endParaRPr lang="en-GB"/>
          </a:p>
        </p:txBody>
      </p:sp>
    </p:spTree>
    <p:extLst>
      <p:ext uri="{BB962C8B-B14F-4D97-AF65-F5344CB8AC3E}">
        <p14:creationId xmlns:p14="http://schemas.microsoft.com/office/powerpoint/2010/main" val="23640589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However, while open-source resources are cost-effective and accessible, they also come with challenges. Designers must ensure compatibility between components, maintain quality control, and understand software licenses. Some technical knowledge is often needed to modify and adapt open-source tools effectively. Despite these challenges, open-source design encourages creativity, collaboration, and shared learning across the global design community.</a:t>
            </a:r>
          </a:p>
        </p:txBody>
      </p:sp>
      <p:sp>
        <p:nvSpPr>
          <p:cNvPr id="4" name="Slide Number Placeholder 3"/>
          <p:cNvSpPr>
            <a:spLocks noGrp="1"/>
          </p:cNvSpPr>
          <p:nvPr>
            <p:ph type="sldNum" sz="quarter" idx="5"/>
          </p:nvPr>
        </p:nvSpPr>
        <p:spPr/>
        <p:txBody>
          <a:bodyPr/>
          <a:lstStyle/>
          <a:p>
            <a:fld id="{904D8152-7AD0-4ED9-9137-87DAEE0446EE}" type="slidenum">
              <a:t>21</a:t>
            </a:fld>
            <a:endParaRPr lang="en-GB"/>
          </a:p>
        </p:txBody>
      </p:sp>
    </p:spTree>
    <p:extLst>
      <p:ext uri="{BB962C8B-B14F-4D97-AF65-F5344CB8AC3E}">
        <p14:creationId xmlns:p14="http://schemas.microsoft.com/office/powerpoint/2010/main" val="4293363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Tools are central to every interaction designer’s workflow — they help visualize ideas, create prototypes, and test usability. Essentially, these tools bridge the gap between design concepts and real implementations. They support iterative design, where ideas are constantly refined based on user feedback and testing.</a:t>
            </a:r>
          </a:p>
        </p:txBody>
      </p:sp>
      <p:sp>
        <p:nvSpPr>
          <p:cNvPr id="4" name="Slide Number Placeholder 3"/>
          <p:cNvSpPr>
            <a:spLocks noGrp="1"/>
          </p:cNvSpPr>
          <p:nvPr>
            <p:ph type="sldNum" sz="quarter" idx="5"/>
          </p:nvPr>
        </p:nvSpPr>
        <p:spPr/>
        <p:txBody>
          <a:bodyPr/>
          <a:lstStyle/>
          <a:p>
            <a:fld id="{904D8152-7AD0-4ED9-9137-87DAEE0446EE}" type="slidenum">
              <a:t>23</a:t>
            </a:fld>
            <a:endParaRPr lang="en-GB"/>
          </a:p>
        </p:txBody>
      </p:sp>
    </p:spTree>
    <p:extLst>
      <p:ext uri="{BB962C8B-B14F-4D97-AF65-F5344CB8AC3E}">
        <p14:creationId xmlns:p14="http://schemas.microsoft.com/office/powerpoint/2010/main" val="2326023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Design tools fall into different categories.</a:t>
            </a:r>
            <a:br>
              <a:rPr lang="en-US">
                <a:cs typeface="+mn-lt"/>
              </a:rPr>
            </a:br>
            <a:r>
              <a:rPr lang="en-US"/>
              <a:t> First, </a:t>
            </a:r>
            <a:r>
              <a:rPr lang="en-US" b="1"/>
              <a:t>Sketching and Wireframing tools</a:t>
            </a:r>
            <a:r>
              <a:rPr lang="en-US"/>
              <a:t> like </a:t>
            </a:r>
            <a:r>
              <a:rPr lang="en-US" i="1"/>
              <a:t>Figma</a:t>
            </a:r>
            <a:r>
              <a:rPr lang="en-US"/>
              <a:t>, </a:t>
            </a:r>
            <a:r>
              <a:rPr lang="en-US" i="1"/>
              <a:t>Sketch</a:t>
            </a:r>
            <a:r>
              <a:rPr lang="en-US"/>
              <a:t>, </a:t>
            </a:r>
            <a:r>
              <a:rPr lang="en-US" i="1"/>
              <a:t>Adobe XD</a:t>
            </a:r>
            <a:r>
              <a:rPr lang="en-US"/>
              <a:t>, and </a:t>
            </a:r>
            <a:r>
              <a:rPr lang="en-US" i="1"/>
              <a:t>Balsamiq</a:t>
            </a:r>
            <a:r>
              <a:rPr lang="en-US"/>
              <a:t> help visualize design concepts quickly and build initial blueprints.</a:t>
            </a:r>
            <a:br>
              <a:rPr lang="en-US">
                <a:cs typeface="+mn-lt"/>
              </a:rPr>
            </a:br>
            <a:r>
              <a:rPr lang="en-US"/>
              <a:t> Second, </a:t>
            </a:r>
            <a:r>
              <a:rPr lang="en-US" b="1"/>
              <a:t>Prototyping tools</a:t>
            </a:r>
            <a:r>
              <a:rPr lang="en-US"/>
              <a:t> such as </a:t>
            </a:r>
            <a:r>
              <a:rPr lang="en-US" i="1"/>
              <a:t>InVision</a:t>
            </a:r>
            <a:r>
              <a:rPr lang="en-US"/>
              <a:t>, </a:t>
            </a:r>
            <a:r>
              <a:rPr lang="en-US" i="1"/>
              <a:t>Axure RP</a:t>
            </a:r>
            <a:r>
              <a:rPr lang="en-US"/>
              <a:t>, and </a:t>
            </a:r>
            <a:r>
              <a:rPr lang="en-US" i="1"/>
              <a:t>Framer</a:t>
            </a:r>
            <a:r>
              <a:rPr lang="en-US"/>
              <a:t> allow designers to simulate user interactions and test how a product will behave.</a:t>
            </a:r>
            <a:br>
              <a:rPr lang="en-US">
                <a:cs typeface="+mn-lt"/>
              </a:rPr>
            </a:br>
            <a:r>
              <a:rPr lang="en-US"/>
              <a:t> Third, </a:t>
            </a:r>
            <a:r>
              <a:rPr lang="en-US" b="1"/>
              <a:t>Collaboration platforms</a:t>
            </a:r>
            <a:r>
              <a:rPr lang="en-US"/>
              <a:t> like </a:t>
            </a:r>
            <a:r>
              <a:rPr lang="en-US" i="1"/>
              <a:t>Miro</a:t>
            </a:r>
            <a:r>
              <a:rPr lang="en-US"/>
              <a:t>, </a:t>
            </a:r>
            <a:r>
              <a:rPr lang="en-US" i="1"/>
              <a:t>Mural</a:t>
            </a:r>
            <a:r>
              <a:rPr lang="en-US"/>
              <a:t>, and </a:t>
            </a:r>
            <a:r>
              <a:rPr lang="en-US" i="1"/>
              <a:t>Notion</a:t>
            </a:r>
            <a:r>
              <a:rPr lang="en-US"/>
              <a:t> facilitate team brainstorming, communication, and real-time co-design.</a:t>
            </a:r>
            <a:br>
              <a:rPr lang="en-US">
                <a:cs typeface="+mn-lt"/>
              </a:rPr>
            </a:br>
            <a:r>
              <a:rPr lang="en-US"/>
              <a:t> Lastly, </a:t>
            </a:r>
            <a:r>
              <a:rPr lang="en-US" b="1"/>
              <a:t>Development support tools</a:t>
            </a:r>
            <a:r>
              <a:rPr lang="en-US"/>
              <a:t> like </a:t>
            </a:r>
            <a:r>
              <a:rPr lang="en-US" i="1"/>
              <a:t>GitHub</a:t>
            </a:r>
            <a:r>
              <a:rPr lang="en-US"/>
              <a:t>, </a:t>
            </a:r>
            <a:r>
              <a:rPr lang="en-US" i="1"/>
              <a:t>GitLab</a:t>
            </a:r>
            <a:r>
              <a:rPr lang="en-US"/>
              <a:t>, and </a:t>
            </a:r>
            <a:r>
              <a:rPr lang="en-US" i="1"/>
              <a:t>Visual Studio Code</a:t>
            </a:r>
            <a:r>
              <a:rPr lang="en-US"/>
              <a:t> connect design with implementation, ensuring that ideas move smoothly from prototype to product.</a:t>
            </a:r>
          </a:p>
        </p:txBody>
      </p:sp>
      <p:sp>
        <p:nvSpPr>
          <p:cNvPr id="4" name="Slide Number Placeholder 3"/>
          <p:cNvSpPr>
            <a:spLocks noGrp="1"/>
          </p:cNvSpPr>
          <p:nvPr>
            <p:ph type="sldNum" sz="quarter" idx="5"/>
          </p:nvPr>
        </p:nvSpPr>
        <p:spPr/>
        <p:txBody>
          <a:bodyPr/>
          <a:lstStyle/>
          <a:p>
            <a:fld id="{904D8152-7AD0-4ED9-9137-87DAEE0446EE}" type="slidenum">
              <a:t>24</a:t>
            </a:fld>
            <a:endParaRPr lang="en-GB"/>
          </a:p>
        </p:txBody>
      </p:sp>
    </p:spTree>
    <p:extLst>
      <p:ext uri="{BB962C8B-B14F-4D97-AF65-F5344CB8AC3E}">
        <p14:creationId xmlns:p14="http://schemas.microsoft.com/office/powerpoint/2010/main" val="4114693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Choosing the right tool depends on several factors — the complexity of the project, the need for collaboration, integration with development tools, the designer’s skill level, and cost. For example, cloud-based tools like Figma are preferred for team projects, while standalone software like Adobe XD may work better for individual designers.</a:t>
            </a:r>
          </a:p>
        </p:txBody>
      </p:sp>
      <p:sp>
        <p:nvSpPr>
          <p:cNvPr id="4" name="Slide Number Placeholder 3"/>
          <p:cNvSpPr>
            <a:spLocks noGrp="1"/>
          </p:cNvSpPr>
          <p:nvPr>
            <p:ph type="sldNum" sz="quarter" idx="5"/>
          </p:nvPr>
        </p:nvSpPr>
        <p:spPr/>
        <p:txBody>
          <a:bodyPr/>
          <a:lstStyle/>
          <a:p>
            <a:fld id="{904D8152-7AD0-4ED9-9137-87DAEE0446EE}" type="slidenum">
              <a:t>25</a:t>
            </a:fld>
            <a:endParaRPr lang="en-GB"/>
          </a:p>
        </p:txBody>
      </p:sp>
    </p:spTree>
    <p:extLst>
      <p:ext uri="{BB962C8B-B14F-4D97-AF65-F5344CB8AC3E}">
        <p14:creationId xmlns:p14="http://schemas.microsoft.com/office/powerpoint/2010/main" val="3970378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Looking at the future, we see rapid growth in </a:t>
            </a:r>
            <a:r>
              <a:rPr lang="en-US" b="1"/>
              <a:t>AI-assisted design</a:t>
            </a:r>
            <a:r>
              <a:rPr lang="en-US"/>
              <a:t> tools like Figma AI and Adobe Firefly that automate repetitive tasks and suggest design improvements. There’s also a strong shift toward real-time collaboration, cross-platform design, and integration of analytics and accessibility testing directly within design workflows. The trend is moving toward open ecosystems and plugins that make tools more adaptable and intelligent — helping designers focus more on creativity and less on manual work.</a:t>
            </a:r>
          </a:p>
        </p:txBody>
      </p:sp>
      <p:sp>
        <p:nvSpPr>
          <p:cNvPr id="4" name="Slide Number Placeholder 3"/>
          <p:cNvSpPr>
            <a:spLocks noGrp="1"/>
          </p:cNvSpPr>
          <p:nvPr>
            <p:ph type="sldNum" sz="quarter" idx="5"/>
          </p:nvPr>
        </p:nvSpPr>
        <p:spPr/>
        <p:txBody>
          <a:bodyPr/>
          <a:lstStyle/>
          <a:p>
            <a:fld id="{904D8152-7AD0-4ED9-9137-87DAEE0446EE}" type="slidenum">
              <a:t>26</a:t>
            </a:fld>
            <a:endParaRPr lang="en-GB"/>
          </a:p>
        </p:txBody>
      </p:sp>
    </p:spTree>
    <p:extLst>
      <p:ext uri="{BB962C8B-B14F-4D97-AF65-F5344CB8AC3E}">
        <p14:creationId xmlns:p14="http://schemas.microsoft.com/office/powerpoint/2010/main" val="790555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ea typeface="Calibri"/>
                <a:cs typeface="Calibri"/>
              </a:rPr>
              <a:t>Figma</a:t>
            </a:r>
          </a:p>
          <a:p>
            <a:pPr marL="228600" indent="-228600">
              <a:buAutoNum type="arabicPeriod"/>
            </a:pPr>
            <a:r>
              <a:rPr lang="en-US">
                <a:ea typeface="Calibri"/>
                <a:cs typeface="Calibri"/>
              </a:rPr>
              <a:t>InVision</a:t>
            </a:r>
          </a:p>
          <a:p>
            <a:pPr marL="228600" indent="-228600">
              <a:buAutoNum type="arabicPeriod"/>
            </a:pPr>
            <a:r>
              <a:rPr lang="en-US">
                <a:ea typeface="Calibri"/>
                <a:cs typeface="Calibri"/>
              </a:rPr>
              <a:t>Miro</a:t>
            </a:r>
          </a:p>
          <a:p>
            <a:pPr marL="228600" indent="-228600">
              <a:buAutoNum type="arabicPeriod"/>
            </a:pPr>
            <a:r>
              <a:rPr lang="en-US">
                <a:ea typeface="Calibri"/>
                <a:cs typeface="Calibri"/>
              </a:rPr>
              <a:t>GitHub</a:t>
            </a:r>
          </a:p>
        </p:txBody>
      </p:sp>
      <p:sp>
        <p:nvSpPr>
          <p:cNvPr id="4" name="Slide Number Placeholder 3"/>
          <p:cNvSpPr>
            <a:spLocks noGrp="1"/>
          </p:cNvSpPr>
          <p:nvPr>
            <p:ph type="sldNum" sz="quarter" idx="5"/>
          </p:nvPr>
        </p:nvSpPr>
        <p:spPr/>
        <p:txBody>
          <a:bodyPr/>
          <a:lstStyle/>
          <a:p>
            <a:fld id="{904D8152-7AD0-4ED9-9137-87DAEE0446EE}" type="slidenum">
              <a:rPr lang="en-GB"/>
              <a:t>27</a:t>
            </a:fld>
            <a:endParaRPr lang="en-GB"/>
          </a:p>
        </p:txBody>
      </p:sp>
    </p:spTree>
    <p:extLst>
      <p:ext uri="{BB962C8B-B14F-4D97-AF65-F5344CB8AC3E}">
        <p14:creationId xmlns:p14="http://schemas.microsoft.com/office/powerpoint/2010/main" val="1501942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53496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54893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53303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16404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10/20/2025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71879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10/20/2025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18688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10/20/2025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75021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51954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091672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3426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541291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980214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8648543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777988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42911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24637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10/20/2025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35878863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youtu.be/cQq70Ts0Ajs?si=FZH-A0PAk-xbVFc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turing.ac.uk/blog/open-source-software-why-it-matters-and-how-get-involved?utm_source=chatgpt.co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create.kahoot.it/share/interaction-in-practice-and-user-experience/cb34a897-ef71-4623-a392-dc8371aee0a1"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8325" y="386644"/>
            <a:ext cx="10806287" cy="2460336"/>
          </a:xfrm>
        </p:spPr>
        <p:txBody>
          <a:bodyPr vert="horz" lIns="91440" tIns="45720" rIns="91440" bIns="45720" rtlCol="0" anchor="b">
            <a:noAutofit/>
          </a:bodyPr>
          <a:lstStyle/>
          <a:p>
            <a:pPr algn="ctr"/>
            <a:r>
              <a:rPr lang="en-US" sz="5200" dirty="0"/>
              <a:t>Chapter 13</a:t>
            </a:r>
            <a:br>
              <a:rPr lang="en-US" sz="5200" dirty="0"/>
            </a:br>
            <a:r>
              <a:rPr lang="en-US" sz="5200" dirty="0"/>
              <a:t>Interaction in Practice</a:t>
            </a:r>
          </a:p>
        </p:txBody>
      </p:sp>
      <p:sp>
        <p:nvSpPr>
          <p:cNvPr id="3" name="Subtitle 2"/>
          <p:cNvSpPr>
            <a:spLocks noGrp="1"/>
          </p:cNvSpPr>
          <p:nvPr>
            <p:ph type="subTitle" idx="1"/>
          </p:nvPr>
        </p:nvSpPr>
        <p:spPr>
          <a:xfrm>
            <a:off x="7635346" y="3891201"/>
            <a:ext cx="4038599" cy="2074549"/>
          </a:xfrm>
        </p:spPr>
        <p:txBody>
          <a:bodyPr vert="horz" lIns="91440" tIns="45720" rIns="91440" bIns="45720" rtlCol="0" anchor="t">
            <a:normAutofit/>
          </a:bodyPr>
          <a:lstStyle/>
          <a:p>
            <a:r>
              <a:rPr lang="en-US" sz="2200"/>
              <a:t>Andrew Moon (atm0091)</a:t>
            </a:r>
          </a:p>
          <a:p>
            <a:r>
              <a:rPr lang="en-US" sz="2200"/>
              <a:t>Sri </a:t>
            </a:r>
            <a:r>
              <a:rPr lang="en-US" sz="2200" err="1"/>
              <a:t>Mudivarti</a:t>
            </a:r>
            <a:r>
              <a:rPr lang="en-US" sz="2200"/>
              <a:t> (szm0261)</a:t>
            </a:r>
          </a:p>
          <a:p>
            <a:r>
              <a:rPr lang="en-US" sz="2200"/>
              <a:t>Meghan Murphy (mnm0076)</a:t>
            </a:r>
          </a:p>
          <a:p>
            <a:endParaRPr lang="en-US"/>
          </a:p>
          <a:p>
            <a:endParaRPr lang="en-US"/>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mc:Choice xmlns:p14="http://schemas.microsoft.com/office/powerpoint/2010/main" Requires="p14">
      <p:transition spd="slow" p14:dur="2000" advTm="14325"/>
    </mc:Choice>
    <mc:Fallback>
      <p:transition spd="slow" advTm="1432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F3D49-18B0-BB69-C0FD-EF0A16A45378}"/>
              </a:ext>
            </a:extLst>
          </p:cNvPr>
          <p:cNvSpPr>
            <a:spLocks noGrp="1"/>
          </p:cNvSpPr>
          <p:nvPr>
            <p:ph type="ctrTitle"/>
          </p:nvPr>
        </p:nvSpPr>
        <p:spPr>
          <a:xfrm>
            <a:off x="2589213" y="2514600"/>
            <a:ext cx="8915399" cy="1092842"/>
          </a:xfrm>
        </p:spPr>
        <p:txBody>
          <a:bodyPr>
            <a:normAutofit/>
          </a:bodyPr>
          <a:lstStyle/>
          <a:p>
            <a:pPr algn="ctr"/>
            <a:r>
              <a:rPr lang="en-US" sz="6000"/>
              <a:t>INTRODUCTION</a:t>
            </a:r>
            <a:endParaRPr lang="en-US"/>
          </a:p>
        </p:txBody>
      </p:sp>
    </p:spTree>
    <p:extLst>
      <p:ext uri="{BB962C8B-B14F-4D97-AF65-F5344CB8AC3E}">
        <p14:creationId xmlns:p14="http://schemas.microsoft.com/office/powerpoint/2010/main" val="2174169713"/>
      </p:ext>
    </p:extLst>
  </p:cSld>
  <p:clrMapOvr>
    <a:masterClrMapping/>
  </p:clrMapOvr>
  <mc:AlternateContent xmlns:mc="http://schemas.openxmlformats.org/markup-compatibility/2006">
    <mc:Choice xmlns:p14="http://schemas.microsoft.com/office/powerpoint/2010/main" Requires="p14">
      <p:transition spd="slow" p14:dur="2000" advTm="3466"/>
    </mc:Choice>
    <mc:Fallback>
      <p:transition spd="slow" advTm="346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16E7B-4062-0F6E-EA8C-70A729CDAF91}"/>
              </a:ext>
            </a:extLst>
          </p:cNvPr>
          <p:cNvSpPr>
            <a:spLocks noGrp="1"/>
          </p:cNvSpPr>
          <p:nvPr>
            <p:ph type="title"/>
          </p:nvPr>
        </p:nvSpPr>
        <p:spPr/>
        <p:txBody>
          <a:bodyPr/>
          <a:lstStyle/>
          <a:p>
            <a:r>
              <a:rPr lang="en-US"/>
              <a:t>INTERACTION DESIGN IN REAL WORLD</a:t>
            </a:r>
          </a:p>
        </p:txBody>
      </p:sp>
      <p:sp>
        <p:nvSpPr>
          <p:cNvPr id="3" name="Content Placeholder 2">
            <a:extLst>
              <a:ext uri="{FF2B5EF4-FFF2-40B4-BE49-F238E27FC236}">
                <a16:creationId xmlns:a16="http://schemas.microsoft.com/office/drawing/2014/main" id="{53C13896-30CD-6A8A-8C8F-0FE2BAF9E5E4}"/>
              </a:ext>
            </a:extLst>
          </p:cNvPr>
          <p:cNvSpPr>
            <a:spLocks noGrp="1"/>
          </p:cNvSpPr>
          <p:nvPr>
            <p:ph idx="1"/>
          </p:nvPr>
        </p:nvSpPr>
        <p:spPr/>
        <p:txBody>
          <a:bodyPr vert="horz" lIns="91440" tIns="45720" rIns="91440" bIns="45720" rtlCol="0" anchor="t">
            <a:normAutofit/>
          </a:bodyPr>
          <a:lstStyle/>
          <a:p>
            <a:pPr algn="just">
              <a:lnSpc>
                <a:spcPct val="150000"/>
              </a:lnSpc>
            </a:pPr>
            <a:r>
              <a:rPr lang="en-US">
                <a:ea typeface="+mn-lt"/>
                <a:cs typeface="+mn-lt"/>
              </a:rPr>
              <a:t>Interaction designers operate within commercial and business environments.</a:t>
            </a:r>
            <a:endParaRPr lang="en-US"/>
          </a:p>
          <a:p>
            <a:pPr algn="just">
              <a:lnSpc>
                <a:spcPct val="150000"/>
              </a:lnSpc>
            </a:pPr>
            <a:r>
              <a:rPr lang="en-US">
                <a:ea typeface="+mn-lt"/>
                <a:cs typeface="+mn-lt"/>
              </a:rPr>
              <a:t>Face pressures such as limited time and resources.</a:t>
            </a:r>
            <a:endParaRPr lang="en-US"/>
          </a:p>
          <a:p>
            <a:pPr algn="just">
              <a:lnSpc>
                <a:spcPct val="150000"/>
              </a:lnSpc>
            </a:pPr>
            <a:r>
              <a:rPr lang="en-US">
                <a:ea typeface="+mn-lt"/>
                <a:cs typeface="+mn-lt"/>
              </a:rPr>
              <a:t>Must collaborate with people from various roles beyond stakeholders.</a:t>
            </a:r>
            <a:endParaRPr lang="en-US"/>
          </a:p>
          <a:p>
            <a:pPr algn="just">
              <a:lnSpc>
                <a:spcPct val="150000"/>
              </a:lnSpc>
            </a:pPr>
            <a:r>
              <a:rPr lang="en-US">
                <a:ea typeface="+mn-lt"/>
                <a:cs typeface="+mn-lt"/>
              </a:rPr>
              <a:t>Translating design principles into practical, real-world solutions is a core challenge.</a:t>
            </a:r>
            <a:endParaRPr lang="en-US"/>
          </a:p>
          <a:p>
            <a:pPr algn="just">
              <a:lnSpc>
                <a:spcPct val="150000"/>
              </a:lnSpc>
            </a:pPr>
            <a:r>
              <a:rPr lang="en-US">
                <a:hlinkClick r:id="rId3"/>
              </a:rPr>
              <a:t>What is Interaction Design?</a:t>
            </a:r>
            <a:endParaRPr lang="en-US"/>
          </a:p>
          <a:p>
            <a:pPr marL="0" indent="0" algn="just">
              <a:lnSpc>
                <a:spcPct val="150000"/>
              </a:lnSpc>
              <a:buNone/>
            </a:pPr>
            <a:endParaRPr lang="en-US"/>
          </a:p>
          <a:p>
            <a:endParaRPr lang="en-GB"/>
          </a:p>
        </p:txBody>
      </p:sp>
    </p:spTree>
    <p:extLst>
      <p:ext uri="{BB962C8B-B14F-4D97-AF65-F5344CB8AC3E}">
        <p14:creationId xmlns:p14="http://schemas.microsoft.com/office/powerpoint/2010/main" val="546567263"/>
      </p:ext>
    </p:extLst>
  </p:cSld>
  <p:clrMapOvr>
    <a:masterClrMapping/>
  </p:clrMapOvr>
  <mc:AlternateContent xmlns:mc="http://schemas.openxmlformats.org/markup-compatibility/2006">
    <mc:Choice xmlns:p14="http://schemas.microsoft.com/office/powerpoint/2010/main" Requires="p14">
      <p:transition spd="slow" p14:dur="2000" advTm="29760"/>
    </mc:Choice>
    <mc:Fallback>
      <p:transition spd="slow" advTm="2976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6C685-0100-EB0E-B2C0-F655B404C93A}"/>
              </a:ext>
            </a:extLst>
          </p:cNvPr>
          <p:cNvSpPr>
            <a:spLocks noGrp="1"/>
          </p:cNvSpPr>
          <p:nvPr>
            <p:ph type="title"/>
          </p:nvPr>
        </p:nvSpPr>
        <p:spPr/>
        <p:txBody>
          <a:bodyPr/>
          <a:lstStyle/>
          <a:p>
            <a:r>
              <a:rPr lang="en-US"/>
              <a:t>CHALLENGES IN PRACTICE</a:t>
            </a:r>
          </a:p>
        </p:txBody>
      </p:sp>
      <p:sp>
        <p:nvSpPr>
          <p:cNvPr id="3" name="Content Placeholder 2">
            <a:extLst>
              <a:ext uri="{FF2B5EF4-FFF2-40B4-BE49-F238E27FC236}">
                <a16:creationId xmlns:a16="http://schemas.microsoft.com/office/drawing/2014/main" id="{EF73D35F-344B-6F3E-8EDF-8F0F20BEE42C}"/>
              </a:ext>
            </a:extLst>
          </p:cNvPr>
          <p:cNvSpPr>
            <a:spLocks noGrp="1"/>
          </p:cNvSpPr>
          <p:nvPr>
            <p:ph idx="1"/>
          </p:nvPr>
        </p:nvSpPr>
        <p:spPr/>
        <p:txBody>
          <a:bodyPr vert="horz" lIns="91440" tIns="45720" rIns="91440" bIns="45720" rtlCol="0" anchor="t">
            <a:normAutofit/>
          </a:bodyPr>
          <a:lstStyle/>
          <a:p>
            <a:pPr algn="just">
              <a:lnSpc>
                <a:spcPct val="150000"/>
              </a:lnSpc>
            </a:pPr>
            <a:r>
              <a:rPr lang="en-US">
                <a:ea typeface="+mn-lt"/>
                <a:cs typeface="+mn-lt"/>
              </a:rPr>
              <a:t>“Research and design are naturally messy.” – Harry </a:t>
            </a:r>
            <a:r>
              <a:rPr lang="en-US" err="1">
                <a:ea typeface="+mn-lt"/>
                <a:cs typeface="+mn-lt"/>
              </a:rPr>
              <a:t>Brignull</a:t>
            </a:r>
            <a:r>
              <a:rPr lang="en-US">
                <a:ea typeface="+mn-lt"/>
                <a:cs typeface="+mn-lt"/>
              </a:rPr>
              <a:t> (Ch. 1 Interview)</a:t>
            </a:r>
            <a:endParaRPr lang="en-US"/>
          </a:p>
          <a:p>
            <a:pPr algn="just">
              <a:lnSpc>
                <a:spcPct val="150000"/>
              </a:lnSpc>
            </a:pPr>
            <a:r>
              <a:rPr lang="en-US">
                <a:ea typeface="+mn-lt"/>
                <a:cs typeface="+mn-lt"/>
              </a:rPr>
              <a:t>Designers often step outside their comfort zones to solve problems.</a:t>
            </a:r>
            <a:endParaRPr lang="en-US"/>
          </a:p>
          <a:p>
            <a:pPr algn="just">
              <a:lnSpc>
                <a:spcPct val="150000"/>
              </a:lnSpc>
            </a:pPr>
            <a:r>
              <a:rPr lang="en-US">
                <a:ea typeface="+mn-lt"/>
                <a:cs typeface="+mn-lt"/>
              </a:rPr>
              <a:t>Need to communicate and advocate for the user perspective within teams.</a:t>
            </a:r>
            <a:endParaRPr lang="en-US"/>
          </a:p>
          <a:p>
            <a:pPr algn="just">
              <a:lnSpc>
                <a:spcPct val="150000"/>
              </a:lnSpc>
            </a:pPr>
            <a:r>
              <a:rPr lang="en-US">
                <a:ea typeface="+mn-lt"/>
                <a:cs typeface="+mn-lt"/>
              </a:rPr>
              <a:t>Constant adaptation and learning are essential for professional growth.</a:t>
            </a:r>
            <a:endParaRPr lang="en-US"/>
          </a:p>
          <a:p>
            <a:endParaRPr lang="en-GB"/>
          </a:p>
        </p:txBody>
      </p:sp>
    </p:spTree>
    <p:extLst>
      <p:ext uri="{BB962C8B-B14F-4D97-AF65-F5344CB8AC3E}">
        <p14:creationId xmlns:p14="http://schemas.microsoft.com/office/powerpoint/2010/main" val="1238074570"/>
      </p:ext>
    </p:extLst>
  </p:cSld>
  <p:clrMapOvr>
    <a:masterClrMapping/>
  </p:clrMapOvr>
  <mc:AlternateContent xmlns:mc="http://schemas.openxmlformats.org/markup-compatibility/2006">
    <mc:Choice xmlns:p14="http://schemas.microsoft.com/office/powerpoint/2010/main" Requires="p14">
      <p:transition spd="slow" p14:dur="2000" advTm="26336"/>
    </mc:Choice>
    <mc:Fallback>
      <p:transition spd="slow" advTm="2633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D72AB-62EF-A01D-1E8E-6C5384DAC946}"/>
              </a:ext>
            </a:extLst>
          </p:cNvPr>
          <p:cNvSpPr>
            <a:spLocks noGrp="1"/>
          </p:cNvSpPr>
          <p:nvPr>
            <p:ph type="title"/>
          </p:nvPr>
        </p:nvSpPr>
        <p:spPr/>
        <p:txBody>
          <a:bodyPr/>
          <a:lstStyle/>
          <a:p>
            <a:r>
              <a:rPr lang="en-US"/>
              <a:t>THE ROLE OF INTERACTION DESIGNER</a:t>
            </a:r>
          </a:p>
        </p:txBody>
      </p:sp>
      <p:sp>
        <p:nvSpPr>
          <p:cNvPr id="3" name="Content Placeholder 2">
            <a:extLst>
              <a:ext uri="{FF2B5EF4-FFF2-40B4-BE49-F238E27FC236}">
                <a16:creationId xmlns:a16="http://schemas.microsoft.com/office/drawing/2014/main" id="{664C166A-D7F4-AC10-7FD1-0B78251D7AF6}"/>
              </a:ext>
            </a:extLst>
          </p:cNvPr>
          <p:cNvSpPr>
            <a:spLocks noGrp="1"/>
          </p:cNvSpPr>
          <p:nvPr>
            <p:ph idx="1"/>
          </p:nvPr>
        </p:nvSpPr>
        <p:spPr/>
        <p:txBody>
          <a:bodyPr vert="horz" lIns="91440" tIns="45720" rIns="91440" bIns="45720" rtlCol="0" anchor="t">
            <a:normAutofit/>
          </a:bodyPr>
          <a:lstStyle/>
          <a:p>
            <a:pPr algn="just">
              <a:lnSpc>
                <a:spcPct val="150000"/>
              </a:lnSpc>
            </a:pPr>
            <a:r>
              <a:rPr lang="en-US">
                <a:ea typeface="+mn-lt"/>
                <a:cs typeface="+mn-lt"/>
              </a:rPr>
              <a:t>Practitioners are known by various titles: Interface Designer, Information Architect, Experience Designer, Usability Engineer, and UX Designer.</a:t>
            </a:r>
            <a:endParaRPr lang="en-US"/>
          </a:p>
          <a:p>
            <a:pPr algn="just">
              <a:lnSpc>
                <a:spcPct val="150000"/>
              </a:lnSpc>
            </a:pPr>
            <a:r>
              <a:rPr lang="en-US">
                <a:ea typeface="+mn-lt"/>
                <a:cs typeface="+mn-lt"/>
              </a:rPr>
              <a:t>In industry, User Experience (UX) Designer is most used.</a:t>
            </a:r>
            <a:endParaRPr lang="en-US"/>
          </a:p>
          <a:p>
            <a:pPr algn="just">
              <a:lnSpc>
                <a:spcPct val="150000"/>
              </a:lnSpc>
            </a:pPr>
            <a:r>
              <a:rPr lang="en-US">
                <a:ea typeface="+mn-lt"/>
                <a:cs typeface="+mn-lt"/>
              </a:rPr>
              <a:t>They perform a range of tasks including interface design, user research, and evaluation.</a:t>
            </a:r>
            <a:endParaRPr lang="en-US"/>
          </a:p>
          <a:p>
            <a:pPr algn="just">
              <a:lnSpc>
                <a:spcPct val="150000"/>
              </a:lnSpc>
            </a:pPr>
            <a:r>
              <a:rPr lang="en-US">
                <a:ea typeface="+mn-lt"/>
                <a:cs typeface="+mn-lt"/>
              </a:rPr>
              <a:t>Collaboration and empathy are key skills for successful interaction design.</a:t>
            </a:r>
            <a:endParaRPr lang="en-US"/>
          </a:p>
          <a:p>
            <a:endParaRPr lang="en-GB"/>
          </a:p>
        </p:txBody>
      </p:sp>
    </p:spTree>
    <p:extLst>
      <p:ext uri="{BB962C8B-B14F-4D97-AF65-F5344CB8AC3E}">
        <p14:creationId xmlns:p14="http://schemas.microsoft.com/office/powerpoint/2010/main" val="1014123801"/>
      </p:ext>
    </p:extLst>
  </p:cSld>
  <p:clrMapOvr>
    <a:masterClrMapping/>
  </p:clrMapOvr>
  <mc:AlternateContent xmlns:mc="http://schemas.openxmlformats.org/markup-compatibility/2006">
    <mc:Choice xmlns:p14="http://schemas.microsoft.com/office/powerpoint/2010/main" Requires="p14">
      <p:transition spd="slow" p14:dur="2000" advTm="30595"/>
    </mc:Choice>
    <mc:Fallback>
      <p:transition spd="slow" advTm="3059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8F33F-48BD-9C12-58E9-51B2608EDB03}"/>
              </a:ext>
            </a:extLst>
          </p:cNvPr>
          <p:cNvSpPr>
            <a:spLocks noGrp="1"/>
          </p:cNvSpPr>
          <p:nvPr>
            <p:ph type="ctrTitle"/>
          </p:nvPr>
        </p:nvSpPr>
        <p:spPr>
          <a:xfrm>
            <a:off x="4559637" y="2514600"/>
            <a:ext cx="4605097" cy="1311805"/>
          </a:xfrm>
        </p:spPr>
        <p:txBody>
          <a:bodyPr/>
          <a:lstStyle/>
          <a:p>
            <a:pPr algn="ctr"/>
            <a:r>
              <a:rPr lang="en-US"/>
              <a:t>AGILE UX</a:t>
            </a:r>
          </a:p>
        </p:txBody>
      </p:sp>
    </p:spTree>
    <p:extLst>
      <p:ext uri="{BB962C8B-B14F-4D97-AF65-F5344CB8AC3E}">
        <p14:creationId xmlns:p14="http://schemas.microsoft.com/office/powerpoint/2010/main" val="2079108570"/>
      </p:ext>
    </p:extLst>
  </p:cSld>
  <p:clrMapOvr>
    <a:masterClrMapping/>
  </p:clrMapOvr>
  <mc:AlternateContent xmlns:mc="http://schemas.openxmlformats.org/markup-compatibility/2006">
    <mc:Choice xmlns:p14="http://schemas.microsoft.com/office/powerpoint/2010/main" Requires="p14">
      <p:transition spd="slow" p14:dur="2000" advTm="4928"/>
    </mc:Choice>
    <mc:Fallback>
      <p:transition spd="slow" advTm="492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96A4-46B3-BB20-2B68-B6F4FDAC5DF0}"/>
              </a:ext>
            </a:extLst>
          </p:cNvPr>
          <p:cNvSpPr>
            <a:spLocks noGrp="1"/>
          </p:cNvSpPr>
          <p:nvPr>
            <p:ph type="title"/>
          </p:nvPr>
        </p:nvSpPr>
        <p:spPr/>
        <p:txBody>
          <a:bodyPr/>
          <a:lstStyle/>
          <a:p>
            <a:r>
              <a:rPr lang="en-GB"/>
              <a:t>What is Agile UX?</a:t>
            </a:r>
          </a:p>
        </p:txBody>
      </p:sp>
      <p:sp>
        <p:nvSpPr>
          <p:cNvPr id="3" name="Content Placeholder 2">
            <a:extLst>
              <a:ext uri="{FF2B5EF4-FFF2-40B4-BE49-F238E27FC236}">
                <a16:creationId xmlns:a16="http://schemas.microsoft.com/office/drawing/2014/main" id="{A6A909DE-55A0-C6D3-B925-0DF3B0BE422D}"/>
              </a:ext>
            </a:extLst>
          </p:cNvPr>
          <p:cNvSpPr>
            <a:spLocks noGrp="1"/>
          </p:cNvSpPr>
          <p:nvPr>
            <p:ph idx="1"/>
          </p:nvPr>
        </p:nvSpPr>
        <p:spPr/>
        <p:txBody>
          <a:bodyPr/>
          <a:lstStyle/>
          <a:p>
            <a:pPr>
              <a:lnSpc>
                <a:spcPct val="200000"/>
              </a:lnSpc>
            </a:pPr>
            <a:r>
              <a:rPr lang="en-GB"/>
              <a:t>Integrates UX design with agile software development methods</a:t>
            </a:r>
          </a:p>
          <a:p>
            <a:pPr>
              <a:lnSpc>
                <a:spcPct val="200000"/>
              </a:lnSpc>
            </a:pPr>
            <a:r>
              <a:rPr lang="en-GB"/>
              <a:t>Focuses on continuous collaboration, iteration, and user feedback</a:t>
            </a:r>
          </a:p>
          <a:p>
            <a:pPr>
              <a:lnSpc>
                <a:spcPct val="200000"/>
              </a:lnSpc>
            </a:pPr>
            <a:r>
              <a:rPr lang="en-GB"/>
              <a:t>Encourages teams to design, test, and improve products within short, agile cycles (sprints)</a:t>
            </a:r>
          </a:p>
          <a:p>
            <a:pPr>
              <a:lnSpc>
                <a:spcPct val="200000"/>
              </a:lnSpc>
            </a:pPr>
            <a:r>
              <a:rPr lang="en-GB"/>
              <a:t>The goal is to create something User-Friendly, functional, and adaptive.</a:t>
            </a:r>
          </a:p>
          <a:p>
            <a:pPr marL="0" indent="0">
              <a:buNone/>
            </a:pPr>
            <a:endParaRPr lang="en-GB"/>
          </a:p>
          <a:p>
            <a:endParaRPr lang="en-GB"/>
          </a:p>
        </p:txBody>
      </p:sp>
    </p:spTree>
    <p:extLst>
      <p:ext uri="{BB962C8B-B14F-4D97-AF65-F5344CB8AC3E}">
        <p14:creationId xmlns:p14="http://schemas.microsoft.com/office/powerpoint/2010/main" val="4275029575"/>
      </p:ext>
    </p:extLst>
  </p:cSld>
  <p:clrMapOvr>
    <a:masterClrMapping/>
  </p:clrMapOvr>
  <mc:AlternateContent xmlns:mc="http://schemas.openxmlformats.org/markup-compatibility/2006">
    <mc:Choice xmlns:p14="http://schemas.microsoft.com/office/powerpoint/2010/main" Requires="p14">
      <p:transition spd="slow" p14:dur="2000" advTm="30208"/>
    </mc:Choice>
    <mc:Fallback>
      <p:transition spd="slow" advTm="3020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CF356-1336-2C36-20CB-7EC3B4FAC9E3}"/>
              </a:ext>
            </a:extLst>
          </p:cNvPr>
          <p:cNvSpPr>
            <a:spLocks noGrp="1"/>
          </p:cNvSpPr>
          <p:nvPr>
            <p:ph type="title"/>
          </p:nvPr>
        </p:nvSpPr>
        <p:spPr/>
        <p:txBody>
          <a:bodyPr/>
          <a:lstStyle/>
          <a:p>
            <a:r>
              <a:rPr lang="en-US"/>
              <a:t>User Research</a:t>
            </a:r>
          </a:p>
        </p:txBody>
      </p:sp>
      <p:sp>
        <p:nvSpPr>
          <p:cNvPr id="3" name="Content Placeholder 2">
            <a:extLst>
              <a:ext uri="{FF2B5EF4-FFF2-40B4-BE49-F238E27FC236}">
                <a16:creationId xmlns:a16="http://schemas.microsoft.com/office/drawing/2014/main" id="{9324A21A-605B-CC9B-97A5-44C8A612F14A}"/>
              </a:ext>
            </a:extLst>
          </p:cNvPr>
          <p:cNvSpPr>
            <a:spLocks noGrp="1"/>
          </p:cNvSpPr>
          <p:nvPr>
            <p:ph idx="1"/>
          </p:nvPr>
        </p:nvSpPr>
        <p:spPr/>
        <p:txBody>
          <a:bodyPr>
            <a:normAutofit fontScale="85000" lnSpcReduction="10000"/>
          </a:bodyPr>
          <a:lstStyle/>
          <a:p>
            <a:pPr>
              <a:lnSpc>
                <a:spcPct val="200000"/>
              </a:lnSpc>
            </a:pPr>
            <a:r>
              <a:rPr lang="en-US"/>
              <a:t>Before and during development</a:t>
            </a:r>
          </a:p>
          <a:p>
            <a:pPr>
              <a:lnSpc>
                <a:spcPct val="200000"/>
              </a:lnSpc>
            </a:pPr>
            <a:r>
              <a:rPr lang="en-US"/>
              <a:t>Lean User Research</a:t>
            </a:r>
          </a:p>
          <a:p>
            <a:pPr lvl="1">
              <a:lnSpc>
                <a:spcPct val="200000"/>
              </a:lnSpc>
            </a:pPr>
            <a:r>
              <a:rPr lang="en-US"/>
              <a:t>Usability testing where users gather information and discuss results</a:t>
            </a:r>
          </a:p>
          <a:p>
            <a:pPr>
              <a:lnSpc>
                <a:spcPct val="200000"/>
              </a:lnSpc>
            </a:pPr>
            <a:r>
              <a:rPr lang="en-US"/>
              <a:t>Iteration Zero</a:t>
            </a:r>
          </a:p>
          <a:p>
            <a:pPr lvl="1">
              <a:lnSpc>
                <a:spcPct val="200000"/>
              </a:lnSpc>
            </a:pPr>
            <a:r>
              <a:rPr lang="en-US"/>
              <a:t>Early project phase used for user research and system design</a:t>
            </a:r>
          </a:p>
          <a:p>
            <a:pPr>
              <a:lnSpc>
                <a:spcPct val="200000"/>
              </a:lnSpc>
            </a:pPr>
            <a:r>
              <a:rPr lang="en-US"/>
              <a:t>Don Norman</a:t>
            </a:r>
          </a:p>
          <a:p>
            <a:pPr lvl="1">
              <a:lnSpc>
                <a:spcPct val="200000"/>
              </a:lnSpc>
            </a:pPr>
            <a:r>
              <a:rPr lang="en-US"/>
              <a:t>User research before development</a:t>
            </a:r>
          </a:p>
        </p:txBody>
      </p:sp>
    </p:spTree>
    <p:extLst>
      <p:ext uri="{BB962C8B-B14F-4D97-AF65-F5344CB8AC3E}">
        <p14:creationId xmlns:p14="http://schemas.microsoft.com/office/powerpoint/2010/main" val="762119037"/>
      </p:ext>
    </p:extLst>
  </p:cSld>
  <p:clrMapOvr>
    <a:masterClrMapping/>
  </p:clrMapOvr>
  <mc:AlternateContent xmlns:mc="http://schemas.openxmlformats.org/markup-compatibility/2006">
    <mc:Choice xmlns:p14="http://schemas.microsoft.com/office/powerpoint/2010/main" Requires="p14">
      <p:transition spd="slow" p14:dur="2000" advTm="26826"/>
    </mc:Choice>
    <mc:Fallback>
      <p:transition spd="slow" advTm="2682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A5CBC-6213-A221-ED38-994549FF50EC}"/>
              </a:ext>
            </a:extLst>
          </p:cNvPr>
          <p:cNvSpPr>
            <a:spLocks noGrp="1"/>
          </p:cNvSpPr>
          <p:nvPr>
            <p:ph type="title"/>
          </p:nvPr>
        </p:nvSpPr>
        <p:spPr/>
        <p:txBody>
          <a:bodyPr/>
          <a:lstStyle/>
          <a:p>
            <a:r>
              <a:rPr lang="en-US"/>
              <a:t>Lean UX</a:t>
            </a:r>
          </a:p>
        </p:txBody>
      </p:sp>
      <p:sp>
        <p:nvSpPr>
          <p:cNvPr id="3" name="Content Placeholder 2">
            <a:extLst>
              <a:ext uri="{FF2B5EF4-FFF2-40B4-BE49-F238E27FC236}">
                <a16:creationId xmlns:a16="http://schemas.microsoft.com/office/drawing/2014/main" id="{640E1D4A-60F7-69F0-A175-E549DE3CE2F6}"/>
              </a:ext>
            </a:extLst>
          </p:cNvPr>
          <p:cNvSpPr>
            <a:spLocks noGrp="1"/>
          </p:cNvSpPr>
          <p:nvPr>
            <p:ph idx="1"/>
          </p:nvPr>
        </p:nvSpPr>
        <p:spPr/>
        <p:txBody>
          <a:bodyPr/>
          <a:lstStyle/>
          <a:p>
            <a:pPr>
              <a:lnSpc>
                <a:spcPct val="200000"/>
              </a:lnSpc>
            </a:pPr>
            <a:r>
              <a:rPr lang="en-US"/>
              <a:t>Utilizes iteration, collaboration, and cross-functional teamwork</a:t>
            </a:r>
          </a:p>
          <a:p>
            <a:pPr>
              <a:lnSpc>
                <a:spcPct val="200000"/>
              </a:lnSpc>
            </a:pPr>
            <a:r>
              <a:rPr lang="en-US"/>
              <a:t>Involves rapid cycles of experimentation and feedback</a:t>
            </a:r>
          </a:p>
          <a:p>
            <a:pPr>
              <a:lnSpc>
                <a:spcPct val="200000"/>
              </a:lnSpc>
            </a:pPr>
            <a:r>
              <a:rPr lang="en-US"/>
              <a:t>Focuses on user impact</a:t>
            </a:r>
          </a:p>
          <a:p>
            <a:pPr>
              <a:lnSpc>
                <a:spcPct val="200000"/>
              </a:lnSpc>
            </a:pPr>
            <a:r>
              <a:rPr lang="en-US"/>
              <a:t>Build-Measure-Learn loops</a:t>
            </a:r>
          </a:p>
          <a:p>
            <a:pPr marL="0" indent="0">
              <a:lnSpc>
                <a:spcPct val="200000"/>
              </a:lnSpc>
              <a:buNone/>
            </a:pPr>
            <a:endParaRPr lang="en-US"/>
          </a:p>
        </p:txBody>
      </p:sp>
    </p:spTree>
    <p:extLst>
      <p:ext uri="{BB962C8B-B14F-4D97-AF65-F5344CB8AC3E}">
        <p14:creationId xmlns:p14="http://schemas.microsoft.com/office/powerpoint/2010/main" val="1789737423"/>
      </p:ext>
    </p:extLst>
  </p:cSld>
  <p:clrMapOvr>
    <a:masterClrMapping/>
  </p:clrMapOvr>
  <mc:AlternateContent xmlns:mc="http://schemas.openxmlformats.org/markup-compatibility/2006">
    <mc:Choice xmlns:p14="http://schemas.microsoft.com/office/powerpoint/2010/main" Requires="p14">
      <p:transition spd="slow" p14:dur="2000" advTm="27957"/>
    </mc:Choice>
    <mc:Fallback>
      <p:transition spd="slow" advTm="2795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17B5-8EE2-535F-3439-1C3FF58212F0}"/>
              </a:ext>
            </a:extLst>
          </p:cNvPr>
          <p:cNvSpPr>
            <a:spLocks noGrp="1"/>
          </p:cNvSpPr>
          <p:nvPr>
            <p:ph type="title"/>
          </p:nvPr>
        </p:nvSpPr>
        <p:spPr/>
        <p:txBody>
          <a:bodyPr/>
          <a:lstStyle/>
          <a:p>
            <a:r>
              <a:rPr lang="en-US"/>
              <a:t>Lean UX Layout</a:t>
            </a:r>
          </a:p>
        </p:txBody>
      </p:sp>
      <p:sp>
        <p:nvSpPr>
          <p:cNvPr id="3" name="Content Placeholder 2">
            <a:extLst>
              <a:ext uri="{FF2B5EF4-FFF2-40B4-BE49-F238E27FC236}">
                <a16:creationId xmlns:a16="http://schemas.microsoft.com/office/drawing/2014/main" id="{28ECA0E5-373E-5F4A-20AA-2CB3721F1D4D}"/>
              </a:ext>
            </a:extLst>
          </p:cNvPr>
          <p:cNvSpPr>
            <a:spLocks noGrp="1"/>
          </p:cNvSpPr>
          <p:nvPr>
            <p:ph idx="1"/>
          </p:nvPr>
        </p:nvSpPr>
        <p:spPr/>
        <p:txBody>
          <a:bodyPr/>
          <a:lstStyle/>
          <a:p>
            <a:r>
              <a:rPr lang="en-US"/>
              <a:t>Business problem</a:t>
            </a:r>
          </a:p>
          <a:p>
            <a:r>
              <a:rPr lang="en-US"/>
              <a:t>Desired business outcome</a:t>
            </a:r>
          </a:p>
          <a:p>
            <a:r>
              <a:rPr lang="en-US"/>
              <a:t>Target users</a:t>
            </a:r>
          </a:p>
          <a:p>
            <a:r>
              <a:rPr lang="en-US"/>
              <a:t>User benefits</a:t>
            </a:r>
          </a:p>
          <a:p>
            <a:r>
              <a:rPr lang="en-US"/>
              <a:t>Solution ideas</a:t>
            </a:r>
          </a:p>
          <a:p>
            <a:r>
              <a:rPr lang="en-US"/>
              <a:t>Hypotheses</a:t>
            </a:r>
          </a:p>
          <a:p>
            <a:r>
              <a:rPr lang="en-US"/>
              <a:t>Riskiest assumptions</a:t>
            </a:r>
          </a:p>
          <a:p>
            <a:r>
              <a:rPr lang="en-US"/>
              <a:t>Experiments to test learning</a:t>
            </a:r>
          </a:p>
        </p:txBody>
      </p:sp>
    </p:spTree>
    <p:extLst>
      <p:ext uri="{BB962C8B-B14F-4D97-AF65-F5344CB8AC3E}">
        <p14:creationId xmlns:p14="http://schemas.microsoft.com/office/powerpoint/2010/main" val="2294883760"/>
      </p:ext>
    </p:extLst>
  </p:cSld>
  <p:clrMapOvr>
    <a:masterClrMapping/>
  </p:clrMapOvr>
  <mc:AlternateContent xmlns:mc="http://schemas.openxmlformats.org/markup-compatibility/2006">
    <mc:Choice xmlns:p14="http://schemas.microsoft.com/office/powerpoint/2010/main" Requires="p14">
      <p:transition spd="slow" p14:dur="2000" advTm="32896"/>
    </mc:Choice>
    <mc:Fallback>
      <p:transition spd="slow" advTm="3289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CF5D7-1829-A2B7-93CD-F2880034559E}"/>
              </a:ext>
            </a:extLst>
          </p:cNvPr>
          <p:cNvSpPr>
            <a:spLocks noGrp="1"/>
          </p:cNvSpPr>
          <p:nvPr>
            <p:ph type="title"/>
          </p:nvPr>
        </p:nvSpPr>
        <p:spPr/>
        <p:txBody>
          <a:bodyPr/>
          <a:lstStyle/>
          <a:p>
            <a:r>
              <a:rPr lang="en-US"/>
              <a:t>Aligning Work Practices</a:t>
            </a:r>
          </a:p>
        </p:txBody>
      </p:sp>
      <p:sp>
        <p:nvSpPr>
          <p:cNvPr id="3" name="Content Placeholder 2">
            <a:extLst>
              <a:ext uri="{FF2B5EF4-FFF2-40B4-BE49-F238E27FC236}">
                <a16:creationId xmlns:a16="http://schemas.microsoft.com/office/drawing/2014/main" id="{2C133D40-F98F-33A3-F309-DE03D4AF9EFF}"/>
              </a:ext>
            </a:extLst>
          </p:cNvPr>
          <p:cNvSpPr>
            <a:spLocks noGrp="1"/>
          </p:cNvSpPr>
          <p:nvPr>
            <p:ph idx="1"/>
          </p:nvPr>
        </p:nvSpPr>
        <p:spPr/>
        <p:txBody>
          <a:bodyPr>
            <a:normAutofit fontScale="85000" lnSpcReduction="10000"/>
          </a:bodyPr>
          <a:lstStyle/>
          <a:p>
            <a:pPr>
              <a:lnSpc>
                <a:spcPct val="200000"/>
              </a:lnSpc>
            </a:pPr>
            <a:r>
              <a:rPr lang="en-US"/>
              <a:t>Keep overall product coherent while working in sprints</a:t>
            </a:r>
          </a:p>
          <a:p>
            <a:pPr>
              <a:lnSpc>
                <a:spcPct val="200000"/>
              </a:lnSpc>
            </a:pPr>
            <a:r>
              <a:rPr lang="en-US"/>
              <a:t>Avoid BDUF (Big Design Up Front)</a:t>
            </a:r>
          </a:p>
          <a:p>
            <a:pPr lvl="1">
              <a:lnSpc>
                <a:spcPct val="200000"/>
              </a:lnSpc>
            </a:pPr>
            <a:r>
              <a:rPr lang="en-US"/>
              <a:t> Slows down processes when priorities change</a:t>
            </a:r>
          </a:p>
          <a:p>
            <a:pPr>
              <a:lnSpc>
                <a:spcPct val="200000"/>
              </a:lnSpc>
            </a:pPr>
            <a:r>
              <a:rPr lang="en-US"/>
              <a:t>Dual Tracks Approach</a:t>
            </a:r>
          </a:p>
          <a:p>
            <a:pPr lvl="1">
              <a:lnSpc>
                <a:spcPct val="200000"/>
              </a:lnSpc>
            </a:pPr>
            <a:r>
              <a:rPr lang="en-US"/>
              <a:t>Design and research one cycle ahead of development</a:t>
            </a:r>
          </a:p>
          <a:p>
            <a:pPr>
              <a:lnSpc>
                <a:spcPct val="200000"/>
              </a:lnSpc>
            </a:pPr>
            <a:r>
              <a:rPr lang="en-US"/>
              <a:t>Cycle 0 sets product vision before iterative work begins</a:t>
            </a:r>
          </a:p>
          <a:p>
            <a:pPr>
              <a:lnSpc>
                <a:spcPct val="200000"/>
              </a:lnSpc>
            </a:pPr>
            <a:r>
              <a:rPr lang="en-US"/>
              <a:t>Less wasted effort, faster feedback, better collaboration</a:t>
            </a:r>
          </a:p>
        </p:txBody>
      </p:sp>
    </p:spTree>
    <p:extLst>
      <p:ext uri="{BB962C8B-B14F-4D97-AF65-F5344CB8AC3E}">
        <p14:creationId xmlns:p14="http://schemas.microsoft.com/office/powerpoint/2010/main" val="2806740563"/>
      </p:ext>
    </p:extLst>
  </p:cSld>
  <p:clrMapOvr>
    <a:masterClrMapping/>
  </p:clrMapOvr>
  <mc:AlternateContent xmlns:mc="http://schemas.openxmlformats.org/markup-compatibility/2006">
    <mc:Choice xmlns:p14="http://schemas.microsoft.com/office/powerpoint/2010/main" Requires="p14">
      <p:transition spd="slow" p14:dur="2000" advTm="43695"/>
    </mc:Choice>
    <mc:Fallback>
      <p:transition spd="slow" advTm="4369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CB91C-3619-D0E1-05AA-3ADBF35238E7}"/>
              </a:ext>
            </a:extLst>
          </p:cNvPr>
          <p:cNvSpPr>
            <a:spLocks noGrp="1"/>
          </p:cNvSpPr>
          <p:nvPr>
            <p:ph type="ctrTitle"/>
          </p:nvPr>
        </p:nvSpPr>
        <p:spPr>
          <a:xfrm>
            <a:off x="3712971" y="2514600"/>
            <a:ext cx="6390793" cy="1339145"/>
          </a:xfrm>
        </p:spPr>
        <p:txBody>
          <a:bodyPr>
            <a:noAutofit/>
          </a:bodyPr>
          <a:lstStyle/>
          <a:p>
            <a:r>
              <a:rPr lang="en-US" sz="5500"/>
              <a:t>DESIGN PATTERNS</a:t>
            </a:r>
          </a:p>
        </p:txBody>
      </p:sp>
    </p:spTree>
    <p:extLst>
      <p:ext uri="{BB962C8B-B14F-4D97-AF65-F5344CB8AC3E}">
        <p14:creationId xmlns:p14="http://schemas.microsoft.com/office/powerpoint/2010/main" val="624522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3D76F-A584-EDE9-7BEA-A09277DC8BCE}"/>
              </a:ext>
            </a:extLst>
          </p:cNvPr>
          <p:cNvSpPr>
            <a:spLocks noGrp="1"/>
          </p:cNvSpPr>
          <p:nvPr>
            <p:ph type="title"/>
          </p:nvPr>
        </p:nvSpPr>
        <p:spPr/>
        <p:txBody>
          <a:bodyPr/>
          <a:lstStyle/>
          <a:p>
            <a:r>
              <a:rPr lang="en-US"/>
              <a:t>WHAT ARE DESIGN PATTERNS?</a:t>
            </a:r>
          </a:p>
        </p:txBody>
      </p:sp>
      <p:sp>
        <p:nvSpPr>
          <p:cNvPr id="3" name="Content Placeholder 2">
            <a:extLst>
              <a:ext uri="{FF2B5EF4-FFF2-40B4-BE49-F238E27FC236}">
                <a16:creationId xmlns:a16="http://schemas.microsoft.com/office/drawing/2014/main" id="{0A43388D-0EA7-C492-1F6A-F3DA8C64B08A}"/>
              </a:ext>
            </a:extLst>
          </p:cNvPr>
          <p:cNvSpPr>
            <a:spLocks noGrp="1"/>
          </p:cNvSpPr>
          <p:nvPr>
            <p:ph idx="1"/>
          </p:nvPr>
        </p:nvSpPr>
        <p:spPr/>
        <p:txBody>
          <a:bodyPr vert="horz" lIns="91440" tIns="45720" rIns="91440" bIns="45720" rtlCol="0" anchor="t">
            <a:normAutofit/>
          </a:bodyPr>
          <a:lstStyle/>
          <a:p>
            <a:pPr algn="just">
              <a:lnSpc>
                <a:spcPct val="150000"/>
              </a:lnSpc>
            </a:pPr>
            <a:r>
              <a:rPr lang="en-US"/>
              <a:t>A Design pattern is a solution to recurring design problems</a:t>
            </a:r>
          </a:p>
          <a:p>
            <a:pPr algn="just">
              <a:lnSpc>
                <a:spcPct val="150000"/>
              </a:lnSpc>
            </a:pPr>
            <a:r>
              <a:rPr lang="en-US"/>
              <a:t>Each pattern captures a problem, a solution, and the context where it works best</a:t>
            </a:r>
          </a:p>
          <a:p>
            <a:pPr algn="just">
              <a:lnSpc>
                <a:spcPct val="150000"/>
              </a:lnSpc>
            </a:pPr>
            <a:r>
              <a:rPr lang="en-US"/>
              <a:t>Design patterns are generative, meaning they can be implemented in many ways</a:t>
            </a:r>
          </a:p>
          <a:p>
            <a:pPr algn="just">
              <a:lnSpc>
                <a:spcPct val="150000"/>
              </a:lnSpc>
            </a:pPr>
            <a:r>
              <a:rPr lang="en-US"/>
              <a:t>Design Patterns were inspired from Christopher Alexander's ideas in architecture, capturing the "quality without a name"</a:t>
            </a:r>
          </a:p>
          <a:p>
            <a:endParaRPr lang="en-GB"/>
          </a:p>
        </p:txBody>
      </p:sp>
    </p:spTree>
    <p:extLst>
      <p:ext uri="{BB962C8B-B14F-4D97-AF65-F5344CB8AC3E}">
        <p14:creationId xmlns:p14="http://schemas.microsoft.com/office/powerpoint/2010/main" val="2295915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A28EF-D64B-5E8A-D6C8-E3EC6A2511A4}"/>
              </a:ext>
            </a:extLst>
          </p:cNvPr>
          <p:cNvSpPr>
            <a:spLocks noGrp="1"/>
          </p:cNvSpPr>
          <p:nvPr>
            <p:ph type="title"/>
          </p:nvPr>
        </p:nvSpPr>
        <p:spPr/>
        <p:txBody>
          <a:bodyPr/>
          <a:lstStyle/>
          <a:p>
            <a:r>
              <a:rPr lang="en-US"/>
              <a:t>WHY DESIGN PATTERNS MATTER?</a:t>
            </a:r>
          </a:p>
        </p:txBody>
      </p:sp>
      <p:sp>
        <p:nvSpPr>
          <p:cNvPr id="3" name="Content Placeholder 2">
            <a:extLst>
              <a:ext uri="{FF2B5EF4-FFF2-40B4-BE49-F238E27FC236}">
                <a16:creationId xmlns:a16="http://schemas.microsoft.com/office/drawing/2014/main" id="{F55716F1-266B-90FB-8A1E-6FA26B5738F5}"/>
              </a:ext>
            </a:extLst>
          </p:cNvPr>
          <p:cNvSpPr>
            <a:spLocks noGrp="1"/>
          </p:cNvSpPr>
          <p:nvPr>
            <p:ph idx="1"/>
          </p:nvPr>
        </p:nvSpPr>
        <p:spPr/>
        <p:txBody>
          <a:bodyPr vert="horz" lIns="91440" tIns="45720" rIns="91440" bIns="45720" rtlCol="0" anchor="t">
            <a:normAutofit/>
          </a:bodyPr>
          <a:lstStyle/>
          <a:p>
            <a:pPr algn="just">
              <a:lnSpc>
                <a:spcPct val="150000"/>
              </a:lnSpc>
            </a:pPr>
            <a:r>
              <a:rPr lang="en-US"/>
              <a:t>Patterns help designers communicate clearly using a shared vocabulary</a:t>
            </a:r>
          </a:p>
          <a:p>
            <a:pPr algn="just">
              <a:lnSpc>
                <a:spcPct val="150000"/>
              </a:lnSpc>
            </a:pPr>
            <a:r>
              <a:rPr lang="en-US"/>
              <a:t>They make it easier to reuse successful ideas instead of reinventing the wheel</a:t>
            </a:r>
          </a:p>
          <a:p>
            <a:pPr algn="just">
              <a:lnSpc>
                <a:spcPct val="150000"/>
              </a:lnSpc>
            </a:pPr>
            <a:r>
              <a:rPr lang="en-US"/>
              <a:t>Pattern libraries give teams a bank to refer to for proven UI solutions</a:t>
            </a:r>
          </a:p>
          <a:p>
            <a:pPr algn="just">
              <a:lnSpc>
                <a:spcPct val="150000"/>
              </a:lnSpc>
            </a:pPr>
            <a:r>
              <a:rPr lang="en-US"/>
              <a:t>Patterns evolve over time, some get deprecated, others adapt to new technology and user expectations</a:t>
            </a:r>
          </a:p>
        </p:txBody>
      </p:sp>
    </p:spTree>
    <p:extLst>
      <p:ext uri="{BB962C8B-B14F-4D97-AF65-F5344CB8AC3E}">
        <p14:creationId xmlns:p14="http://schemas.microsoft.com/office/powerpoint/2010/main" val="622440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2B828-347E-925D-E3C9-8D9BD1F783F1}"/>
              </a:ext>
            </a:extLst>
          </p:cNvPr>
          <p:cNvSpPr>
            <a:spLocks noGrp="1"/>
          </p:cNvSpPr>
          <p:nvPr>
            <p:ph type="title"/>
          </p:nvPr>
        </p:nvSpPr>
        <p:spPr>
          <a:xfrm>
            <a:off x="2592925" y="624110"/>
            <a:ext cx="9267287" cy="1280890"/>
          </a:xfrm>
        </p:spPr>
        <p:txBody>
          <a:bodyPr>
            <a:normAutofit/>
          </a:bodyPr>
          <a:lstStyle/>
          <a:p>
            <a:r>
              <a:rPr lang="en-US" sz="3400"/>
              <a:t>EXAMPLE: "SWISS ARMY KNIFE" NAVIGATION</a:t>
            </a:r>
          </a:p>
        </p:txBody>
      </p:sp>
      <p:sp>
        <p:nvSpPr>
          <p:cNvPr id="3" name="Content Placeholder 2">
            <a:extLst>
              <a:ext uri="{FF2B5EF4-FFF2-40B4-BE49-F238E27FC236}">
                <a16:creationId xmlns:a16="http://schemas.microsoft.com/office/drawing/2014/main" id="{F39C2D65-43A8-2231-45B8-C932FD00B34F}"/>
              </a:ext>
            </a:extLst>
          </p:cNvPr>
          <p:cNvSpPr>
            <a:spLocks noGrp="1"/>
          </p:cNvSpPr>
          <p:nvPr>
            <p:ph idx="1"/>
          </p:nvPr>
        </p:nvSpPr>
        <p:spPr/>
        <p:txBody>
          <a:bodyPr vert="horz" lIns="91440" tIns="45720" rIns="91440" bIns="45720" rtlCol="0" anchor="t">
            <a:normAutofit/>
          </a:bodyPr>
          <a:lstStyle/>
          <a:p>
            <a:pPr algn="just">
              <a:lnSpc>
                <a:spcPct val="150000"/>
              </a:lnSpc>
            </a:pPr>
            <a:r>
              <a:rPr lang="en-US"/>
              <a:t>Goal: Maximize screen space and keep users focused on content</a:t>
            </a:r>
          </a:p>
          <a:p>
            <a:pPr algn="just">
              <a:lnSpc>
                <a:spcPct val="150000"/>
              </a:lnSpc>
            </a:pPr>
            <a:r>
              <a:rPr lang="en-US"/>
              <a:t>Typical uses: Off-canvas or side-drawer menus that slide in/out</a:t>
            </a:r>
          </a:p>
          <a:p>
            <a:pPr algn="just">
              <a:lnSpc>
                <a:spcPct val="150000"/>
              </a:lnSpc>
            </a:pPr>
            <a:r>
              <a:rPr lang="en-US"/>
              <a:t>Benefits:</a:t>
            </a:r>
          </a:p>
          <a:p>
            <a:pPr lvl="1" algn="just">
              <a:lnSpc>
                <a:spcPct val="150000"/>
              </a:lnSpc>
              <a:buFont typeface="Courier New" charset="2"/>
              <a:buChar char="o"/>
            </a:pPr>
            <a:r>
              <a:rPr lang="en-US"/>
              <a:t>Uses space only when needed</a:t>
            </a:r>
          </a:p>
          <a:p>
            <a:pPr lvl="1" algn="just">
              <a:lnSpc>
                <a:spcPct val="150000"/>
              </a:lnSpc>
              <a:buFont typeface="Courier New" charset="2"/>
              <a:buChar char="o"/>
            </a:pPr>
            <a:r>
              <a:rPr lang="en-US"/>
              <a:t>Combines text + icons for easy action recognition</a:t>
            </a:r>
          </a:p>
          <a:p>
            <a:pPr lvl="1" algn="just">
              <a:lnSpc>
                <a:spcPct val="150000"/>
              </a:lnSpc>
              <a:buFont typeface="Courier New" charset="2"/>
              <a:buChar char="o"/>
            </a:pPr>
            <a:r>
              <a:rPr lang="en-US"/>
              <a:t>Familiar to users, smooth learning curve </a:t>
            </a:r>
          </a:p>
          <a:p>
            <a:pPr algn="just">
              <a:lnSpc>
                <a:spcPct val="150000"/>
              </a:lnSpc>
            </a:pPr>
            <a:r>
              <a:rPr lang="en-US"/>
              <a:t>Used widely across mobile apps today</a:t>
            </a:r>
          </a:p>
        </p:txBody>
      </p:sp>
    </p:spTree>
    <p:extLst>
      <p:ext uri="{BB962C8B-B14F-4D97-AF65-F5344CB8AC3E}">
        <p14:creationId xmlns:p14="http://schemas.microsoft.com/office/powerpoint/2010/main" val="2541756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DEBE-306F-E1AB-56C4-46BC3B5BFB21}"/>
              </a:ext>
            </a:extLst>
          </p:cNvPr>
          <p:cNvSpPr>
            <a:spLocks noGrp="1"/>
          </p:cNvSpPr>
          <p:nvPr>
            <p:ph type="title"/>
          </p:nvPr>
        </p:nvSpPr>
        <p:spPr/>
        <p:txBody>
          <a:bodyPr>
            <a:normAutofit/>
          </a:bodyPr>
          <a:lstStyle/>
          <a:p>
            <a:r>
              <a:rPr lang="en-US" sz="3000"/>
              <a:t>PATTERNS, ANTI-PATTERNS, AND DARK PATTERNS</a:t>
            </a:r>
          </a:p>
        </p:txBody>
      </p:sp>
      <p:sp>
        <p:nvSpPr>
          <p:cNvPr id="3" name="Content Placeholder 2">
            <a:extLst>
              <a:ext uri="{FF2B5EF4-FFF2-40B4-BE49-F238E27FC236}">
                <a16:creationId xmlns:a16="http://schemas.microsoft.com/office/drawing/2014/main" id="{BF410495-72ED-3AF2-3A6C-31BE4CB82445}"/>
              </a:ext>
            </a:extLst>
          </p:cNvPr>
          <p:cNvSpPr>
            <a:spLocks noGrp="1"/>
          </p:cNvSpPr>
          <p:nvPr>
            <p:ph idx="1"/>
          </p:nvPr>
        </p:nvSpPr>
        <p:spPr/>
        <p:txBody>
          <a:bodyPr vert="horz" lIns="91440" tIns="45720" rIns="91440" bIns="45720" rtlCol="0" anchor="t">
            <a:normAutofit/>
          </a:bodyPr>
          <a:lstStyle/>
          <a:p>
            <a:pPr>
              <a:lnSpc>
                <a:spcPct val="150000"/>
              </a:lnSpc>
            </a:pPr>
            <a:r>
              <a:rPr lang="en-US"/>
              <a:t>Anti-patterns: outdated or poor design habits that don't scale across platforms</a:t>
            </a:r>
          </a:p>
          <a:p>
            <a:pPr lvl="1">
              <a:lnSpc>
                <a:spcPct val="150000"/>
              </a:lnSpc>
              <a:buFont typeface="Courier New" charset="2"/>
              <a:buChar char="o"/>
            </a:pPr>
            <a:r>
              <a:rPr lang="en-US"/>
              <a:t>Example: desktop layouts squeezed onto mobile screens</a:t>
            </a:r>
          </a:p>
          <a:p>
            <a:pPr>
              <a:lnSpc>
                <a:spcPct val="150000"/>
              </a:lnSpc>
            </a:pPr>
            <a:r>
              <a:rPr lang="en-US"/>
              <a:t>Dark patterns: designs that trick or manipulate users for business gain</a:t>
            </a:r>
          </a:p>
          <a:p>
            <a:pPr lvl="1">
              <a:lnSpc>
                <a:spcPct val="150000"/>
              </a:lnSpc>
              <a:buFont typeface="Courier New" charset="2"/>
              <a:buChar char="o"/>
            </a:pPr>
            <a:r>
              <a:rPr lang="en-US"/>
              <a:t>Common tactics: nagging, obstruction, sneaking, interface interference, forced action</a:t>
            </a:r>
          </a:p>
          <a:p>
            <a:pPr>
              <a:lnSpc>
                <a:spcPct val="150000"/>
              </a:lnSpc>
            </a:pPr>
            <a:r>
              <a:rPr lang="en-US"/>
              <a:t>Good design patterns improve user experience, not just aesthetics</a:t>
            </a:r>
          </a:p>
        </p:txBody>
      </p:sp>
    </p:spTree>
    <p:extLst>
      <p:ext uri="{BB962C8B-B14F-4D97-AF65-F5344CB8AC3E}">
        <p14:creationId xmlns:p14="http://schemas.microsoft.com/office/powerpoint/2010/main" val="1984296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5EC41-7BA4-D548-E706-1E5C0F01E741}"/>
              </a:ext>
            </a:extLst>
          </p:cNvPr>
          <p:cNvSpPr>
            <a:spLocks noGrp="1"/>
          </p:cNvSpPr>
          <p:nvPr>
            <p:ph type="ctrTitle"/>
          </p:nvPr>
        </p:nvSpPr>
        <p:spPr>
          <a:xfrm>
            <a:off x="2589213" y="2514600"/>
            <a:ext cx="8915399" cy="1153309"/>
          </a:xfrm>
        </p:spPr>
        <p:txBody>
          <a:bodyPr>
            <a:normAutofit/>
          </a:bodyPr>
          <a:lstStyle/>
          <a:p>
            <a:pPr algn="ctr"/>
            <a:r>
              <a:rPr lang="en-US" sz="5200"/>
              <a:t>OPEN-SOURCE RESOURCES</a:t>
            </a:r>
            <a:endParaRPr lang="en-US"/>
          </a:p>
        </p:txBody>
      </p:sp>
    </p:spTree>
    <p:extLst>
      <p:ext uri="{BB962C8B-B14F-4D97-AF65-F5344CB8AC3E}">
        <p14:creationId xmlns:p14="http://schemas.microsoft.com/office/powerpoint/2010/main" val="1670473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7DE5B-9B7F-4B24-4095-066F773781D5}"/>
              </a:ext>
            </a:extLst>
          </p:cNvPr>
          <p:cNvSpPr>
            <a:spLocks noGrp="1"/>
          </p:cNvSpPr>
          <p:nvPr>
            <p:ph type="title"/>
          </p:nvPr>
        </p:nvSpPr>
        <p:spPr/>
        <p:txBody>
          <a:bodyPr/>
          <a:lstStyle/>
          <a:p>
            <a:r>
              <a:rPr lang="en-US"/>
              <a:t>WHAT ARE OPEN-SOURCE RESOURCES?</a:t>
            </a:r>
          </a:p>
        </p:txBody>
      </p:sp>
      <p:sp>
        <p:nvSpPr>
          <p:cNvPr id="3" name="Content Placeholder 2">
            <a:extLst>
              <a:ext uri="{FF2B5EF4-FFF2-40B4-BE49-F238E27FC236}">
                <a16:creationId xmlns:a16="http://schemas.microsoft.com/office/drawing/2014/main" id="{F2621E69-19E9-95DC-CCFC-52141DAF3741}"/>
              </a:ext>
            </a:extLst>
          </p:cNvPr>
          <p:cNvSpPr>
            <a:spLocks noGrp="1"/>
          </p:cNvSpPr>
          <p:nvPr>
            <p:ph idx="1"/>
          </p:nvPr>
        </p:nvSpPr>
        <p:spPr>
          <a:xfrm>
            <a:off x="2595308" y="1536192"/>
            <a:ext cx="8915400" cy="4685926"/>
          </a:xfrm>
        </p:spPr>
        <p:txBody>
          <a:bodyPr vert="horz" lIns="91440" tIns="45720" rIns="91440" bIns="45720" rtlCol="0" anchor="t">
            <a:normAutofit/>
          </a:bodyPr>
          <a:lstStyle/>
          <a:p>
            <a:pPr algn="just">
              <a:lnSpc>
                <a:spcPct val="150000"/>
              </a:lnSpc>
            </a:pPr>
            <a:r>
              <a:rPr lang="en-US">
                <a:ea typeface="+mn-lt"/>
                <a:cs typeface="+mn-lt"/>
              </a:rPr>
              <a:t>Open-source software provides free access to source code for use, modification, and redistribution.</a:t>
            </a:r>
            <a:endParaRPr lang="en-US"/>
          </a:p>
          <a:p>
            <a:pPr algn="just">
              <a:lnSpc>
                <a:spcPct val="150000"/>
              </a:lnSpc>
            </a:pPr>
            <a:r>
              <a:rPr lang="en-US">
                <a:ea typeface="+mn-lt"/>
                <a:cs typeface="+mn-lt"/>
              </a:rPr>
              <a:t>Many global infrastructures (e.g., Linux, Eclipse, PHP) are built on open-source foundations.</a:t>
            </a:r>
            <a:endParaRPr lang="en-US"/>
          </a:p>
          <a:p>
            <a:pPr algn="just">
              <a:lnSpc>
                <a:spcPct val="150000"/>
              </a:lnSpc>
            </a:pPr>
            <a:r>
              <a:rPr lang="en-US">
                <a:ea typeface="+mn-lt"/>
                <a:cs typeface="+mn-lt"/>
              </a:rPr>
              <a:t>Encourages collaboration, transparency, and innovation across the design community.</a:t>
            </a:r>
            <a:endParaRPr lang="en-US"/>
          </a:p>
          <a:p>
            <a:pPr algn="just">
              <a:lnSpc>
                <a:spcPct val="150000"/>
              </a:lnSpc>
            </a:pPr>
            <a:r>
              <a:rPr lang="en-US">
                <a:ea typeface="+mn-lt"/>
                <a:cs typeface="+mn-lt"/>
              </a:rPr>
              <a:t>Supports reusability and rapid prototyping for UX designers.</a:t>
            </a:r>
          </a:p>
          <a:p>
            <a:pPr algn="just">
              <a:lnSpc>
                <a:spcPct val="150000"/>
              </a:lnSpc>
            </a:pPr>
            <a:r>
              <a:rPr lang="en-US">
                <a:hlinkClick r:id="rId3"/>
              </a:rPr>
              <a:t>https://www.turing.ac.uk/blog/open-source-software-why-it-matters-and-how-get-involved?utm_source=chatgpt.com</a:t>
            </a:r>
            <a:endParaRPr lang="en-US"/>
          </a:p>
        </p:txBody>
      </p:sp>
    </p:spTree>
    <p:extLst>
      <p:ext uri="{BB962C8B-B14F-4D97-AF65-F5344CB8AC3E}">
        <p14:creationId xmlns:p14="http://schemas.microsoft.com/office/powerpoint/2010/main" val="163433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28A54-F467-D3BF-220D-F52442C069A0}"/>
              </a:ext>
            </a:extLst>
          </p:cNvPr>
          <p:cNvSpPr>
            <a:spLocks noGrp="1"/>
          </p:cNvSpPr>
          <p:nvPr>
            <p:ph type="title"/>
          </p:nvPr>
        </p:nvSpPr>
        <p:spPr/>
        <p:txBody>
          <a:bodyPr/>
          <a:lstStyle/>
          <a:p>
            <a:r>
              <a:rPr lang="en-US"/>
              <a:t>IMPACT ON INTERACTION DESIGN</a:t>
            </a:r>
          </a:p>
        </p:txBody>
      </p:sp>
      <p:sp>
        <p:nvSpPr>
          <p:cNvPr id="3" name="Content Placeholder 2">
            <a:extLst>
              <a:ext uri="{FF2B5EF4-FFF2-40B4-BE49-F238E27FC236}">
                <a16:creationId xmlns:a16="http://schemas.microsoft.com/office/drawing/2014/main" id="{2C3BC110-324E-3421-233E-065E0AF06B66}"/>
              </a:ext>
            </a:extLst>
          </p:cNvPr>
          <p:cNvSpPr>
            <a:spLocks noGrp="1"/>
          </p:cNvSpPr>
          <p:nvPr>
            <p:ph idx="1"/>
          </p:nvPr>
        </p:nvSpPr>
        <p:spPr/>
        <p:txBody>
          <a:bodyPr vert="horz" lIns="91440" tIns="45720" rIns="91440" bIns="45720" rtlCol="0" anchor="t">
            <a:normAutofit/>
          </a:bodyPr>
          <a:lstStyle/>
          <a:p>
            <a:pPr algn="just">
              <a:lnSpc>
                <a:spcPct val="150000"/>
              </a:lnSpc>
            </a:pPr>
            <a:r>
              <a:rPr lang="en-US">
                <a:ea typeface="+mn-lt"/>
                <a:cs typeface="+mn-lt"/>
              </a:rPr>
              <a:t>Expands availability of tools for creating better user experiences.</a:t>
            </a:r>
            <a:endParaRPr lang="en-US"/>
          </a:p>
          <a:p>
            <a:pPr algn="just">
              <a:lnSpc>
                <a:spcPct val="150000"/>
              </a:lnSpc>
            </a:pPr>
            <a:r>
              <a:rPr lang="en-US">
                <a:ea typeface="+mn-lt"/>
                <a:cs typeface="+mn-lt"/>
              </a:rPr>
              <a:t>Enables designers to build upon existing pattern libraries and UI frameworks.</a:t>
            </a:r>
            <a:endParaRPr lang="en-US"/>
          </a:p>
          <a:p>
            <a:pPr algn="just">
              <a:lnSpc>
                <a:spcPct val="150000"/>
              </a:lnSpc>
            </a:pPr>
            <a:r>
              <a:rPr lang="en-US">
                <a:ea typeface="+mn-lt"/>
                <a:cs typeface="+mn-lt"/>
              </a:rPr>
              <a:t>Reduces development time through reusable components and shared resources.</a:t>
            </a:r>
            <a:endParaRPr lang="en-US"/>
          </a:p>
          <a:p>
            <a:pPr algn="just">
              <a:lnSpc>
                <a:spcPct val="150000"/>
              </a:lnSpc>
            </a:pPr>
            <a:r>
              <a:rPr lang="en-US">
                <a:ea typeface="+mn-lt"/>
                <a:cs typeface="+mn-lt"/>
              </a:rPr>
              <a:t>Promotes community-driven improvement and peer review of design methods.</a:t>
            </a:r>
            <a:endParaRPr lang="en-US"/>
          </a:p>
          <a:p>
            <a:pPr marL="0" indent="0">
              <a:buNone/>
            </a:pPr>
            <a:endParaRPr lang="en-GB"/>
          </a:p>
        </p:txBody>
      </p:sp>
    </p:spTree>
    <p:extLst>
      <p:ext uri="{BB962C8B-B14F-4D97-AF65-F5344CB8AC3E}">
        <p14:creationId xmlns:p14="http://schemas.microsoft.com/office/powerpoint/2010/main" val="3291119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07C0-B3EE-721D-2655-F9DD4575AFFD}"/>
              </a:ext>
            </a:extLst>
          </p:cNvPr>
          <p:cNvSpPr>
            <a:spLocks noGrp="1"/>
          </p:cNvSpPr>
          <p:nvPr>
            <p:ph type="title"/>
          </p:nvPr>
        </p:nvSpPr>
        <p:spPr/>
        <p:txBody>
          <a:bodyPr>
            <a:normAutofit/>
          </a:bodyPr>
          <a:lstStyle/>
          <a:p>
            <a:r>
              <a:rPr lang="en-US" sz="3250"/>
              <a:t>EXAMPLES OF OPEN-SOURCE FRAMEWORKS</a:t>
            </a:r>
          </a:p>
        </p:txBody>
      </p:sp>
      <p:sp>
        <p:nvSpPr>
          <p:cNvPr id="3" name="Content Placeholder 2">
            <a:extLst>
              <a:ext uri="{FF2B5EF4-FFF2-40B4-BE49-F238E27FC236}">
                <a16:creationId xmlns:a16="http://schemas.microsoft.com/office/drawing/2014/main" id="{8E7480B2-1282-3662-60AB-E162C2CEAE56}"/>
              </a:ext>
            </a:extLst>
          </p:cNvPr>
          <p:cNvSpPr>
            <a:spLocks noGrp="1"/>
          </p:cNvSpPr>
          <p:nvPr>
            <p:ph idx="1"/>
          </p:nvPr>
        </p:nvSpPr>
        <p:spPr/>
        <p:txBody>
          <a:bodyPr vert="horz" lIns="91440" tIns="45720" rIns="91440" bIns="45720" rtlCol="0" anchor="t">
            <a:normAutofit/>
          </a:bodyPr>
          <a:lstStyle/>
          <a:p>
            <a:pPr marL="0" indent="0" algn="just">
              <a:lnSpc>
                <a:spcPct val="150000"/>
              </a:lnSpc>
              <a:buNone/>
            </a:pPr>
            <a:r>
              <a:rPr lang="en-US">
                <a:ea typeface="+mn-lt"/>
                <a:cs typeface="+mn-lt"/>
              </a:rPr>
              <a:t>Bootstrap – open-source front-end framework with ready-to-use:</a:t>
            </a:r>
            <a:endParaRPr lang="en-US"/>
          </a:p>
          <a:p>
            <a:pPr algn="just">
              <a:lnSpc>
                <a:spcPct val="150000"/>
              </a:lnSpc>
            </a:pPr>
            <a:r>
              <a:rPr lang="en-US">
                <a:ea typeface="+mn-lt"/>
                <a:cs typeface="+mn-lt"/>
              </a:rPr>
              <a:t>Layout grids for responsive design</a:t>
            </a:r>
            <a:endParaRPr lang="en-US"/>
          </a:p>
          <a:p>
            <a:pPr algn="just">
              <a:lnSpc>
                <a:spcPct val="150000"/>
              </a:lnSpc>
            </a:pPr>
            <a:r>
              <a:rPr lang="en-US">
                <a:ea typeface="+mn-lt"/>
                <a:cs typeface="+mn-lt"/>
              </a:rPr>
              <a:t>Reusable UI elements (buttons, tabs, menus)</a:t>
            </a:r>
            <a:endParaRPr lang="en-US"/>
          </a:p>
          <a:p>
            <a:pPr algn="just">
              <a:lnSpc>
                <a:spcPct val="150000"/>
              </a:lnSpc>
            </a:pPr>
            <a:r>
              <a:rPr lang="en-US">
                <a:ea typeface="+mn-lt"/>
                <a:cs typeface="+mn-lt"/>
              </a:rPr>
              <a:t>Typography and navigation patterns</a:t>
            </a:r>
            <a:endParaRPr lang="en-US"/>
          </a:p>
          <a:p>
            <a:pPr marL="0" indent="0" algn="just">
              <a:lnSpc>
                <a:spcPct val="150000"/>
              </a:lnSpc>
              <a:buNone/>
            </a:pPr>
            <a:r>
              <a:rPr lang="en-US">
                <a:ea typeface="+mn-lt"/>
                <a:cs typeface="+mn-lt"/>
              </a:rPr>
              <a:t>GitHub – primary hosting platform for open-source projects.</a:t>
            </a:r>
            <a:endParaRPr lang="en-US"/>
          </a:p>
          <a:p>
            <a:pPr algn="just">
              <a:lnSpc>
                <a:spcPct val="150000"/>
              </a:lnSpc>
            </a:pPr>
            <a:r>
              <a:rPr lang="en-US">
                <a:ea typeface="+mn-lt"/>
                <a:cs typeface="+mn-lt"/>
              </a:rPr>
              <a:t>Over 80 million users contributing to code and design repositories.</a:t>
            </a:r>
            <a:endParaRPr lang="en-US"/>
          </a:p>
          <a:p>
            <a:pPr algn="just">
              <a:lnSpc>
                <a:spcPct val="150000"/>
              </a:lnSpc>
            </a:pPr>
            <a:r>
              <a:rPr lang="en-US">
                <a:ea typeface="+mn-lt"/>
                <a:cs typeface="+mn-lt"/>
              </a:rPr>
              <a:t>Enables collaboration, documentation, and version control.</a:t>
            </a:r>
            <a:endParaRPr lang="en-US"/>
          </a:p>
          <a:p>
            <a:pPr marL="0" indent="0">
              <a:buNone/>
            </a:pPr>
            <a:endParaRPr lang="en-GB"/>
          </a:p>
        </p:txBody>
      </p:sp>
    </p:spTree>
    <p:extLst>
      <p:ext uri="{BB962C8B-B14F-4D97-AF65-F5344CB8AC3E}">
        <p14:creationId xmlns:p14="http://schemas.microsoft.com/office/powerpoint/2010/main" val="826165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98C8D-5E48-55AD-B3C3-C518C35AB225}"/>
              </a:ext>
            </a:extLst>
          </p:cNvPr>
          <p:cNvSpPr>
            <a:spLocks noGrp="1"/>
          </p:cNvSpPr>
          <p:nvPr>
            <p:ph type="title"/>
          </p:nvPr>
        </p:nvSpPr>
        <p:spPr/>
        <p:txBody>
          <a:bodyPr/>
          <a:lstStyle/>
          <a:p>
            <a:r>
              <a:rPr lang="en-US"/>
              <a:t>ADVANTAGES AND CHALLENGES</a:t>
            </a:r>
          </a:p>
        </p:txBody>
      </p:sp>
      <p:sp>
        <p:nvSpPr>
          <p:cNvPr id="3" name="Content Placeholder 2">
            <a:extLst>
              <a:ext uri="{FF2B5EF4-FFF2-40B4-BE49-F238E27FC236}">
                <a16:creationId xmlns:a16="http://schemas.microsoft.com/office/drawing/2014/main" id="{6E1C8E26-244E-ECDA-2636-533BC17BF77C}"/>
              </a:ext>
            </a:extLst>
          </p:cNvPr>
          <p:cNvSpPr>
            <a:spLocks noGrp="1"/>
          </p:cNvSpPr>
          <p:nvPr>
            <p:ph idx="1"/>
          </p:nvPr>
        </p:nvSpPr>
        <p:spPr>
          <a:xfrm>
            <a:off x="2589212" y="1755423"/>
            <a:ext cx="8915400" cy="4765399"/>
          </a:xfrm>
        </p:spPr>
        <p:txBody>
          <a:bodyPr vert="horz" lIns="91440" tIns="45720" rIns="91440" bIns="45720" rtlCol="0" anchor="t">
            <a:normAutofit/>
          </a:bodyPr>
          <a:lstStyle/>
          <a:p>
            <a:pPr marL="0" indent="0" algn="just">
              <a:lnSpc>
                <a:spcPct val="150000"/>
              </a:lnSpc>
              <a:buNone/>
            </a:pPr>
            <a:r>
              <a:rPr lang="en-US">
                <a:ea typeface="+mn-lt"/>
                <a:cs typeface="+mn-lt"/>
              </a:rPr>
              <a:t>Advantages:</a:t>
            </a:r>
            <a:endParaRPr lang="en-US"/>
          </a:p>
          <a:p>
            <a:pPr algn="just">
              <a:lnSpc>
                <a:spcPct val="150000"/>
              </a:lnSpc>
            </a:pPr>
            <a:r>
              <a:rPr lang="en-US">
                <a:ea typeface="+mn-lt"/>
                <a:cs typeface="+mn-lt"/>
              </a:rPr>
              <a:t>Cost-effective and accessible</a:t>
            </a:r>
            <a:endParaRPr lang="en-US"/>
          </a:p>
          <a:p>
            <a:pPr algn="just">
              <a:lnSpc>
                <a:spcPct val="150000"/>
              </a:lnSpc>
            </a:pPr>
            <a:r>
              <a:rPr lang="en-US">
                <a:ea typeface="+mn-lt"/>
                <a:cs typeface="+mn-lt"/>
              </a:rPr>
              <a:t>Large, active communities for support</a:t>
            </a:r>
            <a:endParaRPr lang="en-US"/>
          </a:p>
          <a:p>
            <a:pPr algn="just">
              <a:lnSpc>
                <a:spcPct val="150000"/>
              </a:lnSpc>
            </a:pPr>
            <a:r>
              <a:rPr lang="en-US">
                <a:ea typeface="+mn-lt"/>
                <a:cs typeface="+mn-lt"/>
              </a:rPr>
              <a:t>Fast updates and evolution</a:t>
            </a:r>
            <a:endParaRPr lang="en-US"/>
          </a:p>
          <a:p>
            <a:pPr marL="0" indent="0" algn="just">
              <a:lnSpc>
                <a:spcPct val="150000"/>
              </a:lnSpc>
              <a:buNone/>
            </a:pPr>
            <a:r>
              <a:rPr lang="en-US">
                <a:ea typeface="+mn-lt"/>
                <a:cs typeface="+mn-lt"/>
              </a:rPr>
              <a:t>Challenges:</a:t>
            </a:r>
            <a:endParaRPr lang="en-US"/>
          </a:p>
          <a:p>
            <a:pPr algn="just">
              <a:lnSpc>
                <a:spcPct val="150000"/>
              </a:lnSpc>
            </a:pPr>
            <a:r>
              <a:rPr lang="en-US">
                <a:ea typeface="+mn-lt"/>
                <a:cs typeface="+mn-lt"/>
              </a:rPr>
              <a:t>Quality control and compatibility issues</a:t>
            </a:r>
            <a:endParaRPr lang="en-US"/>
          </a:p>
          <a:p>
            <a:pPr algn="just">
              <a:lnSpc>
                <a:spcPct val="150000"/>
              </a:lnSpc>
            </a:pPr>
            <a:r>
              <a:rPr lang="en-US">
                <a:ea typeface="+mn-lt"/>
                <a:cs typeface="+mn-lt"/>
              </a:rPr>
              <a:t>Requires technical literacy to customize</a:t>
            </a:r>
            <a:endParaRPr lang="en-US"/>
          </a:p>
          <a:p>
            <a:pPr algn="just">
              <a:lnSpc>
                <a:spcPct val="150000"/>
              </a:lnSpc>
            </a:pPr>
            <a:r>
              <a:rPr lang="en-US">
                <a:ea typeface="+mn-lt"/>
                <a:cs typeface="+mn-lt"/>
              </a:rPr>
              <a:t>Licensing awareness needed</a:t>
            </a:r>
            <a:endParaRPr lang="en-US"/>
          </a:p>
          <a:p>
            <a:endParaRPr lang="en-GB"/>
          </a:p>
        </p:txBody>
      </p:sp>
    </p:spTree>
    <p:extLst>
      <p:ext uri="{BB962C8B-B14F-4D97-AF65-F5344CB8AC3E}">
        <p14:creationId xmlns:p14="http://schemas.microsoft.com/office/powerpoint/2010/main" val="712474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A611C-DFAF-4C59-B412-B19909B1372C}"/>
              </a:ext>
            </a:extLst>
          </p:cNvPr>
          <p:cNvSpPr>
            <a:spLocks noGrp="1"/>
          </p:cNvSpPr>
          <p:nvPr>
            <p:ph type="ctrTitle"/>
          </p:nvPr>
        </p:nvSpPr>
        <p:spPr>
          <a:xfrm>
            <a:off x="2183347" y="2266696"/>
            <a:ext cx="9614776" cy="1165501"/>
          </a:xfrm>
        </p:spPr>
        <p:txBody>
          <a:bodyPr>
            <a:normAutofit/>
          </a:bodyPr>
          <a:lstStyle/>
          <a:p>
            <a:pPr algn="ctr"/>
            <a:r>
              <a:rPr lang="en-US" sz="4600"/>
              <a:t>TOOLS FOR INTERACTION DESIGN</a:t>
            </a:r>
          </a:p>
        </p:txBody>
      </p:sp>
    </p:spTree>
    <p:extLst>
      <p:ext uri="{BB962C8B-B14F-4D97-AF65-F5344CB8AC3E}">
        <p14:creationId xmlns:p14="http://schemas.microsoft.com/office/powerpoint/2010/main" val="3958258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0E552-3DB6-E986-BFB4-B4E9FADD27AA}"/>
              </a:ext>
            </a:extLst>
          </p:cNvPr>
          <p:cNvSpPr>
            <a:spLocks noGrp="1"/>
          </p:cNvSpPr>
          <p:nvPr>
            <p:ph type="title"/>
          </p:nvPr>
        </p:nvSpPr>
        <p:spPr/>
        <p:txBody>
          <a:bodyPr>
            <a:normAutofit/>
          </a:bodyPr>
          <a:lstStyle/>
          <a:p>
            <a:r>
              <a:rPr lang="en-US" sz="3500"/>
              <a:t>ROLE OF TOOLS IN INTERACTION DESIGN</a:t>
            </a:r>
          </a:p>
        </p:txBody>
      </p:sp>
      <p:sp>
        <p:nvSpPr>
          <p:cNvPr id="3" name="Content Placeholder 2">
            <a:extLst>
              <a:ext uri="{FF2B5EF4-FFF2-40B4-BE49-F238E27FC236}">
                <a16:creationId xmlns:a16="http://schemas.microsoft.com/office/drawing/2014/main" id="{DB83AF18-92E9-5B60-9ECE-C42FDD25C3D6}"/>
              </a:ext>
            </a:extLst>
          </p:cNvPr>
          <p:cNvSpPr>
            <a:spLocks noGrp="1"/>
          </p:cNvSpPr>
          <p:nvPr>
            <p:ph idx="1"/>
          </p:nvPr>
        </p:nvSpPr>
        <p:spPr/>
        <p:txBody>
          <a:bodyPr vert="horz" lIns="91440" tIns="45720" rIns="91440" bIns="45720" rtlCol="0" anchor="t">
            <a:normAutofit/>
          </a:bodyPr>
          <a:lstStyle/>
          <a:p>
            <a:pPr algn="just">
              <a:lnSpc>
                <a:spcPct val="150000"/>
              </a:lnSpc>
            </a:pPr>
            <a:r>
              <a:rPr lang="en-US">
                <a:ea typeface="+mn-lt"/>
                <a:cs typeface="+mn-lt"/>
              </a:rPr>
              <a:t>Tools enable designers to visualize ideas, prototype interactions, and test usability.</a:t>
            </a:r>
            <a:endParaRPr lang="en-US"/>
          </a:p>
          <a:p>
            <a:pPr algn="just">
              <a:lnSpc>
                <a:spcPct val="150000"/>
              </a:lnSpc>
            </a:pPr>
            <a:r>
              <a:rPr lang="en-US">
                <a:ea typeface="+mn-lt"/>
                <a:cs typeface="+mn-lt"/>
              </a:rPr>
              <a:t>They bridge the gap between conceptual design and implementation.</a:t>
            </a:r>
            <a:endParaRPr lang="en-US"/>
          </a:p>
          <a:p>
            <a:pPr algn="just">
              <a:lnSpc>
                <a:spcPct val="150000"/>
              </a:lnSpc>
            </a:pPr>
            <a:r>
              <a:rPr lang="en-US">
                <a:ea typeface="+mn-lt"/>
                <a:cs typeface="+mn-lt"/>
              </a:rPr>
              <a:t>Support the iterative design process from ideation to final user testing.</a:t>
            </a:r>
            <a:endParaRPr lang="en-US"/>
          </a:p>
          <a:p>
            <a:endParaRPr lang="en-GB"/>
          </a:p>
        </p:txBody>
      </p:sp>
    </p:spTree>
    <p:extLst>
      <p:ext uri="{BB962C8B-B14F-4D97-AF65-F5344CB8AC3E}">
        <p14:creationId xmlns:p14="http://schemas.microsoft.com/office/powerpoint/2010/main" val="3611220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56F71-4AF2-9C0A-2717-E78492053640}"/>
              </a:ext>
            </a:extLst>
          </p:cNvPr>
          <p:cNvSpPr>
            <a:spLocks noGrp="1"/>
          </p:cNvSpPr>
          <p:nvPr>
            <p:ph type="title"/>
          </p:nvPr>
        </p:nvSpPr>
        <p:spPr/>
        <p:txBody>
          <a:bodyPr/>
          <a:lstStyle/>
          <a:p>
            <a:r>
              <a:rPr lang="en-US" sz="3500"/>
              <a:t>CATEGORIES OF DESIGN TOOLS</a:t>
            </a:r>
            <a:endParaRPr lang="en-US"/>
          </a:p>
        </p:txBody>
      </p:sp>
      <p:sp>
        <p:nvSpPr>
          <p:cNvPr id="3" name="Content Placeholder 2">
            <a:extLst>
              <a:ext uri="{FF2B5EF4-FFF2-40B4-BE49-F238E27FC236}">
                <a16:creationId xmlns:a16="http://schemas.microsoft.com/office/drawing/2014/main" id="{BEB2F230-DAA8-39CB-AFD5-9FEAC4124779}"/>
              </a:ext>
            </a:extLst>
          </p:cNvPr>
          <p:cNvSpPr>
            <a:spLocks noGrp="1"/>
          </p:cNvSpPr>
          <p:nvPr>
            <p:ph sz="half" idx="1"/>
          </p:nvPr>
        </p:nvSpPr>
        <p:spPr/>
        <p:txBody>
          <a:bodyPr vert="horz" lIns="91440" tIns="45720" rIns="91440" bIns="45720" rtlCol="0" anchor="t">
            <a:noAutofit/>
          </a:bodyPr>
          <a:lstStyle/>
          <a:p>
            <a:pPr marL="0" indent="0" algn="just">
              <a:lnSpc>
                <a:spcPct val="150000"/>
              </a:lnSpc>
              <a:buNone/>
            </a:pPr>
            <a:r>
              <a:rPr lang="en-GB" sz="1600"/>
              <a:t>Sketching and Wireframing Tools</a:t>
            </a:r>
            <a:endParaRPr lang="en-US" sz="1600">
              <a:solidFill>
                <a:srgbClr val="000000"/>
              </a:solidFill>
            </a:endParaRPr>
          </a:p>
          <a:p>
            <a:pPr algn="just">
              <a:lnSpc>
                <a:spcPct val="150000"/>
              </a:lnSpc>
            </a:pPr>
            <a:r>
              <a:rPr lang="en-GB" sz="1600"/>
              <a:t>Figma, Sketch, Adobe XD, Balsamiq</a:t>
            </a:r>
            <a:endParaRPr lang="en-US" sz="1600">
              <a:solidFill>
                <a:srgbClr val="000000"/>
              </a:solidFill>
            </a:endParaRPr>
          </a:p>
          <a:p>
            <a:pPr algn="just">
              <a:lnSpc>
                <a:spcPct val="150000"/>
              </a:lnSpc>
            </a:pPr>
            <a:r>
              <a:rPr lang="en-GB" sz="1600"/>
              <a:t>Quick concept visualization</a:t>
            </a:r>
            <a:endParaRPr lang="en-US" sz="1600">
              <a:solidFill>
                <a:srgbClr val="000000"/>
              </a:solidFill>
            </a:endParaRPr>
          </a:p>
          <a:p>
            <a:pPr marL="0" indent="0" algn="just">
              <a:lnSpc>
                <a:spcPct val="150000"/>
              </a:lnSpc>
              <a:buNone/>
            </a:pPr>
            <a:r>
              <a:rPr lang="en-GB" sz="1600"/>
              <a:t>Prototyping Tools</a:t>
            </a:r>
            <a:endParaRPr lang="en-US" sz="1600">
              <a:solidFill>
                <a:srgbClr val="000000"/>
              </a:solidFill>
            </a:endParaRPr>
          </a:p>
          <a:p>
            <a:pPr algn="just">
              <a:lnSpc>
                <a:spcPct val="150000"/>
              </a:lnSpc>
            </a:pPr>
            <a:r>
              <a:rPr lang="en-GB" sz="1600"/>
              <a:t>InVision, Axure RP, Framer</a:t>
            </a:r>
            <a:endParaRPr lang="en-US" sz="1600">
              <a:solidFill>
                <a:srgbClr val="000000"/>
              </a:solidFill>
            </a:endParaRPr>
          </a:p>
          <a:p>
            <a:pPr algn="just">
              <a:lnSpc>
                <a:spcPct val="150000"/>
              </a:lnSpc>
            </a:pPr>
            <a:r>
              <a:rPr lang="en-GB" sz="1600"/>
              <a:t>Create interactive prototypes</a:t>
            </a:r>
            <a:endParaRPr lang="en-US" sz="1600">
              <a:solidFill>
                <a:srgbClr val="000000"/>
              </a:solidFill>
            </a:endParaRPr>
          </a:p>
          <a:p>
            <a:endParaRPr lang="en-US"/>
          </a:p>
        </p:txBody>
      </p:sp>
      <p:sp>
        <p:nvSpPr>
          <p:cNvPr id="4" name="Content Placeholder 3">
            <a:extLst>
              <a:ext uri="{FF2B5EF4-FFF2-40B4-BE49-F238E27FC236}">
                <a16:creationId xmlns:a16="http://schemas.microsoft.com/office/drawing/2014/main" id="{5A55E3C4-7389-8F0A-0FDC-E7CDF7CC6830}"/>
              </a:ext>
            </a:extLst>
          </p:cNvPr>
          <p:cNvSpPr>
            <a:spLocks noGrp="1"/>
          </p:cNvSpPr>
          <p:nvPr>
            <p:ph sz="half" idx="2"/>
          </p:nvPr>
        </p:nvSpPr>
        <p:spPr/>
        <p:txBody>
          <a:bodyPr vert="horz" lIns="91440" tIns="45720" rIns="91440" bIns="45720" rtlCol="0" anchor="t">
            <a:normAutofit/>
          </a:bodyPr>
          <a:lstStyle/>
          <a:p>
            <a:pPr marL="0" indent="0" algn="just">
              <a:lnSpc>
                <a:spcPct val="150000"/>
              </a:lnSpc>
              <a:buNone/>
            </a:pPr>
            <a:r>
              <a:rPr lang="en-GB" sz="1600"/>
              <a:t>Collaboration and Feedback Platforms</a:t>
            </a:r>
            <a:endParaRPr lang="en-US"/>
          </a:p>
          <a:p>
            <a:pPr algn="just">
              <a:lnSpc>
                <a:spcPct val="150000"/>
              </a:lnSpc>
            </a:pPr>
            <a:r>
              <a:rPr lang="en-GB" sz="1600"/>
              <a:t>Miro, Mural, Notion</a:t>
            </a:r>
            <a:endParaRPr lang="en-GB" sz="1600">
              <a:solidFill>
                <a:srgbClr val="404040"/>
              </a:solidFill>
            </a:endParaRPr>
          </a:p>
          <a:p>
            <a:pPr algn="just">
              <a:lnSpc>
                <a:spcPct val="150000"/>
              </a:lnSpc>
            </a:pPr>
            <a:r>
              <a:rPr lang="en-GB" sz="1600"/>
              <a:t>Facilitate team communication and co-design</a:t>
            </a:r>
            <a:endParaRPr lang="en-GB" sz="1600">
              <a:solidFill>
                <a:srgbClr val="404040"/>
              </a:solidFill>
            </a:endParaRPr>
          </a:p>
          <a:p>
            <a:pPr marL="0" indent="0" algn="just">
              <a:lnSpc>
                <a:spcPct val="150000"/>
              </a:lnSpc>
              <a:buNone/>
            </a:pPr>
            <a:r>
              <a:rPr lang="en-GB" sz="1600"/>
              <a:t>Development Support Tools</a:t>
            </a:r>
            <a:endParaRPr lang="en-GB" sz="1600">
              <a:solidFill>
                <a:srgbClr val="404040"/>
              </a:solidFill>
            </a:endParaRPr>
          </a:p>
          <a:p>
            <a:pPr algn="just">
              <a:lnSpc>
                <a:spcPct val="150000"/>
              </a:lnSpc>
            </a:pPr>
            <a:r>
              <a:rPr lang="en-GB" sz="1600"/>
              <a:t>Visual Studio Code, GitHub, GitLab</a:t>
            </a:r>
            <a:endParaRPr lang="en-GB" sz="1600">
              <a:solidFill>
                <a:srgbClr val="404040"/>
              </a:solidFill>
            </a:endParaRPr>
          </a:p>
          <a:p>
            <a:pPr algn="just">
              <a:lnSpc>
                <a:spcPct val="150000"/>
              </a:lnSpc>
            </a:pPr>
            <a:r>
              <a:rPr lang="en-GB" sz="1600"/>
              <a:t>Link design with real implementation</a:t>
            </a:r>
            <a:endParaRPr lang="en-GB" sz="1600">
              <a:solidFill>
                <a:srgbClr val="404040"/>
              </a:solidFill>
            </a:endParaRPr>
          </a:p>
          <a:p>
            <a:endParaRPr lang="en-GB" sz="1600"/>
          </a:p>
        </p:txBody>
      </p:sp>
    </p:spTree>
    <p:extLst>
      <p:ext uri="{BB962C8B-B14F-4D97-AF65-F5344CB8AC3E}">
        <p14:creationId xmlns:p14="http://schemas.microsoft.com/office/powerpoint/2010/main" val="332228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BAA32-1768-5CD5-3C75-7159365A12C6}"/>
              </a:ext>
            </a:extLst>
          </p:cNvPr>
          <p:cNvSpPr>
            <a:spLocks noGrp="1"/>
          </p:cNvSpPr>
          <p:nvPr>
            <p:ph type="title"/>
          </p:nvPr>
        </p:nvSpPr>
        <p:spPr/>
        <p:txBody>
          <a:bodyPr/>
          <a:lstStyle/>
          <a:p>
            <a:r>
              <a:rPr lang="en-US"/>
              <a:t>CHOOSING THE RIGHT TOOL</a:t>
            </a:r>
          </a:p>
        </p:txBody>
      </p:sp>
      <p:sp>
        <p:nvSpPr>
          <p:cNvPr id="3" name="Content Placeholder 2">
            <a:extLst>
              <a:ext uri="{FF2B5EF4-FFF2-40B4-BE49-F238E27FC236}">
                <a16:creationId xmlns:a16="http://schemas.microsoft.com/office/drawing/2014/main" id="{FDCDBAE7-FCDB-E934-A1B6-B1D0D01C488A}"/>
              </a:ext>
            </a:extLst>
          </p:cNvPr>
          <p:cNvSpPr>
            <a:spLocks noGrp="1"/>
          </p:cNvSpPr>
          <p:nvPr>
            <p:ph idx="1"/>
          </p:nvPr>
        </p:nvSpPr>
        <p:spPr/>
        <p:txBody>
          <a:bodyPr vert="horz" lIns="91440" tIns="45720" rIns="91440" bIns="45720" rtlCol="0" anchor="t">
            <a:normAutofit/>
          </a:bodyPr>
          <a:lstStyle/>
          <a:p>
            <a:pPr algn="just">
              <a:lnSpc>
                <a:spcPct val="150000"/>
              </a:lnSpc>
            </a:pPr>
            <a:r>
              <a:rPr lang="en-US">
                <a:ea typeface="+mn-lt"/>
                <a:cs typeface="+mn-lt"/>
              </a:rPr>
              <a:t>Project complexity: low-fidelity vs. high-fidelity needs.</a:t>
            </a:r>
            <a:endParaRPr lang="en-US"/>
          </a:p>
          <a:p>
            <a:pPr algn="just">
              <a:lnSpc>
                <a:spcPct val="150000"/>
              </a:lnSpc>
            </a:pPr>
            <a:r>
              <a:rPr lang="en-US">
                <a:ea typeface="+mn-lt"/>
                <a:cs typeface="+mn-lt"/>
              </a:rPr>
              <a:t>Team collaboration: cloud vs. desktop-based platforms.</a:t>
            </a:r>
            <a:endParaRPr lang="en-US"/>
          </a:p>
          <a:p>
            <a:pPr algn="just">
              <a:lnSpc>
                <a:spcPct val="150000"/>
              </a:lnSpc>
            </a:pPr>
            <a:r>
              <a:rPr lang="en-US">
                <a:ea typeface="+mn-lt"/>
                <a:cs typeface="+mn-lt"/>
              </a:rPr>
              <a:t>Integration: ability to connect with dev environments.</a:t>
            </a:r>
            <a:endParaRPr lang="en-US"/>
          </a:p>
          <a:p>
            <a:pPr algn="just">
              <a:lnSpc>
                <a:spcPct val="150000"/>
              </a:lnSpc>
            </a:pPr>
            <a:r>
              <a:rPr lang="en-US">
                <a:ea typeface="+mn-lt"/>
                <a:cs typeface="+mn-lt"/>
              </a:rPr>
              <a:t>Learning curve and cost: ease of use for new designers.</a:t>
            </a:r>
            <a:endParaRPr lang="en-US"/>
          </a:p>
          <a:p>
            <a:pPr marL="0" indent="0">
              <a:buNone/>
            </a:pPr>
            <a:endParaRPr lang="en-GB"/>
          </a:p>
        </p:txBody>
      </p:sp>
    </p:spTree>
    <p:extLst>
      <p:ext uri="{BB962C8B-B14F-4D97-AF65-F5344CB8AC3E}">
        <p14:creationId xmlns:p14="http://schemas.microsoft.com/office/powerpoint/2010/main" val="1616846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F02E-A3C7-D6F6-AB6F-DF9762AEF6BA}"/>
              </a:ext>
            </a:extLst>
          </p:cNvPr>
          <p:cNvSpPr>
            <a:spLocks noGrp="1"/>
          </p:cNvSpPr>
          <p:nvPr>
            <p:ph type="title"/>
          </p:nvPr>
        </p:nvSpPr>
        <p:spPr/>
        <p:txBody>
          <a:bodyPr/>
          <a:lstStyle/>
          <a:p>
            <a:r>
              <a:rPr lang="en-US"/>
              <a:t>THE FUTURE OF DESIGN TOOLS</a:t>
            </a:r>
          </a:p>
        </p:txBody>
      </p:sp>
      <p:sp>
        <p:nvSpPr>
          <p:cNvPr id="3" name="Content Placeholder 2">
            <a:extLst>
              <a:ext uri="{FF2B5EF4-FFF2-40B4-BE49-F238E27FC236}">
                <a16:creationId xmlns:a16="http://schemas.microsoft.com/office/drawing/2014/main" id="{24B379C2-BCC3-04CE-EF8F-18D1DD0892AF}"/>
              </a:ext>
            </a:extLst>
          </p:cNvPr>
          <p:cNvSpPr>
            <a:spLocks noGrp="1"/>
          </p:cNvSpPr>
          <p:nvPr>
            <p:ph idx="1"/>
          </p:nvPr>
        </p:nvSpPr>
        <p:spPr/>
        <p:txBody>
          <a:bodyPr vert="horz" lIns="91440" tIns="45720" rIns="91440" bIns="45720" rtlCol="0" anchor="t">
            <a:normAutofit/>
          </a:bodyPr>
          <a:lstStyle/>
          <a:p>
            <a:pPr algn="just">
              <a:lnSpc>
                <a:spcPct val="150000"/>
              </a:lnSpc>
            </a:pPr>
            <a:r>
              <a:rPr lang="en-US">
                <a:ea typeface="+mn-lt"/>
                <a:cs typeface="+mn-lt"/>
              </a:rPr>
              <a:t>Increasing use of AI-assisted design tools (e.g., Figma AI, Adobe Firefly).</a:t>
            </a:r>
            <a:endParaRPr lang="en-US"/>
          </a:p>
          <a:p>
            <a:pPr algn="just">
              <a:lnSpc>
                <a:spcPct val="150000"/>
              </a:lnSpc>
            </a:pPr>
            <a:r>
              <a:rPr lang="en-US">
                <a:ea typeface="+mn-lt"/>
                <a:cs typeface="+mn-lt"/>
              </a:rPr>
              <a:t>Focus on cross-platform design and real-time collaboration.</a:t>
            </a:r>
            <a:endParaRPr lang="en-US"/>
          </a:p>
          <a:p>
            <a:pPr algn="just">
              <a:lnSpc>
                <a:spcPct val="150000"/>
              </a:lnSpc>
            </a:pPr>
            <a:r>
              <a:rPr lang="en-US">
                <a:ea typeface="+mn-lt"/>
                <a:cs typeface="+mn-lt"/>
              </a:rPr>
              <a:t>Integration of user analytics and accessibility testing into workflows.</a:t>
            </a:r>
            <a:endParaRPr lang="en-US"/>
          </a:p>
          <a:p>
            <a:pPr algn="just">
              <a:lnSpc>
                <a:spcPct val="150000"/>
              </a:lnSpc>
            </a:pPr>
            <a:r>
              <a:rPr lang="en-US">
                <a:ea typeface="+mn-lt"/>
                <a:cs typeface="+mn-lt"/>
              </a:rPr>
              <a:t>Movement toward open ecosystems and plugin-based customization.</a:t>
            </a:r>
            <a:endParaRPr lang="en-US"/>
          </a:p>
          <a:p>
            <a:endParaRPr lang="en-GB"/>
          </a:p>
        </p:txBody>
      </p:sp>
    </p:spTree>
    <p:extLst>
      <p:ext uri="{BB962C8B-B14F-4D97-AF65-F5344CB8AC3E}">
        <p14:creationId xmlns:p14="http://schemas.microsoft.com/office/powerpoint/2010/main" val="1610771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8FB23-D600-B693-B0CD-2B5CB9CE7180}"/>
              </a:ext>
            </a:extLst>
          </p:cNvPr>
          <p:cNvSpPr>
            <a:spLocks noGrp="1"/>
          </p:cNvSpPr>
          <p:nvPr>
            <p:ph type="title"/>
          </p:nvPr>
        </p:nvSpPr>
        <p:spPr/>
        <p:txBody>
          <a:bodyPr/>
          <a:lstStyle/>
          <a:p>
            <a:r>
              <a:rPr lang="en-GB"/>
              <a:t>ACTIVITY: MATCH THE FOLLOWING</a:t>
            </a:r>
          </a:p>
        </p:txBody>
      </p:sp>
      <p:graphicFrame>
        <p:nvGraphicFramePr>
          <p:cNvPr id="4" name="Content Placeholder 3">
            <a:extLst>
              <a:ext uri="{FF2B5EF4-FFF2-40B4-BE49-F238E27FC236}">
                <a16:creationId xmlns:a16="http://schemas.microsoft.com/office/drawing/2014/main" id="{91526EA3-C0D3-A52A-9453-44BEC60CA08A}"/>
              </a:ext>
            </a:extLst>
          </p:cNvPr>
          <p:cNvGraphicFramePr>
            <a:graphicFrameLocks noGrp="1"/>
          </p:cNvGraphicFramePr>
          <p:nvPr>
            <p:ph idx="1"/>
            <p:extLst>
              <p:ext uri="{D42A27DB-BD31-4B8C-83A1-F6EECF244321}">
                <p14:modId xmlns:p14="http://schemas.microsoft.com/office/powerpoint/2010/main" val="1436376931"/>
              </p:ext>
            </p:extLst>
          </p:nvPr>
        </p:nvGraphicFramePr>
        <p:xfrm>
          <a:off x="2589213" y="2133600"/>
          <a:ext cx="5943600" cy="266192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1020527374"/>
                    </a:ext>
                  </a:extLst>
                </a:gridCol>
                <a:gridCol w="2971800">
                  <a:extLst>
                    <a:ext uri="{9D8B030D-6E8A-4147-A177-3AD203B41FA5}">
                      <a16:colId xmlns:a16="http://schemas.microsoft.com/office/drawing/2014/main" val="1093533259"/>
                    </a:ext>
                  </a:extLst>
                </a:gridCol>
              </a:tblGrid>
              <a:tr h="370840">
                <a:tc>
                  <a:txBody>
                    <a:bodyPr/>
                    <a:lstStyle/>
                    <a:p>
                      <a:r>
                        <a:rPr lang="en-GB"/>
                        <a:t>DESIGN TASK</a:t>
                      </a:r>
                    </a:p>
                  </a:txBody>
                  <a:tcPr/>
                </a:tc>
                <a:tc>
                  <a:txBody>
                    <a:bodyPr/>
                    <a:lstStyle/>
                    <a:p>
                      <a:r>
                        <a:rPr lang="en-GB"/>
                        <a:t>TOOL</a:t>
                      </a:r>
                    </a:p>
                  </a:txBody>
                  <a:tcPr/>
                </a:tc>
                <a:extLst>
                  <a:ext uri="{0D108BD9-81ED-4DB2-BD59-A6C34878D82A}">
                    <a16:rowId xmlns:a16="http://schemas.microsoft.com/office/drawing/2014/main" val="204170544"/>
                  </a:ext>
                </a:extLst>
              </a:tr>
              <a:tr h="370840">
                <a:tc>
                  <a:txBody>
                    <a:bodyPr/>
                    <a:lstStyle/>
                    <a:p>
                      <a:r>
                        <a:rPr lang="en-GB"/>
                        <a:t>Sketch a wireframe</a:t>
                      </a:r>
                    </a:p>
                  </a:txBody>
                  <a:tcPr/>
                </a:tc>
                <a:tc>
                  <a:txBody>
                    <a:bodyPr/>
                    <a:lstStyle/>
                    <a:p>
                      <a:r>
                        <a:rPr lang="en-GB"/>
                        <a:t>InVision</a:t>
                      </a:r>
                    </a:p>
                  </a:txBody>
                  <a:tcPr/>
                </a:tc>
                <a:extLst>
                  <a:ext uri="{0D108BD9-81ED-4DB2-BD59-A6C34878D82A}">
                    <a16:rowId xmlns:a16="http://schemas.microsoft.com/office/drawing/2014/main" val="3101195055"/>
                  </a:ext>
                </a:extLst>
              </a:tr>
              <a:tr h="370840">
                <a:tc>
                  <a:txBody>
                    <a:bodyPr/>
                    <a:lstStyle/>
                    <a:p>
                      <a:r>
                        <a:rPr lang="en-GB"/>
                        <a:t>Create an interactive prototype</a:t>
                      </a:r>
                    </a:p>
                  </a:txBody>
                  <a:tcPr/>
                </a:tc>
                <a:tc>
                  <a:txBody>
                    <a:bodyPr/>
                    <a:lstStyle/>
                    <a:p>
                      <a:r>
                        <a:rPr lang="en-GB"/>
                        <a:t>GitHub</a:t>
                      </a:r>
                    </a:p>
                    <a:p>
                      <a:pPr lvl="0">
                        <a:buNone/>
                      </a:pPr>
                      <a:endParaRPr lang="en-GB"/>
                    </a:p>
                  </a:txBody>
                  <a:tcPr/>
                </a:tc>
                <a:extLst>
                  <a:ext uri="{0D108BD9-81ED-4DB2-BD59-A6C34878D82A}">
                    <a16:rowId xmlns:a16="http://schemas.microsoft.com/office/drawing/2014/main" val="1148860882"/>
                  </a:ext>
                </a:extLst>
              </a:tr>
              <a:tr h="370840">
                <a:tc>
                  <a:txBody>
                    <a:bodyPr/>
                    <a:lstStyle/>
                    <a:p>
                      <a:r>
                        <a:rPr lang="en-GB"/>
                        <a:t>Collaborate with your design team remotely</a:t>
                      </a:r>
                    </a:p>
                  </a:txBody>
                  <a:tcPr/>
                </a:tc>
                <a:tc>
                  <a:txBody>
                    <a:bodyPr/>
                    <a:lstStyle/>
                    <a:p>
                      <a:r>
                        <a:rPr lang="en-GB"/>
                        <a:t>Figma</a:t>
                      </a:r>
                    </a:p>
                  </a:txBody>
                  <a:tcPr/>
                </a:tc>
                <a:extLst>
                  <a:ext uri="{0D108BD9-81ED-4DB2-BD59-A6C34878D82A}">
                    <a16:rowId xmlns:a16="http://schemas.microsoft.com/office/drawing/2014/main" val="1824030601"/>
                  </a:ext>
                </a:extLst>
              </a:tr>
              <a:tr h="370840">
                <a:tc>
                  <a:txBody>
                    <a:bodyPr/>
                    <a:lstStyle/>
                    <a:p>
                      <a:r>
                        <a:rPr lang="en-GB"/>
                        <a:t>Manage and version control design files</a:t>
                      </a:r>
                    </a:p>
                  </a:txBody>
                  <a:tcPr/>
                </a:tc>
                <a:tc>
                  <a:txBody>
                    <a:bodyPr/>
                    <a:lstStyle/>
                    <a:p>
                      <a:r>
                        <a:rPr lang="en-GB"/>
                        <a:t>Miro</a:t>
                      </a:r>
                    </a:p>
                  </a:txBody>
                  <a:tcPr/>
                </a:tc>
                <a:extLst>
                  <a:ext uri="{0D108BD9-81ED-4DB2-BD59-A6C34878D82A}">
                    <a16:rowId xmlns:a16="http://schemas.microsoft.com/office/drawing/2014/main" val="2546920275"/>
                  </a:ext>
                </a:extLst>
              </a:tr>
            </a:tbl>
          </a:graphicData>
        </a:graphic>
      </p:graphicFrame>
    </p:spTree>
    <p:extLst>
      <p:ext uri="{BB962C8B-B14F-4D97-AF65-F5344CB8AC3E}">
        <p14:creationId xmlns:p14="http://schemas.microsoft.com/office/powerpoint/2010/main" val="23135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843AA-0303-730A-9DC7-376122FB8193}"/>
              </a:ext>
            </a:extLst>
          </p:cNvPr>
          <p:cNvSpPr>
            <a:spLocks noGrp="1"/>
          </p:cNvSpPr>
          <p:nvPr>
            <p:ph type="ctrTitle"/>
          </p:nvPr>
        </p:nvSpPr>
        <p:spPr>
          <a:xfrm>
            <a:off x="2681577" y="2245206"/>
            <a:ext cx="8915399" cy="1185206"/>
          </a:xfrm>
        </p:spPr>
        <p:txBody>
          <a:bodyPr>
            <a:normAutofit/>
          </a:bodyPr>
          <a:lstStyle/>
          <a:p>
            <a:pPr algn="ctr"/>
            <a:r>
              <a:rPr lang="en-GB" sz="6000">
                <a:hlinkClick r:id="rId2"/>
              </a:rPr>
              <a:t>Kahoot Quiz</a:t>
            </a:r>
            <a:endParaRPr lang="en-US" sz="6000"/>
          </a:p>
        </p:txBody>
      </p:sp>
    </p:spTree>
    <p:extLst>
      <p:ext uri="{BB962C8B-B14F-4D97-AF65-F5344CB8AC3E}">
        <p14:creationId xmlns:p14="http://schemas.microsoft.com/office/powerpoint/2010/main" val="57683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1B72B-2C6B-C08F-AEB5-358F45ADD198}"/>
              </a:ext>
            </a:extLst>
          </p:cNvPr>
          <p:cNvSpPr>
            <a:spLocks noGrp="1"/>
          </p:cNvSpPr>
          <p:nvPr>
            <p:ph type="ctrTitle"/>
          </p:nvPr>
        </p:nvSpPr>
        <p:spPr/>
        <p:txBody>
          <a:bodyPr>
            <a:normAutofit/>
          </a:bodyPr>
          <a:lstStyle/>
          <a:p>
            <a:pPr algn="ctr"/>
            <a:r>
              <a:rPr lang="en-GB" sz="6000"/>
              <a:t>THANK YOU</a:t>
            </a:r>
            <a:endParaRPr lang="en-US" sz="6000"/>
          </a:p>
        </p:txBody>
      </p:sp>
    </p:spTree>
    <p:extLst>
      <p:ext uri="{BB962C8B-B14F-4D97-AF65-F5344CB8AC3E}">
        <p14:creationId xmlns:p14="http://schemas.microsoft.com/office/powerpoint/2010/main" val="399814561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29</Slides>
  <Notes>18</Notes>
  <HiddenSlides>0</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Wisp</vt:lpstr>
      <vt:lpstr>Chapter 13 Interaction in Practice</vt:lpstr>
      <vt:lpstr>INTRODUCTION</vt:lpstr>
      <vt:lpstr>INTERACTION DESIGN IN REAL WORLD</vt:lpstr>
      <vt:lpstr>CHALLENGES IN PRACTICE</vt:lpstr>
      <vt:lpstr>THE ROLE OF INTERACTION DESIGNER</vt:lpstr>
      <vt:lpstr>AGILE UX</vt:lpstr>
      <vt:lpstr>What is Agile UX?</vt:lpstr>
      <vt:lpstr>User Research</vt:lpstr>
      <vt:lpstr>Lean UX</vt:lpstr>
      <vt:lpstr>Lean UX Layout</vt:lpstr>
      <vt:lpstr>Aligning Work Practices</vt:lpstr>
      <vt:lpstr>DESIGN PATTERNS</vt:lpstr>
      <vt:lpstr>WHAT ARE DESIGN PATTERNS?</vt:lpstr>
      <vt:lpstr>WHY DESIGN PATTERNS MATTER?</vt:lpstr>
      <vt:lpstr>EXAMPLE: "SWISS ARMY KNIFE" NAVIGATION</vt:lpstr>
      <vt:lpstr>PATTERNS, ANTI-PATTERNS, AND DARK PATTERNS</vt:lpstr>
      <vt:lpstr>OPEN-SOURCE RESOURCES</vt:lpstr>
      <vt:lpstr>WHAT ARE OPEN-SOURCE RESOURCES?</vt:lpstr>
      <vt:lpstr>IMPACT ON INTERACTION DESIGN</vt:lpstr>
      <vt:lpstr>EXAMPLES OF OPEN-SOURCE FRAMEWORKS</vt:lpstr>
      <vt:lpstr>ADVANTAGES AND CHALLENGES</vt:lpstr>
      <vt:lpstr>TOOLS FOR INTERACTION DESIGN</vt:lpstr>
      <vt:lpstr>ROLE OF TOOLS IN INTERACTION DESIGN</vt:lpstr>
      <vt:lpstr>CATEGORIES OF DESIGN TOOLS</vt:lpstr>
      <vt:lpstr>CHOOSING THE RIGHT TOOL</vt:lpstr>
      <vt:lpstr>THE FUTURE OF DESIGN TOOLS</vt:lpstr>
      <vt:lpstr>ACTIVITY: MATCH THE FOLLOWING</vt:lpstr>
      <vt:lpstr>Kahoot Quiz</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9</cp:revision>
  <dcterms:created xsi:type="dcterms:W3CDTF">2025-10-13T17:41:21Z</dcterms:created>
  <dcterms:modified xsi:type="dcterms:W3CDTF">2025-10-21T02:32:56Z</dcterms:modified>
</cp:coreProperties>
</file>