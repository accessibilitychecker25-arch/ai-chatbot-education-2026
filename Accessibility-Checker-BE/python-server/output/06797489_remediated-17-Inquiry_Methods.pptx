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7"/>
  </p:notesMasterIdLst>
  <p:sldIdLst>
    <p:sldId id="256" r:id="rId2"/>
    <p:sldId id="306" r:id="rId3"/>
    <p:sldId id="257" r:id="rId4"/>
    <p:sldId id="259" r:id="rId5"/>
    <p:sldId id="273" r:id="rId6"/>
    <p:sldId id="274" r:id="rId7"/>
    <p:sldId id="275" r:id="rId8"/>
    <p:sldId id="348" r:id="rId9"/>
    <p:sldId id="372" r:id="rId10"/>
    <p:sldId id="276" r:id="rId11"/>
    <p:sldId id="277" r:id="rId12"/>
    <p:sldId id="278" r:id="rId13"/>
    <p:sldId id="309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1" r:id="rId35"/>
    <p:sldId id="370" r:id="rId3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>
      <p:cViewPr varScale="1">
        <p:scale>
          <a:sx n="68" d="100"/>
          <a:sy n="68" d="100"/>
        </p:scale>
        <p:origin x="72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C13380-C5EA-970E-686D-834E63DB0D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7AEF1-098F-9773-1F91-C10B1BE4A3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D4340A7-6966-4927-AC60-201158A761FB}" type="datetimeFigureOut">
              <a:rPr lang="en-US"/>
              <a:pPr>
                <a:defRPr/>
              </a:pPr>
              <a:t>3/27/2026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BCDDFDB-FBDE-8D95-1D33-89854BAF4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1" tIns="46516" rIns="93031" bIns="4651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A06A26-2501-621B-0EC1-9E8A98162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vert="horz" lIns="93031" tIns="46516" rIns="93031" bIns="465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CEBD-8F7E-2455-7037-3705EF5E92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22ACF-4EA0-06E9-6E77-C47D3F8F1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71B10C-2C01-40B4-8B51-40BC6F91F1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5ED4678C-F848-276C-705C-8F51BF82CE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17D5513-0180-640C-56FA-15CF45C1A0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8A9142B1-E951-86D8-2C51-91E9D361E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C8AE00-540B-4F3B-919E-9FC30BF68CE9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7E677D0-4A76-B154-F815-E76C02F6B2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1D81483F-40DA-0C08-AFB6-14E8E7A395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588D21C-9FAF-8616-8451-7170624F4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35D051-EF47-4E33-8051-5C6D39376120}" type="slidenum">
              <a:rPr lang="en-US" altLang="en-US" sz="1200"/>
              <a:pPr/>
              <a:t>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0D39B7CE-ABEE-C4D3-FD60-AAA0925183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C40BFDC4-B81B-AD15-F032-46412C993F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2A977BC-17E8-8CA4-04F3-23CB9A5DC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08426E-E1E1-440D-89DF-249D5BDDC7E5}" type="slidenum">
              <a:rPr lang="en-US" altLang="en-US" sz="1200"/>
              <a:pPr/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2B7C979A-2579-5FB5-0723-9030C2CBD7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9664DD1B-D1D4-8A52-C20C-3FB3FB49E6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FF2FE9F-0135-4F0E-7A88-BEAB54AC6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E3A2A3-4FE5-482E-B2B5-1A183410458A}" type="slidenum">
              <a:rPr lang="en-US" altLang="en-US" sz="1200"/>
              <a:pPr/>
              <a:t>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87751C3-482E-3F34-7B5E-6A7F132919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6638982-8AE0-E3E0-3D5D-FE7713A65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2CBDFD6D-2FDC-A8FA-3FEC-D786C31C5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8D7F36-6E59-469F-B21A-22ADF8B3B430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E70D8C3E-181B-EE61-95A4-A09A155157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4E26AF13-FBE0-7859-3216-B391C8C3F4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5003CDF-38D1-9E57-C32D-1FC82E523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756FFA-5439-4D45-A1F2-C24C149262E6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B551B0C-D4E2-C4CE-F8F9-A15B3E0629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FA3AAE0B-5FE9-B197-78BD-E8BF32798A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5576F6E8-6755-9643-2A7A-576D28058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A9D68C-38FC-4A67-A7F1-56B5B60B38E3}" type="slidenum">
              <a:rPr lang="en-US" altLang="en-US" sz="1200"/>
              <a:pPr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EF5479B5-F24C-BAA8-3722-03A090EFBD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A472673A-03E7-1ACD-AE32-3EBD355B40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D01D39E8-A921-A50C-1A54-F5DA5F265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053812-BAB8-4146-93CA-26EDB306A95B}" type="slidenum">
              <a:rPr lang="en-US" altLang="en-US" sz="1200"/>
              <a:pPr/>
              <a:t>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43F3F26-CC37-E7AD-01E2-E3AFA7D8C2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00AC7D6-1A92-0984-4A9C-AB9F54CAE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8119479-A3E1-18BA-8E0E-0C7DC4332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098B23-A564-431E-AB8D-50673F1BA9F6}" type="slidenum">
              <a:rPr lang="en-US" altLang="en-US" sz="1200"/>
              <a:pPr/>
              <a:t>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11EC4976-9466-4F9C-07B3-DE4548D33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20CCFD85-5458-396C-E36B-758E4C500C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D06A47FB-33DF-6BFD-E042-F85344DE5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50D518-B4C4-480F-A1F1-E79BF955A1F0}" type="slidenum">
              <a:rPr lang="en-US" altLang="en-US" sz="1200"/>
              <a:pPr/>
              <a:t>10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E12A1B0-FE07-84C5-A12A-7148753745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F14CA5B4-C9C3-14C7-2E80-3473453F98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534D716-D638-4E98-D314-897651868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D84635C-7529-454B-AA3D-41890E81A170}" type="slidenum">
              <a:rPr lang="en-US" altLang="en-US" sz="1200"/>
              <a:pPr/>
              <a:t>11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A371FC84-73B8-8E55-32B8-782ADD1F24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0EB9D7B9-7A76-9AEA-E672-E1F8039846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4C0A353-0C2F-AFF1-6DB2-9BB4861EC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FB5CD9-EF92-4FB8-88F8-3DBDFECB43CF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6DA45EBA-644B-96A7-1CF7-D011F1F9E7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65EB3E33-9091-6C98-0131-EA155371A2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C5239D83-8F89-6277-A717-A0C417E9F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177A87-93E4-4AF0-BAD9-639017537A83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4C88641D-54F0-01E7-04F2-B6BB41F3D2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47A799C0-9C01-1D6B-2128-C6A5C98FEE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C8F09F2-C8D0-05BB-0F92-BC6A8A8C5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E0FC31-89F3-4E49-BE93-5CD35345BCEB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C9AA175D-4EF7-7EC0-CF71-BF9427637F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3DCBC933-F642-F806-2D9D-CD3C210EC3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0632174B-0FD6-856C-2691-8DE2A39DA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5830F3-12B9-4AC0-B4F6-DDF3CEC8B958}" type="slidenum">
              <a:rPr lang="en-US" altLang="en-US" sz="1200"/>
              <a:pPr/>
              <a:t>15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31FE4F8E-6665-F69C-9A36-5FC505F7E0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FB677C96-37CA-25A0-5609-F392B2C378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8B1E1DF-C0D6-C69C-B850-4C0ACFFDE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0BFD29-CADC-4AFA-BE31-828E02C40B18}" type="slidenum">
              <a:rPr lang="en-US" altLang="en-US" sz="1200"/>
              <a:pPr/>
              <a:t>16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D753426-33B0-BD3F-9982-82987EA94B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D14743DD-F77B-3815-8BC8-8154226459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CCD844C-1F56-8DA8-4737-24F255F88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52D3C6-9113-45F7-AF62-205C65A88D82}" type="slidenum">
              <a:rPr lang="en-US" altLang="en-US" sz="1200"/>
              <a:pPr/>
              <a:t>17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D40F0D97-F712-F3AC-69A4-71E56FD26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6D643ED5-E0E4-304B-2B67-FBDD72C459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361F9A5-AECE-18FC-6E73-61A994EFF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084953-E531-42E3-9796-F5F1E057FAEA}" type="slidenum">
              <a:rPr lang="en-US" altLang="en-US" sz="1200"/>
              <a:pPr/>
              <a:t>18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46C05B9-6401-35D3-DB22-83F1076651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72191BAE-2D43-AA4E-586F-79DD657757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B0301ED8-5E8F-AA66-BAB3-532678455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03E207-955D-4A52-A6C4-1716E133A05D}" type="slidenum">
              <a:rPr lang="en-US" altLang="en-US" sz="1200"/>
              <a:pPr/>
              <a:t>19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01EF8F3-4E99-C2AA-75D0-B6B0058909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A0467D96-5C2D-1A4E-D657-5D44952630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DA3D8C5-B66B-276B-3C54-C7B866D82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C46EAB-8DA7-48F9-A595-F166E82B66E1}" type="slidenum">
              <a:rPr lang="en-US" altLang="en-US" sz="1200"/>
              <a:pPr/>
              <a:t>20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F3812C86-FEFA-BC23-8C1A-12929DF748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DA1CA720-3B31-331F-592D-EC8BE440C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DF900258-3E9B-75C5-9E05-7A8FC11E4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EB0285-8204-4606-97A8-E28933547EAF}" type="slidenum">
              <a:rPr lang="en-US" altLang="en-US" sz="1200"/>
              <a:pPr/>
              <a:t>21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932AB56F-6589-3EF0-470E-0161B185EB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351E566D-EAEE-9F2D-E72F-84D2114134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289E9D45-8907-70BC-DFD4-FF31F65E9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5E323A-E52A-45A4-AAEF-B674940AAC03}" type="slidenum">
              <a:rPr lang="en-US" altLang="en-US" sz="1200"/>
              <a:pPr/>
              <a:t>22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DDA60DB1-C705-E82D-77E6-C957FCD5DD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5A01EA91-D6B9-3897-C72C-795FED81BE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55EB9F6D-B694-A23D-E8AA-AF1DE81E1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6269AB-4C9F-4042-A59E-617F840491B4}" type="slidenum">
              <a:rPr lang="en-US" altLang="en-US" sz="1200"/>
              <a:pPr/>
              <a:t>23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76590E6-C6B9-48A8-B7ED-3254E29A47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0AD90C9D-4E37-2062-A56B-209B99BE47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D2CCBEF3-9C10-6CA2-0335-CEC10C742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7DC787-854D-45C3-B91F-BAC92DC4E51A}" type="slidenum">
              <a:rPr lang="en-US" altLang="en-US" sz="1200"/>
              <a:pPr/>
              <a:t>24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F96CDB9C-3BDD-BFF0-6239-CAC07530D9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330B9DCA-7929-9E44-4DAB-EE36839F8B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F5B5ECEA-C338-0C17-E89B-E45EF30E7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803B49-0B39-44C7-9329-38554CC08876}" type="slidenum">
              <a:rPr lang="en-US" altLang="en-US" sz="1200"/>
              <a:pPr/>
              <a:t>25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83F7E4A3-9757-2B9F-052B-101E3DC437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5ECBF3D5-620E-4850-64C8-5FB8E14680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1E3866FD-E720-DABF-65E3-521BF2ADB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DEE5EE3-77D0-4F16-B07A-D60ECC74DA57}" type="slidenum">
              <a:rPr lang="en-US" altLang="en-US" sz="1200"/>
              <a:pPr/>
              <a:t>26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FFA51A4B-4A66-F3DA-08E2-A50008A8AC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21C065F9-FFFA-4896-C179-86CC1F1EB2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9D2423F5-6782-8027-F036-ED9B2B453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B0E84B-114E-4086-942C-0172B77D7CD3}" type="slidenum">
              <a:rPr lang="en-US" altLang="en-US" sz="1200"/>
              <a:pPr/>
              <a:t>27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134BAA4B-92F7-D40C-E54D-276F3E04E9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7170AE30-C772-95A7-2D45-E8CF0ADC70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A335BB4A-86CE-67FE-D90C-474F8CA81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9007DE-1533-4BFA-8929-418F55D3FB23}" type="slidenum">
              <a:rPr lang="en-US" altLang="en-US" sz="1200"/>
              <a:pPr/>
              <a:t>28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FF2B1A7E-B9D1-7204-652A-57AC3183DA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77E7E390-5FF2-5424-69A5-3E936252D8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4D75C7C-9A97-BCD0-7EC6-1A7EC5A87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65807E-7822-4DEE-B1D1-E7C36ABBB37F}" type="slidenum">
              <a:rPr lang="en-US" altLang="en-US" sz="1200"/>
              <a:pPr/>
              <a:t>29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DDDA41EE-D63B-D7E7-A370-37D29BF290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794AAEE-CC79-0898-588B-73D9C48242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B592FC77-D476-DA22-F73D-B6304E1A2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653284-AAF0-4DE1-9E00-DCC643D46FFC}" type="slidenum">
              <a:rPr lang="en-US" altLang="en-US" sz="1200"/>
              <a:pPr/>
              <a:t>30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67CD18D8-1934-9673-CA69-4D366E0025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565CD621-1511-1DFF-2735-8CD882F396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C2794A9F-214E-0C8E-24E6-DB8272CD5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29292C-9D67-4D23-92AF-9DB3906DB030}" type="slidenum">
              <a:rPr lang="en-US" altLang="en-US" sz="1200"/>
              <a:pPr/>
              <a:t>31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A911790-57FA-DC3E-B807-DA132B9665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CDB2E2E1-3367-11AE-9606-9F18430412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0DBA5A6-7417-946B-42FB-0221AF4CB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6209B1-2F03-404C-92AC-409C223D132B}" type="slidenum">
              <a:rPr lang="en-US" altLang="en-US" sz="1200"/>
              <a:pPr/>
              <a:t>32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F4FB32D8-83D0-5B84-1FDE-F6B626D439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0A1CF6C7-A59B-38D8-681B-A3A4062561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F39DC8C7-0E00-BAF0-E756-BF995EA5C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8C7DFA-9A6C-4B51-80B6-6804CAEA5E49}" type="slidenum">
              <a:rPr lang="en-US" altLang="en-US" sz="1200"/>
              <a:pPr/>
              <a:t>33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A7EA45E9-AFAE-4899-5268-A6C986FE5F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81196829-96F8-EB2E-3BB1-FD8EAF98F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5C790588-6C7B-E4C9-7CC4-F5EA36211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7E0C76-EDD4-4E5C-B9B7-7FA69A6494B3}" type="slidenum">
              <a:rPr lang="en-US" altLang="en-US" sz="1200"/>
              <a:pPr/>
              <a:t>34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3AC753DD-100F-9D0E-9FE6-E2A79DA3EC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877885EA-1C50-A1C6-6011-19060D8D5A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2A6966A4-F50B-9531-0A83-1DE92C453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37D4DC-12A3-421C-B04D-2B54A18B6E5D}" type="slidenum">
              <a:rPr lang="en-US" altLang="en-US" sz="1200"/>
              <a:pPr/>
              <a:t>35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9811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603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680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25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03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059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74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442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45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265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1655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17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C92A0B-BC1F-440C-BD46-73D0891D0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D17708-2578-7E64-AE0B-912C30763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2000">
          <a:solidFill>
            <a:schemeClr val="bg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w"/>
        <a:defRPr sz="2000">
          <a:solidFill>
            <a:schemeClr val="bg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w"/>
        <a:defRPr sz="2000">
          <a:solidFill>
            <a:schemeClr val="bg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w"/>
        <a:defRPr sz="2000">
          <a:solidFill>
            <a:schemeClr val="bg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w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usability.jameshom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abilitynet.org/tools/contextualinquiry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books.google.com/books?id=sVKuMvaFzjQC&amp;dq=contextual+inquiry&amp;pg=PP1&amp;ots=qQ1gis-E4F&amp;source=bn&amp;sig=e_kSwyNfWzhJWS9TFK9ex744Vmk&amp;hl=en&amp;sa=X&amp;oi=book_result&amp;resnum=4&amp;ct=result#PPA1,M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www.nngroup.com/events/tutorials/ethnography.html" TargetMode="External"/><Relationship Id="rId4" Type="http://schemas.openxmlformats.org/officeDocument/2006/relationships/hyperlink" Target="http://jthom.best.vwh.net/usability/context.ht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sc.wisc.edu/~jpiliavi/357/FIELDOBSERVATION.ht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rveymonkey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www.acm.org/~perlman/question.html" TargetMode="External"/><Relationship Id="rId4" Type="http://schemas.openxmlformats.org/officeDocument/2006/relationships/hyperlink" Target="http://usability.jameshom.com/question.ht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uf9pkuCc8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5A3D99-BAE2-2589-F615-99BF0C47EA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User Interface Evaluation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A1ABBEC-4787-9B26-045B-39E2009F11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971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Usability Inquiry Methods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>
                <a:hlinkClick r:id="rId3"/>
              </a:rPr>
              <a:t>http://usability.jameshom.com/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875575E-9810-75A7-12FF-55EBBBB20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Usability Inquiry Methods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EAAA615-BC26-0141-FDD4-65BFDA1CF5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371600"/>
            <a:ext cx="8577262" cy="5275263"/>
          </a:xfrm>
        </p:spPr>
        <p:txBody>
          <a:bodyPr/>
          <a:lstStyle/>
          <a:p>
            <a:r>
              <a:rPr lang="en-US" altLang="en-US" sz="2800"/>
              <a:t>Usability experts learn about the users’ likes, dislikes, needs, etc. of the system through:</a:t>
            </a:r>
          </a:p>
          <a:p>
            <a:pPr lvl="1"/>
            <a:r>
              <a:rPr lang="en-US" altLang="en-US" sz="2400"/>
              <a:t>Observation</a:t>
            </a:r>
          </a:p>
          <a:p>
            <a:pPr lvl="1"/>
            <a:r>
              <a:rPr lang="en-US" altLang="en-US" sz="2400"/>
              <a:t>Verbal questioning</a:t>
            </a:r>
          </a:p>
          <a:p>
            <a:pPr lvl="1"/>
            <a:r>
              <a:rPr lang="en-US" altLang="en-US" sz="2400"/>
              <a:t>Written questioning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Widely used in practice.</a:t>
            </a:r>
          </a:p>
          <a:p>
            <a:endParaRPr lang="en-US" altLang="en-US" sz="2800"/>
          </a:p>
          <a:p>
            <a:r>
              <a:rPr lang="en-US" altLang="en-US" sz="2800"/>
              <a:t>Different methods have different costs, but in general, this is relatively cheap.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DCEDE7-CC87-CF0D-61C4-8C7ACA08B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Usability Inquiry Methods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F18C9E6-4E2C-8E0E-B402-6955C3F86A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95400"/>
            <a:ext cx="8882062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Contextual Inquiry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Field Observation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Questionnaires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Interviews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Focus Groups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Logging Actual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F282E1B-6697-5D16-EFE6-40F416A36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7F90745-E8D5-F7BB-6409-6D6A4DDB31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Contextual Inquiry is also known as proactive field studies.</a:t>
            </a:r>
          </a:p>
          <a:p>
            <a:endParaRPr lang="en-US" altLang="en-US" sz="2800"/>
          </a:p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Requirements &amp; Design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2.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D2A246E-D32A-9526-90A5-F7CCC022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FBD9380-75CD-1765-08A3-6EE9438F7B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pPr>
              <a:defRPr/>
            </a:pPr>
            <a:r>
              <a:rPr lang="en-US" altLang="en-US" sz="2800" dirty="0"/>
              <a:t>Usability Issues Covered</a:t>
            </a:r>
          </a:p>
          <a:p>
            <a:pPr lvl="1">
              <a:defRPr/>
            </a:pPr>
            <a:r>
              <a:rPr lang="en-US" altLang="en-US" sz="2400" dirty="0"/>
              <a:t>Effectiveness:  No</a:t>
            </a:r>
          </a:p>
          <a:p>
            <a:pPr lvl="1">
              <a:defRPr/>
            </a:pPr>
            <a:r>
              <a:rPr lang="en-US" altLang="en-US" sz="2400" dirty="0"/>
              <a:t>Efficiency:  No</a:t>
            </a:r>
          </a:p>
          <a:p>
            <a:pPr lvl="1">
              <a:defRPr/>
            </a:pPr>
            <a:r>
              <a:rPr lang="en-US" altLang="en-US" sz="2400" dirty="0"/>
              <a:t>Satisfaction:  No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Qualitative date is collected (mostly Qualitative).</a:t>
            </a:r>
          </a:p>
          <a:p>
            <a:pPr lvl="1">
              <a:defRPr/>
            </a:pPr>
            <a:r>
              <a:rPr lang="en-US" altLang="en-US" sz="2400" dirty="0"/>
              <a:t>Quantitative can also be collected.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800" dirty="0"/>
              <a:t>Can NOT be conducted remotely.</a:t>
            </a:r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Can be used on any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EB6FB56-3A7C-19AB-2D38-69520E044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FE0BE73-50B5-5648-59FC-8F9927A8BC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>
                <a:hlinkClick r:id="rId3"/>
              </a:rPr>
              <a:t>What is it</a:t>
            </a:r>
            <a:r>
              <a:rPr lang="en-US" altLang="en-US" sz="2800"/>
              <a:t>?</a:t>
            </a:r>
          </a:p>
          <a:p>
            <a:endParaRPr lang="en-US" altLang="en-US" sz="2800"/>
          </a:p>
          <a:p>
            <a:r>
              <a:rPr lang="en-US" altLang="en-US" sz="2800"/>
              <a:t>Before designing the system, the expert(s) visit the users’ workplace and question them.</a:t>
            </a:r>
          </a:p>
          <a:p>
            <a:endParaRPr lang="en-US" altLang="en-US" sz="2800"/>
          </a:p>
          <a:p>
            <a:r>
              <a:rPr lang="en-US" altLang="en-US" sz="2800"/>
              <a:t>This should occur before any design has been done.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2AF100B-368F-B368-0D23-71845BE98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446115F-BC1D-A79E-45DF-6B4FA16FE8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Determine who your users are.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Go visit them where they work.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7DC950-28EE-FB24-7B2D-CD878976D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A2D971FA-160F-1B07-E4B9-F5BA8EBA8C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How can I do it?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Talk to them about the system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How do they currently do their job?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How would you like to do your job?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What do you like about the current system/method?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What don’t you like about the current system/method?</a:t>
            </a:r>
          </a:p>
          <a:p>
            <a:pPr lvl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2F95370-D04C-4C1D-52E3-4809D1F63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Contextual Inquiry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E9869D4E-64C3-35C4-2D54-B103CEE14D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Resources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 marL="342900" lvl="1" indent="-342900">
              <a:lnSpc>
                <a:spcPct val="90000"/>
              </a:lnSpc>
            </a:pPr>
            <a:r>
              <a:rPr lang="en-US" altLang="en-US">
                <a:hlinkClick r:id="rId3"/>
              </a:rPr>
              <a:t>Contextual Design: </a:t>
            </a:r>
            <a:r>
              <a:rPr lang="en-US" altLang="en-US" sz="2400">
                <a:hlinkClick r:id="rId3"/>
              </a:rPr>
              <a:t>Defining Customer-Centered Systems</a:t>
            </a:r>
            <a:endParaRPr lang="en-US" altLang="en-US" sz="2400"/>
          </a:p>
          <a:p>
            <a:pPr marL="742950" lvl="2" indent="-342900">
              <a:lnSpc>
                <a:spcPct val="90000"/>
              </a:lnSpc>
            </a:pPr>
            <a:r>
              <a:rPr lang="en-US" altLang="en-US" sz="2000"/>
              <a:t>Over last 20 years software requirements are more stringent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altLang="en-US" sz="2000"/>
              <a:t>Applications are much more complex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altLang="en-US" sz="2000"/>
              <a:t>Users expect computer to be as invisible as a ballpoint pen so they can </a:t>
            </a:r>
            <a:r>
              <a:rPr lang="en-US" altLang="en-US" sz="2000" b="1" i="1"/>
              <a:t>focus on their jobs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altLang="en-US" sz="2000"/>
              <a:t>Challenge of system design to </a:t>
            </a:r>
            <a:r>
              <a:rPr lang="en-US" altLang="en-US" sz="2000" b="1" i="1"/>
              <a:t>Fit into the fabric of everyday life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altLang="en-US" sz="2000" b="1" i="1"/>
              <a:t>Contextual Design is a backbone for organizing a customer centered design process</a:t>
            </a:r>
          </a:p>
          <a:p>
            <a:pPr marL="742950" lvl="2" indent="-3429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b="1" i="1">
              <a:hlinkClick r:id="rId4"/>
            </a:endParaRPr>
          </a:p>
          <a:p>
            <a:pPr>
              <a:lnSpc>
                <a:spcPct val="90000"/>
              </a:lnSpc>
            </a:pPr>
            <a:r>
              <a:rPr lang="en-US" altLang="en-US" sz="2800"/>
              <a:t>http://jthom.best.vwh.net/usability/context.htm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hlinkClick r:id="rId5"/>
              </a:rPr>
              <a:t>User Experience 2008 - Qualitative Field Studies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5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74A6AB4-0D7E-42BC-1DEB-CB8B7BB56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Field Observation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6CECD71-F9F2-0B92-D199-55E547CBA2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Test &amp; Deployment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2.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59C241F-F7D4-E8BA-4C6A-C8DAAFCF1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Field Observation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8411C5F-A2BD-8A7D-B935-453EF9CAFA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pPr>
              <a:defRPr/>
            </a:pPr>
            <a:r>
              <a:rPr lang="en-US" altLang="en-US" sz="2800" dirty="0"/>
              <a:t>Usability Issues Covered</a:t>
            </a:r>
          </a:p>
          <a:p>
            <a:pPr lvl="1">
              <a:defRPr/>
            </a:pPr>
            <a:r>
              <a:rPr lang="en-US" altLang="en-US" sz="2400" dirty="0"/>
              <a:t>Effectiveness:  Yes</a:t>
            </a:r>
          </a:p>
          <a:p>
            <a:pPr lvl="1">
              <a:defRPr/>
            </a:pPr>
            <a:r>
              <a:rPr lang="en-US" altLang="en-US" sz="2400" dirty="0"/>
              <a:t>Efficiency:  No</a:t>
            </a:r>
          </a:p>
          <a:p>
            <a:pPr lvl="1">
              <a:defRPr/>
            </a:pPr>
            <a:r>
              <a:rPr lang="en-US" altLang="en-US" sz="2400" dirty="0"/>
              <a:t>Satisfaction:  Yes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Qualitative date is collected (mostly Qualitative).</a:t>
            </a:r>
          </a:p>
          <a:p>
            <a:pPr lvl="1">
              <a:defRPr/>
            </a:pPr>
            <a:r>
              <a:rPr lang="en-US" altLang="en-US" sz="2400" dirty="0"/>
              <a:t>Quantitative can also be collected.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800" dirty="0"/>
              <a:t>Can NOT be conducted remotely.</a:t>
            </a:r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Can be used on any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03795AC-7583-628A-B915-B2E1E2A19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Field Observation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A7387D8-3DEE-EA09-F3D1-13731444DE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What is it?</a:t>
            </a:r>
          </a:p>
          <a:p>
            <a:endParaRPr lang="en-US" altLang="en-US" sz="2800"/>
          </a:p>
          <a:p>
            <a:r>
              <a:rPr lang="en-US" altLang="en-US" sz="2800"/>
              <a:t>Usability experts observe users in the field using the system/product.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F14B10D-652D-8F07-0C05-556907127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Field Observation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C890666-7687-199A-5E58-750CC11E43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Go to the users’ workplace and simply observe.</a:t>
            </a:r>
          </a:p>
          <a:p>
            <a:endParaRPr lang="en-US" altLang="en-US" sz="2800"/>
          </a:p>
          <a:p>
            <a:r>
              <a:rPr lang="en-US" altLang="en-US" sz="2800"/>
              <a:t>Things to look for:</a:t>
            </a:r>
          </a:p>
          <a:p>
            <a:pPr lvl="1"/>
            <a:r>
              <a:rPr lang="en-US" altLang="en-US" sz="2400"/>
              <a:t>What is the user’s mental model?</a:t>
            </a:r>
          </a:p>
          <a:p>
            <a:pPr lvl="1"/>
            <a:r>
              <a:rPr lang="en-US" altLang="en-US" sz="2400"/>
              <a:t>Are the users using it the way you expect?</a:t>
            </a:r>
          </a:p>
          <a:p>
            <a:pPr lvl="1"/>
            <a:r>
              <a:rPr lang="en-US" altLang="en-US" sz="2400"/>
              <a:t>You don’t want them to know you are evaluating them.</a:t>
            </a:r>
          </a:p>
          <a:p>
            <a:pPr lvl="1"/>
            <a:endParaRPr lang="en-US" altLang="en-US" sz="2400"/>
          </a:p>
          <a:p>
            <a:pPr lvl="1"/>
            <a:endParaRPr lang="en-US" altLang="en-US" sz="2400"/>
          </a:p>
          <a:p>
            <a:r>
              <a:rPr lang="en-US" altLang="en-US" sz="2800">
                <a:hlinkClick r:id="rId3"/>
              </a:rPr>
              <a:t>Field Observation Exercise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ECCFDC9-62B1-22F3-5656-F79D058D8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Questionnaires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778E569-B561-393D-A329-C57CDE3C09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Any stage of development (depending on the questions)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2.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F8C2675-DDCD-63D6-9FCE-C601CB7EC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Questionnaires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E6BCCCD-4A2A-4C5C-E1C3-E6524568AB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9186862" cy="5486400"/>
          </a:xfrm>
        </p:spPr>
        <p:txBody>
          <a:bodyPr/>
          <a:lstStyle/>
          <a:p>
            <a:r>
              <a:rPr lang="en-US" altLang="en-US" sz="2800"/>
              <a:t>Usability Issues Covered</a:t>
            </a:r>
          </a:p>
          <a:p>
            <a:pPr lvl="1"/>
            <a:r>
              <a:rPr lang="en-US" altLang="en-US" sz="2400"/>
              <a:t>Effectiveness:  Yes</a:t>
            </a:r>
          </a:p>
          <a:p>
            <a:pPr lvl="1"/>
            <a:r>
              <a:rPr lang="en-US" altLang="en-US" sz="2400"/>
              <a:t>Efficiency:  No</a:t>
            </a:r>
          </a:p>
          <a:p>
            <a:pPr lvl="1"/>
            <a:r>
              <a:rPr lang="en-US" altLang="en-US" sz="2400"/>
              <a:t>Satisfaction:  Yes</a:t>
            </a:r>
            <a:endParaRPr lang="en-US" altLang="en-US"/>
          </a:p>
          <a:p>
            <a:endParaRPr lang="en-US" altLang="en-US" sz="2800"/>
          </a:p>
          <a:p>
            <a:r>
              <a:rPr lang="en-US" altLang="en-US" sz="2800"/>
              <a:t>Qualitative date is collected (open-questions).</a:t>
            </a:r>
          </a:p>
          <a:p>
            <a:r>
              <a:rPr lang="en-US" altLang="en-US" sz="2800"/>
              <a:t>Quantitative can also be collected(closed-questions).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400"/>
          </a:p>
          <a:p>
            <a:r>
              <a:rPr lang="en-US" altLang="en-US" sz="2800"/>
              <a:t>Can be conducted remotely.</a:t>
            </a:r>
          </a:p>
          <a:p>
            <a:endParaRPr lang="en-US" altLang="en-US" sz="2800"/>
          </a:p>
          <a:p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A57419-9340-F1A9-C1FE-11D2AA8A3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Questionnaires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BE59EBDA-CBDA-ED2D-FD0F-D98AF4FD10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What is it?</a:t>
            </a:r>
          </a:p>
          <a:p>
            <a:endParaRPr lang="en-US" altLang="en-US" sz="2800"/>
          </a:p>
          <a:p>
            <a:r>
              <a:rPr lang="en-US" altLang="en-US" sz="2800"/>
              <a:t>Written lists of questions that you distribute to your users.</a:t>
            </a:r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8A84D59-4323-DC8B-D2A5-57145FA36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Questionnaires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745F9BFE-7354-9828-0003-6FFFCB6DC6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Develop a list of questions on paper, </a:t>
            </a:r>
            <a:r>
              <a:rPr lang="en-US" altLang="en-US" sz="2800">
                <a:hlinkClick r:id="rId3"/>
              </a:rPr>
              <a:t>web</a:t>
            </a:r>
            <a:r>
              <a:rPr lang="en-US" altLang="en-US" sz="2800"/>
              <a:t>, email, etc. and give the questionnaire(s) to the users.</a:t>
            </a:r>
          </a:p>
          <a:p>
            <a:endParaRPr lang="en-US" altLang="en-US" sz="2800"/>
          </a:p>
          <a:p>
            <a:r>
              <a:rPr lang="en-US" altLang="en-US" sz="2800"/>
              <a:t>The users will answer the questions and return the questionnaires to you.</a:t>
            </a:r>
          </a:p>
          <a:p>
            <a:endParaRPr lang="en-US" altLang="en-US" sz="2800"/>
          </a:p>
          <a:p>
            <a:pPr lvl="1"/>
            <a:endParaRPr lang="en-US" altLang="en-US" sz="2400"/>
          </a:p>
          <a:p>
            <a:r>
              <a:rPr lang="en-US" altLang="en-US" sz="2800">
                <a:hlinkClick r:id="rId4"/>
              </a:rPr>
              <a:t>Questionnaires</a:t>
            </a:r>
            <a:endParaRPr lang="en-US" altLang="en-US" sz="2800"/>
          </a:p>
          <a:p>
            <a:r>
              <a:rPr lang="en-US" altLang="en-US" sz="2800">
                <a:hlinkClick r:id="rId5"/>
              </a:rPr>
              <a:t>http://www.acm.org/~perlman/question.html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9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DCCA34C-8AC1-103D-B602-4A86337B8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F264FBA-7A6E-F0A3-C252-C676757FF1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Any stage of development (depending on the questions)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1.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6B5A147-79C0-D261-FF7A-CA4840B86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8FB486B-8388-2B5C-B84D-9B40FC7481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Usability Issues Covered</a:t>
            </a:r>
          </a:p>
          <a:p>
            <a:pPr lvl="1"/>
            <a:r>
              <a:rPr lang="en-US" altLang="en-US" sz="2400"/>
              <a:t>Effectiveness:  Yes</a:t>
            </a:r>
          </a:p>
          <a:p>
            <a:pPr lvl="1"/>
            <a:r>
              <a:rPr lang="en-US" altLang="en-US" sz="2400"/>
              <a:t>Efficiency:  No</a:t>
            </a:r>
          </a:p>
          <a:p>
            <a:pPr lvl="1"/>
            <a:r>
              <a:rPr lang="en-US" altLang="en-US" sz="2400"/>
              <a:t>Satisfaction:  Yes</a:t>
            </a:r>
          </a:p>
          <a:p>
            <a:endParaRPr lang="en-US" altLang="en-US" sz="2800"/>
          </a:p>
          <a:p>
            <a:r>
              <a:rPr lang="en-US" altLang="en-US" sz="2800"/>
              <a:t>Qualitative date is collected (mostly Qualitative).</a:t>
            </a:r>
          </a:p>
          <a:p>
            <a:pPr lvl="1"/>
            <a:r>
              <a:rPr lang="en-US" altLang="en-US" sz="2400"/>
              <a:t>Quantitative can also be collected.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400"/>
          </a:p>
          <a:p>
            <a:r>
              <a:rPr lang="en-US" altLang="en-US" sz="2800"/>
              <a:t>Can be conducted remotely.</a:t>
            </a:r>
          </a:p>
          <a:p>
            <a:endParaRPr lang="en-US" altLang="en-US" sz="2800"/>
          </a:p>
          <a:p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89EA889-896B-D210-0029-441586ABF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400148B2-AF94-2C22-3F34-B82C4B0CE1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What is it?</a:t>
            </a:r>
          </a:p>
          <a:p>
            <a:endParaRPr lang="en-US" altLang="en-US" sz="2800"/>
          </a:p>
          <a:p>
            <a:r>
              <a:rPr lang="en-US" altLang="en-US" sz="2800"/>
              <a:t>You interview users and ask them questions.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0B5AACC-E020-C8B0-6C4E-11E1882C6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195EEE7A-0F78-C4CC-2ED2-C702BC40AB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Develop a list of questions for the users.</a:t>
            </a:r>
          </a:p>
          <a:p>
            <a:endParaRPr lang="en-US" altLang="en-US" sz="2800"/>
          </a:p>
          <a:p>
            <a:r>
              <a:rPr lang="en-US" altLang="en-US" sz="2800"/>
              <a:t>Meet with the users, individually.</a:t>
            </a:r>
          </a:p>
          <a:p>
            <a:endParaRPr lang="en-US" altLang="en-US" sz="2800"/>
          </a:p>
          <a:p>
            <a:r>
              <a:rPr lang="en-US" altLang="en-US" sz="2800"/>
              <a:t>Ask them the questions and log the responses</a:t>
            </a:r>
          </a:p>
          <a:p>
            <a:pPr lvl="1"/>
            <a:r>
              <a:rPr lang="en-US" altLang="en-US" sz="2400"/>
              <a:t>Written and/or taped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880BEC3-DA13-13AD-C28B-7E5BB2210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3B0F3FF1-A735-86CF-6698-EE2ED85CD1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Interview Tips:</a:t>
            </a:r>
          </a:p>
          <a:p>
            <a:pPr lvl="1"/>
            <a:r>
              <a:rPr lang="en-US" altLang="en-US" sz="2400"/>
              <a:t>Clearly define this is an interview.</a:t>
            </a:r>
          </a:p>
          <a:p>
            <a:pPr lvl="1"/>
            <a:r>
              <a:rPr lang="en-US" altLang="en-US" sz="2400"/>
              <a:t>Ask open ended questions to get the user talking. Yes-No questions are bad.</a:t>
            </a:r>
          </a:p>
          <a:p>
            <a:pPr lvl="1"/>
            <a:r>
              <a:rPr lang="en-US" altLang="en-US" sz="2400"/>
              <a:t>Begin with less demanding topics and progress to more difficult topics.</a:t>
            </a:r>
          </a:p>
          <a:p>
            <a:pPr lvl="1"/>
            <a:r>
              <a:rPr lang="en-US" altLang="en-US" sz="2400"/>
              <a:t>Don’t ask questions to support your belief or hypothesis.</a:t>
            </a:r>
          </a:p>
          <a:p>
            <a:pPr lvl="1"/>
            <a:r>
              <a:rPr lang="en-US" altLang="en-US" sz="2400"/>
              <a:t>Do not answer your own questions.</a:t>
            </a:r>
          </a:p>
          <a:p>
            <a:pPr lvl="1"/>
            <a:r>
              <a:rPr lang="en-US" altLang="en-US" sz="2400"/>
              <a:t>Do not agree or disagree … remain neutral.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149C979-AE96-8706-4D8C-2D2289F60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C6BB3827-9E8E-7154-95C5-EEBAEF34BD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Probes: used to encourage the subjects to continue speaking, or to guide their response in a particular direction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Addition Probe </a:t>
            </a:r>
          </a:p>
          <a:p>
            <a:pPr lvl="1"/>
            <a:r>
              <a:rPr lang="en-US" altLang="en-US" sz="2400"/>
              <a:t>Encourages more information or clarifies certain responses from the test users. Either verbally or nonverbally the message is, "Go on, tell me more," or "Don't stop." 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C4EA230-F5CD-C5F4-F296-7BCEE7F61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BB0C46A3-DA6D-AD47-339B-EC970B4527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Reflecting Probe </a:t>
            </a:r>
          </a:p>
          <a:p>
            <a:pPr lvl="1"/>
            <a:r>
              <a:rPr lang="en-US" altLang="en-US" sz="2400"/>
              <a:t>Uses a nondirective technique, encourages the test user to give more detailed information. The interviewer can reformulate the question or synthesize the previous response as a proposition. 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Directive Probe</a:t>
            </a:r>
          </a:p>
          <a:p>
            <a:pPr lvl="1"/>
            <a:r>
              <a:rPr lang="en-US" altLang="en-US" sz="2400"/>
              <a:t>Specifies the direction in which a continuation of the reply should follow without suggesting any particular content. A directive probe may take the form of "Why is the (the case)?"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0B5FB29-E91B-54A7-0930-041A56096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84F386E1-1348-1B6F-A5DC-D407CFBF0C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Defining Probe </a:t>
            </a:r>
          </a:p>
          <a:p>
            <a:pPr lvl="1"/>
            <a:r>
              <a:rPr lang="en-US" altLang="en-US" sz="2400"/>
              <a:t>Requires the subject to explain the meaning of a particular term or concept. </a:t>
            </a:r>
          </a:p>
          <a:p>
            <a:pPr lvl="1"/>
            <a:endParaRPr lang="en-US" altLang="en-US" sz="2400"/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91761BC-3BD3-9E1F-AF92-47F961A24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97EFBC2-5508-DA67-0FB2-257D89DC7F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Test &amp; Deployment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6.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F9C04FE-9393-ACDD-DF03-BDDE817D5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87EFAAD-2CFC-0805-37CE-817B39DF81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Usability Issues Covered</a:t>
            </a:r>
          </a:p>
          <a:p>
            <a:pPr lvl="1"/>
            <a:r>
              <a:rPr lang="en-US" altLang="en-US" sz="2400"/>
              <a:t>Effectiveness:  Yes</a:t>
            </a:r>
          </a:p>
          <a:p>
            <a:pPr lvl="1"/>
            <a:r>
              <a:rPr lang="en-US" altLang="en-US" sz="2400"/>
              <a:t>Efficiency:  No</a:t>
            </a:r>
          </a:p>
          <a:p>
            <a:pPr lvl="1"/>
            <a:r>
              <a:rPr lang="en-US" altLang="en-US" sz="2400"/>
              <a:t>Satisfaction:  Yes</a:t>
            </a:r>
          </a:p>
          <a:p>
            <a:endParaRPr lang="en-US" altLang="en-US" sz="2800"/>
          </a:p>
          <a:p>
            <a:r>
              <a:rPr lang="en-US" altLang="en-US" sz="2800"/>
              <a:t>Qualitative date is collected (mostly Qualitative).</a:t>
            </a:r>
          </a:p>
          <a:p>
            <a:pPr lvl="1"/>
            <a:r>
              <a:rPr lang="en-US" altLang="en-US" sz="2400"/>
              <a:t>Quantitative can also be collected.</a:t>
            </a:r>
          </a:p>
          <a:p>
            <a:endParaRPr lang="en-US" altLang="en-US" sz="2400"/>
          </a:p>
          <a:p>
            <a:r>
              <a:rPr lang="en-US" altLang="en-US" sz="2800"/>
              <a:t>Can be conducted remotely with email, bulletin boards, conference calls, etc.</a:t>
            </a:r>
          </a:p>
          <a:p>
            <a:endParaRPr lang="en-US" altLang="en-US" sz="2800"/>
          </a:p>
          <a:p>
            <a:r>
              <a:rPr lang="en-US" altLang="en-US" sz="2800"/>
              <a:t>Can be used on any system.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9877C57-12E5-A8A3-DA43-5F734A188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34C53F9C-58C0-E97D-61FF-131572D953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What is it?</a:t>
            </a:r>
          </a:p>
          <a:p>
            <a:endParaRPr lang="en-US" altLang="en-US" sz="2800"/>
          </a:p>
          <a:p>
            <a:r>
              <a:rPr lang="en-US" altLang="en-US" sz="2800"/>
              <a:t>A group of users are gathered to talk about the system.</a:t>
            </a:r>
          </a:p>
          <a:p>
            <a:endParaRPr lang="en-US" altLang="en-US" sz="2800"/>
          </a:p>
          <a:p>
            <a:r>
              <a:rPr lang="en-US" altLang="en-US" sz="2800"/>
              <a:t>The expert acts as the moderator.</a:t>
            </a:r>
          </a:p>
          <a:p>
            <a:endParaRPr lang="en-US" altLang="en-US" sz="2800"/>
          </a:p>
          <a:p>
            <a:r>
              <a:rPr lang="en-US" altLang="en-US" sz="2800"/>
              <a:t>Should conduct more than 1 focus group.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AE31E91-13A8-9257-564A-6B1D780ED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Groups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7487EEC3-3C8B-7B92-1520-3BC80B5C66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Bring a group of users together and begin.</a:t>
            </a:r>
          </a:p>
          <a:p>
            <a:endParaRPr lang="en-US" altLang="en-US" sz="2800"/>
          </a:p>
          <a:p>
            <a:r>
              <a:rPr lang="en-US" altLang="en-US" sz="2800"/>
              <a:t>Collect data</a:t>
            </a:r>
          </a:p>
          <a:p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Conducting a Focus Group</a:t>
            </a:r>
          </a:p>
          <a:p>
            <a:pPr lvl="1"/>
            <a:r>
              <a:rPr lang="en-US" altLang="en-US" sz="2400">
                <a:hlinkClick r:id="rId3"/>
              </a:rPr>
              <a:t>https://www.youtube.com/watch?v=Auf9pkuCc8k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2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F22F199-30DF-CD53-931B-50C4C23B7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Logging Actual Use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1E31DC3-7800-D53A-07ED-2155611797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Applicable Stages:</a:t>
            </a:r>
          </a:p>
          <a:p>
            <a:pPr lvl="1"/>
            <a:r>
              <a:rPr lang="en-US" altLang="en-US" sz="2400"/>
              <a:t>Test &amp; Deployment</a:t>
            </a:r>
          </a:p>
          <a:p>
            <a:pPr lvl="1"/>
            <a:endParaRPr lang="en-US" altLang="en-US" sz="2400"/>
          </a:p>
          <a:p>
            <a:r>
              <a:rPr lang="en-US" altLang="en-US" sz="2800"/>
              <a:t>Personnel</a:t>
            </a:r>
          </a:p>
          <a:p>
            <a:pPr lvl="1"/>
            <a:r>
              <a:rPr lang="en-US" altLang="en-US" sz="2400"/>
              <a:t>Usability Experts, approximately 1.</a:t>
            </a:r>
          </a:p>
          <a:p>
            <a:pPr lvl="1"/>
            <a:r>
              <a:rPr lang="en-US" altLang="en-US" sz="2400"/>
              <a:t>Developers, 0.</a:t>
            </a:r>
          </a:p>
          <a:p>
            <a:pPr lvl="1"/>
            <a:r>
              <a:rPr lang="en-US" altLang="en-US" sz="2400"/>
              <a:t>Users, 6.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5D6910C-B06A-2DB4-1A9D-19C2DC102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Logging Actual Use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936E6FB-36F7-6CE7-0C62-17E513CC9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Usability Issues Covered</a:t>
            </a:r>
          </a:p>
          <a:p>
            <a:pPr lvl="1"/>
            <a:r>
              <a:rPr lang="en-US" altLang="en-US" sz="2400"/>
              <a:t>Effectiveness:  Yes</a:t>
            </a:r>
          </a:p>
          <a:p>
            <a:pPr lvl="1"/>
            <a:r>
              <a:rPr lang="en-US" altLang="en-US" sz="2400"/>
              <a:t>Efficiency:  Yes</a:t>
            </a:r>
          </a:p>
          <a:p>
            <a:pPr lvl="1"/>
            <a:r>
              <a:rPr lang="en-US" altLang="en-US" sz="2400"/>
              <a:t>Satisfaction:  Maybe</a:t>
            </a:r>
          </a:p>
          <a:p>
            <a:endParaRPr lang="en-US" altLang="en-US" sz="2800"/>
          </a:p>
          <a:p>
            <a:r>
              <a:rPr lang="en-US" altLang="en-US" sz="2800"/>
              <a:t>Quantitative Data is collected, in most cases.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400"/>
          </a:p>
          <a:p>
            <a:r>
              <a:rPr lang="en-US" altLang="en-US" sz="2800"/>
              <a:t>Can be conducted remotely.</a:t>
            </a:r>
          </a:p>
          <a:p>
            <a:endParaRPr lang="en-US" altLang="en-US" sz="2800"/>
          </a:p>
          <a:p>
            <a:r>
              <a:rPr lang="en-US" altLang="en-US" sz="2800"/>
              <a:t>Can be used on most systems.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3B7758AD-6D81-B083-6CCE-C8EBA573E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Logging Actual Use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08A35BC6-F08F-D35B-2B1B-3D8A3118AD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486400"/>
          </a:xfrm>
        </p:spPr>
        <p:txBody>
          <a:bodyPr/>
          <a:lstStyle/>
          <a:p>
            <a:r>
              <a:rPr lang="en-US" altLang="en-US" sz="2800"/>
              <a:t>What is it?</a:t>
            </a:r>
          </a:p>
          <a:p>
            <a:endParaRPr lang="en-US" altLang="en-US" sz="2800"/>
          </a:p>
          <a:p>
            <a:r>
              <a:rPr lang="en-US" altLang="en-US" sz="2800"/>
              <a:t>The computer automatically collect usage data.</a:t>
            </a:r>
          </a:p>
          <a:p>
            <a:endParaRPr lang="en-US" altLang="en-US" sz="2800"/>
          </a:p>
          <a:p>
            <a:r>
              <a:rPr lang="en-US" altLang="en-US" sz="2800"/>
              <a:t>You could ask the user to log their usage, but that’s not practical.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46A110C-3FA3-8544-A93E-483C3AD6E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Logging Actual Use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E8E41754-EF92-EDFB-03F7-6FF877B4CD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How can I do it?</a:t>
            </a:r>
          </a:p>
          <a:p>
            <a:endParaRPr lang="en-US" altLang="en-US" sz="2800"/>
          </a:p>
          <a:p>
            <a:r>
              <a:rPr lang="en-US" altLang="en-US" sz="2800"/>
              <a:t>Usability Logger</a:t>
            </a:r>
          </a:p>
          <a:p>
            <a:pPr lvl="1"/>
            <a:r>
              <a:rPr lang="en-US" altLang="en-US" sz="2400"/>
              <a:t>http://www.usabletools.com/</a:t>
            </a:r>
          </a:p>
          <a:p>
            <a:endParaRPr lang="en-US" altLang="en-US" sz="2800"/>
          </a:p>
          <a:p>
            <a:r>
              <a:rPr lang="en-US" altLang="en-US" sz="2800"/>
              <a:t>Automatic capture of keyboard, mouse, etc.</a:t>
            </a:r>
          </a:p>
          <a:p>
            <a:endParaRPr lang="en-US" altLang="en-US" sz="2800"/>
          </a:p>
          <a:p>
            <a:r>
              <a:rPr lang="en-US" altLang="en-US" sz="2800"/>
              <a:t>VideoCam and other products.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D0E0AE4-BC10-1F9E-BCBC-3913E969A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Logging Actual Use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AC2669F9-E5C0-EC27-5F92-52F8797004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19200"/>
            <a:ext cx="8882062" cy="5638800"/>
          </a:xfrm>
        </p:spPr>
        <p:txBody>
          <a:bodyPr/>
          <a:lstStyle/>
          <a:p>
            <a:r>
              <a:rPr lang="en-US" altLang="en-US" sz="2800"/>
              <a:t>Facts On Logging Actual Use</a:t>
            </a:r>
          </a:p>
          <a:p>
            <a:pPr lvl="1"/>
            <a:r>
              <a:rPr lang="en-US" altLang="en-US" sz="2400"/>
              <a:t>You know exactly what the user is doing.</a:t>
            </a:r>
          </a:p>
          <a:p>
            <a:pPr lvl="1"/>
            <a:r>
              <a:rPr lang="en-US" altLang="en-US" sz="2400"/>
              <a:t>You don’t know why, but you do know what, when, where.</a:t>
            </a:r>
          </a:p>
          <a:p>
            <a:pPr lvl="1"/>
            <a:r>
              <a:rPr lang="en-US" altLang="en-US" sz="2400"/>
              <a:t>You don’t know how the user feels.</a:t>
            </a:r>
          </a:p>
          <a:p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6D03757-BC25-E967-7A6A-E484D2573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Usability Inquiry Methods</a:t>
            </a:r>
            <a:br>
              <a:rPr lang="en-US" altLang="en-US" sz="4000"/>
            </a:br>
            <a:r>
              <a:rPr lang="en-US" altLang="en-US" sz="2400"/>
              <a:t>most useful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FA7505D-4BD7-028F-D462-3D907D22FF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1938" y="1295400"/>
            <a:ext cx="8882062" cy="5410200"/>
          </a:xfrm>
        </p:spPr>
        <p:txBody>
          <a:bodyPr/>
          <a:lstStyle/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Contextual Inquiry</a:t>
            </a:r>
          </a:p>
          <a:p>
            <a:pPr>
              <a:lnSpc>
                <a:spcPct val="90000"/>
              </a:lnSpc>
            </a:pPr>
            <a:endParaRPr lang="en-US" altLang="en-US" sz="2800" b="1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Field Observation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endParaRPr lang="en-US" altLang="en-US" sz="2800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Questionnaires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endParaRPr lang="en-US" altLang="en-US" sz="2800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Interviews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endParaRPr lang="en-US" altLang="en-US" sz="2800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Focus Groups  (least useful)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endParaRPr lang="en-US" altLang="en-US" sz="2800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P"/>
            </a:pPr>
            <a:r>
              <a:rPr lang="en-US" altLang="en-US" sz="2800"/>
              <a:t>Logging Actual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_classified">
  <a:themeElements>
    <a:clrScheme name="gen_classifie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en_classified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en_classifie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_classifi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n_classified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_classified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_classifie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_classifie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_classifie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gen_classified</Template>
  <TotalTime>775</TotalTime>
  <Words>1335</Words>
  <Application>Microsoft Office PowerPoint</Application>
  <PresentationFormat>On-screen Show (4:3)</PresentationFormat>
  <Paragraphs>346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Times New Roman</vt:lpstr>
      <vt:lpstr>Arial</vt:lpstr>
      <vt:lpstr>Trebuchet MS</vt:lpstr>
      <vt:lpstr>Wingdings</vt:lpstr>
      <vt:lpstr>Calibri</vt:lpstr>
      <vt:lpstr>Wingdings 2</vt:lpstr>
      <vt:lpstr>gen_classified</vt:lpstr>
      <vt:lpstr>User Interface Evaluation</vt:lpstr>
      <vt:lpstr>Usability Inquiry Methods</vt:lpstr>
      <vt:lpstr>Usability Inquiry Methods</vt:lpstr>
      <vt:lpstr>Contextual Inquiry</vt:lpstr>
      <vt:lpstr>Contextual Inquiry</vt:lpstr>
      <vt:lpstr>Contextual Inquiry</vt:lpstr>
      <vt:lpstr>Contextual Inquiry</vt:lpstr>
      <vt:lpstr>Contextual Inquiry</vt:lpstr>
      <vt:lpstr>Contextual Inquiry</vt:lpstr>
      <vt:lpstr>Field Observation</vt:lpstr>
      <vt:lpstr>Field Observation</vt:lpstr>
      <vt:lpstr>Field Observation</vt:lpstr>
      <vt:lpstr>Field Observation</vt:lpstr>
      <vt:lpstr>Questionnaires</vt:lpstr>
      <vt:lpstr>Questionnaires</vt:lpstr>
      <vt:lpstr>Questionnaires</vt:lpstr>
      <vt:lpstr>Questionnaires</vt:lpstr>
      <vt:lpstr>Interviews</vt:lpstr>
      <vt:lpstr>Interviews</vt:lpstr>
      <vt:lpstr>Interviews</vt:lpstr>
      <vt:lpstr>Interviews</vt:lpstr>
      <vt:lpstr>Interviews</vt:lpstr>
      <vt:lpstr>Interviews</vt:lpstr>
      <vt:lpstr>Interviews</vt:lpstr>
      <vt:lpstr>Interviews</vt:lpstr>
      <vt:lpstr>Focus Groups</vt:lpstr>
      <vt:lpstr>Focus Groups</vt:lpstr>
      <vt:lpstr>Focus Groups</vt:lpstr>
      <vt:lpstr>Focus Groups</vt:lpstr>
      <vt:lpstr>Logging Actual Use</vt:lpstr>
      <vt:lpstr>Logging Actual Use</vt:lpstr>
      <vt:lpstr>Logging Actual Use</vt:lpstr>
      <vt:lpstr>Logging Actual Use</vt:lpstr>
      <vt:lpstr>Logging Actual Use</vt:lpstr>
      <vt:lpstr>Usability Inquiry Methods most useful</vt:lpstr>
    </vt:vector>
  </TitlesOfParts>
  <Company>Auburn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 Evaluation</dc:title>
  <dc:creator>Juan E. Gilbert</dc:creator>
  <cp:lastModifiedBy>Lily Edgil</cp:lastModifiedBy>
  <cp:revision>120</cp:revision>
  <dcterms:created xsi:type="dcterms:W3CDTF">2002-03-29T15:42:58Z</dcterms:created>
  <dcterms:modified xsi:type="dcterms:W3CDTF">2026-03-27T18:33:38Z</dcterms:modified>
</cp:coreProperties>
</file>