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 id="214748371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Newsreader"/>
      <p:regular r:id="rId21"/>
      <p:bold r:id="rId22"/>
      <p:italic r:id="rId23"/>
      <p:boldItalic r:id="rId24"/>
    </p:embeddedFont>
    <p:embeddedFont>
      <p:font typeface="Newsreader Light"/>
      <p:regular r:id="rId25"/>
      <p:bold r:id="rId26"/>
      <p:italic r:id="rId27"/>
      <p:boldItalic r:id="rId28"/>
    </p:embeddedFont>
    <p:embeddedFont>
      <p:font typeface="DM Sans Light"/>
      <p:regular r:id="rId29"/>
      <p:bold r:id="rId30"/>
      <p:italic r:id="rId31"/>
      <p:boldItalic r:id="rId32"/>
    </p:embeddedFont>
    <p:embeddedFont>
      <p:font typeface="DM Sans SemiBold"/>
      <p:regular r:id="rId33"/>
      <p:bold r:id="rId34"/>
      <p:italic r:id="rId35"/>
      <p:boldItalic r:id="rId36"/>
    </p:embeddedFont>
    <p:embeddedFont>
      <p:font typeface="DM Sans"/>
      <p:regular r:id="rId37"/>
      <p:bold r:id="rId38"/>
      <p:italic r:id="rId39"/>
      <p:boldItalic r:id="rId40"/>
    </p:embeddedFont>
    <p:embeddedFont>
      <p:font typeface="Newsreader SemiBold"/>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boldItalic.fntdata"/><Relationship Id="rId42" Type="http://schemas.openxmlformats.org/officeDocument/2006/relationships/font" Target="fonts/NewsreaderSemiBold-bold.fntdata"/><Relationship Id="rId41" Type="http://schemas.openxmlformats.org/officeDocument/2006/relationships/font" Target="fonts/NewsreaderSemiBold-regular.fntdata"/><Relationship Id="rId44" Type="http://schemas.openxmlformats.org/officeDocument/2006/relationships/font" Target="fonts/NewsreaderSemiBold-boldItalic.fntdata"/><Relationship Id="rId43" Type="http://schemas.openxmlformats.org/officeDocument/2006/relationships/font" Target="fonts/Newsreader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Light-italic.fntdata"/><Relationship Id="rId30" Type="http://schemas.openxmlformats.org/officeDocument/2006/relationships/font" Target="fonts/DMSansLight-bold.fntdata"/><Relationship Id="rId33" Type="http://schemas.openxmlformats.org/officeDocument/2006/relationships/font" Target="fonts/DMSansSemiBold-regular.fntdata"/><Relationship Id="rId32" Type="http://schemas.openxmlformats.org/officeDocument/2006/relationships/font" Target="fonts/DMSansLight-boldItalic.fntdata"/><Relationship Id="rId35" Type="http://schemas.openxmlformats.org/officeDocument/2006/relationships/font" Target="fonts/DMSansSemiBold-italic.fntdata"/><Relationship Id="rId34" Type="http://schemas.openxmlformats.org/officeDocument/2006/relationships/font" Target="fonts/DMSansSemiBold-bold.fntdata"/><Relationship Id="rId37" Type="http://schemas.openxmlformats.org/officeDocument/2006/relationships/font" Target="fonts/DMSans-regular.fntdata"/><Relationship Id="rId36" Type="http://schemas.openxmlformats.org/officeDocument/2006/relationships/font" Target="fonts/DMSansSemiBold-boldItalic.fntdata"/><Relationship Id="rId39" Type="http://schemas.openxmlformats.org/officeDocument/2006/relationships/font" Target="fonts/DMSans-italic.fntdata"/><Relationship Id="rId38" Type="http://schemas.openxmlformats.org/officeDocument/2006/relationships/font" Target="fonts/DMSans-bold.fntdata"/><Relationship Id="rId20" Type="http://schemas.openxmlformats.org/officeDocument/2006/relationships/slide" Target="slides/slide14.xml"/><Relationship Id="rId22" Type="http://schemas.openxmlformats.org/officeDocument/2006/relationships/font" Target="fonts/Newsreader-bold.fntdata"/><Relationship Id="rId21" Type="http://schemas.openxmlformats.org/officeDocument/2006/relationships/font" Target="fonts/Newsreader-regular.fntdata"/><Relationship Id="rId24" Type="http://schemas.openxmlformats.org/officeDocument/2006/relationships/font" Target="fonts/Newsreader-boldItalic.fntdata"/><Relationship Id="rId23" Type="http://schemas.openxmlformats.org/officeDocument/2006/relationships/font" Target="fonts/Newsreader-italic.fntdata"/><Relationship Id="rId26" Type="http://schemas.openxmlformats.org/officeDocument/2006/relationships/font" Target="fonts/NewsreaderLight-bold.fntdata"/><Relationship Id="rId25" Type="http://schemas.openxmlformats.org/officeDocument/2006/relationships/font" Target="fonts/NewsreaderLight-regular.fntdata"/><Relationship Id="rId28" Type="http://schemas.openxmlformats.org/officeDocument/2006/relationships/font" Target="fonts/NewsreaderLight-boldItalic.fntdata"/><Relationship Id="rId27" Type="http://schemas.openxmlformats.org/officeDocument/2006/relationships/font" Target="fonts/NewsreaderLight-italic.fntdata"/><Relationship Id="rId29" Type="http://schemas.openxmlformats.org/officeDocument/2006/relationships/font" Target="fonts/DMSansLight-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aac5c26a7c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aac5c26a7c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aac5c26a7c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aac5c26a7c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aac5c26a7c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aac5c26a7c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aac5c26a7c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aac5c26a7c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aac5c26a7c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aac5c26a7c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ac8af1330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ac8af1330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ab5226e8f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ab5226e8f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ab5226e8f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ab5226e8f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3cab9960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a3cab9960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ac5c26a7c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aac5c26a7c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aac5c26a7c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aac5c26a7c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ac9c57b6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ac9c57b6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ac9c57b6d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ac9c57b6d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a3cab9960c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a3cab9960c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4" name="Shape 54"/>
        <p:cNvGrpSpPr/>
        <p:nvPr/>
      </p:nvGrpSpPr>
      <p:grpSpPr>
        <a:xfrm>
          <a:off x="0" y="0"/>
          <a:ext cx="0" cy="0"/>
          <a:chOff x="0" y="0"/>
          <a:chExt cx="0" cy="0"/>
        </a:xfrm>
      </p:grpSpPr>
      <p:sp>
        <p:nvSpPr>
          <p:cNvPr id="55" name="Google Shape;55;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6" name="Google Shape;56;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58" name="Shape 58"/>
        <p:cNvGrpSpPr/>
        <p:nvPr/>
      </p:nvGrpSpPr>
      <p:grpSpPr>
        <a:xfrm>
          <a:off x="0" y="0"/>
          <a:ext cx="0" cy="0"/>
          <a:chOff x="0" y="0"/>
          <a:chExt cx="0" cy="0"/>
        </a:xfrm>
      </p:grpSpPr>
      <p:sp>
        <p:nvSpPr>
          <p:cNvPr id="59" name="Google Shape;59;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0" name="Google Shape;60;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62" name="Google Shape;62;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66" name="Shape 66"/>
        <p:cNvGrpSpPr/>
        <p:nvPr/>
      </p:nvGrpSpPr>
      <p:grpSpPr>
        <a:xfrm>
          <a:off x="0" y="0"/>
          <a:ext cx="0" cy="0"/>
          <a:chOff x="0" y="0"/>
          <a:chExt cx="0" cy="0"/>
        </a:xfrm>
      </p:grpSpPr>
      <p:sp>
        <p:nvSpPr>
          <p:cNvPr id="67" name="Google Shape;67;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69" name="Google Shape;69;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71" name="Shape 71"/>
        <p:cNvGrpSpPr/>
        <p:nvPr/>
      </p:nvGrpSpPr>
      <p:grpSpPr>
        <a:xfrm>
          <a:off x="0" y="0"/>
          <a:ext cx="0" cy="0"/>
          <a:chOff x="0" y="0"/>
          <a:chExt cx="0" cy="0"/>
        </a:xfrm>
      </p:grpSpPr>
      <p:sp>
        <p:nvSpPr>
          <p:cNvPr id="72" name="Google Shape;72;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3" name="Google Shape;73;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74" name="Google Shape;74;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8" name="Google Shape;78;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9" name="Google Shape;79;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0" name="Google Shape;80;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81" name="Shape 81"/>
        <p:cNvGrpSpPr/>
        <p:nvPr/>
      </p:nvGrpSpPr>
      <p:grpSpPr>
        <a:xfrm>
          <a:off x="0" y="0"/>
          <a:ext cx="0" cy="0"/>
          <a:chOff x="0" y="0"/>
          <a:chExt cx="0" cy="0"/>
        </a:xfrm>
      </p:grpSpPr>
      <p:sp>
        <p:nvSpPr>
          <p:cNvPr id="82" name="Google Shape;82;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83" name="Google Shape;83;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85" name="Google Shape;85;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6" name="Google Shape;86;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87" name="Google Shape;87;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8" name="Google Shape;88;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9" name="Google Shape;89;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0" name="Google Shape;90;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91" name="Google Shape;91;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92" name="Shape 92"/>
        <p:cNvGrpSpPr/>
        <p:nvPr/>
      </p:nvGrpSpPr>
      <p:grpSpPr>
        <a:xfrm>
          <a:off x="0" y="0"/>
          <a:ext cx="0" cy="0"/>
          <a:chOff x="0" y="0"/>
          <a:chExt cx="0" cy="0"/>
        </a:xfrm>
      </p:grpSpPr>
      <p:sp>
        <p:nvSpPr>
          <p:cNvPr id="93" name="Google Shape;93;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5" name="Google Shape;95;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6" name="Google Shape;96;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97" name="Google Shape;97;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9" name="Google Shape;99;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0" name="Google Shape;100;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1" name="Google Shape;101;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2" name="Google Shape;102;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6" name="Google Shape;106;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07" name="Google Shape;107;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8" name="Google Shape;108;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09" name="Google Shape;109;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0" name="Google Shape;110;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11" name="Google Shape;111;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2" name="Google Shape;112;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13" name="Google Shape;113;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6" name="Google Shape;116;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7" name="Google Shape;117;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9" name="Google Shape;119;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20" name="Google Shape;120;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1" name="Google Shape;121;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2" name="Google Shape;122;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3" name="Google Shape;123;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4" name="Google Shape;124;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5" name="Google Shape;125;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26" name="Google Shape;126;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31" name="Google Shape;131;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2" name="Google Shape;132;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3" name="Google Shape;133;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34" name="Google Shape;134;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5" name="Google Shape;135;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6" name="Google Shape;136;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7" name="Google Shape;137;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8" name="Google Shape;138;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9" name="Google Shape;139;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0" name="Google Shape;140;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1" name="Google Shape;141;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5" name="Google Shape;145;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6" name="Google Shape;146;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47" name="Google Shape;147;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8" name="Google Shape;148;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9" name="Google Shape;149;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0" name="Google Shape;150;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1" name="Google Shape;151;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2" name="Google Shape;152;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3" name="Google Shape;153;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4" name="Google Shape;154;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5" name="Google Shape;155;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6" name="Google Shape;156;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7" name="Google Shape;157;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58" name="Google Shape;158;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4587725" y="-8750"/>
            <a:ext cx="4572000" cy="5152200"/>
          </a:xfrm>
          <a:prstGeom prst="rect">
            <a:avLst/>
          </a:prstGeom>
          <a:noFill/>
          <a:ln>
            <a:noFill/>
          </a:ln>
        </p:spPr>
      </p:sp>
      <p:sp>
        <p:nvSpPr>
          <p:cNvPr id="161" name="Google Shape;161;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62" name="Google Shape;162;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63" name="Google Shape;163;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7" name="Google Shape;167;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8" name="Google Shape;168;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9" name="Google Shape;169;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0" name="Google Shape;170;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1" name="Google Shape;171;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2" name="Google Shape;172;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3" name="Google Shape;173;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4" name="Google Shape;174;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5" name="Google Shape;175;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76" name="Google Shape;176;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78" name="Google Shape;178;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9" name="Google Shape;179;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80" name="Google Shape;180;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2" name="Google Shape;182;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84" name="Shape 184"/>
        <p:cNvGrpSpPr/>
        <p:nvPr/>
      </p:nvGrpSpPr>
      <p:grpSpPr>
        <a:xfrm>
          <a:off x="0" y="0"/>
          <a:ext cx="0" cy="0"/>
          <a:chOff x="0" y="0"/>
          <a:chExt cx="0" cy="0"/>
        </a:xfrm>
      </p:grpSpPr>
      <p:sp>
        <p:nvSpPr>
          <p:cNvPr id="185" name="Google Shape;185;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88" name="Google Shape;188;p26"/>
          <p:cNvSpPr/>
          <p:nvPr>
            <p:ph idx="2" type="pic"/>
          </p:nvPr>
        </p:nvSpPr>
        <p:spPr>
          <a:xfrm>
            <a:off x="1442350" y="3492500"/>
            <a:ext cx="408900" cy="408900"/>
          </a:xfrm>
          <a:prstGeom prst="ellipse">
            <a:avLst/>
          </a:prstGeom>
          <a:noFill/>
          <a:ln>
            <a:noFill/>
          </a:ln>
        </p:spPr>
      </p:sp>
      <p:sp>
        <p:nvSpPr>
          <p:cNvPr id="189" name="Google Shape;189;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90" name="Google Shape;190;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4" name="Google Shape;194;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95" name="Google Shape;195;p27"/>
          <p:cNvSpPr/>
          <p:nvPr>
            <p:ph idx="2" type="pic"/>
          </p:nvPr>
        </p:nvSpPr>
        <p:spPr>
          <a:xfrm>
            <a:off x="1442350" y="3492500"/>
            <a:ext cx="408900" cy="408900"/>
          </a:xfrm>
          <a:prstGeom prst="ellipse">
            <a:avLst/>
          </a:prstGeom>
          <a:noFill/>
          <a:ln>
            <a:noFill/>
          </a:ln>
        </p:spPr>
      </p:sp>
      <p:sp>
        <p:nvSpPr>
          <p:cNvPr id="196" name="Google Shape;196;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97" name="Google Shape;197;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98" name="Shape 198"/>
        <p:cNvGrpSpPr/>
        <p:nvPr/>
      </p:nvGrpSpPr>
      <p:grpSpPr>
        <a:xfrm>
          <a:off x="0" y="0"/>
          <a:ext cx="0" cy="0"/>
          <a:chOff x="0" y="0"/>
          <a:chExt cx="0" cy="0"/>
        </a:xfrm>
      </p:grpSpPr>
      <p:sp>
        <p:nvSpPr>
          <p:cNvPr id="199" name="Google Shape;199;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0" name="Google Shape;200;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1" name="Google Shape;201;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2" name="Google Shape;202;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03" name="Google Shape;203;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04" name="Google Shape;204;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5" name="Google Shape;205;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6" name="Google Shape;206;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07" name="Google Shape;207;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08" name="Google Shape;208;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09" name="Google Shape;209;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0" name="Google Shape;210;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11" name="Shape 211"/>
        <p:cNvGrpSpPr/>
        <p:nvPr/>
      </p:nvGrpSpPr>
      <p:grpSpPr>
        <a:xfrm>
          <a:off x="0" y="0"/>
          <a:ext cx="0" cy="0"/>
          <a:chOff x="0" y="0"/>
          <a:chExt cx="0" cy="0"/>
        </a:xfrm>
      </p:grpSpPr>
      <p:sp>
        <p:nvSpPr>
          <p:cNvPr id="212" name="Google Shape;212;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3" name="Google Shape;213;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4" name="Google Shape;214;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6" name="Google Shape;216;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17" name="Google Shape;217;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18" name="Google Shape;218;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9" name="Google Shape;219;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0" name="Google Shape;220;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1" name="Google Shape;221;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2" name="Google Shape;222;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3" name="Google Shape;223;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4" name="Google Shape;224;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5" name="Google Shape;225;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26" name="Shape 226"/>
        <p:cNvGrpSpPr/>
        <p:nvPr/>
      </p:nvGrpSpPr>
      <p:grpSpPr>
        <a:xfrm>
          <a:off x="0" y="0"/>
          <a:ext cx="0" cy="0"/>
          <a:chOff x="0" y="0"/>
          <a:chExt cx="0" cy="0"/>
        </a:xfrm>
      </p:grpSpPr>
      <p:sp>
        <p:nvSpPr>
          <p:cNvPr id="227" name="Google Shape;227;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8" name="Google Shape;228;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9" name="Google Shape;229;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31" name="Google Shape;231;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32" name="Google Shape;232;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33" name="Google Shape;233;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34" name="Google Shape;234;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35" name="Shape 235"/>
        <p:cNvGrpSpPr/>
        <p:nvPr/>
      </p:nvGrpSpPr>
      <p:grpSpPr>
        <a:xfrm>
          <a:off x="0" y="0"/>
          <a:ext cx="0" cy="0"/>
          <a:chOff x="0" y="0"/>
          <a:chExt cx="0" cy="0"/>
        </a:xfrm>
      </p:grpSpPr>
      <p:sp>
        <p:nvSpPr>
          <p:cNvPr id="236" name="Google Shape;236;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40" name="Shape 240"/>
        <p:cNvGrpSpPr/>
        <p:nvPr/>
      </p:nvGrpSpPr>
      <p:grpSpPr>
        <a:xfrm>
          <a:off x="0" y="0"/>
          <a:ext cx="0" cy="0"/>
          <a:chOff x="0" y="0"/>
          <a:chExt cx="0" cy="0"/>
        </a:xfrm>
      </p:grpSpPr>
      <p:sp>
        <p:nvSpPr>
          <p:cNvPr id="241" name="Google Shape;241;p32"/>
          <p:cNvSpPr/>
          <p:nvPr>
            <p:ph idx="2" type="pic"/>
          </p:nvPr>
        </p:nvSpPr>
        <p:spPr>
          <a:xfrm>
            <a:off x="6289075" y="1793300"/>
            <a:ext cx="2853300" cy="3350400"/>
          </a:xfrm>
          <a:prstGeom prst="rect">
            <a:avLst/>
          </a:prstGeom>
          <a:noFill/>
          <a:ln>
            <a:noFill/>
          </a:ln>
        </p:spPr>
      </p:sp>
      <p:sp>
        <p:nvSpPr>
          <p:cNvPr id="242" name="Google Shape;242;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43" name="Google Shape;243;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44" name="Google Shape;244;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45" name="Google Shape;245;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47" name="Shape 247"/>
        <p:cNvGrpSpPr/>
        <p:nvPr/>
      </p:nvGrpSpPr>
      <p:grpSpPr>
        <a:xfrm>
          <a:off x="0" y="0"/>
          <a:ext cx="0" cy="0"/>
          <a:chOff x="0" y="0"/>
          <a:chExt cx="0" cy="0"/>
        </a:xfrm>
      </p:grpSpPr>
      <p:sp>
        <p:nvSpPr>
          <p:cNvPr id="248" name="Google Shape;248;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1" name="Google Shape;251;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52" name="Google Shape;252;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53" name="Google Shape;253;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54" name="Shape 254"/>
        <p:cNvGrpSpPr/>
        <p:nvPr/>
      </p:nvGrpSpPr>
      <p:grpSpPr>
        <a:xfrm>
          <a:off x="0" y="0"/>
          <a:ext cx="0" cy="0"/>
          <a:chOff x="0" y="0"/>
          <a:chExt cx="0" cy="0"/>
        </a:xfrm>
      </p:grpSpPr>
      <p:sp>
        <p:nvSpPr>
          <p:cNvPr id="255" name="Google Shape;255;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58" name="Google Shape;258;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59" name="Google Shape;259;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60" name="Shape 260"/>
        <p:cNvGrpSpPr/>
        <p:nvPr/>
      </p:nvGrpSpPr>
      <p:grpSpPr>
        <a:xfrm>
          <a:off x="0" y="0"/>
          <a:ext cx="0" cy="0"/>
          <a:chOff x="0" y="0"/>
          <a:chExt cx="0" cy="0"/>
        </a:xfrm>
      </p:grpSpPr>
      <p:sp>
        <p:nvSpPr>
          <p:cNvPr id="261" name="Google Shape;261;p35"/>
          <p:cNvSpPr/>
          <p:nvPr>
            <p:ph idx="2" type="pic"/>
          </p:nvPr>
        </p:nvSpPr>
        <p:spPr>
          <a:xfrm>
            <a:off x="361975" y="781775"/>
            <a:ext cx="2872800" cy="3783300"/>
          </a:xfrm>
          <a:prstGeom prst="rect">
            <a:avLst/>
          </a:prstGeom>
          <a:noFill/>
          <a:ln>
            <a:noFill/>
          </a:ln>
        </p:spPr>
      </p:sp>
      <p:sp>
        <p:nvSpPr>
          <p:cNvPr id="262" name="Google Shape;262;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64" name="Google Shape;264;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65" name="Google Shape;265;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66" name="Google Shape;266;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67" name="Shape 267"/>
        <p:cNvGrpSpPr/>
        <p:nvPr/>
      </p:nvGrpSpPr>
      <p:grpSpPr>
        <a:xfrm>
          <a:off x="0" y="0"/>
          <a:ext cx="0" cy="0"/>
          <a:chOff x="0" y="0"/>
          <a:chExt cx="0" cy="0"/>
        </a:xfrm>
      </p:grpSpPr>
      <p:pic>
        <p:nvPicPr>
          <p:cNvPr descr="The reflective glass facade of a skyscraper. " id="268" name="Google Shape;268;p36"/>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69" name="Google Shape;269;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72" name="Google Shape;272;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73" name="Google Shape;273;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74" name="Google Shape;274;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75" name="Shape 275"/>
        <p:cNvGrpSpPr/>
        <p:nvPr/>
      </p:nvGrpSpPr>
      <p:grpSpPr>
        <a:xfrm>
          <a:off x="0" y="0"/>
          <a:ext cx="0" cy="0"/>
          <a:chOff x="0" y="0"/>
          <a:chExt cx="0" cy="0"/>
        </a:xfrm>
      </p:grpSpPr>
      <p:pic>
        <p:nvPicPr>
          <p:cNvPr descr="A modern glass skyscraper. " id="276" name="Google Shape;276;p37"/>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77" name="Google Shape;277;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0" name="Google Shape;280;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81" name="Shape 281"/>
        <p:cNvGrpSpPr/>
        <p:nvPr/>
      </p:nvGrpSpPr>
      <p:grpSpPr>
        <a:xfrm>
          <a:off x="0" y="0"/>
          <a:ext cx="0" cy="0"/>
          <a:chOff x="0" y="0"/>
          <a:chExt cx="0" cy="0"/>
        </a:xfrm>
      </p:grpSpPr>
      <p:cxnSp>
        <p:nvCxnSpPr>
          <p:cNvPr id="282" name="Google Shape;282;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4" name="Google Shape;284;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85" name="Google Shape;285;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86" name="Google Shape;286;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87" name="Google Shape;287;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9" name="Google Shape;289;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0" name="Google Shape;290;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1" name="Google Shape;291;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2" name="Google Shape;292;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3" name="Google Shape;293;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4" name="Google Shape;294;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5" name="Google Shape;295;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6" name="Google Shape;296;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7" name="Google Shape;297;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8" name="Google Shape;298;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9" name="Google Shape;299;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00" name="Shape 300"/>
        <p:cNvGrpSpPr/>
        <p:nvPr/>
      </p:nvGrpSpPr>
      <p:grpSpPr>
        <a:xfrm>
          <a:off x="0" y="0"/>
          <a:ext cx="0" cy="0"/>
          <a:chOff x="0" y="0"/>
          <a:chExt cx="0" cy="0"/>
        </a:xfrm>
      </p:grpSpPr>
      <p:sp>
        <p:nvSpPr>
          <p:cNvPr id="301" name="Google Shape;301;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02" name="Google Shape;302;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03" name="Google Shape;303;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04" name="Google Shape;304;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05" name="Google Shape;305;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9" name="Google Shape;309;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0" name="Google Shape;310;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1" name="Google Shape;311;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2" name="Google Shape;312;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3" name="Google Shape;313;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14" name="Shape 314"/>
        <p:cNvGrpSpPr/>
        <p:nvPr/>
      </p:nvGrpSpPr>
      <p:grpSpPr>
        <a:xfrm>
          <a:off x="0" y="0"/>
          <a:ext cx="0" cy="0"/>
          <a:chOff x="0" y="0"/>
          <a:chExt cx="0" cy="0"/>
        </a:xfrm>
      </p:grpSpPr>
      <p:sp>
        <p:nvSpPr>
          <p:cNvPr id="315" name="Google Shape;315;p40"/>
          <p:cNvSpPr/>
          <p:nvPr>
            <p:ph idx="2" type="pic"/>
          </p:nvPr>
        </p:nvSpPr>
        <p:spPr>
          <a:xfrm>
            <a:off x="75" y="0"/>
            <a:ext cx="2853300" cy="2436600"/>
          </a:xfrm>
          <a:prstGeom prst="rect">
            <a:avLst/>
          </a:prstGeom>
          <a:noFill/>
          <a:ln>
            <a:noFill/>
          </a:ln>
        </p:spPr>
      </p:sp>
      <p:sp>
        <p:nvSpPr>
          <p:cNvPr id="316" name="Google Shape;316;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18" name="Shape 318"/>
        <p:cNvGrpSpPr/>
        <p:nvPr/>
      </p:nvGrpSpPr>
      <p:grpSpPr>
        <a:xfrm>
          <a:off x="0" y="0"/>
          <a:ext cx="0" cy="0"/>
          <a:chOff x="0" y="0"/>
          <a:chExt cx="0" cy="0"/>
        </a:xfrm>
      </p:grpSpPr>
      <p:sp>
        <p:nvSpPr>
          <p:cNvPr id="319" name="Google Shape;319;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0" name="Google Shape;320;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1" name="Google Shape;321;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2" name="Google Shape;322;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3" name="Google Shape;323;p41"/>
          <p:cNvSpPr/>
          <p:nvPr>
            <p:ph idx="5" type="pic"/>
          </p:nvPr>
        </p:nvSpPr>
        <p:spPr>
          <a:xfrm>
            <a:off x="2941550" y="1923334"/>
            <a:ext cx="991800" cy="991800"/>
          </a:xfrm>
          <a:prstGeom prst="rect">
            <a:avLst/>
          </a:prstGeom>
          <a:noFill/>
          <a:ln>
            <a:noFill/>
          </a:ln>
        </p:spPr>
      </p:sp>
      <p:sp>
        <p:nvSpPr>
          <p:cNvPr id="324" name="Google Shape;324;p41"/>
          <p:cNvSpPr/>
          <p:nvPr>
            <p:ph idx="6" type="pic"/>
          </p:nvPr>
        </p:nvSpPr>
        <p:spPr>
          <a:xfrm>
            <a:off x="5227063" y="1923334"/>
            <a:ext cx="991800" cy="991800"/>
          </a:xfrm>
          <a:prstGeom prst="rect">
            <a:avLst/>
          </a:prstGeom>
          <a:noFill/>
          <a:ln>
            <a:noFill/>
          </a:ln>
        </p:spPr>
      </p:sp>
      <p:sp>
        <p:nvSpPr>
          <p:cNvPr id="325" name="Google Shape;325;p41"/>
          <p:cNvSpPr/>
          <p:nvPr>
            <p:ph idx="7" type="pic"/>
          </p:nvPr>
        </p:nvSpPr>
        <p:spPr>
          <a:xfrm>
            <a:off x="7495263" y="1923334"/>
            <a:ext cx="991800" cy="991800"/>
          </a:xfrm>
          <a:prstGeom prst="rect">
            <a:avLst/>
          </a:prstGeom>
          <a:noFill/>
          <a:ln>
            <a:noFill/>
          </a:ln>
        </p:spPr>
      </p:sp>
      <p:cxnSp>
        <p:nvCxnSpPr>
          <p:cNvPr id="326" name="Google Shape;326;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7" name="Google Shape;327;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8" name="Google Shape;328;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29" name="Google Shape;329;p41"/>
          <p:cNvSpPr/>
          <p:nvPr>
            <p:ph idx="8" type="pic"/>
          </p:nvPr>
        </p:nvSpPr>
        <p:spPr>
          <a:xfrm>
            <a:off x="651288" y="1923334"/>
            <a:ext cx="991800" cy="991800"/>
          </a:xfrm>
          <a:prstGeom prst="rect">
            <a:avLst/>
          </a:prstGeom>
          <a:noFill/>
          <a:ln>
            <a:noFill/>
          </a:ln>
        </p:spPr>
      </p:sp>
      <p:sp>
        <p:nvSpPr>
          <p:cNvPr id="330" name="Google Shape;330;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31" name="Google Shape;331;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2" name="Google Shape;332;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33" name="Google Shape;333;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4" name="Google Shape;334;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5" name="Google Shape;335;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6" name="Google Shape;336;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7" name="Google Shape;337;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8" name="Google Shape;338;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9" name="Google Shape;339;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0" name="Google Shape;340;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1" name="Google Shape;341;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2" name="Google Shape;342;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3" name="Google Shape;343;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4" name="Google Shape;344;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45" name="Shape 345"/>
        <p:cNvGrpSpPr/>
        <p:nvPr/>
      </p:nvGrpSpPr>
      <p:grpSpPr>
        <a:xfrm>
          <a:off x="0" y="0"/>
          <a:ext cx="0" cy="0"/>
          <a:chOff x="0" y="0"/>
          <a:chExt cx="0" cy="0"/>
        </a:xfrm>
      </p:grpSpPr>
      <p:sp>
        <p:nvSpPr>
          <p:cNvPr id="346" name="Google Shape;346;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47" name="Google Shape;347;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49" name="Google Shape;349;p42"/>
          <p:cNvSpPr/>
          <p:nvPr>
            <p:ph idx="4" type="pic"/>
          </p:nvPr>
        </p:nvSpPr>
        <p:spPr>
          <a:xfrm>
            <a:off x="6080709" y="1066100"/>
            <a:ext cx="530400" cy="530400"/>
          </a:xfrm>
          <a:prstGeom prst="rect">
            <a:avLst/>
          </a:prstGeom>
          <a:noFill/>
          <a:ln>
            <a:noFill/>
          </a:ln>
        </p:spPr>
      </p:sp>
      <p:sp>
        <p:nvSpPr>
          <p:cNvPr id="350" name="Google Shape;350;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1" name="Google Shape;351;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3" name="Google Shape;353;p42"/>
          <p:cNvSpPr/>
          <p:nvPr>
            <p:ph idx="8" type="pic"/>
          </p:nvPr>
        </p:nvSpPr>
        <p:spPr>
          <a:xfrm>
            <a:off x="3154659" y="1066100"/>
            <a:ext cx="530400" cy="530400"/>
          </a:xfrm>
          <a:prstGeom prst="rect">
            <a:avLst/>
          </a:prstGeom>
          <a:noFill/>
          <a:ln>
            <a:noFill/>
          </a:ln>
        </p:spPr>
      </p:sp>
      <p:sp>
        <p:nvSpPr>
          <p:cNvPr id="354" name="Google Shape;354;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5" name="Google Shape;355;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7" name="Google Shape;357;p42"/>
          <p:cNvSpPr/>
          <p:nvPr>
            <p:ph idx="15" type="pic"/>
          </p:nvPr>
        </p:nvSpPr>
        <p:spPr>
          <a:xfrm>
            <a:off x="6080709" y="1975864"/>
            <a:ext cx="530400" cy="530400"/>
          </a:xfrm>
          <a:prstGeom prst="rect">
            <a:avLst/>
          </a:prstGeom>
          <a:noFill/>
          <a:ln>
            <a:noFill/>
          </a:ln>
        </p:spPr>
      </p:sp>
      <p:sp>
        <p:nvSpPr>
          <p:cNvPr id="358" name="Google Shape;358;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9" name="Google Shape;359;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1" name="Google Shape;361;p42"/>
          <p:cNvSpPr/>
          <p:nvPr>
            <p:ph idx="19" type="pic"/>
          </p:nvPr>
        </p:nvSpPr>
        <p:spPr>
          <a:xfrm>
            <a:off x="3154659" y="1975864"/>
            <a:ext cx="530400" cy="530400"/>
          </a:xfrm>
          <a:prstGeom prst="rect">
            <a:avLst/>
          </a:prstGeom>
          <a:noFill/>
          <a:ln>
            <a:noFill/>
          </a:ln>
        </p:spPr>
      </p:sp>
      <p:sp>
        <p:nvSpPr>
          <p:cNvPr id="362" name="Google Shape;362;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3" name="Google Shape;363;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5" name="Google Shape;365;p42"/>
          <p:cNvSpPr/>
          <p:nvPr>
            <p:ph idx="23" type="pic"/>
          </p:nvPr>
        </p:nvSpPr>
        <p:spPr>
          <a:xfrm>
            <a:off x="6080709" y="2883852"/>
            <a:ext cx="530400" cy="530400"/>
          </a:xfrm>
          <a:prstGeom prst="rect">
            <a:avLst/>
          </a:prstGeom>
          <a:noFill/>
          <a:ln>
            <a:noFill/>
          </a:ln>
        </p:spPr>
      </p:sp>
      <p:sp>
        <p:nvSpPr>
          <p:cNvPr id="366" name="Google Shape;366;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7" name="Google Shape;367;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9" name="Google Shape;369;p42"/>
          <p:cNvSpPr/>
          <p:nvPr>
            <p:ph idx="27" type="pic"/>
          </p:nvPr>
        </p:nvSpPr>
        <p:spPr>
          <a:xfrm>
            <a:off x="3154659" y="2883852"/>
            <a:ext cx="530400" cy="530400"/>
          </a:xfrm>
          <a:prstGeom prst="rect">
            <a:avLst/>
          </a:prstGeom>
          <a:noFill/>
          <a:ln>
            <a:noFill/>
          </a:ln>
        </p:spPr>
      </p:sp>
      <p:sp>
        <p:nvSpPr>
          <p:cNvPr id="370" name="Google Shape;370;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1" name="Google Shape;371;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2" name="Google Shape;372;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3" name="Google Shape;373;p42"/>
          <p:cNvSpPr/>
          <p:nvPr>
            <p:ph idx="31" type="pic"/>
          </p:nvPr>
        </p:nvSpPr>
        <p:spPr>
          <a:xfrm>
            <a:off x="6080709" y="3805056"/>
            <a:ext cx="530400" cy="530400"/>
          </a:xfrm>
          <a:prstGeom prst="rect">
            <a:avLst/>
          </a:prstGeom>
          <a:noFill/>
          <a:ln>
            <a:noFill/>
          </a:ln>
        </p:spPr>
      </p:sp>
      <p:sp>
        <p:nvSpPr>
          <p:cNvPr id="374" name="Google Shape;374;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5" name="Google Shape;375;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6" name="Google Shape;376;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7" name="Google Shape;377;p42"/>
          <p:cNvSpPr/>
          <p:nvPr>
            <p:ph idx="35" type="pic"/>
          </p:nvPr>
        </p:nvSpPr>
        <p:spPr>
          <a:xfrm>
            <a:off x="3154659" y="3805056"/>
            <a:ext cx="530400" cy="530400"/>
          </a:xfrm>
          <a:prstGeom prst="rect">
            <a:avLst/>
          </a:prstGeom>
          <a:noFill/>
          <a:ln>
            <a:noFill/>
          </a:ln>
        </p:spPr>
      </p:sp>
      <p:sp>
        <p:nvSpPr>
          <p:cNvPr id="378" name="Google Shape;378;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79" name="Google Shape;379;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81" name="Shape 381"/>
        <p:cNvGrpSpPr/>
        <p:nvPr/>
      </p:nvGrpSpPr>
      <p:grpSpPr>
        <a:xfrm>
          <a:off x="0" y="0"/>
          <a:ext cx="0" cy="0"/>
          <a:chOff x="0" y="0"/>
          <a:chExt cx="0" cy="0"/>
        </a:xfrm>
      </p:grpSpPr>
      <p:sp>
        <p:nvSpPr>
          <p:cNvPr id="382" name="Google Shape;382;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83" name="Google Shape;383;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4" name="Google Shape;384;p43"/>
          <p:cNvSpPr/>
          <p:nvPr>
            <p:ph idx="2" type="pic"/>
          </p:nvPr>
        </p:nvSpPr>
        <p:spPr>
          <a:xfrm flipH="1">
            <a:off x="953803" y="1066100"/>
            <a:ext cx="2664300" cy="3002700"/>
          </a:xfrm>
          <a:prstGeom prst="rect">
            <a:avLst/>
          </a:prstGeom>
          <a:noFill/>
          <a:ln>
            <a:noFill/>
          </a:ln>
        </p:spPr>
      </p:sp>
      <p:sp>
        <p:nvSpPr>
          <p:cNvPr id="385" name="Google Shape;385;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86" name="Google Shape;386;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88" name="Google Shape;388;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89" name="Google Shape;389;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90" name="Google Shape;390;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91" name="Shape 391"/>
        <p:cNvGrpSpPr/>
        <p:nvPr/>
      </p:nvGrpSpPr>
      <p:grpSpPr>
        <a:xfrm>
          <a:off x="0" y="0"/>
          <a:ext cx="0" cy="0"/>
          <a:chOff x="0" y="0"/>
          <a:chExt cx="0" cy="0"/>
        </a:xfrm>
      </p:grpSpPr>
      <p:grpSp>
        <p:nvGrpSpPr>
          <p:cNvPr id="392" name="Google Shape;392;p44"/>
          <p:cNvGrpSpPr/>
          <p:nvPr/>
        </p:nvGrpSpPr>
        <p:grpSpPr>
          <a:xfrm>
            <a:off x="49" y="514398"/>
            <a:ext cx="9144297" cy="4115162"/>
            <a:chOff x="-18500" y="514395"/>
            <a:chExt cx="9219900" cy="4115162"/>
          </a:xfrm>
        </p:grpSpPr>
        <p:cxnSp>
          <p:nvCxnSpPr>
            <p:cNvPr id="393" name="Google Shape;393;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4" name="Google Shape;394;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5" name="Google Shape;395;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6" name="Google Shape;396;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7" name="Google Shape;397;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8" name="Google Shape;398;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9" name="Google Shape;399;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0" name="Google Shape;400;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1" name="Google Shape;401;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02" name="Google Shape;402;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05" name="Shape 405"/>
        <p:cNvGrpSpPr/>
        <p:nvPr/>
      </p:nvGrpSpPr>
      <p:grpSpPr>
        <a:xfrm>
          <a:off x="0" y="0"/>
          <a:ext cx="0" cy="0"/>
          <a:chOff x="0" y="0"/>
          <a:chExt cx="0" cy="0"/>
        </a:xfrm>
      </p:grpSpPr>
      <p:sp>
        <p:nvSpPr>
          <p:cNvPr id="406" name="Google Shape;406;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7" name="Google Shape;407;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08" name="Google Shape;408;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9" name="Shape 409"/>
        <p:cNvGrpSpPr/>
        <p:nvPr/>
      </p:nvGrpSpPr>
      <p:grpSpPr>
        <a:xfrm>
          <a:off x="0" y="0"/>
          <a:ext cx="0" cy="0"/>
          <a:chOff x="0" y="0"/>
          <a:chExt cx="0" cy="0"/>
        </a:xfrm>
      </p:grpSpPr>
      <p:sp>
        <p:nvSpPr>
          <p:cNvPr id="410" name="Google Shape;410;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1" name="Google Shape;411;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12" name="Shape 412"/>
        <p:cNvGrpSpPr/>
        <p:nvPr/>
      </p:nvGrpSpPr>
      <p:grpSpPr>
        <a:xfrm>
          <a:off x="0" y="0"/>
          <a:ext cx="0" cy="0"/>
          <a:chOff x="0" y="0"/>
          <a:chExt cx="0" cy="0"/>
        </a:xfrm>
      </p:grpSpPr>
      <p:sp>
        <p:nvSpPr>
          <p:cNvPr id="413" name="Google Shape;413;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14" name="Shape 414"/>
        <p:cNvGrpSpPr/>
        <p:nvPr/>
      </p:nvGrpSpPr>
      <p:grpSpPr>
        <a:xfrm>
          <a:off x="0" y="0"/>
          <a:ext cx="0" cy="0"/>
          <a:chOff x="0" y="0"/>
          <a:chExt cx="0" cy="0"/>
        </a:xfrm>
      </p:grpSpPr>
      <p:sp>
        <p:nvSpPr>
          <p:cNvPr id="415" name="Google Shape;41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6" name="Google Shape;416;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17" name="Shape 417"/>
        <p:cNvGrpSpPr/>
        <p:nvPr/>
      </p:nvGrpSpPr>
      <p:grpSpPr>
        <a:xfrm>
          <a:off x="0" y="0"/>
          <a:ext cx="0" cy="0"/>
          <a:chOff x="0" y="0"/>
          <a:chExt cx="0" cy="0"/>
        </a:xfrm>
      </p:grpSpPr>
      <p:sp>
        <p:nvSpPr>
          <p:cNvPr id="418" name="Google Shape;41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0" name="Google Shape;420;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1" name="Shape 421"/>
        <p:cNvGrpSpPr/>
        <p:nvPr/>
      </p:nvGrpSpPr>
      <p:grpSpPr>
        <a:xfrm>
          <a:off x="0" y="0"/>
          <a:ext cx="0" cy="0"/>
          <a:chOff x="0" y="0"/>
          <a:chExt cx="0" cy="0"/>
        </a:xfrm>
      </p:grpSpPr>
      <p:sp>
        <p:nvSpPr>
          <p:cNvPr id="422" name="Google Shape;42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23" name="Shape 423"/>
        <p:cNvGrpSpPr/>
        <p:nvPr/>
      </p:nvGrpSpPr>
      <p:grpSpPr>
        <a:xfrm>
          <a:off x="0" y="0"/>
          <a:ext cx="0" cy="0"/>
          <a:chOff x="0" y="0"/>
          <a:chExt cx="0" cy="0"/>
        </a:xfrm>
      </p:grpSpPr>
      <p:sp>
        <p:nvSpPr>
          <p:cNvPr id="424" name="Google Shape;424;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5" name="Google Shape;425;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26" name="Shape 426"/>
        <p:cNvGrpSpPr/>
        <p:nvPr/>
      </p:nvGrpSpPr>
      <p:grpSpPr>
        <a:xfrm>
          <a:off x="0" y="0"/>
          <a:ext cx="0" cy="0"/>
          <a:chOff x="0" y="0"/>
          <a:chExt cx="0" cy="0"/>
        </a:xfrm>
      </p:grpSpPr>
      <p:sp>
        <p:nvSpPr>
          <p:cNvPr id="427" name="Google Shape;427;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8" name="Shape 428"/>
        <p:cNvGrpSpPr/>
        <p:nvPr/>
      </p:nvGrpSpPr>
      <p:grpSpPr>
        <a:xfrm>
          <a:off x="0" y="0"/>
          <a:ext cx="0" cy="0"/>
          <a:chOff x="0" y="0"/>
          <a:chExt cx="0" cy="0"/>
        </a:xfrm>
      </p:grpSpPr>
      <p:sp>
        <p:nvSpPr>
          <p:cNvPr id="429" name="Google Shape;429;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0" name="Google Shape;430;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31" name="Google Shape;431;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2" name="Shape 432"/>
        <p:cNvGrpSpPr/>
        <p:nvPr/>
      </p:nvGrpSpPr>
      <p:grpSpPr>
        <a:xfrm>
          <a:off x="0" y="0"/>
          <a:ext cx="0" cy="0"/>
          <a:chOff x="0" y="0"/>
          <a:chExt cx="0" cy="0"/>
        </a:xfrm>
      </p:grpSpPr>
      <p:sp>
        <p:nvSpPr>
          <p:cNvPr id="433" name="Google Shape;43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34" name="Shape 434"/>
        <p:cNvGrpSpPr/>
        <p:nvPr/>
      </p:nvGrpSpPr>
      <p:grpSpPr>
        <a:xfrm>
          <a:off x="0" y="0"/>
          <a:ext cx="0" cy="0"/>
          <a:chOff x="0" y="0"/>
          <a:chExt cx="0" cy="0"/>
        </a:xfrm>
      </p:grpSpPr>
      <p:sp>
        <p:nvSpPr>
          <p:cNvPr id="435" name="Google Shape;435;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6" name="Google Shape;436;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7" name="Shape 43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4" name="Google Shape;444;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5" name="Google Shape;445;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9" name="Google Shape;449;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50" name="Shape 450"/>
        <p:cNvGrpSpPr/>
        <p:nvPr/>
      </p:nvGrpSpPr>
      <p:grpSpPr>
        <a:xfrm>
          <a:off x="0" y="0"/>
          <a:ext cx="0" cy="0"/>
          <a:chOff x="0" y="0"/>
          <a:chExt cx="0" cy="0"/>
        </a:xfrm>
      </p:grpSpPr>
      <p:sp>
        <p:nvSpPr>
          <p:cNvPr id="451" name="Google Shape;451;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3" name="Google Shape;453;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56" name="Shape 456"/>
        <p:cNvGrpSpPr/>
        <p:nvPr/>
      </p:nvGrpSpPr>
      <p:grpSpPr>
        <a:xfrm>
          <a:off x="0" y="0"/>
          <a:ext cx="0" cy="0"/>
          <a:chOff x="0" y="0"/>
          <a:chExt cx="0" cy="0"/>
        </a:xfrm>
      </p:grpSpPr>
      <p:sp>
        <p:nvSpPr>
          <p:cNvPr id="457" name="Google Shape;457;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8" name="Google Shape;458;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60" name="Google Shape;460;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1" name="Google Shape;461;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2" name="Google Shape;462;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64" name="Shape 464"/>
        <p:cNvGrpSpPr/>
        <p:nvPr/>
      </p:nvGrpSpPr>
      <p:grpSpPr>
        <a:xfrm>
          <a:off x="0" y="0"/>
          <a:ext cx="0" cy="0"/>
          <a:chOff x="0" y="0"/>
          <a:chExt cx="0" cy="0"/>
        </a:xfrm>
      </p:grpSpPr>
      <p:sp>
        <p:nvSpPr>
          <p:cNvPr id="465" name="Google Shape;465;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6" name="Google Shape;466;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8" name="Google Shape;468;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9" name="Google Shape;469;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70" name="Google Shape;470;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1" name="Google Shape;471;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3" name="Google Shape;473;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74" name="Shape 474"/>
        <p:cNvGrpSpPr/>
        <p:nvPr/>
      </p:nvGrpSpPr>
      <p:grpSpPr>
        <a:xfrm>
          <a:off x="0" y="0"/>
          <a:ext cx="0" cy="0"/>
          <a:chOff x="0" y="0"/>
          <a:chExt cx="0" cy="0"/>
        </a:xfrm>
      </p:grpSpPr>
      <p:sp>
        <p:nvSpPr>
          <p:cNvPr id="475" name="Google Shape;47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77" name="Shape 477"/>
        <p:cNvGrpSpPr/>
        <p:nvPr/>
      </p:nvGrpSpPr>
      <p:grpSpPr>
        <a:xfrm>
          <a:off x="0" y="0"/>
          <a:ext cx="0" cy="0"/>
          <a:chOff x="0" y="0"/>
          <a:chExt cx="0" cy="0"/>
        </a:xfrm>
      </p:grpSpPr>
      <p:sp>
        <p:nvSpPr>
          <p:cNvPr id="478" name="Google Shape;478;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9" name="Google Shape;479;p63"/>
          <p:cNvSpPr/>
          <p:nvPr>
            <p:ph idx="2" type="pic"/>
          </p:nvPr>
        </p:nvSpPr>
        <p:spPr>
          <a:xfrm>
            <a:off x="4804825" y="1133300"/>
            <a:ext cx="4027500" cy="2392800"/>
          </a:xfrm>
          <a:prstGeom prst="rect">
            <a:avLst/>
          </a:prstGeom>
          <a:noFill/>
          <a:ln>
            <a:noFill/>
          </a:ln>
        </p:spPr>
      </p:sp>
      <p:sp>
        <p:nvSpPr>
          <p:cNvPr id="480" name="Google Shape;480;p63"/>
          <p:cNvSpPr/>
          <p:nvPr>
            <p:ph idx="3" type="pic"/>
          </p:nvPr>
        </p:nvSpPr>
        <p:spPr>
          <a:xfrm>
            <a:off x="311725" y="1133300"/>
            <a:ext cx="4027500" cy="2392800"/>
          </a:xfrm>
          <a:prstGeom prst="rect">
            <a:avLst/>
          </a:prstGeom>
          <a:noFill/>
          <a:ln>
            <a:noFill/>
          </a:ln>
        </p:spPr>
      </p:sp>
      <p:sp>
        <p:nvSpPr>
          <p:cNvPr id="481" name="Google Shape;481;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4" name="Google Shape;48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85" name="Shape 485"/>
        <p:cNvGrpSpPr/>
        <p:nvPr/>
      </p:nvGrpSpPr>
      <p:grpSpPr>
        <a:xfrm>
          <a:off x="0" y="0"/>
          <a:ext cx="0" cy="0"/>
          <a:chOff x="0" y="0"/>
          <a:chExt cx="0" cy="0"/>
        </a:xfrm>
      </p:grpSpPr>
      <p:sp>
        <p:nvSpPr>
          <p:cNvPr id="486" name="Google Shape;486;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7" name="Google Shape;487;p64"/>
          <p:cNvSpPr/>
          <p:nvPr>
            <p:ph idx="2" type="pic"/>
          </p:nvPr>
        </p:nvSpPr>
        <p:spPr>
          <a:xfrm>
            <a:off x="6205225" y="1128325"/>
            <a:ext cx="2627100" cy="2273100"/>
          </a:xfrm>
          <a:prstGeom prst="rect">
            <a:avLst/>
          </a:prstGeom>
          <a:noFill/>
          <a:ln>
            <a:noFill/>
          </a:ln>
        </p:spPr>
      </p:sp>
      <p:sp>
        <p:nvSpPr>
          <p:cNvPr id="488" name="Google Shape;488;p64"/>
          <p:cNvSpPr/>
          <p:nvPr>
            <p:ph idx="3" type="pic"/>
          </p:nvPr>
        </p:nvSpPr>
        <p:spPr>
          <a:xfrm>
            <a:off x="311725" y="1128325"/>
            <a:ext cx="2627100" cy="2273100"/>
          </a:xfrm>
          <a:prstGeom prst="rect">
            <a:avLst/>
          </a:prstGeom>
          <a:noFill/>
          <a:ln>
            <a:noFill/>
          </a:ln>
        </p:spPr>
      </p:sp>
      <p:sp>
        <p:nvSpPr>
          <p:cNvPr id="489" name="Google Shape;48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0" name="Google Shape;490;p64"/>
          <p:cNvSpPr/>
          <p:nvPr>
            <p:ph idx="5" type="pic"/>
          </p:nvPr>
        </p:nvSpPr>
        <p:spPr>
          <a:xfrm>
            <a:off x="3255250" y="1128325"/>
            <a:ext cx="2627100" cy="2273100"/>
          </a:xfrm>
          <a:prstGeom prst="rect">
            <a:avLst/>
          </a:prstGeom>
          <a:noFill/>
          <a:ln>
            <a:noFill/>
          </a:ln>
        </p:spPr>
      </p:sp>
      <p:sp>
        <p:nvSpPr>
          <p:cNvPr id="491" name="Google Shape;49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2" name="Google Shape;492;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4" name="Google Shape;494;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5" name="Google Shape;495;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96" name="Shape 496"/>
        <p:cNvGrpSpPr/>
        <p:nvPr/>
      </p:nvGrpSpPr>
      <p:grpSpPr>
        <a:xfrm>
          <a:off x="0" y="0"/>
          <a:ext cx="0" cy="0"/>
          <a:chOff x="0" y="0"/>
          <a:chExt cx="0" cy="0"/>
        </a:xfrm>
      </p:grpSpPr>
      <p:sp>
        <p:nvSpPr>
          <p:cNvPr id="497" name="Google Shape;497;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8" name="Shape 498"/>
        <p:cNvGrpSpPr/>
        <p:nvPr/>
      </p:nvGrpSpPr>
      <p:grpSpPr>
        <a:xfrm>
          <a:off x="0" y="0"/>
          <a:ext cx="0" cy="0"/>
          <a:chOff x="0" y="0"/>
          <a:chExt cx="0" cy="0"/>
        </a:xfrm>
      </p:grpSpPr>
      <p:sp>
        <p:nvSpPr>
          <p:cNvPr id="499" name="Google Shape;499;p66"/>
          <p:cNvSpPr/>
          <p:nvPr>
            <p:ph idx="2" type="pic"/>
          </p:nvPr>
        </p:nvSpPr>
        <p:spPr>
          <a:xfrm>
            <a:off x="3389600" y="118913"/>
            <a:ext cx="1643700" cy="1535100"/>
          </a:xfrm>
          <a:prstGeom prst="rect">
            <a:avLst/>
          </a:prstGeom>
          <a:noFill/>
          <a:ln>
            <a:noFill/>
          </a:ln>
        </p:spPr>
      </p:sp>
      <p:sp>
        <p:nvSpPr>
          <p:cNvPr id="500" name="Google Shape;500;p66"/>
          <p:cNvSpPr/>
          <p:nvPr>
            <p:ph idx="3" type="pic"/>
          </p:nvPr>
        </p:nvSpPr>
        <p:spPr>
          <a:xfrm>
            <a:off x="5195935" y="118913"/>
            <a:ext cx="1643700" cy="1535100"/>
          </a:xfrm>
          <a:prstGeom prst="rect">
            <a:avLst/>
          </a:prstGeom>
          <a:noFill/>
          <a:ln>
            <a:noFill/>
          </a:ln>
        </p:spPr>
      </p:sp>
      <p:sp>
        <p:nvSpPr>
          <p:cNvPr id="501" name="Google Shape;501;p66"/>
          <p:cNvSpPr/>
          <p:nvPr>
            <p:ph idx="4" type="pic"/>
          </p:nvPr>
        </p:nvSpPr>
        <p:spPr>
          <a:xfrm>
            <a:off x="7002270" y="118913"/>
            <a:ext cx="1643700" cy="1535100"/>
          </a:xfrm>
          <a:prstGeom prst="rect">
            <a:avLst/>
          </a:prstGeom>
          <a:noFill/>
          <a:ln>
            <a:noFill/>
          </a:ln>
        </p:spPr>
      </p:sp>
      <p:sp>
        <p:nvSpPr>
          <p:cNvPr id="502" name="Google Shape;502;p66"/>
          <p:cNvSpPr/>
          <p:nvPr>
            <p:ph idx="5" type="pic"/>
          </p:nvPr>
        </p:nvSpPr>
        <p:spPr>
          <a:xfrm>
            <a:off x="3389588" y="1804212"/>
            <a:ext cx="1643700" cy="1535100"/>
          </a:xfrm>
          <a:prstGeom prst="rect">
            <a:avLst/>
          </a:prstGeom>
          <a:noFill/>
          <a:ln>
            <a:noFill/>
          </a:ln>
        </p:spPr>
      </p:sp>
      <p:sp>
        <p:nvSpPr>
          <p:cNvPr id="503" name="Google Shape;503;p66"/>
          <p:cNvSpPr/>
          <p:nvPr>
            <p:ph idx="6" type="pic"/>
          </p:nvPr>
        </p:nvSpPr>
        <p:spPr>
          <a:xfrm>
            <a:off x="5195922" y="1804212"/>
            <a:ext cx="1643700" cy="1535100"/>
          </a:xfrm>
          <a:prstGeom prst="rect">
            <a:avLst/>
          </a:prstGeom>
          <a:noFill/>
          <a:ln>
            <a:noFill/>
          </a:ln>
        </p:spPr>
      </p:sp>
      <p:sp>
        <p:nvSpPr>
          <p:cNvPr id="504" name="Google Shape;504;p66"/>
          <p:cNvSpPr/>
          <p:nvPr>
            <p:ph idx="7" type="pic"/>
          </p:nvPr>
        </p:nvSpPr>
        <p:spPr>
          <a:xfrm>
            <a:off x="7002257" y="1804212"/>
            <a:ext cx="1643700" cy="1535100"/>
          </a:xfrm>
          <a:prstGeom prst="rect">
            <a:avLst/>
          </a:prstGeom>
          <a:noFill/>
          <a:ln>
            <a:noFill/>
          </a:ln>
        </p:spPr>
      </p:sp>
      <p:sp>
        <p:nvSpPr>
          <p:cNvPr id="505" name="Google Shape;505;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66"/>
          <p:cNvSpPr/>
          <p:nvPr>
            <p:ph idx="8" type="pic"/>
          </p:nvPr>
        </p:nvSpPr>
        <p:spPr>
          <a:xfrm>
            <a:off x="3389588" y="3489487"/>
            <a:ext cx="1643700" cy="1535100"/>
          </a:xfrm>
          <a:prstGeom prst="rect">
            <a:avLst/>
          </a:prstGeom>
          <a:noFill/>
          <a:ln>
            <a:noFill/>
          </a:ln>
        </p:spPr>
      </p:sp>
      <p:sp>
        <p:nvSpPr>
          <p:cNvPr id="507" name="Google Shape;507;p66"/>
          <p:cNvSpPr/>
          <p:nvPr>
            <p:ph idx="9" type="pic"/>
          </p:nvPr>
        </p:nvSpPr>
        <p:spPr>
          <a:xfrm>
            <a:off x="5195922" y="3489487"/>
            <a:ext cx="1643700" cy="1535100"/>
          </a:xfrm>
          <a:prstGeom prst="rect">
            <a:avLst/>
          </a:prstGeom>
          <a:noFill/>
          <a:ln>
            <a:noFill/>
          </a:ln>
        </p:spPr>
      </p:sp>
      <p:sp>
        <p:nvSpPr>
          <p:cNvPr id="508" name="Google Shape;508;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52" name="Google Shape;52;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hyperlink" Target="https://networkx.org/documentation/stable/auto_examples/graph/plot_karate_club.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hyperlink" Target="https://scikit-learn.org/stable/modules/generated/sklearn.metrics.normalized_mutual_info_score.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hyperlink" Target="https://scikit-learn.org/stable/modules/generated/sklearn.metrics.adjusted_rand_score.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hyperlink" Target="http://drive.google.com/file/d/1Wqly39Ffb3oPyoc65qMNohOjsdG888kG/view" TargetMode="Externa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7"/>
          <p:cNvSpPr txBox="1"/>
          <p:nvPr>
            <p:ph type="title"/>
          </p:nvPr>
        </p:nvSpPr>
        <p:spPr>
          <a:xfrm>
            <a:off x="702300" y="872000"/>
            <a:ext cx="7833300" cy="76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Louvain vs. Label Propagation</a:t>
            </a:r>
            <a:endParaRPr b="1"/>
          </a:p>
        </p:txBody>
      </p:sp>
      <p:sp>
        <p:nvSpPr>
          <p:cNvPr id="514" name="Google Shape;514;p67"/>
          <p:cNvSpPr txBox="1"/>
          <p:nvPr>
            <p:ph idx="1" type="subTitle"/>
          </p:nvPr>
        </p:nvSpPr>
        <p:spPr>
          <a:xfrm>
            <a:off x="1930500" y="1612800"/>
            <a:ext cx="52830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Thomas Eden, Nathan Ferguson, Erick Luna</a:t>
            </a:r>
            <a:endParaRPr sz="2000"/>
          </a:p>
        </p:txBody>
      </p:sp>
      <p:sp>
        <p:nvSpPr>
          <p:cNvPr id="515" name="Google Shape;515;p67"/>
          <p:cNvSpPr txBox="1"/>
          <p:nvPr>
            <p:ph idx="3" type="body"/>
          </p:nvPr>
        </p:nvSpPr>
        <p:spPr>
          <a:xfrm>
            <a:off x="2872650" y="2219787"/>
            <a:ext cx="3492600" cy="29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300"/>
              <a:t>COMP-5130: Data Mining - Fall 2025</a:t>
            </a:r>
            <a:endParaRPr sz="1300"/>
          </a:p>
        </p:txBody>
      </p:sp>
      <p:pic>
        <p:nvPicPr>
          <p:cNvPr id="516" name="Google Shape;516;p67" title="OIP.jpg" descr="The cover art for the forthcoming album, ' dark mind '"/>
          <p:cNvPicPr preferRelativeResize="0"/>
          <p:nvPr/>
        </p:nvPicPr>
        <p:blipFill>
          <a:blip r:embed="rId3">
            <a:alphaModFix/>
          </a:blip>
          <a:stretch>
            <a:fillRect/>
          </a:stretch>
        </p:blipFill>
        <p:spPr>
          <a:xfrm>
            <a:off x="329550" y="2889150"/>
            <a:ext cx="4000500" cy="2095500"/>
          </a:xfrm>
          <a:prstGeom prst="rect">
            <a:avLst/>
          </a:prstGeom>
          <a:noFill/>
          <a:ln>
            <a:noFill/>
          </a:ln>
        </p:spPr>
      </p:pic>
      <p:pic>
        <p:nvPicPr>
          <p:cNvPr id="517" name="Google Shape;517;p67" title="OIP.jpg" descr="A clock with arrows around it"/>
          <p:cNvPicPr preferRelativeResize="0"/>
          <p:nvPr/>
        </p:nvPicPr>
        <p:blipFill>
          <a:blip r:embed="rId4">
            <a:alphaModFix/>
          </a:blip>
          <a:stretch>
            <a:fillRect/>
          </a:stretch>
        </p:blipFill>
        <p:spPr>
          <a:xfrm>
            <a:off x="5509150" y="2918425"/>
            <a:ext cx="3143250" cy="2095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8"/>
          <p:cNvSpPr txBox="1"/>
          <p:nvPr>
            <p:ph type="title"/>
          </p:nvPr>
        </p:nvSpPr>
        <p:spPr>
          <a:xfrm>
            <a:off x="127200" y="923250"/>
            <a:ext cx="42939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3200">
                <a:solidFill>
                  <a:schemeClr val="dk1"/>
                </a:solidFill>
              </a:rPr>
              <a:t>Community Detection</a:t>
            </a:r>
            <a:endParaRPr b="1" sz="3200">
              <a:solidFill>
                <a:schemeClr val="dk1"/>
              </a:solidFill>
            </a:endParaRPr>
          </a:p>
        </p:txBody>
      </p:sp>
      <p:sp>
        <p:nvSpPr>
          <p:cNvPr id="523" name="Google Shape;523;p68"/>
          <p:cNvSpPr txBox="1"/>
          <p:nvPr>
            <p:ph idx="3" type="body"/>
          </p:nvPr>
        </p:nvSpPr>
        <p:spPr>
          <a:xfrm>
            <a:off x="277950" y="1648550"/>
            <a:ext cx="3992400" cy="2511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lang="en" sz="1300">
                <a:solidFill>
                  <a:srgbClr val="FFFFFF"/>
                </a:solidFill>
              </a:rPr>
              <a:t>Community detection is a graph-based clustering method used to identify subgroups of nodes that tend to have stronger connections than the rest of the network. It is seen as an unsupervised learning process because this algorithm needs to discover hidden clusters of unlabelled data without using any pre-assigned labels.</a:t>
            </a:r>
            <a:endParaRPr sz="1400">
              <a:solidFill>
                <a:srgbClr val="FFFFFF"/>
              </a:solidFill>
            </a:endParaRPr>
          </a:p>
        </p:txBody>
      </p:sp>
      <p:pic>
        <p:nvPicPr>
          <p:cNvPr id="524" name="Google Shape;524;p68" title="61e38600-14f7-11ea-91fb-52c940f78de5.png" descr="A network of colored dots"/>
          <p:cNvPicPr preferRelativeResize="0"/>
          <p:nvPr/>
        </p:nvPicPr>
        <p:blipFill>
          <a:blip r:embed="rId3">
            <a:alphaModFix/>
          </a:blip>
          <a:stretch>
            <a:fillRect/>
          </a:stretch>
        </p:blipFill>
        <p:spPr>
          <a:xfrm>
            <a:off x="4861350" y="142549"/>
            <a:ext cx="3882900" cy="2499167"/>
          </a:xfrm>
          <a:prstGeom prst="rect">
            <a:avLst/>
          </a:prstGeom>
          <a:noFill/>
          <a:ln>
            <a:noFill/>
          </a:ln>
        </p:spPr>
      </p:pic>
      <p:pic>
        <p:nvPicPr>
          <p:cNvPr id="525" name="Google Shape;525;p68" title="figure1.png" descr="A diagram showing the different types of the network"/>
          <p:cNvPicPr preferRelativeResize="0"/>
          <p:nvPr/>
        </p:nvPicPr>
        <p:blipFill>
          <a:blip r:embed="rId4">
            <a:alphaModFix/>
          </a:blip>
          <a:stretch>
            <a:fillRect/>
          </a:stretch>
        </p:blipFill>
        <p:spPr>
          <a:xfrm>
            <a:off x="4861352" y="2803775"/>
            <a:ext cx="3882886" cy="2136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9"/>
          <p:cNvSpPr txBox="1"/>
          <p:nvPr>
            <p:ph type="title"/>
          </p:nvPr>
        </p:nvSpPr>
        <p:spPr>
          <a:xfrm>
            <a:off x="438000" y="550188"/>
            <a:ext cx="37836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3200">
                <a:solidFill>
                  <a:schemeClr val="dk1"/>
                </a:solidFill>
              </a:rPr>
              <a:t>Karate Club Graph</a:t>
            </a:r>
            <a:endParaRPr b="1" sz="3200">
              <a:solidFill>
                <a:schemeClr val="dk1"/>
              </a:solidFill>
            </a:endParaRPr>
          </a:p>
        </p:txBody>
      </p:sp>
      <p:sp>
        <p:nvSpPr>
          <p:cNvPr id="531" name="Google Shape;531;p69"/>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2" name="Google Shape;532;p69"/>
          <p:cNvSpPr txBox="1"/>
          <p:nvPr>
            <p:ph idx="3" type="body"/>
          </p:nvPr>
        </p:nvSpPr>
        <p:spPr>
          <a:xfrm>
            <a:off x="351600" y="1186500"/>
            <a:ext cx="4144200" cy="2799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lang="en" sz="1300">
                <a:solidFill>
                  <a:srgbClr val="FFFFFF"/>
                </a:solidFill>
              </a:rPr>
              <a:t>The Karate Club graph (also known as Zachary’s Karate Club) is a standard network dataset that was studied by Wayne W. Zachary from 1970 to 1972. It consists of 34 nodes that represent members of a karate club and 78 edges that represent the interactions between members. The karate club eventually split into two opposing groups: Mr. Hi vs. Officer. These groups serve as real-world ground-truth communities, and due to its structure and size, it is a well-known dataset that has been used to test community detection algorithms such as Louvain and Label Propagation.</a:t>
            </a:r>
            <a:endParaRPr sz="1300">
              <a:solidFill>
                <a:srgbClr val="FFFFFF"/>
              </a:solidFill>
            </a:endParaRPr>
          </a:p>
        </p:txBody>
      </p:sp>
      <p:pic>
        <p:nvPicPr>
          <p:cNvPr id="533" name="Google Shape;533;p69" title="sphx_glr_plot_karate_club_001.png" descr="A network diagram with blue circles and numbers"/>
          <p:cNvPicPr preferRelativeResize="0"/>
          <p:nvPr/>
        </p:nvPicPr>
        <p:blipFill>
          <a:blip r:embed="rId3">
            <a:alphaModFix/>
          </a:blip>
          <a:stretch>
            <a:fillRect/>
          </a:stretch>
        </p:blipFill>
        <p:spPr>
          <a:xfrm>
            <a:off x="4918950" y="1065600"/>
            <a:ext cx="4016400" cy="3012300"/>
          </a:xfrm>
          <a:prstGeom prst="rect">
            <a:avLst/>
          </a:prstGeom>
          <a:noFill/>
          <a:ln>
            <a:noFill/>
          </a:ln>
        </p:spPr>
      </p:pic>
      <p:sp>
        <p:nvSpPr>
          <p:cNvPr id="534" name="Google Shape;534;p69"/>
          <p:cNvSpPr txBox="1"/>
          <p:nvPr/>
        </p:nvSpPr>
        <p:spPr>
          <a:xfrm>
            <a:off x="274200" y="3882650"/>
            <a:ext cx="4111200" cy="66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u="sng">
                <a:solidFill>
                  <a:srgbClr val="C27BA0"/>
                </a:solidFill>
                <a:latin typeface="Newsreader"/>
                <a:ea typeface="Newsreader"/>
                <a:cs typeface="Newsreader"/>
                <a:sym typeface="Newsreader"/>
                <a:hlinkClick r:id="rId4">
                  <a:extLst>
                    <a:ext uri="{A12FA001-AC4F-418D-AE19-62706E023703}">
                      <ahyp:hlinkClr val="tx"/>
                    </a:ext>
                  </a:extLst>
                </a:hlinkClick>
              </a:rPr>
              <a:t>https://networkx.org/documentation/stable/auto_examples/graph/plot_karate_club.html</a:t>
            </a:r>
            <a:endParaRPr sz="1300">
              <a:solidFill>
                <a:srgbClr val="C27BA0"/>
              </a:solidFill>
              <a:latin typeface="Newsreader"/>
              <a:ea typeface="Newsreader"/>
              <a:cs typeface="Newsreader"/>
              <a:sym typeface="Newsreader"/>
            </a:endParaRPr>
          </a:p>
          <a:p>
            <a:pPr indent="0" lvl="0" marL="0" rtl="0" algn="l">
              <a:lnSpc>
                <a:spcPct val="115000"/>
              </a:lnSpc>
              <a:spcBef>
                <a:spcPts val="1200"/>
              </a:spcBef>
              <a:spcAft>
                <a:spcPts val="0"/>
              </a:spcAft>
              <a:buNone/>
            </a:pPr>
            <a:r>
              <a:t/>
            </a:r>
            <a:endParaRPr sz="1300">
              <a:solidFill>
                <a:schemeClr val="lt1"/>
              </a:solidFill>
              <a:latin typeface="Newsreader"/>
              <a:ea typeface="Newsreader"/>
              <a:cs typeface="Newsreader"/>
              <a:sym typeface="Newsreader"/>
            </a:endParaRPr>
          </a:p>
          <a:p>
            <a:pPr indent="0" lvl="0" marL="0" rtl="0" algn="l">
              <a:lnSpc>
                <a:spcPct val="115000"/>
              </a:lnSpc>
              <a:spcBef>
                <a:spcPts val="1200"/>
              </a:spcBef>
              <a:spcAft>
                <a:spcPts val="1200"/>
              </a:spcAft>
              <a:buNone/>
            </a:pPr>
            <a:r>
              <a:t/>
            </a:r>
            <a:endParaRPr sz="1300">
              <a:solidFill>
                <a:schemeClr val="lt1"/>
              </a:solidFill>
              <a:latin typeface="Newsreader"/>
              <a:ea typeface="Newsreader"/>
              <a:cs typeface="Newsreader"/>
              <a:sym typeface="Newsread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pic>
        <p:nvPicPr>
          <p:cNvPr descr="A close-up of a modern glass structure. " id="539" name="Google Shape;539;p70"/>
          <p:cNvPicPr preferRelativeResize="0"/>
          <p:nvPr/>
        </p:nvPicPr>
        <p:blipFill rotWithShape="1">
          <a:blip r:embed="rId3">
            <a:alphaModFix/>
          </a:blip>
          <a:srcRect b="79" l="21736" r="19116" t="0"/>
          <a:stretch/>
        </p:blipFill>
        <p:spPr>
          <a:xfrm>
            <a:off x="4587725" y="-8750"/>
            <a:ext cx="4572001" cy="5148074"/>
          </a:xfrm>
          <a:prstGeom prst="rect">
            <a:avLst/>
          </a:prstGeom>
          <a:noFill/>
          <a:ln>
            <a:noFill/>
          </a:ln>
        </p:spPr>
      </p:pic>
      <p:sp>
        <p:nvSpPr>
          <p:cNvPr id="540" name="Google Shape;540;p70"/>
          <p:cNvSpPr txBox="1"/>
          <p:nvPr>
            <p:ph type="title"/>
          </p:nvPr>
        </p:nvSpPr>
        <p:spPr>
          <a:xfrm>
            <a:off x="399750" y="693950"/>
            <a:ext cx="3860100" cy="637500"/>
          </a:xfrm>
          <a:prstGeom prst="rect">
            <a:avLst/>
          </a:prstGeom>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b="1" lang="en" sz="3200"/>
              <a:t>Louvain Algorithm</a:t>
            </a:r>
            <a:endParaRPr b="1"/>
          </a:p>
        </p:txBody>
      </p:sp>
      <p:sp>
        <p:nvSpPr>
          <p:cNvPr id="541" name="Google Shape;541;p70"/>
          <p:cNvSpPr txBox="1"/>
          <p:nvPr>
            <p:ph idx="3" type="body"/>
          </p:nvPr>
        </p:nvSpPr>
        <p:spPr>
          <a:xfrm>
            <a:off x="557850" y="1331450"/>
            <a:ext cx="3731700" cy="2232300"/>
          </a:xfrm>
          <a:prstGeom prst="rect">
            <a:avLst/>
          </a:prstGeom>
        </p:spPr>
        <p:txBody>
          <a:bodyPr anchorCtr="0" anchor="b" bIns="91425" lIns="91425" spcFirstLastPara="1" rIns="91425" wrap="square" tIns="91425">
            <a:noAutofit/>
          </a:bodyPr>
          <a:lstStyle/>
          <a:p>
            <a:pPr indent="0" lvl="0" marL="0" rtl="0" algn="l">
              <a:spcBef>
                <a:spcPts val="0"/>
              </a:spcBef>
              <a:spcAft>
                <a:spcPts val="1200"/>
              </a:spcAft>
              <a:buNone/>
            </a:pPr>
            <a:r>
              <a:rPr lang="en" sz="1300">
                <a:solidFill>
                  <a:srgbClr val="FFFFFF"/>
                </a:solidFill>
                <a:latin typeface="Newsreader"/>
                <a:ea typeface="Newsreader"/>
                <a:cs typeface="Newsreader"/>
                <a:sym typeface="Newsreader"/>
              </a:rPr>
              <a:t>The Louvain algorithm is a modularity-based method that is used for community detection. It starts by placing each node into a community that best increases the modularity of the network. Then, these communities are grouped into super nodes. This process is repeated until modularity stops improving. Louvain is a commonly used algorithm because of its fast and scalable ability to make partitions with high modularity scores.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pic>
        <p:nvPicPr>
          <p:cNvPr descr="A close-up of a modern glass structure. " id="546" name="Google Shape;546;p71"/>
          <p:cNvPicPr preferRelativeResize="0"/>
          <p:nvPr/>
        </p:nvPicPr>
        <p:blipFill rotWithShape="1">
          <a:blip r:embed="rId3">
            <a:alphaModFix/>
          </a:blip>
          <a:srcRect b="79" l="21736" r="19116" t="0"/>
          <a:stretch/>
        </p:blipFill>
        <p:spPr>
          <a:xfrm>
            <a:off x="4587725" y="-8750"/>
            <a:ext cx="4572001" cy="5148074"/>
          </a:xfrm>
          <a:prstGeom prst="rect">
            <a:avLst/>
          </a:prstGeom>
          <a:noFill/>
          <a:ln>
            <a:noFill/>
          </a:ln>
        </p:spPr>
      </p:pic>
      <p:sp>
        <p:nvSpPr>
          <p:cNvPr id="547" name="Google Shape;547;p71"/>
          <p:cNvSpPr txBox="1"/>
          <p:nvPr>
            <p:ph type="title"/>
          </p:nvPr>
        </p:nvSpPr>
        <p:spPr>
          <a:xfrm>
            <a:off x="361975" y="582600"/>
            <a:ext cx="3860100" cy="1218900"/>
          </a:xfrm>
          <a:prstGeom prst="rect">
            <a:avLst/>
          </a:prstGeom>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b="1" lang="en" sz="3200"/>
              <a:t>Label Propagation Algorithm</a:t>
            </a:r>
            <a:endParaRPr b="1"/>
          </a:p>
        </p:txBody>
      </p:sp>
      <p:sp>
        <p:nvSpPr>
          <p:cNvPr id="548" name="Google Shape;548;p71"/>
          <p:cNvSpPr txBox="1"/>
          <p:nvPr>
            <p:ph idx="3" type="body"/>
          </p:nvPr>
        </p:nvSpPr>
        <p:spPr>
          <a:xfrm>
            <a:off x="399750" y="1788750"/>
            <a:ext cx="3860100" cy="2910300"/>
          </a:xfrm>
          <a:prstGeom prst="rect">
            <a:avLst/>
          </a:prstGeom>
        </p:spPr>
        <p:txBody>
          <a:bodyPr anchorCtr="0" anchor="b" bIns="91425" lIns="91425" spcFirstLastPara="1" rIns="91425" wrap="square" tIns="91425">
            <a:noAutofit/>
          </a:bodyPr>
          <a:lstStyle/>
          <a:p>
            <a:pPr indent="0" lvl="0" marL="0" rtl="0" algn="l">
              <a:spcBef>
                <a:spcPts val="0"/>
              </a:spcBef>
              <a:spcAft>
                <a:spcPts val="1200"/>
              </a:spcAft>
              <a:buNone/>
            </a:pPr>
            <a:r>
              <a:rPr lang="en" sz="1300">
                <a:solidFill>
                  <a:srgbClr val="FFFFFF"/>
                </a:solidFill>
                <a:latin typeface="Newsreader"/>
                <a:ea typeface="Newsreader"/>
                <a:cs typeface="Newsreader"/>
                <a:sym typeface="Newsreader"/>
              </a:rPr>
              <a:t>The Label Propagation algorithm (LPA) is a fast method used for community detection. Each node starts with a unique label, and in each iteration, nodes change their label to match the most common label from their neighbors. As labels spread (propagate) throughout the graph, strong connections are formed between groups of nodes with the same label. This process is repeated until all labels are stabilized. LPA is a commonly used algorithm because it doesn’t need an optimization function, which makes the model run quickly and be able to handle large graphs of data.</a:t>
            </a:r>
            <a:endParaRPr sz="800">
              <a:solidFill>
                <a:srgbClr val="FFFFFF"/>
              </a:solidFill>
              <a:latin typeface="Newsreader Light"/>
              <a:ea typeface="Newsreader Light"/>
              <a:cs typeface="Newsreader Light"/>
              <a:sym typeface="Newsreader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2"/>
          <p:cNvSpPr/>
          <p:nvPr/>
        </p:nvSpPr>
        <p:spPr>
          <a:xfrm>
            <a:off x="4525050" y="0"/>
            <a:ext cx="4679400" cy="51435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554" name="Google Shape;554;p72" title="modularity-graph-database-1.png" descr="Three different types of neural neurals"/>
          <p:cNvPicPr preferRelativeResize="0"/>
          <p:nvPr>
            <p:ph idx="2" type="pic"/>
          </p:nvPr>
        </p:nvPicPr>
        <p:blipFill>
          <a:blip r:embed="rId3">
            <a:alphaModFix/>
          </a:blip>
          <a:stretch>
            <a:fillRect/>
          </a:stretch>
        </p:blipFill>
        <p:spPr>
          <a:xfrm>
            <a:off x="4655825" y="1148350"/>
            <a:ext cx="4404350" cy="2846800"/>
          </a:xfrm>
          <a:prstGeom prst="rect">
            <a:avLst/>
          </a:prstGeom>
        </p:spPr>
      </p:pic>
      <p:sp>
        <p:nvSpPr>
          <p:cNvPr id="555" name="Google Shape;555;p72"/>
          <p:cNvSpPr txBox="1"/>
          <p:nvPr>
            <p:ph type="title"/>
          </p:nvPr>
        </p:nvSpPr>
        <p:spPr>
          <a:xfrm>
            <a:off x="399750" y="369300"/>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t>Modularity</a:t>
            </a:r>
            <a:endParaRPr b="1" sz="3200"/>
          </a:p>
        </p:txBody>
      </p:sp>
      <p:sp>
        <p:nvSpPr>
          <p:cNvPr id="556" name="Google Shape;556;p72"/>
          <p:cNvSpPr txBox="1"/>
          <p:nvPr>
            <p:ph idx="3" type="body"/>
          </p:nvPr>
        </p:nvSpPr>
        <p:spPr>
          <a:xfrm>
            <a:off x="583500" y="1066099"/>
            <a:ext cx="3492600" cy="39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Newsreader Light"/>
                <a:ea typeface="Newsreader Light"/>
                <a:cs typeface="Newsreader Light"/>
                <a:sym typeface="Newsreader Light"/>
              </a:rPr>
              <a:t>Modularity (Q) is a measure of how well a network is partitioned into </a:t>
            </a:r>
            <a:r>
              <a:rPr lang="en">
                <a:latin typeface="Newsreader Light"/>
                <a:ea typeface="Newsreader Light"/>
                <a:cs typeface="Newsreader Light"/>
                <a:sym typeface="Newsreader Light"/>
              </a:rPr>
              <a:t>communities. It does this by comparing the actual edges in a community to the expected edges in the community if the edges were random. The higher the modularity the more dense the inside of communities are but the more spare each community is form another one. </a:t>
            </a:r>
            <a:endParaRPr>
              <a:latin typeface="Newsreader Light"/>
              <a:ea typeface="Newsreader Light"/>
              <a:cs typeface="Newsreader Light"/>
              <a:sym typeface="Newsreader Light"/>
            </a:endParaRPr>
          </a:p>
          <a:p>
            <a:pPr indent="0" lvl="0" marL="0" rtl="0" algn="l">
              <a:spcBef>
                <a:spcPts val="800"/>
              </a:spcBef>
              <a:spcAft>
                <a:spcPts val="0"/>
              </a:spcAft>
              <a:buNone/>
            </a:pPr>
            <a:r>
              <a:rPr lang="en">
                <a:latin typeface="Newsreader Light"/>
                <a:ea typeface="Newsreader Light"/>
                <a:cs typeface="Newsreader Light"/>
                <a:sym typeface="Newsreader Light"/>
              </a:rPr>
              <a:t>The function for Modularity(Q) is :</a:t>
            </a:r>
            <a:endParaRPr>
              <a:latin typeface="Newsreader Light"/>
              <a:ea typeface="Newsreader Light"/>
              <a:cs typeface="Newsreader Light"/>
              <a:sym typeface="Newsreader Light"/>
            </a:endParaRPr>
          </a:p>
          <a:p>
            <a:pPr indent="0" lvl="0" marL="0" rtl="0" algn="l">
              <a:spcBef>
                <a:spcPts val="800"/>
              </a:spcBef>
              <a:spcAft>
                <a:spcPts val="0"/>
              </a:spcAft>
              <a:buNone/>
            </a:pPr>
            <a:r>
              <a:t/>
            </a:r>
            <a:endParaRPr>
              <a:latin typeface="Newsreader Light"/>
              <a:ea typeface="Newsreader Light"/>
              <a:cs typeface="Newsreader Light"/>
              <a:sym typeface="Newsreader Light"/>
            </a:endParaRPr>
          </a:p>
          <a:p>
            <a:pPr indent="0" lvl="0" marL="0" rtl="0" algn="l">
              <a:spcBef>
                <a:spcPts val="800"/>
              </a:spcBef>
              <a:spcAft>
                <a:spcPts val="0"/>
              </a:spcAft>
              <a:buNone/>
            </a:pPr>
            <a:r>
              <a:rPr lang="en">
                <a:latin typeface="Newsreader Light"/>
                <a:ea typeface="Newsreader Light"/>
                <a:cs typeface="Newsreader Light"/>
                <a:sym typeface="Newsreader Light"/>
              </a:rPr>
              <a:t>Q = </a:t>
            </a:r>
            <a:endParaRPr>
              <a:latin typeface="Newsreader Light"/>
              <a:ea typeface="Newsreader Light"/>
              <a:cs typeface="Newsreader Light"/>
              <a:sym typeface="Newsreader Light"/>
            </a:endParaRPr>
          </a:p>
          <a:p>
            <a:pPr indent="0" lvl="0" marL="0" rtl="0" algn="l">
              <a:spcBef>
                <a:spcPts val="800"/>
              </a:spcBef>
              <a:spcAft>
                <a:spcPts val="0"/>
              </a:spcAft>
              <a:buNone/>
            </a:pPr>
            <a:r>
              <a:t/>
            </a:r>
            <a:endParaRPr>
              <a:latin typeface="Newsreader Light"/>
              <a:ea typeface="Newsreader Light"/>
              <a:cs typeface="Newsreader Light"/>
              <a:sym typeface="Newsreader Light"/>
            </a:endParaRPr>
          </a:p>
          <a:p>
            <a:pPr indent="0" lvl="0" marL="0" rtl="0" algn="l">
              <a:spcBef>
                <a:spcPts val="800"/>
              </a:spcBef>
              <a:spcAft>
                <a:spcPts val="0"/>
              </a:spcAft>
              <a:buNone/>
            </a:pPr>
            <a:r>
              <a:rPr lang="en">
                <a:latin typeface="Newsreader Light"/>
                <a:ea typeface="Newsreader Light"/>
                <a:cs typeface="Newsreader Light"/>
                <a:sym typeface="Newsreader Light"/>
              </a:rPr>
              <a:t>Essentially the function takes the summation of all pairs in the graph (A</a:t>
            </a:r>
            <a:r>
              <a:rPr baseline="-25000" lang="en">
                <a:latin typeface="Newsreader Light"/>
                <a:ea typeface="Newsreader Light"/>
                <a:cs typeface="Newsreader Light"/>
                <a:sym typeface="Newsreader Light"/>
              </a:rPr>
              <a:t>ij </a:t>
            </a:r>
            <a:r>
              <a:rPr lang="en">
                <a:latin typeface="Newsreader Light"/>
                <a:ea typeface="Newsreader Light"/>
                <a:cs typeface="Newsreader Light"/>
                <a:sym typeface="Newsreader Light"/>
              </a:rPr>
              <a:t>which is the observed connection (1 if an edge exist between i and j and zero otherwise). Then take the difference of the actual edge and the expected connections if the edges were random. The summation is then divided by total edges to normalize. The Kronecker delta ensures that only two edges in the same community add to the total modularity. It is a piecewise function that is 1 if i and j are in the same community and 0 otherwise.</a:t>
            </a:r>
            <a:endParaRPr>
              <a:latin typeface="Newsreader Light"/>
              <a:ea typeface="Newsreader Light"/>
              <a:cs typeface="Newsreader Light"/>
              <a:sym typeface="Newsreader Light"/>
            </a:endParaRPr>
          </a:p>
          <a:p>
            <a:pPr indent="0" lvl="0" marL="0" rtl="0" algn="l">
              <a:spcBef>
                <a:spcPts val="800"/>
              </a:spcBef>
              <a:spcAft>
                <a:spcPts val="800"/>
              </a:spcAft>
              <a:buNone/>
            </a:pPr>
            <a:r>
              <a:t/>
            </a:r>
            <a:endParaRPr>
              <a:latin typeface="Newsreader Light"/>
              <a:ea typeface="Newsreader Light"/>
              <a:cs typeface="Newsreader Light"/>
              <a:sym typeface="Newsreader Light"/>
            </a:endParaRPr>
          </a:p>
        </p:txBody>
      </p:sp>
      <p:pic>
        <p:nvPicPr>
          <p:cNvPr descr="{&quot;font&quot;:{&quot;color&quot;:&quot;#F9F9F9&quot;,&quot;family&quot;:&quot;Arial&quot;,&quot;size&quot;:10},&quot;backgroundColor&quot;:&quot;#183C40&quot;,&quot;type&quot;:&quot;$$&quot;,&quot;id&quot;:&quot;1&quot;,&quot;code&quot;:&quot;$$\\frac{1}{2m}\\sum_{ij}^{}\\left(A_{ij}\\,-\\,\\frac{k_{i}k_{j}}{2m}\\right)\\delta\\left(c_{i}c_{j}\\right)$$&quot;,&quot;backgroundColorModified" id="557" name="Google Shape;557;p72"/>
          <p:cNvPicPr preferRelativeResize="0"/>
          <p:nvPr/>
        </p:nvPicPr>
        <p:blipFill>
          <a:blip r:embed="rId4">
            <a:alphaModFix/>
          </a:blip>
          <a:stretch>
            <a:fillRect/>
          </a:stretch>
        </p:blipFill>
        <p:spPr>
          <a:xfrm>
            <a:off x="939450" y="2763825"/>
            <a:ext cx="1909763" cy="400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3"/>
          <p:cNvSpPr txBox="1"/>
          <p:nvPr>
            <p:ph type="title"/>
          </p:nvPr>
        </p:nvSpPr>
        <p:spPr>
          <a:xfrm>
            <a:off x="790650" y="478400"/>
            <a:ext cx="74688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t>Normalized</a:t>
            </a:r>
            <a:r>
              <a:rPr b="1" lang="en" sz="3200"/>
              <a:t> Mutual Information (NMI)</a:t>
            </a:r>
            <a:endParaRPr b="1" sz="3200"/>
          </a:p>
        </p:txBody>
      </p:sp>
      <p:sp>
        <p:nvSpPr>
          <p:cNvPr id="563" name="Google Shape;563;p73"/>
          <p:cNvSpPr txBox="1"/>
          <p:nvPr>
            <p:ph idx="3" type="body"/>
          </p:nvPr>
        </p:nvSpPr>
        <p:spPr>
          <a:xfrm>
            <a:off x="871750" y="1146075"/>
            <a:ext cx="6544200" cy="1313100"/>
          </a:xfrm>
          <a:prstGeom prst="rect">
            <a:avLst/>
          </a:prstGeom>
        </p:spPr>
        <p:txBody>
          <a:bodyPr anchorCtr="0" anchor="b" bIns="91425" lIns="91425" spcFirstLastPara="1" rIns="91425" wrap="square" tIns="91425">
            <a:noAutofit/>
          </a:bodyPr>
          <a:lstStyle/>
          <a:p>
            <a:pPr indent="-311150" lvl="0" marL="457200" rtl="0" algn="l">
              <a:spcBef>
                <a:spcPts val="0"/>
              </a:spcBef>
              <a:spcAft>
                <a:spcPts val="0"/>
              </a:spcAft>
              <a:buClr>
                <a:srgbClr val="FFFFFF"/>
              </a:buClr>
              <a:buSzPts val="1300"/>
              <a:buFont typeface="Newsreader"/>
              <a:buChar char="●"/>
            </a:pPr>
            <a:r>
              <a:rPr lang="en" sz="1300">
                <a:solidFill>
                  <a:srgbClr val="FFFFFF"/>
                </a:solidFill>
                <a:latin typeface="Newsreader"/>
                <a:ea typeface="Newsreader"/>
                <a:cs typeface="Newsreader"/>
                <a:sym typeface="Newsreader"/>
              </a:rPr>
              <a:t>Normalization of the Mutual Information score</a:t>
            </a:r>
            <a:endParaRPr sz="1300">
              <a:solidFill>
                <a:srgbClr val="FFFFFF"/>
              </a:solidFill>
              <a:latin typeface="Newsreader"/>
              <a:ea typeface="Newsreader"/>
              <a:cs typeface="Newsreader"/>
              <a:sym typeface="Newsreader"/>
            </a:endParaRPr>
          </a:p>
          <a:p>
            <a:pPr indent="-311150" lvl="0" marL="457200" rtl="0" algn="l">
              <a:spcBef>
                <a:spcPts val="0"/>
              </a:spcBef>
              <a:spcAft>
                <a:spcPts val="0"/>
              </a:spcAft>
              <a:buClr>
                <a:srgbClr val="FFFFFF"/>
              </a:buClr>
              <a:buSzPts val="1300"/>
              <a:buFont typeface="Newsreader"/>
              <a:buChar char="●"/>
            </a:pPr>
            <a:r>
              <a:rPr lang="en" sz="1300">
                <a:solidFill>
                  <a:srgbClr val="FFFFFF"/>
                </a:solidFill>
                <a:latin typeface="Newsreader"/>
                <a:ea typeface="Newsreader"/>
                <a:cs typeface="Newsreader"/>
                <a:sym typeface="Newsreader"/>
              </a:rPr>
              <a:t>Computes similarities between two independent label assignments</a:t>
            </a:r>
            <a:endParaRPr sz="1300">
              <a:solidFill>
                <a:srgbClr val="FFFFFF"/>
              </a:solidFill>
              <a:latin typeface="Newsreader"/>
              <a:ea typeface="Newsreader"/>
              <a:cs typeface="Newsreader"/>
              <a:sym typeface="Newsreader"/>
            </a:endParaRPr>
          </a:p>
          <a:p>
            <a:pPr indent="-311150" lvl="0" marL="457200" rtl="0" algn="l">
              <a:spcBef>
                <a:spcPts val="0"/>
              </a:spcBef>
              <a:spcAft>
                <a:spcPts val="0"/>
              </a:spcAft>
              <a:buClr>
                <a:srgbClr val="FFFFFF"/>
              </a:buClr>
              <a:buSzPts val="1300"/>
              <a:buFont typeface="Newsreader"/>
              <a:buChar char="●"/>
            </a:pPr>
            <a:r>
              <a:rPr lang="en" sz="1300">
                <a:solidFill>
                  <a:srgbClr val="FFFFFF"/>
                </a:solidFill>
                <a:latin typeface="Newsreader"/>
                <a:ea typeface="Newsreader"/>
                <a:cs typeface="Newsreader"/>
                <a:sym typeface="Newsreader"/>
              </a:rPr>
              <a:t>Uses true and predicted (pred) parameters</a:t>
            </a:r>
            <a:endParaRPr sz="1300">
              <a:solidFill>
                <a:srgbClr val="FFFFFF"/>
              </a:solidFill>
              <a:latin typeface="Newsreader"/>
              <a:ea typeface="Newsreader"/>
              <a:cs typeface="Newsreader"/>
              <a:sym typeface="Newsreader"/>
            </a:endParaRPr>
          </a:p>
          <a:p>
            <a:pPr indent="-311150" lvl="0" marL="457200" rtl="0" algn="l">
              <a:spcBef>
                <a:spcPts val="0"/>
              </a:spcBef>
              <a:spcAft>
                <a:spcPts val="0"/>
              </a:spcAft>
              <a:buClr>
                <a:srgbClr val="FFFFFF"/>
              </a:buClr>
              <a:buSzPts val="1300"/>
              <a:buFont typeface="Newsreader"/>
              <a:buChar char="●"/>
            </a:pPr>
            <a:r>
              <a:rPr lang="en" sz="1300">
                <a:solidFill>
                  <a:srgbClr val="FFFFFF"/>
                </a:solidFill>
                <a:latin typeface="Newsreader"/>
                <a:ea typeface="Newsreader"/>
                <a:cs typeface="Newsreader"/>
                <a:sym typeface="Newsreader"/>
              </a:rPr>
              <a:t>Results are stored in float values between 0.0 and 1.0 (</a:t>
            </a:r>
            <a:r>
              <a:rPr lang="en" sz="1300">
                <a:solidFill>
                  <a:srgbClr val="FFFFFF"/>
                </a:solidFill>
                <a:latin typeface="Newsreader"/>
                <a:ea typeface="Newsreader"/>
                <a:cs typeface="Newsreader"/>
                <a:sym typeface="Newsreader"/>
              </a:rPr>
              <a:t>0.0 meaning no mutual information and 1.0 </a:t>
            </a:r>
            <a:r>
              <a:rPr lang="en" sz="1300">
                <a:solidFill>
                  <a:srgbClr val="FFFFFF"/>
                </a:solidFill>
                <a:latin typeface="Newsreader"/>
                <a:ea typeface="Newsreader"/>
                <a:cs typeface="Newsreader"/>
                <a:sym typeface="Newsreader"/>
              </a:rPr>
              <a:t>meaning perfect correlation)</a:t>
            </a:r>
            <a:endParaRPr sz="1300">
              <a:solidFill>
                <a:srgbClr val="FFFFFF"/>
              </a:solidFill>
              <a:latin typeface="Newsreader"/>
              <a:ea typeface="Newsreader"/>
              <a:cs typeface="Newsreader"/>
              <a:sym typeface="Newsreader"/>
            </a:endParaRPr>
          </a:p>
        </p:txBody>
      </p:sp>
      <p:sp>
        <p:nvSpPr>
          <p:cNvPr id="564" name="Google Shape;564;p73"/>
          <p:cNvSpPr txBox="1"/>
          <p:nvPr>
            <p:ph idx="3" type="body"/>
          </p:nvPr>
        </p:nvSpPr>
        <p:spPr>
          <a:xfrm>
            <a:off x="999675" y="2565708"/>
            <a:ext cx="7272600" cy="439800"/>
          </a:xfrm>
          <a:prstGeom prst="rect">
            <a:avLst/>
          </a:prstGeom>
        </p:spPr>
        <p:txBody>
          <a:bodyPr anchorCtr="0" anchor="b" bIns="91425" lIns="91425" spcFirstLastPara="1" rIns="91425" wrap="square" tIns="91425">
            <a:noAutofit/>
          </a:bodyPr>
          <a:lstStyle/>
          <a:p>
            <a:pPr indent="0" lvl="0" marL="0" rtl="0" algn="l">
              <a:spcBef>
                <a:spcPts val="0"/>
              </a:spcBef>
              <a:spcAft>
                <a:spcPts val="1200"/>
              </a:spcAft>
              <a:buNone/>
            </a:pPr>
            <a:r>
              <a:rPr lang="en" sz="1300" u="sng">
                <a:solidFill>
                  <a:srgbClr val="C27BA0"/>
                </a:solidFill>
                <a:latin typeface="Newsreader"/>
                <a:ea typeface="Newsreader"/>
                <a:cs typeface="Newsreader"/>
                <a:sym typeface="Newsreader"/>
                <a:hlinkClick r:id="rId3">
                  <a:extLst>
                    <a:ext uri="{A12FA001-AC4F-418D-AE19-62706E023703}">
                      <ahyp:hlinkClr val="tx"/>
                    </a:ext>
                  </a:extLst>
                </a:hlinkClick>
              </a:rPr>
              <a:t>https://scikit-learn.org/stable/modules/generated/sklearn.metrics.normalized_mutual_info_score.html</a:t>
            </a:r>
            <a:endParaRPr sz="1300">
              <a:solidFill>
                <a:srgbClr val="FFFFFF"/>
              </a:solidFill>
              <a:latin typeface="Newsreader"/>
              <a:ea typeface="Newsreader"/>
              <a:cs typeface="Newsreader"/>
              <a:sym typeface="Newsread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4"/>
          <p:cNvSpPr txBox="1"/>
          <p:nvPr>
            <p:ph type="title"/>
          </p:nvPr>
        </p:nvSpPr>
        <p:spPr>
          <a:xfrm>
            <a:off x="706775" y="525025"/>
            <a:ext cx="60828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t>Adjusted Rand Index (ARI)</a:t>
            </a:r>
            <a:endParaRPr b="1" sz="3200"/>
          </a:p>
        </p:txBody>
      </p:sp>
      <p:sp>
        <p:nvSpPr>
          <p:cNvPr id="570" name="Google Shape;570;p74"/>
          <p:cNvSpPr txBox="1"/>
          <p:nvPr>
            <p:ph idx="3" type="body"/>
          </p:nvPr>
        </p:nvSpPr>
        <p:spPr>
          <a:xfrm>
            <a:off x="1029125" y="1229825"/>
            <a:ext cx="6348000" cy="1356000"/>
          </a:xfrm>
          <a:prstGeom prst="rect">
            <a:avLst/>
          </a:prstGeom>
        </p:spPr>
        <p:txBody>
          <a:bodyPr anchorCtr="0" anchor="b" bIns="91425" lIns="91425" spcFirstLastPara="1" rIns="91425" wrap="square" tIns="91425">
            <a:noAutofit/>
          </a:bodyPr>
          <a:lstStyle/>
          <a:p>
            <a:pPr indent="-311150" lvl="0" marL="457200" rtl="0" algn="l">
              <a:spcBef>
                <a:spcPts val="0"/>
              </a:spcBef>
              <a:spcAft>
                <a:spcPts val="0"/>
              </a:spcAft>
              <a:buClr>
                <a:srgbClr val="FFFFFF"/>
              </a:buClr>
              <a:buSzPts val="1300"/>
              <a:buFont typeface="Newsreader"/>
              <a:buChar char="●"/>
            </a:pPr>
            <a:r>
              <a:rPr lang="en" sz="1300">
                <a:solidFill>
                  <a:srgbClr val="FFFFFF"/>
                </a:solidFill>
                <a:latin typeface="Newsreader"/>
                <a:ea typeface="Newsreader"/>
                <a:cs typeface="Newsreader"/>
                <a:sym typeface="Newsreader"/>
              </a:rPr>
              <a:t>Computes how similar two clusters are by counting paired samples</a:t>
            </a:r>
            <a:endParaRPr sz="1300">
              <a:solidFill>
                <a:srgbClr val="FFFFFF"/>
              </a:solidFill>
              <a:latin typeface="Newsreader"/>
              <a:ea typeface="Newsreader"/>
              <a:cs typeface="Newsreader"/>
              <a:sym typeface="Newsreader"/>
            </a:endParaRPr>
          </a:p>
          <a:p>
            <a:pPr indent="-311150" lvl="0" marL="457200" rtl="0" algn="l">
              <a:spcBef>
                <a:spcPts val="0"/>
              </a:spcBef>
              <a:spcAft>
                <a:spcPts val="0"/>
              </a:spcAft>
              <a:buClr>
                <a:srgbClr val="FFFFFF"/>
              </a:buClr>
              <a:buSzPts val="1300"/>
              <a:buFont typeface="Newsreader"/>
              <a:buChar char="●"/>
            </a:pPr>
            <a:r>
              <a:rPr lang="en" sz="1300">
                <a:solidFill>
                  <a:srgbClr val="FFFFFF"/>
                </a:solidFill>
                <a:latin typeface="Newsreader"/>
                <a:ea typeface="Newsreader"/>
                <a:cs typeface="Newsreader"/>
                <a:sym typeface="Newsreader"/>
              </a:rPr>
              <a:t>Uses true and predicted (pred) parameters</a:t>
            </a:r>
            <a:endParaRPr sz="1300">
              <a:solidFill>
                <a:srgbClr val="FFFFFF"/>
              </a:solidFill>
              <a:latin typeface="Newsreader"/>
              <a:ea typeface="Newsreader"/>
              <a:cs typeface="Newsreader"/>
              <a:sym typeface="Newsreader"/>
            </a:endParaRPr>
          </a:p>
          <a:p>
            <a:pPr indent="-311150" lvl="0" marL="457200" rtl="0" algn="l">
              <a:spcBef>
                <a:spcPts val="0"/>
              </a:spcBef>
              <a:spcAft>
                <a:spcPts val="0"/>
              </a:spcAft>
              <a:buClr>
                <a:srgbClr val="FFFFFF"/>
              </a:buClr>
              <a:buSzPts val="1300"/>
              <a:buFont typeface="Newsreader"/>
              <a:buChar char="●"/>
            </a:pPr>
            <a:r>
              <a:rPr lang="en" sz="1300">
                <a:solidFill>
                  <a:srgbClr val="FFFFFF"/>
                </a:solidFill>
                <a:latin typeface="Newsreader"/>
                <a:ea typeface="Newsreader"/>
                <a:cs typeface="Newsreader"/>
                <a:sym typeface="Newsreader"/>
              </a:rPr>
              <a:t>Results are stored in float values between -0.5 and 1.0 (0.0 meaning random labelling, 1.0 meaning identical clusters, and -0.5 meaning conflicting with communities)</a:t>
            </a:r>
            <a:endParaRPr sz="1300">
              <a:solidFill>
                <a:srgbClr val="FFFFFF"/>
              </a:solidFill>
              <a:latin typeface="Newsreader"/>
              <a:ea typeface="Newsreader"/>
              <a:cs typeface="Newsreader"/>
              <a:sym typeface="Newsreader"/>
            </a:endParaRPr>
          </a:p>
        </p:txBody>
      </p:sp>
      <p:sp>
        <p:nvSpPr>
          <p:cNvPr id="571" name="Google Shape;571;p74"/>
          <p:cNvSpPr txBox="1"/>
          <p:nvPr>
            <p:ph idx="3" type="body"/>
          </p:nvPr>
        </p:nvSpPr>
        <p:spPr>
          <a:xfrm>
            <a:off x="1029125" y="2585825"/>
            <a:ext cx="6612300" cy="520800"/>
          </a:xfrm>
          <a:prstGeom prst="rect">
            <a:avLst/>
          </a:prstGeom>
        </p:spPr>
        <p:txBody>
          <a:bodyPr anchorCtr="0" anchor="b" bIns="91425" lIns="91425" spcFirstLastPara="1" rIns="91425" wrap="square" tIns="91425">
            <a:noAutofit/>
          </a:bodyPr>
          <a:lstStyle/>
          <a:p>
            <a:pPr indent="0" lvl="0" marL="0" rtl="0" algn="l">
              <a:spcBef>
                <a:spcPts val="0"/>
              </a:spcBef>
              <a:spcAft>
                <a:spcPts val="1200"/>
              </a:spcAft>
              <a:buNone/>
            </a:pPr>
            <a:r>
              <a:rPr lang="en" sz="1300" u="sng">
                <a:solidFill>
                  <a:srgbClr val="C27BA0"/>
                </a:solidFill>
                <a:latin typeface="Newsreader"/>
                <a:ea typeface="Newsreader"/>
                <a:cs typeface="Newsreader"/>
                <a:sym typeface="Newsreader"/>
                <a:hlinkClick r:id="rId3">
                  <a:extLst>
                    <a:ext uri="{A12FA001-AC4F-418D-AE19-62706E023703}">
                      <ahyp:hlinkClr val="tx"/>
                    </a:ext>
                  </a:extLst>
                </a:hlinkClick>
              </a:rPr>
              <a:t>https://scikit-learn.org/stable/modules/generated/sklearn.metrics.adjusted_rand_score.html</a:t>
            </a:r>
            <a:endParaRPr sz="1300">
              <a:solidFill>
                <a:srgbClr val="FFFFFF"/>
              </a:solidFill>
              <a:latin typeface="Newsreader"/>
              <a:ea typeface="Newsreader"/>
              <a:cs typeface="Newsreader"/>
              <a:sym typeface="Newsread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5"/>
          <p:cNvSpPr txBox="1"/>
          <p:nvPr>
            <p:ph type="title"/>
          </p:nvPr>
        </p:nvSpPr>
        <p:spPr>
          <a:xfrm>
            <a:off x="1881750" y="260025"/>
            <a:ext cx="5286600" cy="5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t>Code Demonstration</a:t>
            </a:r>
            <a:endParaRPr b="1" sz="3200"/>
          </a:p>
        </p:txBody>
      </p:sp>
      <p:pic>
        <p:nvPicPr>
          <p:cNvPr id="577" name="Google Shape;577;p75" title="Data Mining Project.mp4" descr="A black and white photo of a man in a suit">
            <a:hlinkClick r:id="rId3"/>
          </p:cNvPr>
          <p:cNvPicPr preferRelativeResize="0"/>
          <p:nvPr/>
        </p:nvPicPr>
        <p:blipFill>
          <a:blip r:embed="rId4">
            <a:alphaModFix/>
          </a:blip>
          <a:stretch>
            <a:fillRect/>
          </a:stretch>
        </p:blipFill>
        <p:spPr>
          <a:xfrm>
            <a:off x="1881751" y="907737"/>
            <a:ext cx="5286600" cy="3964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1000"/>
                                        <p:tgtEl>
                                          <p:spTgt spid="5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6"/>
          <p:cNvSpPr txBox="1"/>
          <p:nvPr>
            <p:ph type="title"/>
          </p:nvPr>
        </p:nvSpPr>
        <p:spPr>
          <a:xfrm>
            <a:off x="2641950" y="172000"/>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t>Observations</a:t>
            </a:r>
            <a:endParaRPr b="1" sz="3200"/>
          </a:p>
        </p:txBody>
      </p:sp>
      <p:sp>
        <p:nvSpPr>
          <p:cNvPr id="583" name="Google Shape;583;p76"/>
          <p:cNvSpPr txBox="1"/>
          <p:nvPr>
            <p:ph type="title"/>
          </p:nvPr>
        </p:nvSpPr>
        <p:spPr>
          <a:xfrm>
            <a:off x="341900" y="877988"/>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Louvain Algorithm (Part 2)</a:t>
            </a:r>
            <a:endParaRPr sz="2200"/>
          </a:p>
        </p:txBody>
      </p:sp>
      <p:sp>
        <p:nvSpPr>
          <p:cNvPr id="584" name="Google Shape;584;p76"/>
          <p:cNvSpPr txBox="1"/>
          <p:nvPr>
            <p:ph type="title"/>
          </p:nvPr>
        </p:nvSpPr>
        <p:spPr>
          <a:xfrm>
            <a:off x="4916575" y="906775"/>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Label Propagation Algorithm (Part 2)</a:t>
            </a:r>
            <a:endParaRPr sz="2200"/>
          </a:p>
        </p:txBody>
      </p:sp>
      <p:sp>
        <p:nvSpPr>
          <p:cNvPr id="585" name="Google Shape;585;p76"/>
          <p:cNvSpPr txBox="1"/>
          <p:nvPr/>
        </p:nvSpPr>
        <p:spPr>
          <a:xfrm>
            <a:off x="837450" y="1379700"/>
            <a:ext cx="2984700" cy="1095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FFFFFF"/>
              </a:buClr>
              <a:buSzPts val="1200"/>
              <a:buFont typeface="DM Sans"/>
              <a:buChar char="●"/>
            </a:pPr>
            <a:r>
              <a:rPr lang="en" sz="1200">
                <a:solidFill>
                  <a:srgbClr val="FFFFFF"/>
                </a:solidFill>
                <a:latin typeface="DM Sans"/>
                <a:ea typeface="DM Sans"/>
                <a:cs typeface="DM Sans"/>
                <a:sym typeface="DM Sans"/>
              </a:rPr>
              <a:t>4 communities</a:t>
            </a:r>
            <a:endParaRPr sz="1200">
              <a:solidFill>
                <a:srgbClr val="FFFFFF"/>
              </a:solidFill>
              <a:latin typeface="DM Sans"/>
              <a:ea typeface="DM Sans"/>
              <a:cs typeface="DM Sans"/>
              <a:sym typeface="DM Sans"/>
            </a:endParaRPr>
          </a:p>
          <a:p>
            <a:pPr indent="-304800" lvl="0" marL="457200" rtl="0" algn="l">
              <a:spcBef>
                <a:spcPts val="0"/>
              </a:spcBef>
              <a:spcAft>
                <a:spcPts val="0"/>
              </a:spcAft>
              <a:buClr>
                <a:srgbClr val="FFFFFF"/>
              </a:buClr>
              <a:buSzPts val="1200"/>
              <a:buFont typeface="DM Sans"/>
              <a:buChar char="●"/>
            </a:pPr>
            <a:r>
              <a:rPr lang="en" sz="1200">
                <a:solidFill>
                  <a:srgbClr val="FFFFFF"/>
                </a:solidFill>
                <a:latin typeface="DM Sans"/>
                <a:ea typeface="DM Sans"/>
                <a:cs typeface="DM Sans"/>
                <a:sym typeface="DM Sans"/>
              </a:rPr>
              <a:t>Slower execution time</a:t>
            </a:r>
            <a:endParaRPr sz="1200">
              <a:solidFill>
                <a:srgbClr val="FFFFFF"/>
              </a:solidFill>
              <a:latin typeface="DM Sans"/>
              <a:ea typeface="DM Sans"/>
              <a:cs typeface="DM Sans"/>
              <a:sym typeface="DM Sans"/>
            </a:endParaRPr>
          </a:p>
          <a:p>
            <a:pPr indent="-304800" lvl="0" marL="457200" rtl="0" algn="l">
              <a:spcBef>
                <a:spcPts val="0"/>
              </a:spcBef>
              <a:spcAft>
                <a:spcPts val="0"/>
              </a:spcAft>
              <a:buClr>
                <a:srgbClr val="FFFFFF"/>
              </a:buClr>
              <a:buSzPts val="1200"/>
              <a:buFont typeface="DM Sans"/>
              <a:buChar char="●"/>
            </a:pPr>
            <a:r>
              <a:rPr lang="en" sz="1200">
                <a:solidFill>
                  <a:srgbClr val="FFFFFF"/>
                </a:solidFill>
                <a:latin typeface="DM Sans"/>
                <a:ea typeface="DM Sans"/>
                <a:cs typeface="DM Sans"/>
                <a:sym typeface="DM Sans"/>
              </a:rPr>
              <a:t>Higher modularity results</a:t>
            </a:r>
            <a:endParaRPr sz="1200">
              <a:solidFill>
                <a:srgbClr val="FFFFFF"/>
              </a:solidFill>
              <a:latin typeface="DM Sans"/>
              <a:ea typeface="DM Sans"/>
              <a:cs typeface="DM Sans"/>
              <a:sym typeface="DM Sans"/>
            </a:endParaRPr>
          </a:p>
          <a:p>
            <a:pPr indent="-304800" lvl="0" marL="457200" rtl="0" algn="l">
              <a:spcBef>
                <a:spcPts val="0"/>
              </a:spcBef>
              <a:spcAft>
                <a:spcPts val="0"/>
              </a:spcAft>
              <a:buClr>
                <a:srgbClr val="FFFFFF"/>
              </a:buClr>
              <a:buSzPts val="1200"/>
              <a:buFont typeface="DM Sans"/>
              <a:buChar char="●"/>
            </a:pPr>
            <a:r>
              <a:rPr lang="en" sz="1200">
                <a:solidFill>
                  <a:srgbClr val="FFFFFF"/>
                </a:solidFill>
                <a:latin typeface="DM Sans"/>
                <a:ea typeface="DM Sans"/>
                <a:cs typeface="DM Sans"/>
                <a:sym typeface="DM Sans"/>
              </a:rPr>
              <a:t>More evenly distributed clusters</a:t>
            </a:r>
            <a:endParaRPr sz="1200">
              <a:solidFill>
                <a:srgbClr val="FFFFFF"/>
              </a:solidFill>
              <a:latin typeface="DM Sans"/>
              <a:ea typeface="DM Sans"/>
              <a:cs typeface="DM Sans"/>
              <a:sym typeface="DM Sans"/>
            </a:endParaRPr>
          </a:p>
          <a:p>
            <a:pPr indent="-304800" lvl="0" marL="457200" rtl="0" algn="l">
              <a:spcBef>
                <a:spcPts val="0"/>
              </a:spcBef>
              <a:spcAft>
                <a:spcPts val="0"/>
              </a:spcAft>
              <a:buClr>
                <a:srgbClr val="FFFFFF"/>
              </a:buClr>
              <a:buSzPts val="1200"/>
              <a:buFont typeface="DM Sans"/>
              <a:buChar char="●"/>
            </a:pPr>
            <a:r>
              <a:rPr lang="en" sz="1200">
                <a:solidFill>
                  <a:srgbClr val="FFFFFF"/>
                </a:solidFill>
                <a:latin typeface="DM Sans"/>
                <a:ea typeface="DM Sans"/>
                <a:cs typeface="DM Sans"/>
                <a:sym typeface="DM Sans"/>
              </a:rPr>
              <a:t>Higher NMI and ARI values</a:t>
            </a:r>
            <a:endParaRPr sz="1200">
              <a:solidFill>
                <a:srgbClr val="FFFFFF"/>
              </a:solidFill>
              <a:latin typeface="DM Sans"/>
              <a:ea typeface="DM Sans"/>
              <a:cs typeface="DM Sans"/>
              <a:sym typeface="DM Sans"/>
            </a:endParaRPr>
          </a:p>
        </p:txBody>
      </p:sp>
      <p:sp>
        <p:nvSpPr>
          <p:cNvPr id="586" name="Google Shape;586;p76"/>
          <p:cNvSpPr txBox="1"/>
          <p:nvPr/>
        </p:nvSpPr>
        <p:spPr>
          <a:xfrm>
            <a:off x="5216550" y="1343550"/>
            <a:ext cx="2984700" cy="12456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FFFFFF"/>
              </a:buClr>
              <a:buSzPts val="1200"/>
              <a:buFont typeface="DM Sans"/>
              <a:buChar char="●"/>
            </a:pPr>
            <a:r>
              <a:rPr lang="en" sz="1200">
                <a:solidFill>
                  <a:srgbClr val="FFFFFF"/>
                </a:solidFill>
                <a:latin typeface="DM Sans"/>
                <a:ea typeface="DM Sans"/>
                <a:cs typeface="DM Sans"/>
                <a:sym typeface="DM Sans"/>
              </a:rPr>
              <a:t>3 communities</a:t>
            </a:r>
            <a:endParaRPr sz="1200">
              <a:solidFill>
                <a:srgbClr val="FFFFFF"/>
              </a:solidFill>
              <a:latin typeface="DM Sans"/>
              <a:ea typeface="DM Sans"/>
              <a:cs typeface="DM Sans"/>
              <a:sym typeface="DM Sans"/>
            </a:endParaRPr>
          </a:p>
          <a:p>
            <a:pPr indent="-304800" lvl="0" marL="457200" rtl="0" algn="l">
              <a:spcBef>
                <a:spcPts val="0"/>
              </a:spcBef>
              <a:spcAft>
                <a:spcPts val="0"/>
              </a:spcAft>
              <a:buClr>
                <a:srgbClr val="FFFFFF"/>
              </a:buClr>
              <a:buSzPts val="1200"/>
              <a:buFont typeface="DM Sans"/>
              <a:buChar char="●"/>
            </a:pPr>
            <a:r>
              <a:rPr lang="en" sz="1200">
                <a:solidFill>
                  <a:srgbClr val="FFFFFF"/>
                </a:solidFill>
                <a:latin typeface="DM Sans"/>
                <a:ea typeface="DM Sans"/>
                <a:cs typeface="DM Sans"/>
                <a:sym typeface="DM Sans"/>
              </a:rPr>
              <a:t>Faster execution time</a:t>
            </a:r>
            <a:endParaRPr sz="1200">
              <a:solidFill>
                <a:srgbClr val="FFFFFF"/>
              </a:solidFill>
              <a:latin typeface="DM Sans"/>
              <a:ea typeface="DM Sans"/>
              <a:cs typeface="DM Sans"/>
              <a:sym typeface="DM Sans"/>
            </a:endParaRPr>
          </a:p>
          <a:p>
            <a:pPr indent="-304800" lvl="0" marL="457200" rtl="0" algn="l">
              <a:spcBef>
                <a:spcPts val="0"/>
              </a:spcBef>
              <a:spcAft>
                <a:spcPts val="0"/>
              </a:spcAft>
              <a:buClr>
                <a:srgbClr val="FFFFFF"/>
              </a:buClr>
              <a:buSzPts val="1200"/>
              <a:buFont typeface="DM Sans"/>
              <a:buChar char="●"/>
            </a:pPr>
            <a:r>
              <a:rPr lang="en" sz="1200">
                <a:solidFill>
                  <a:srgbClr val="FFFFFF"/>
                </a:solidFill>
                <a:latin typeface="DM Sans"/>
                <a:ea typeface="DM Sans"/>
                <a:cs typeface="DM Sans"/>
                <a:sym typeface="DM Sans"/>
              </a:rPr>
              <a:t>Lower modularity results</a:t>
            </a:r>
            <a:endParaRPr sz="1200">
              <a:solidFill>
                <a:srgbClr val="FFFFFF"/>
              </a:solidFill>
              <a:latin typeface="DM Sans"/>
              <a:ea typeface="DM Sans"/>
              <a:cs typeface="DM Sans"/>
              <a:sym typeface="DM Sans"/>
            </a:endParaRPr>
          </a:p>
          <a:p>
            <a:pPr indent="-304800" lvl="0" marL="457200" rtl="0" algn="l">
              <a:spcBef>
                <a:spcPts val="0"/>
              </a:spcBef>
              <a:spcAft>
                <a:spcPts val="0"/>
              </a:spcAft>
              <a:buClr>
                <a:srgbClr val="FFFFFF"/>
              </a:buClr>
              <a:buSzPts val="1200"/>
              <a:buFont typeface="DM Sans"/>
              <a:buChar char="●"/>
            </a:pPr>
            <a:r>
              <a:rPr lang="en" sz="1200">
                <a:solidFill>
                  <a:srgbClr val="FFFFFF"/>
                </a:solidFill>
                <a:latin typeface="DM Sans"/>
                <a:ea typeface="DM Sans"/>
                <a:cs typeface="DM Sans"/>
                <a:sym typeface="DM Sans"/>
              </a:rPr>
              <a:t>Bigger cluster sizes and one small cluster of 3</a:t>
            </a:r>
            <a:endParaRPr sz="1200">
              <a:solidFill>
                <a:srgbClr val="FFFFFF"/>
              </a:solidFill>
              <a:latin typeface="DM Sans"/>
              <a:ea typeface="DM Sans"/>
              <a:cs typeface="DM Sans"/>
              <a:sym typeface="DM Sans"/>
            </a:endParaRPr>
          </a:p>
          <a:p>
            <a:pPr indent="-304800" lvl="0" marL="457200" rtl="0" algn="l">
              <a:spcBef>
                <a:spcPts val="0"/>
              </a:spcBef>
              <a:spcAft>
                <a:spcPts val="0"/>
              </a:spcAft>
              <a:buClr>
                <a:srgbClr val="FFFFFF"/>
              </a:buClr>
              <a:buSzPts val="1200"/>
              <a:buFont typeface="DM Sans"/>
              <a:buChar char="●"/>
            </a:pPr>
            <a:r>
              <a:rPr lang="en" sz="1200">
                <a:solidFill>
                  <a:srgbClr val="FFFFFF"/>
                </a:solidFill>
                <a:latin typeface="DM Sans"/>
                <a:ea typeface="DM Sans"/>
                <a:cs typeface="DM Sans"/>
                <a:sym typeface="DM Sans"/>
              </a:rPr>
              <a:t>Lower NMI and ARI values</a:t>
            </a:r>
            <a:endParaRPr sz="1200">
              <a:solidFill>
                <a:srgbClr val="FFFFFF"/>
              </a:solidFill>
              <a:latin typeface="DM Sans"/>
              <a:ea typeface="DM Sans"/>
              <a:cs typeface="DM Sans"/>
              <a:sym typeface="DM Sans"/>
            </a:endParaRPr>
          </a:p>
        </p:txBody>
      </p:sp>
      <p:pic>
        <p:nvPicPr>
          <p:cNvPr id="587" name="Google Shape;587;p76" title="Louvain Community List.png" descr="A black background with white letters and numbers"/>
          <p:cNvPicPr preferRelativeResize="0"/>
          <p:nvPr/>
        </p:nvPicPr>
        <p:blipFill>
          <a:blip r:embed="rId3">
            <a:alphaModFix/>
          </a:blip>
          <a:stretch>
            <a:fillRect/>
          </a:stretch>
        </p:blipFill>
        <p:spPr>
          <a:xfrm>
            <a:off x="515514" y="3047488"/>
            <a:ext cx="3527475" cy="462875"/>
          </a:xfrm>
          <a:prstGeom prst="rect">
            <a:avLst/>
          </a:prstGeom>
          <a:noFill/>
          <a:ln>
            <a:noFill/>
          </a:ln>
        </p:spPr>
      </p:pic>
      <p:pic>
        <p:nvPicPr>
          <p:cNvPr id="588" name="Google Shape;588;p76" title="LPA Community List.png" descr="A black background with white letters and numbers"/>
          <p:cNvPicPr preferRelativeResize="0"/>
          <p:nvPr/>
        </p:nvPicPr>
        <p:blipFill>
          <a:blip r:embed="rId4">
            <a:alphaModFix/>
          </a:blip>
          <a:stretch>
            <a:fillRect/>
          </a:stretch>
        </p:blipFill>
        <p:spPr>
          <a:xfrm>
            <a:off x="4710015" y="3083100"/>
            <a:ext cx="4012361" cy="391650"/>
          </a:xfrm>
          <a:prstGeom prst="rect">
            <a:avLst/>
          </a:prstGeom>
          <a:noFill/>
          <a:ln>
            <a:noFill/>
          </a:ln>
        </p:spPr>
      </p:pic>
      <p:pic>
        <p:nvPicPr>
          <p:cNvPr id="589" name="Google Shape;589;p76" title="Community Detection Results.png" descr="A screenshot of a computer screen with a number of numbers"/>
          <p:cNvPicPr preferRelativeResize="0"/>
          <p:nvPr/>
        </p:nvPicPr>
        <p:blipFill>
          <a:blip r:embed="rId5">
            <a:alphaModFix/>
          </a:blip>
          <a:stretch>
            <a:fillRect/>
          </a:stretch>
        </p:blipFill>
        <p:spPr>
          <a:xfrm>
            <a:off x="2648625" y="3902000"/>
            <a:ext cx="3752850" cy="1095375"/>
          </a:xfrm>
          <a:prstGeom prst="rect">
            <a:avLst/>
          </a:prstGeom>
          <a:noFill/>
          <a:ln>
            <a:noFill/>
          </a:ln>
        </p:spPr>
      </p:pic>
      <p:sp>
        <p:nvSpPr>
          <p:cNvPr id="590" name="Google Shape;590;p76"/>
          <p:cNvSpPr txBox="1"/>
          <p:nvPr/>
        </p:nvSpPr>
        <p:spPr>
          <a:xfrm>
            <a:off x="1462775" y="2753425"/>
            <a:ext cx="1531800" cy="29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DM Sans"/>
                <a:ea typeface="DM Sans"/>
                <a:cs typeface="DM Sans"/>
                <a:sym typeface="DM Sans"/>
              </a:rPr>
              <a:t>Louvain Community List</a:t>
            </a:r>
            <a:endParaRPr sz="900">
              <a:solidFill>
                <a:srgbClr val="FFFFFF"/>
              </a:solidFill>
              <a:latin typeface="DM Sans"/>
              <a:ea typeface="DM Sans"/>
              <a:cs typeface="DM Sans"/>
              <a:sym typeface="DM Sans"/>
            </a:endParaRPr>
          </a:p>
        </p:txBody>
      </p:sp>
      <p:sp>
        <p:nvSpPr>
          <p:cNvPr id="591" name="Google Shape;591;p76"/>
          <p:cNvSpPr txBox="1"/>
          <p:nvPr/>
        </p:nvSpPr>
        <p:spPr>
          <a:xfrm>
            <a:off x="5950300" y="2770963"/>
            <a:ext cx="1531800" cy="29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DM Sans"/>
                <a:ea typeface="DM Sans"/>
                <a:cs typeface="DM Sans"/>
                <a:sym typeface="DM Sans"/>
              </a:rPr>
              <a:t>LPA Community List</a:t>
            </a:r>
            <a:endParaRPr sz="900">
              <a:solidFill>
                <a:srgbClr val="FFFFFF"/>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77"/>
          <p:cNvSpPr txBox="1"/>
          <p:nvPr>
            <p:ph type="title"/>
          </p:nvPr>
        </p:nvSpPr>
        <p:spPr>
          <a:xfrm>
            <a:off x="426000" y="522950"/>
            <a:ext cx="8292000" cy="51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t>Graphs of Louvain &amp; Label Propagation</a:t>
            </a:r>
            <a:endParaRPr b="1" sz="3200"/>
          </a:p>
        </p:txBody>
      </p:sp>
      <p:sp>
        <p:nvSpPr>
          <p:cNvPr id="597" name="Google Shape;597;p77"/>
          <p:cNvSpPr txBox="1"/>
          <p:nvPr>
            <p:ph idx="3" type="body"/>
          </p:nvPr>
        </p:nvSpPr>
        <p:spPr>
          <a:xfrm>
            <a:off x="2872638" y="1066110"/>
            <a:ext cx="3492600" cy="261300"/>
          </a:xfrm>
          <a:prstGeom prst="rect">
            <a:avLst/>
          </a:prstGeom>
        </p:spPr>
        <p:txBody>
          <a:bodyPr anchorCtr="0" anchor="b" bIns="91425" lIns="91425" spcFirstLastPara="1" rIns="91425" wrap="square" tIns="91425">
            <a:noAutofit/>
          </a:bodyPr>
          <a:lstStyle/>
          <a:p>
            <a:pPr indent="0" lvl="0" marL="0" rtl="0" algn="ctr">
              <a:spcBef>
                <a:spcPts val="0"/>
              </a:spcBef>
              <a:spcAft>
                <a:spcPts val="800"/>
              </a:spcAft>
              <a:buNone/>
            </a:pPr>
            <a:r>
              <a:rPr lang="en"/>
              <a:t>(as outputted by our code)</a:t>
            </a:r>
            <a:endParaRPr/>
          </a:p>
        </p:txBody>
      </p:sp>
      <p:pic>
        <p:nvPicPr>
          <p:cNvPr id="598" name="Google Shape;598;p77" title="download.png" descr="A diagram of a network with several nodes"/>
          <p:cNvPicPr preferRelativeResize="0"/>
          <p:nvPr/>
        </p:nvPicPr>
        <p:blipFill>
          <a:blip r:embed="rId3">
            <a:alphaModFix/>
          </a:blip>
          <a:stretch>
            <a:fillRect/>
          </a:stretch>
        </p:blipFill>
        <p:spPr>
          <a:xfrm>
            <a:off x="178488" y="1327410"/>
            <a:ext cx="4490421" cy="3519964"/>
          </a:xfrm>
          <a:prstGeom prst="rect">
            <a:avLst/>
          </a:prstGeom>
          <a:noFill/>
          <a:ln>
            <a:noFill/>
          </a:ln>
        </p:spPr>
      </p:pic>
      <p:pic>
        <p:nvPicPr>
          <p:cNvPr id="599" name="Google Shape;599;p77" title="download.png" descr="A diagram of a network with several nodes"/>
          <p:cNvPicPr preferRelativeResize="0"/>
          <p:nvPr/>
        </p:nvPicPr>
        <p:blipFill>
          <a:blip r:embed="rId4">
            <a:alphaModFix/>
          </a:blip>
          <a:stretch>
            <a:fillRect/>
          </a:stretch>
        </p:blipFill>
        <p:spPr>
          <a:xfrm>
            <a:off x="4773450" y="1327399"/>
            <a:ext cx="4196376" cy="3519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8"/>
          <p:cNvSpPr txBox="1"/>
          <p:nvPr/>
        </p:nvSpPr>
        <p:spPr>
          <a:xfrm>
            <a:off x="361975" y="282425"/>
            <a:ext cx="7125300" cy="587700"/>
          </a:xfrm>
          <a:prstGeom prst="rect">
            <a:avLst/>
          </a:prstGeom>
          <a:noFill/>
          <a:ln>
            <a:noFill/>
          </a:ln>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b="1" lang="en" sz="3200">
                <a:solidFill>
                  <a:srgbClr val="F9F9F9"/>
                </a:solidFill>
                <a:latin typeface="Newsreader"/>
                <a:ea typeface="Newsreader"/>
                <a:cs typeface="Newsreader"/>
                <a:sym typeface="Newsreader"/>
              </a:rPr>
              <a:t>Real-World Applications (Louvain)</a:t>
            </a:r>
            <a:r>
              <a:rPr lang="en" sz="4200">
                <a:solidFill>
                  <a:srgbClr val="F9F9F9"/>
                </a:solidFill>
                <a:latin typeface="Newsreader"/>
                <a:ea typeface="Newsreader"/>
                <a:cs typeface="Newsreader"/>
                <a:sym typeface="Newsreader"/>
              </a:rPr>
              <a:t> </a:t>
            </a:r>
            <a:endParaRPr sz="4200">
              <a:solidFill>
                <a:srgbClr val="F9F9F9"/>
              </a:solidFill>
              <a:latin typeface="Newsreader"/>
              <a:ea typeface="Newsreader"/>
              <a:cs typeface="Newsreader"/>
              <a:sym typeface="Newsreader"/>
            </a:endParaRPr>
          </a:p>
        </p:txBody>
      </p:sp>
      <p:sp>
        <p:nvSpPr>
          <p:cNvPr id="605" name="Google Shape;605;p78"/>
          <p:cNvSpPr txBox="1"/>
          <p:nvPr/>
        </p:nvSpPr>
        <p:spPr>
          <a:xfrm>
            <a:off x="625725" y="1066100"/>
            <a:ext cx="6024900" cy="2717400"/>
          </a:xfrm>
          <a:prstGeom prst="rect">
            <a:avLst/>
          </a:prstGeom>
          <a:noFill/>
          <a:ln>
            <a:noFill/>
          </a:ln>
        </p:spPr>
        <p:txBody>
          <a:bodyPr anchorCtr="0" anchor="b" bIns="91425" lIns="91425" spcFirstLastPara="1" rIns="91425" wrap="square" tIns="91425">
            <a:noAutofit/>
          </a:bodyPr>
          <a:lstStyle/>
          <a:p>
            <a:pPr indent="-311150" lvl="0" marL="4572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Social Network Analysis</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Connects social groups of people based on common interests</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Detects communities of users that live in the same area via graphs and patterns</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Common examples are apps such as Instagram, Snapchat, Facebook, Twitter (X)</a:t>
            </a:r>
            <a:endParaRPr sz="1300">
              <a:solidFill>
                <a:srgbClr val="F9F9F9"/>
              </a:solidFill>
              <a:latin typeface="Newsreader"/>
              <a:ea typeface="Newsreader"/>
              <a:cs typeface="Newsreader"/>
              <a:sym typeface="Newsreader"/>
            </a:endParaRPr>
          </a:p>
          <a:p>
            <a:pPr indent="-311150" lvl="0" marL="4572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Customer Transactions</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Identifies customers with similar spending habits</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Displays advertisements for targeted customers</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Common examples include stores such as Target, Walmart, Publix, Best Buy</a:t>
            </a:r>
            <a:endParaRPr sz="1300">
              <a:solidFill>
                <a:srgbClr val="F9F9F9"/>
              </a:solidFill>
              <a:latin typeface="Newsreader"/>
              <a:ea typeface="Newsreader"/>
              <a:cs typeface="Newsreader"/>
              <a:sym typeface="Newsread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9"/>
          <p:cNvSpPr txBox="1"/>
          <p:nvPr/>
        </p:nvSpPr>
        <p:spPr>
          <a:xfrm>
            <a:off x="353400" y="369300"/>
            <a:ext cx="8531100" cy="587700"/>
          </a:xfrm>
          <a:prstGeom prst="rect">
            <a:avLst/>
          </a:prstGeom>
          <a:noFill/>
          <a:ln>
            <a:noFill/>
          </a:ln>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b="1" lang="en" sz="3200">
                <a:solidFill>
                  <a:srgbClr val="F9F9F9"/>
                </a:solidFill>
                <a:latin typeface="Newsreader"/>
                <a:ea typeface="Newsreader"/>
                <a:cs typeface="Newsreader"/>
                <a:sym typeface="Newsreader"/>
              </a:rPr>
              <a:t>Real-World Applications (Label Propagation)</a:t>
            </a:r>
            <a:r>
              <a:rPr lang="en" sz="4200">
                <a:solidFill>
                  <a:srgbClr val="F9F9F9"/>
                </a:solidFill>
                <a:latin typeface="Newsreader"/>
                <a:ea typeface="Newsreader"/>
                <a:cs typeface="Newsreader"/>
                <a:sym typeface="Newsreader"/>
              </a:rPr>
              <a:t> </a:t>
            </a:r>
            <a:endParaRPr sz="4200">
              <a:solidFill>
                <a:srgbClr val="F9F9F9"/>
              </a:solidFill>
              <a:latin typeface="Newsreader"/>
              <a:ea typeface="Newsreader"/>
              <a:cs typeface="Newsreader"/>
              <a:sym typeface="Newsreader"/>
            </a:endParaRPr>
          </a:p>
        </p:txBody>
      </p:sp>
      <p:sp>
        <p:nvSpPr>
          <p:cNvPr id="611" name="Google Shape;611;p79"/>
          <p:cNvSpPr txBox="1"/>
          <p:nvPr/>
        </p:nvSpPr>
        <p:spPr>
          <a:xfrm>
            <a:off x="361975" y="1178875"/>
            <a:ext cx="5817000" cy="2685000"/>
          </a:xfrm>
          <a:prstGeom prst="rect">
            <a:avLst/>
          </a:prstGeom>
          <a:noFill/>
          <a:ln>
            <a:noFill/>
          </a:ln>
        </p:spPr>
        <p:txBody>
          <a:bodyPr anchorCtr="0" anchor="b" bIns="91425" lIns="91425" spcFirstLastPara="1" rIns="91425" wrap="square" tIns="91425">
            <a:noAutofit/>
          </a:bodyPr>
          <a:lstStyle/>
          <a:p>
            <a:pPr indent="-311150" lvl="0" marL="4572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Streaming Services</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New features are added after more and more users join</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Communities are quickly updating after adding new graph data</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Common examples are apps such as Spotify, iTunes, Netflix, YouTube, TikTok</a:t>
            </a:r>
            <a:endParaRPr sz="1300">
              <a:solidFill>
                <a:srgbClr val="F9F9F9"/>
              </a:solidFill>
              <a:latin typeface="Newsreader"/>
              <a:ea typeface="Newsreader"/>
              <a:cs typeface="Newsreader"/>
              <a:sym typeface="Newsreader"/>
            </a:endParaRPr>
          </a:p>
          <a:p>
            <a:pPr indent="-311150" lvl="0" marL="4572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Spam/Bot Detection</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Accounts are quickly grouped together based on similar spam activity</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Bots often repost the same content as others</a:t>
            </a:r>
            <a:endParaRPr sz="1300">
              <a:solidFill>
                <a:srgbClr val="F9F9F9"/>
              </a:solidFill>
              <a:latin typeface="Newsreader"/>
              <a:ea typeface="Newsreader"/>
              <a:cs typeface="Newsreader"/>
              <a:sym typeface="Newsreader"/>
            </a:endParaRPr>
          </a:p>
          <a:p>
            <a:pPr indent="-311150" lvl="1" marL="914400" rtl="0" algn="l">
              <a:lnSpc>
                <a:spcPct val="115000"/>
              </a:lnSpc>
              <a:spcBef>
                <a:spcPts val="0"/>
              </a:spcBef>
              <a:spcAft>
                <a:spcPts val="0"/>
              </a:spcAft>
              <a:buClr>
                <a:srgbClr val="F9F9F9"/>
              </a:buClr>
              <a:buSzPts val="1300"/>
              <a:buFont typeface="Newsreader"/>
              <a:buChar char="○"/>
            </a:pPr>
            <a:r>
              <a:rPr lang="en" sz="1300">
                <a:solidFill>
                  <a:srgbClr val="F9F9F9"/>
                </a:solidFill>
                <a:latin typeface="Newsreader"/>
                <a:ea typeface="Newsreader"/>
                <a:cs typeface="Newsreader"/>
                <a:sym typeface="Newsreader"/>
              </a:rPr>
              <a:t>Common examples include Twitter bots, Discord graphic artists, Instagram spam comments, and spam email messages</a:t>
            </a:r>
            <a:endParaRPr sz="1300">
              <a:solidFill>
                <a:srgbClr val="F9F9F9"/>
              </a:solidFill>
              <a:latin typeface="Newsreader"/>
              <a:ea typeface="Newsreader"/>
              <a:cs typeface="Newsreader"/>
              <a:sym typeface="Newsread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0"/>
          <p:cNvSpPr txBox="1"/>
          <p:nvPr>
            <p:ph type="title"/>
          </p:nvPr>
        </p:nvSpPr>
        <p:spPr>
          <a:xfrm>
            <a:off x="1224600" y="585575"/>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t>Conclusion</a:t>
            </a:r>
            <a:endParaRPr b="1" sz="3200"/>
          </a:p>
        </p:txBody>
      </p:sp>
      <p:sp>
        <p:nvSpPr>
          <p:cNvPr id="617" name="Google Shape;617;p80"/>
          <p:cNvSpPr txBox="1"/>
          <p:nvPr>
            <p:ph idx="3" type="body"/>
          </p:nvPr>
        </p:nvSpPr>
        <p:spPr>
          <a:xfrm>
            <a:off x="731950" y="1237575"/>
            <a:ext cx="4868100" cy="2782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300">
                <a:latin typeface="Newsreader"/>
                <a:ea typeface="Newsreader"/>
                <a:cs typeface="Newsreader"/>
                <a:sym typeface="Newsreader"/>
              </a:rPr>
              <a:t>Based on our results, the Louvain algorithm ended up being more effective than Label Propagation for the Karate Club dataset. As displayed by our code and its outputs, Louvain had a well-spread community structure, higher modularity, and higher NMI and ARI scores. Despite Label Propagation having a faster runtime, there was uneven clustering and </a:t>
            </a:r>
            <a:r>
              <a:rPr lang="en" sz="1300">
                <a:latin typeface="Newsreader"/>
                <a:ea typeface="Newsreader"/>
                <a:cs typeface="Newsreader"/>
                <a:sym typeface="Newsreader"/>
              </a:rPr>
              <a:t>less stability in presenting the true network structure.</a:t>
            </a:r>
            <a:endParaRPr sz="1300">
              <a:latin typeface="Newsreader"/>
              <a:ea typeface="Newsreader"/>
              <a:cs typeface="Newsreader"/>
              <a:sym typeface="Newsreader"/>
            </a:endParaRPr>
          </a:p>
          <a:p>
            <a:pPr indent="0" lvl="0" marL="0" rtl="0" algn="l">
              <a:spcBef>
                <a:spcPts val="800"/>
              </a:spcBef>
              <a:spcAft>
                <a:spcPts val="800"/>
              </a:spcAft>
              <a:buNone/>
            </a:pPr>
            <a:r>
              <a:rPr lang="en" sz="1300">
                <a:latin typeface="Newsreader"/>
                <a:ea typeface="Newsreader"/>
                <a:cs typeface="Newsreader"/>
                <a:sym typeface="Newsreader"/>
              </a:rPr>
              <a:t>Both Louvain and Label Propagation are still community detection algorithms that are universally applied in real-world data mining today. However, for this given dataset, Louvain was proven to be the more reliable algorithm of the two.</a:t>
            </a:r>
            <a:endParaRPr sz="1300">
              <a:latin typeface="Newsreader"/>
              <a:ea typeface="Newsreader"/>
              <a:cs typeface="Newsreader"/>
              <a:sym typeface="Newsread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