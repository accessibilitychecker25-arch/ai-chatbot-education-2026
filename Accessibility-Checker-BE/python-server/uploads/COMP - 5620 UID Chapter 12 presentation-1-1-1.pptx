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  <p:sldMasterId id="2147483706" r:id="rId2"/>
  </p:sldMasterIdLst>
  <p:notesMasterIdLst>
    <p:notesMasterId r:id="rId4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</p:sldIdLst>
  <p:sldSz cx="9144000" cy="5143500" type="screen16x9"/>
  <p:notesSz cx="6858000" cy="9144000"/>
  <p:embeddedFontLst>
    <p:embeddedFont>
      <p:font typeface="Lato" panose="020F0502020204030203" pitchFamily="34" charset="0"/>
      <p:regular r:id="rId50"/>
      <p:bold r:id="rId51"/>
      <p:italic r:id="rId52"/>
      <p:boldItalic r:id="rId53"/>
    </p:embeddedFont>
    <p:embeddedFont>
      <p:font typeface="Quantico" panose="020B0604020202020204" charset="0"/>
      <p:regular r:id="rId54"/>
      <p:bold r:id="rId55"/>
      <p:italic r:id="rId56"/>
      <p:boldItalic r:id="rId57"/>
    </p:embeddedFont>
    <p:embeddedFont>
      <p:font typeface="Roboto" panose="02000000000000000000" pitchFamily="2" charset="0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5" Type="http://schemas.openxmlformats.org/officeDocument/2006/relationships/slide" Target="slides/slide3.xml"/><Relationship Id="rId61" Type="http://schemas.openxmlformats.org/officeDocument/2006/relationships/font" Target="fonts/font12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font" Target="fonts/font7.fntdata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font" Target="fonts/font2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10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5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8d99f3b7c8_1_8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8d99f3b7c8_1_8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8d99f3b7c8_1_1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8d99f3b7c8_1_1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8dd0dea122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8dd0dea122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8dfaa4948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8dfaa4948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8dfaa4948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8dfaa4948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8dd0dea122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8dd0dea122_2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8dfaa4948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8dfaa4948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8dfaa49484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8dfaa49484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8e1e7905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8e1e7905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8dd0dea122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8dd0dea122_2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8dfaa4948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8dfaa49484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8dfaa49484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8dfaa49484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8dfaa49484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8dfaa49484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8dfaa49484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8dfaa49484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8dd0dea122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8dd0dea122_2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8dfaa49484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8dfaa49484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8dfaa49484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8dfaa49484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8dfaa4948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8dfaa4948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8d99f3b7c8_1_2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8d99f3b7c8_1_2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8d99f3b7c8_1_2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8d99f3b7c8_1_2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8d99f3b7c8_1_2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8d99f3b7c8_1_2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8dcb6a4230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8dcb6a4230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8dcb6a4230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8dcb6a4230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8dcb6a4230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8dcb6a4230_1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8dcb6a4230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8dcb6a4230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8dcb6a4230_1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8dcb6a4230_1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8dcb6a4230_1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8dcb6a4230_1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8dfaa49484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8dfaa49484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8d99f3b7c8_1_1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8d99f3b7c8_1_1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8d99f3b7c8_1_2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8d99f3b7c8_1_2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8d99f3b7c8_1_2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8d99f3b7c8_1_2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8d99f3b7c8_1_2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8d99f3b7c8_1_2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8d99f3b7c8_1_2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8d99f3b7c8_1_2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8d99f3b7c8_1_2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8d99f3b7c8_1_2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8dfaa49484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8dfaa49484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8dea39055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8dea39055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8dea39055d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8dea39055d_0_4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8dea39055d_0_8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8dea39055d_0_8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8dea39055d_0_2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8dea39055d_0_2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8dea39055d_0_1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8dea39055d_0_1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8dea39055d_0_1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8dea39055d_0_1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8dea39055d_0_2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8dea39055d_0_2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8dea39055d_0_30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8dea39055d_0_30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8dea39055d_0_3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8dea39055d_0_3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8dea39055d_0_38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38dea39055d_0_38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8e249f975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38e249f975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BLANK_16_1_1">
    <p:bg>
      <p:bgPr>
        <a:solidFill>
          <a:schemeClr val="lt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BLANK_16_1_1"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2">
  <p:cSld name="BLANK_1_1_1_1_1_1_1_1_1_1_1"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subTitle" idx="1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ubTitle" idx="2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ubTitle" idx="3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ubTitle" idx="4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ubTitle" idx="5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ubTitle" idx="6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ubTitle" idx="7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">
  <p:cSld name="BLANK_1_1_1_1_1_1_1_1">
    <p:bg>
      <p:bgPr>
        <a:solidFill>
          <a:schemeClr val="accent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title" idx="2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 idx="3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title" idx="4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title" idx="5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title" idx="6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 idx="7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title" idx="8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title" idx="9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title" idx="13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BLANK_1_1_1_1_1_1_1_1_1_1_1_1_1_1_1_1_1_1_1_1">
    <p:bg>
      <p:bgPr>
        <a:solidFill>
          <a:schemeClr val="dk2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2" name="Google Shape;92;p18"/>
          <p:cNvSpPr txBox="1">
            <a:spLocks noGrp="1"/>
          </p:cNvSpPr>
          <p:nvPr>
            <p:ph type="subTitle" idx="1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93" name="Google Shape;93;p18"/>
          <p:cNvSpPr>
            <a:spLocks noGrp="1"/>
          </p:cNvSpPr>
          <p:nvPr>
            <p:ph type="pic" idx="2"/>
          </p:nvPr>
        </p:nvSpPr>
        <p:spPr>
          <a:xfrm>
            <a:off x="1801500" y="1497750"/>
            <a:ext cx="1801500" cy="18225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  <p:sp>
        <p:nvSpPr>
          <p:cNvPr id="94" name="Google Shape;94;p18"/>
          <p:cNvSpPr>
            <a:spLocks noGrp="1"/>
          </p:cNvSpPr>
          <p:nvPr>
            <p:ph type="pic" idx="3"/>
          </p:nvPr>
        </p:nvSpPr>
        <p:spPr>
          <a:xfrm>
            <a:off x="1801500" y="3320250"/>
            <a:ext cx="1801500" cy="18225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  <p:sp>
        <p:nvSpPr>
          <p:cNvPr id="95" name="Google Shape;95;p18"/>
          <p:cNvSpPr>
            <a:spLocks noGrp="1"/>
          </p:cNvSpPr>
          <p:nvPr>
            <p:ph type="pic" idx="4"/>
          </p:nvPr>
        </p:nvSpPr>
        <p:spPr>
          <a:xfrm>
            <a:off x="0" y="1497750"/>
            <a:ext cx="1801500" cy="18225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  <p:sp>
        <p:nvSpPr>
          <p:cNvPr id="96" name="Google Shape;96;p18"/>
          <p:cNvSpPr>
            <a:spLocks noGrp="1"/>
          </p:cNvSpPr>
          <p:nvPr>
            <p:ph type="pic" idx="5"/>
          </p:nvPr>
        </p:nvSpPr>
        <p:spPr>
          <a:xfrm>
            <a:off x="0" y="3320250"/>
            <a:ext cx="1801500" cy="18225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  <p:sp>
        <p:nvSpPr>
          <p:cNvPr id="97" name="Google Shape;97;p18"/>
          <p:cNvSpPr>
            <a:spLocks noGrp="1"/>
          </p:cNvSpPr>
          <p:nvPr>
            <p:ph type="pic" idx="6"/>
          </p:nvPr>
        </p:nvSpPr>
        <p:spPr>
          <a:xfrm>
            <a:off x="3603000" y="1497750"/>
            <a:ext cx="1801500" cy="18225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  <p:sp>
        <p:nvSpPr>
          <p:cNvPr id="98" name="Google Shape;98;p18"/>
          <p:cNvSpPr>
            <a:spLocks noGrp="1"/>
          </p:cNvSpPr>
          <p:nvPr>
            <p:ph type="pic" idx="7"/>
          </p:nvPr>
        </p:nvSpPr>
        <p:spPr>
          <a:xfrm>
            <a:off x="3603000" y="3320250"/>
            <a:ext cx="1801500" cy="18225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3">
  <p:cSld name="BLANK_1_1_1_1_1_1_1_1_1_1_1_1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title" idx="2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ubTitle" idx="1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title" idx="3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ubTitle" idx="4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9"/>
          <p:cNvSpPr>
            <a:spLocks noGrp="1"/>
          </p:cNvSpPr>
          <p:nvPr>
            <p:ph type="pic" idx="5"/>
          </p:nvPr>
        </p:nvSpPr>
        <p:spPr>
          <a:xfrm>
            <a:off x="0" y="1502400"/>
            <a:ext cx="5404500" cy="3639600"/>
          </a:xfrm>
          <a:prstGeom prst="snip1Rect">
            <a:avLst>
              <a:gd name="adj" fmla="val 16026"/>
            </a:avLst>
          </a:prstGeom>
          <a:noFill/>
          <a:ln>
            <a:noFill/>
          </a:ln>
        </p:spPr>
      </p:sp>
      <p:sp>
        <p:nvSpPr>
          <p:cNvPr id="109" name="Google Shape;109;p19"/>
          <p:cNvSpPr txBox="1">
            <a:spLocks noGrp="1"/>
          </p:cNvSpPr>
          <p:nvPr>
            <p:ph type="subTitle" idx="6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subTitle" idx="7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5 ">
  <p:cSld name="BLANK_1_1_1_1_1_1_1">
    <p:bg>
      <p:bgPr>
        <a:solidFill>
          <a:schemeClr val="accent5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title" idx="2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ubTitle" idx="1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6">
  <p:cSld name="BLANK_1_1_1_1_1_1_2">
    <p:bg>
      <p:bgPr>
        <a:solidFill>
          <a:schemeClr val="accent2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9" name="Google Shape;119;p21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1" name="Google Shape;121;p21"/>
          <p:cNvSpPr txBox="1">
            <a:spLocks noGrp="1"/>
          </p:cNvSpPr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subTitle" idx="1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title" idx="2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7 ">
  <p:cSld name="CUSTOM_11">
    <p:bg>
      <p:bgPr>
        <a:solidFill>
          <a:schemeClr val="lt2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name="adj" fmla="val 139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6" name="Google Shape;126;p22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name="adj" fmla="val 139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5438163" y="4761750"/>
            <a:ext cx="2964175" cy="388625"/>
          </a:xfrm>
          <a:custGeom>
            <a:avLst/>
            <a:gdLst/>
            <a:ahLst/>
            <a:cxnLst/>
            <a:rect l="l" t="t" r="r" b="b"/>
            <a:pathLst>
              <a:path w="118567" h="15545" extrusionOk="0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9" name="Google Shape;129;p22"/>
          <p:cNvSpPr/>
          <p:nvPr/>
        </p:nvSpPr>
        <p:spPr>
          <a:xfrm>
            <a:off x="5437625" y="-10675"/>
            <a:ext cx="2971800" cy="708675"/>
          </a:xfrm>
          <a:custGeom>
            <a:avLst/>
            <a:gdLst/>
            <a:ahLst/>
            <a:cxnLst/>
            <a:rect l="l" t="t" r="r" b="b"/>
            <a:pathLst>
              <a:path w="118872" h="28347" extrusionOk="0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title" idx="2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8 ">
  <p:cSld name="CUSTOM_12">
    <p:bg>
      <p:bgPr>
        <a:solidFill>
          <a:schemeClr val="accent5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name="adj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name="adj" fmla="val 139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name="adj" fmla="val 139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 idx="2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38" name="Google Shape;138;p23"/>
          <p:cNvSpPr/>
          <p:nvPr/>
        </p:nvSpPr>
        <p:spPr>
          <a:xfrm>
            <a:off x="5586750" y="-10675"/>
            <a:ext cx="2971800" cy="708675"/>
          </a:xfrm>
          <a:custGeom>
            <a:avLst/>
            <a:gdLst/>
            <a:ahLst/>
            <a:cxnLst/>
            <a:rect l="l" t="t" r="r" b="b"/>
            <a:pathLst>
              <a:path w="118872" h="28347" extrusionOk="0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139" name="Google Shape;139;p23"/>
          <p:cNvSpPr/>
          <p:nvPr/>
        </p:nvSpPr>
        <p:spPr>
          <a:xfrm>
            <a:off x="5590563" y="4762500"/>
            <a:ext cx="2964175" cy="388625"/>
          </a:xfrm>
          <a:custGeom>
            <a:avLst/>
            <a:gdLst/>
            <a:ahLst/>
            <a:cxnLst/>
            <a:rect l="l" t="t" r="r" b="b"/>
            <a:pathLst>
              <a:path w="118567" h="15545" extrusionOk="0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BLANK_1_1_1_1_1_1_1_1_1_1_1_1_1_1_1_1_1">
    <p:bg>
      <p:bgPr>
        <a:solidFill>
          <a:schemeClr val="accent5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42" name="Google Shape;142;p24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43" name="Google Shape;143;p24"/>
          <p:cNvSpPr>
            <a:spLocks noGrp="1"/>
          </p:cNvSpPr>
          <p:nvPr>
            <p:ph type="pic" idx="2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144" name="Google Shape;144;p24"/>
          <p:cNvSpPr txBox="1">
            <a:spLocks noGrp="1"/>
          </p:cNvSpPr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45" name="Google Shape;145;p24"/>
          <p:cNvSpPr>
            <a:spLocks noGrp="1"/>
          </p:cNvSpPr>
          <p:nvPr>
            <p:ph type="pic" idx="3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146" name="Google Shape;146;p24"/>
          <p:cNvSpPr>
            <a:spLocks noGrp="1"/>
          </p:cNvSpPr>
          <p:nvPr>
            <p:ph type="pic" idx="4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147" name="Google Shape;147;p24"/>
          <p:cNvSpPr txBox="1">
            <a:spLocks noGrp="1"/>
          </p:cNvSpPr>
          <p:nvPr>
            <p:ph type="title" idx="5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48" name="Google Shape;148;p24"/>
          <p:cNvSpPr txBox="1">
            <a:spLocks noGrp="1"/>
          </p:cNvSpPr>
          <p:nvPr>
            <p:ph type="title" idx="6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49" name="Google Shape;149;p24"/>
          <p:cNvSpPr txBox="1">
            <a:spLocks noGrp="1"/>
          </p:cNvSpPr>
          <p:nvPr>
            <p:ph type="title" idx="7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50" name="Google Shape;150;p24"/>
          <p:cNvSpPr txBox="1">
            <a:spLocks noGrp="1"/>
          </p:cNvSpPr>
          <p:nvPr>
            <p:ph type="body" idx="1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8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body" idx="9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4">
  <p:cSld name="CUSTOM_15">
    <p:bg>
      <p:bgPr>
        <a:solidFill>
          <a:schemeClr val="lt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5"/>
          <p:cNvPicPr preferRelativeResize="0"/>
          <p:nvPr/>
        </p:nvPicPr>
        <p:blipFill rotWithShape="1">
          <a:blip r:embed="rId2">
            <a:alphaModFix amt="10000"/>
          </a:blip>
          <a:srcRect l="789" r="12434"/>
          <a:stretch/>
        </p:blipFill>
        <p:spPr>
          <a:xfrm>
            <a:off x="0" y="-125"/>
            <a:ext cx="6696900" cy="51435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title" idx="2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title" idx="3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title" idx="4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title" idx="5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title" idx="6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title" idx="7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9 ">
  <p:cSld name="BLANK_1_1_1_1_1_1_1_1_1_1_1_1_1_1_1_1_1_1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name="adj" fmla="val 2740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64" name="Google Shape;164;p26"/>
          <p:cNvSpPr txBox="1">
            <a:spLocks noGrp="1"/>
          </p:cNvSpPr>
          <p:nvPr>
            <p:ph type="subTitle" idx="1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65" name="Google Shape;165;p26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name="adj" fmla="val 2378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name="adj" fmla="val 2219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67" name="Google Shape;167;p26"/>
          <p:cNvSpPr txBox="1">
            <a:spLocks noGrp="1"/>
          </p:cNvSpPr>
          <p:nvPr>
            <p:ph type="subTitle" idx="2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26"/>
          <p:cNvSpPr txBox="1">
            <a:spLocks noGrp="1"/>
          </p:cNvSpPr>
          <p:nvPr>
            <p:ph type="subTitle" idx="3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subTitle" idx="4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71" name="Google Shape;171;p26"/>
          <p:cNvSpPr>
            <a:spLocks noGrp="1"/>
          </p:cNvSpPr>
          <p:nvPr>
            <p:ph type="pic" idx="5"/>
          </p:nvPr>
        </p:nvSpPr>
        <p:spPr>
          <a:xfrm>
            <a:off x="75" y="2673275"/>
            <a:ext cx="3400800" cy="2471400"/>
          </a:xfrm>
          <a:prstGeom prst="snip1Rect">
            <a:avLst>
              <a:gd name="adj" fmla="val 2123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Google Shape;172;p26"/>
          <p:cNvSpPr txBox="1">
            <a:spLocks noGrp="1"/>
          </p:cNvSpPr>
          <p:nvPr>
            <p:ph type="subTitle" idx="6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26"/>
          <p:cNvSpPr txBox="1">
            <a:spLocks noGrp="1"/>
          </p:cNvSpPr>
          <p:nvPr>
            <p:ph type="subTitle" idx="7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74" name="Google Shape;174;p26"/>
          <p:cNvSpPr txBox="1">
            <a:spLocks noGrp="1"/>
          </p:cNvSpPr>
          <p:nvPr>
            <p:ph type="subTitle" idx="8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26"/>
          <p:cNvSpPr txBox="1">
            <a:spLocks noGrp="1"/>
          </p:cNvSpPr>
          <p:nvPr>
            <p:ph type="subTitle" idx="9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0">
  <p:cSld name="BLANK_1_1_1_1_1_1_1_1_1_1_1_1_1_1_1_1_1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>
            <a:spLocks noGrp="1"/>
          </p:cNvSpPr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78" name="Google Shape;178;p27"/>
          <p:cNvSpPr>
            <a:spLocks noGrp="1"/>
          </p:cNvSpPr>
          <p:nvPr>
            <p:ph type="pic" idx="2"/>
          </p:nvPr>
        </p:nvSpPr>
        <p:spPr>
          <a:xfrm>
            <a:off x="75" y="2673275"/>
            <a:ext cx="3014400" cy="24714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179" name="Google Shape;179;p27"/>
          <p:cNvSpPr>
            <a:spLocks noGrp="1"/>
          </p:cNvSpPr>
          <p:nvPr>
            <p:ph type="pic" idx="3"/>
          </p:nvPr>
        </p:nvSpPr>
        <p:spPr>
          <a:xfrm>
            <a:off x="5341625" y="-3800"/>
            <a:ext cx="3802500" cy="18993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  <p:sp>
        <p:nvSpPr>
          <p:cNvPr id="180" name="Google Shape;180;p27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82" name="Google Shape;182;p27"/>
          <p:cNvSpPr txBox="1">
            <a:spLocks noGrp="1"/>
          </p:cNvSpPr>
          <p:nvPr>
            <p:ph type="subTitle" idx="1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27"/>
          <p:cNvSpPr txBox="1">
            <a:spLocks noGrp="1"/>
          </p:cNvSpPr>
          <p:nvPr>
            <p:ph type="subTitle" idx="4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27"/>
          <p:cNvSpPr txBox="1">
            <a:spLocks noGrp="1"/>
          </p:cNvSpPr>
          <p:nvPr>
            <p:ph type="subTitle" idx="5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27"/>
          <p:cNvSpPr txBox="1">
            <a:spLocks noGrp="1"/>
          </p:cNvSpPr>
          <p:nvPr>
            <p:ph type="subTitle" idx="6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1">
  <p:cSld name="BLANK_1_1_1_1_1_1_1_1_1_1_1_1_1_1_1">
    <p:bg>
      <p:bgPr>
        <a:solidFill>
          <a:schemeClr val="lt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>
            <a:spLocks noGrp="1"/>
          </p:cNvSpPr>
          <p:nvPr>
            <p:ph type="subTitle" idx="1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88" name="Google Shape;188;p28"/>
          <p:cNvSpPr txBox="1">
            <a:spLocks noGrp="1"/>
          </p:cNvSpPr>
          <p:nvPr>
            <p:ph type="subTitle" idx="2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89" name="Google Shape;189;p28"/>
          <p:cNvSpPr txBox="1">
            <a:spLocks noGrp="1"/>
          </p:cNvSpPr>
          <p:nvPr>
            <p:ph type="subTitle" idx="3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90" name="Google Shape;190;p28"/>
          <p:cNvSpPr txBox="1">
            <a:spLocks noGrp="1"/>
          </p:cNvSpPr>
          <p:nvPr>
            <p:ph type="subTitle" idx="4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91" name="Google Shape;191;p28"/>
          <p:cNvSpPr txBox="1">
            <a:spLocks noGrp="1"/>
          </p:cNvSpPr>
          <p:nvPr>
            <p:ph type="subTitle" idx="5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92" name="Google Shape;192;p28"/>
          <p:cNvSpPr txBox="1">
            <a:spLocks noGrp="1"/>
          </p:cNvSpPr>
          <p:nvPr>
            <p:ph type="subTitle" idx="6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93" name="Google Shape;193;p28"/>
          <p:cNvSpPr txBox="1">
            <a:spLocks noGrp="1"/>
          </p:cNvSpPr>
          <p:nvPr>
            <p:ph type="subTitle" idx="7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94" name="Google Shape;194;p28"/>
          <p:cNvSpPr txBox="1">
            <a:spLocks noGrp="1"/>
          </p:cNvSpPr>
          <p:nvPr>
            <p:ph type="subTitle" idx="8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28"/>
          <p:cNvSpPr txBox="1">
            <a:spLocks noGrp="1"/>
          </p:cNvSpPr>
          <p:nvPr>
            <p:ph type="subTitle" idx="9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28"/>
          <p:cNvSpPr txBox="1">
            <a:spLocks noGrp="1"/>
          </p:cNvSpPr>
          <p:nvPr>
            <p:ph type="subTitle" idx="13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28"/>
          <p:cNvSpPr txBox="1">
            <a:spLocks noGrp="1"/>
          </p:cNvSpPr>
          <p:nvPr>
            <p:ph type="subTitle" idx="14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28"/>
          <p:cNvSpPr txBox="1">
            <a:spLocks noGrp="1"/>
          </p:cNvSpPr>
          <p:nvPr>
            <p:ph type="subTitle" idx="15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28"/>
          <p:cNvSpPr txBox="1">
            <a:spLocks noGrp="1"/>
          </p:cNvSpPr>
          <p:nvPr>
            <p:ph type="subTitle" idx="16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subTitle" idx="17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28"/>
          <p:cNvSpPr txBox="1">
            <a:spLocks noGrp="1"/>
          </p:cNvSpPr>
          <p:nvPr>
            <p:ph type="subTitle" idx="18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28"/>
          <p:cNvSpPr txBox="1">
            <a:spLocks noGrp="1"/>
          </p:cNvSpPr>
          <p:nvPr>
            <p:ph type="subTitle" idx="19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28"/>
          <p:cNvSpPr txBox="1">
            <a:spLocks noGrp="1"/>
          </p:cNvSpPr>
          <p:nvPr>
            <p:ph type="subTitle" idx="20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subTitle" idx="21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5" name="Google Shape;205;p28"/>
          <p:cNvSpPr txBox="1">
            <a:spLocks noGrp="1"/>
          </p:cNvSpPr>
          <p:nvPr>
            <p:ph type="subTitle" idx="22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2">
  <p:cSld name="CUSTOM_14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>
            <a:spLocks noGrp="1"/>
          </p:cNvSpPr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09" name="Google Shape;209;p29"/>
          <p:cNvSpPr txBox="1">
            <a:spLocks noGrp="1"/>
          </p:cNvSpPr>
          <p:nvPr>
            <p:ph type="title" idx="2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10" name="Google Shape;210;p29"/>
          <p:cNvSpPr txBox="1">
            <a:spLocks noGrp="1"/>
          </p:cNvSpPr>
          <p:nvPr>
            <p:ph type="title" idx="3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11" name="Google Shape;211;p29"/>
          <p:cNvSpPr txBox="1">
            <a:spLocks noGrp="1"/>
          </p:cNvSpPr>
          <p:nvPr>
            <p:ph type="title" idx="4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 idx="5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3" name="Google Shape;213;p29"/>
          <p:cNvSpPr txBox="1">
            <a:spLocks noGrp="1"/>
          </p:cNvSpPr>
          <p:nvPr>
            <p:ph type="title" idx="6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 idx="7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title" idx="8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title" idx="9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title" idx="13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title" idx="14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3">
  <p:cSld name="BLANK_1_1_1_1_1_1_1_1_1_1_1_1_1_1_2">
    <p:bg>
      <p:bgPr>
        <a:solidFill>
          <a:schemeClr val="lt1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name="adj" fmla="val 12424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21" name="Google Shape;221;p30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name="adj" fmla="val 12424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22" name="Google Shape;222;p30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name="adj" fmla="val 12424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name="adj" fmla="val 115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24" name="Google Shape;224;p30"/>
          <p:cNvSpPr txBox="1">
            <a:spLocks noGrp="1"/>
          </p:cNvSpPr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25" name="Google Shape;225;p30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name="adj" fmla="val 15953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27" name="Google Shape;227;p30"/>
          <p:cNvSpPr txBox="1">
            <a:spLocks noGrp="1"/>
          </p:cNvSpPr>
          <p:nvPr>
            <p:ph type="title" idx="2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sz="1200" b="1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title" idx="3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29" name="Google Shape;229;p30"/>
          <p:cNvSpPr txBox="1">
            <a:spLocks noGrp="1"/>
          </p:cNvSpPr>
          <p:nvPr>
            <p:ph type="title" idx="4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30" name="Google Shape;230;p30"/>
          <p:cNvSpPr txBox="1">
            <a:spLocks noGrp="1"/>
          </p:cNvSpPr>
          <p:nvPr>
            <p:ph type="title" idx="5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title" idx="6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32" name="Google Shape;232;p30"/>
          <p:cNvSpPr txBox="1">
            <a:spLocks noGrp="1"/>
          </p:cNvSpPr>
          <p:nvPr>
            <p:ph type="title" idx="7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sz="1200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33" name="Google Shape;233;p30"/>
          <p:cNvSpPr txBox="1">
            <a:spLocks noGrp="1"/>
          </p:cNvSpPr>
          <p:nvPr>
            <p:ph type="title" idx="8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sz="1200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title" idx="9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sz="1200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title" idx="13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36" name="Google Shape;236;p30"/>
          <p:cNvSpPr txBox="1">
            <a:spLocks noGrp="1"/>
          </p:cNvSpPr>
          <p:nvPr>
            <p:ph type="title" idx="14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title" idx="15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title" idx="16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title" idx="17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4">
  <p:cSld name="CUSTOM_5_1">
    <p:bg>
      <p:bgPr>
        <a:solidFill>
          <a:schemeClr val="lt1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name="adj" fmla="val 11506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2" name="Google Shape;242;p31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name="adj" fmla="val 11506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name="adj" fmla="val 11506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4" name="Google Shape;244;p31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name="adj" fmla="val 115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subTitle" idx="1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title" idx="2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sz="1400" b="1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subTitle" idx="3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title" idx="4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sz="1400" b="1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50" name="Google Shape;250;p31"/>
          <p:cNvSpPr txBox="1">
            <a:spLocks noGrp="1"/>
          </p:cNvSpPr>
          <p:nvPr>
            <p:ph type="subTitle" idx="5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1" name="Google Shape;251;p31"/>
          <p:cNvSpPr txBox="1">
            <a:spLocks noGrp="1"/>
          </p:cNvSpPr>
          <p:nvPr>
            <p:ph type="title" idx="6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sz="1400" b="1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52" name="Google Shape;252;p31"/>
          <p:cNvSpPr txBox="1">
            <a:spLocks noGrp="1"/>
          </p:cNvSpPr>
          <p:nvPr>
            <p:ph type="subTitle" idx="7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31"/>
          <p:cNvSpPr txBox="1">
            <a:spLocks noGrp="1"/>
          </p:cNvSpPr>
          <p:nvPr>
            <p:ph type="title" idx="8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sz="1400" b="1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54" name="Google Shape;254;p31"/>
          <p:cNvSpPr txBox="1">
            <a:spLocks noGrp="1"/>
          </p:cNvSpPr>
          <p:nvPr>
            <p:ph type="subTitle" idx="9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5" name="Google Shape;255;p31"/>
          <p:cNvSpPr txBox="1">
            <a:spLocks noGrp="1"/>
          </p:cNvSpPr>
          <p:nvPr>
            <p:ph type="title" idx="13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sz="1400" b="1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56" name="Google Shape;256;p31"/>
          <p:cNvSpPr txBox="1">
            <a:spLocks noGrp="1"/>
          </p:cNvSpPr>
          <p:nvPr>
            <p:ph type="subTitle" idx="14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7" name="Google Shape;257;p31"/>
          <p:cNvSpPr txBox="1">
            <a:spLocks noGrp="1"/>
          </p:cNvSpPr>
          <p:nvPr>
            <p:ph type="subTitle" idx="15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31"/>
          <p:cNvSpPr txBox="1">
            <a:spLocks noGrp="1"/>
          </p:cNvSpPr>
          <p:nvPr>
            <p:ph type="subTitle" idx="16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31"/>
          <p:cNvSpPr txBox="1">
            <a:spLocks noGrp="1"/>
          </p:cNvSpPr>
          <p:nvPr>
            <p:ph type="subTitle" idx="17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31"/>
          <p:cNvSpPr txBox="1">
            <a:spLocks noGrp="1"/>
          </p:cNvSpPr>
          <p:nvPr>
            <p:ph type="subTitle" idx="18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31"/>
          <p:cNvSpPr txBox="1">
            <a:spLocks noGrp="1"/>
          </p:cNvSpPr>
          <p:nvPr>
            <p:ph type="subTitle" idx="19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31"/>
          <p:cNvSpPr txBox="1">
            <a:spLocks noGrp="1"/>
          </p:cNvSpPr>
          <p:nvPr>
            <p:ph type="subTitle" idx="20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31"/>
          <p:cNvSpPr txBox="1">
            <a:spLocks noGrp="1"/>
          </p:cNvSpPr>
          <p:nvPr>
            <p:ph type="subTitle" idx="21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31"/>
          <p:cNvSpPr txBox="1">
            <a:spLocks noGrp="1"/>
          </p:cNvSpPr>
          <p:nvPr>
            <p:ph type="subTitle" idx="22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31"/>
          <p:cNvSpPr txBox="1">
            <a:spLocks noGrp="1"/>
          </p:cNvSpPr>
          <p:nvPr>
            <p:ph type="subTitle" idx="23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-to-market ideas - ALT 1">
  <p:cSld name="CUSTOM_5_1_1_1_4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"/>
          <p:cNvSpPr>
            <a:spLocks noGrp="1"/>
          </p:cNvSpPr>
          <p:nvPr>
            <p:ph type="pic" idx="2"/>
          </p:nvPr>
        </p:nvSpPr>
        <p:spPr>
          <a:xfrm>
            <a:off x="-1600" y="1969350"/>
            <a:ext cx="9144000" cy="3174600"/>
          </a:xfrm>
          <a:prstGeom prst="snip1Rect">
            <a:avLst>
              <a:gd name="adj" fmla="val 19548"/>
            </a:avLst>
          </a:prstGeom>
          <a:noFill/>
          <a:ln>
            <a:noFill/>
          </a:ln>
        </p:spPr>
      </p:sp>
      <p:sp>
        <p:nvSpPr>
          <p:cNvPr id="268" name="Google Shape;268;p32"/>
          <p:cNvSpPr txBox="1">
            <a:spLocks noGrp="1"/>
          </p:cNvSpPr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69" name="Google Shape;269;p32"/>
          <p:cNvSpPr txBox="1">
            <a:spLocks noGrp="1"/>
          </p:cNvSpPr>
          <p:nvPr>
            <p:ph type="body" idx="1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32"/>
          <p:cNvSpPr txBox="1">
            <a:spLocks noGrp="1"/>
          </p:cNvSpPr>
          <p:nvPr>
            <p:ph type="title" idx="3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71" name="Google Shape;271;p32"/>
          <p:cNvSpPr txBox="1">
            <a:spLocks noGrp="1"/>
          </p:cNvSpPr>
          <p:nvPr>
            <p:ph type="body" idx="4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2" name="Google Shape;272;p32"/>
          <p:cNvSpPr txBox="1">
            <a:spLocks noGrp="1"/>
          </p:cNvSpPr>
          <p:nvPr>
            <p:ph type="title" idx="5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73" name="Google Shape;273;p32"/>
          <p:cNvSpPr txBox="1">
            <a:spLocks noGrp="1"/>
          </p:cNvSpPr>
          <p:nvPr>
            <p:ph type="body" idx="6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32"/>
          <p:cNvSpPr txBox="1">
            <a:spLocks noGrp="1"/>
          </p:cNvSpPr>
          <p:nvPr>
            <p:ph type="title" idx="7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75" name="Google Shape;275;p32"/>
          <p:cNvSpPr txBox="1">
            <a:spLocks noGrp="1"/>
          </p:cNvSpPr>
          <p:nvPr>
            <p:ph type="body" idx="8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6" name="Google Shape;276;p32"/>
          <p:cNvSpPr txBox="1">
            <a:spLocks noGrp="1"/>
          </p:cNvSpPr>
          <p:nvPr>
            <p:ph type="subTitle" idx="9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77" name="Google Shape;277;p32"/>
          <p:cNvSpPr txBox="1">
            <a:spLocks noGrp="1"/>
          </p:cNvSpPr>
          <p:nvPr>
            <p:ph type="subTitle" idx="13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78" name="Google Shape;278;p32"/>
          <p:cNvSpPr txBox="1">
            <a:spLocks noGrp="1"/>
          </p:cNvSpPr>
          <p:nvPr>
            <p:ph type="subTitle" idx="14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79" name="Google Shape;279;p32"/>
          <p:cNvSpPr txBox="1">
            <a:spLocks noGrp="1"/>
          </p:cNvSpPr>
          <p:nvPr>
            <p:ph type="subTitle" idx="15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80" name="Google Shape;280;p32"/>
          <p:cNvSpPr txBox="1">
            <a:spLocks noGrp="1"/>
          </p:cNvSpPr>
          <p:nvPr>
            <p:ph type="title" idx="16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81" name="Google Shape;281;p32"/>
          <p:cNvSpPr txBox="1">
            <a:spLocks noGrp="1"/>
          </p:cNvSpPr>
          <p:nvPr>
            <p:ph type="subTitle" idx="17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-to-market ideas - ALT 4">
  <p:cSld name="CUSTOM_5_1_1_1_1">
    <p:bg>
      <p:bgPr>
        <a:solidFill>
          <a:schemeClr val="lt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" name="Google Shape;284;p33"/>
          <p:cNvSpPr txBox="1">
            <a:spLocks noGrp="1"/>
          </p:cNvSpPr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33"/>
          <p:cNvSpPr txBox="1">
            <a:spLocks noGrp="1"/>
          </p:cNvSpPr>
          <p:nvPr>
            <p:ph type="title" idx="2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87" name="Google Shape;287;p33"/>
          <p:cNvSpPr txBox="1">
            <a:spLocks noGrp="1"/>
          </p:cNvSpPr>
          <p:nvPr>
            <p:ph type="body" idx="3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8" name="Google Shape;288;p33"/>
          <p:cNvSpPr txBox="1">
            <a:spLocks noGrp="1"/>
          </p:cNvSpPr>
          <p:nvPr>
            <p:ph type="title" idx="4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89" name="Google Shape;289;p33"/>
          <p:cNvSpPr txBox="1">
            <a:spLocks noGrp="1"/>
          </p:cNvSpPr>
          <p:nvPr>
            <p:ph type="body" idx="5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0" name="Google Shape;290;p33"/>
          <p:cNvSpPr txBox="1">
            <a:spLocks noGrp="1"/>
          </p:cNvSpPr>
          <p:nvPr>
            <p:ph type="title" idx="6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91" name="Google Shape;291;p33"/>
          <p:cNvSpPr txBox="1">
            <a:spLocks noGrp="1"/>
          </p:cNvSpPr>
          <p:nvPr>
            <p:ph type="body" idx="7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2" name="Google Shape;292;p33"/>
          <p:cNvSpPr txBox="1">
            <a:spLocks noGrp="1"/>
          </p:cNvSpPr>
          <p:nvPr>
            <p:ph type="title" idx="8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93" name="Google Shape;293;p33"/>
          <p:cNvSpPr txBox="1">
            <a:spLocks noGrp="1"/>
          </p:cNvSpPr>
          <p:nvPr>
            <p:ph type="body" idx="9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4" name="Google Shape;294;p33"/>
          <p:cNvSpPr txBox="1">
            <a:spLocks noGrp="1"/>
          </p:cNvSpPr>
          <p:nvPr>
            <p:ph type="title" idx="13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95" name="Google Shape;295;p33"/>
          <p:cNvSpPr txBox="1">
            <a:spLocks noGrp="1"/>
          </p:cNvSpPr>
          <p:nvPr>
            <p:ph type="body" idx="14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2">
  <p:cSld name="CUSTOM_3">
    <p:bg>
      <p:bgPr>
        <a:solidFill>
          <a:schemeClr val="accent4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4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98" name="Google Shape;298;p34"/>
          <p:cNvSpPr txBox="1">
            <a:spLocks noGrp="1"/>
          </p:cNvSpPr>
          <p:nvPr>
            <p:ph type="subTitle" idx="1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34"/>
          <p:cNvSpPr txBox="1">
            <a:spLocks noGrp="1"/>
          </p:cNvSpPr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00" name="Google Shape;300;p34"/>
          <p:cNvSpPr txBox="1">
            <a:spLocks noGrp="1"/>
          </p:cNvSpPr>
          <p:nvPr>
            <p:ph type="title" idx="2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01" name="Google Shape;301;p34"/>
          <p:cNvSpPr txBox="1">
            <a:spLocks noGrp="1"/>
          </p:cNvSpPr>
          <p:nvPr>
            <p:ph type="title" idx="3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02" name="Google Shape;302;p34"/>
          <p:cNvSpPr txBox="1">
            <a:spLocks noGrp="1"/>
          </p:cNvSpPr>
          <p:nvPr>
            <p:ph type="title" idx="4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03" name="Google Shape;303;p34"/>
          <p:cNvSpPr txBox="1">
            <a:spLocks noGrp="1"/>
          </p:cNvSpPr>
          <p:nvPr>
            <p:ph type="title" idx="5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04" name="Google Shape;304;p34"/>
          <p:cNvSpPr txBox="1">
            <a:spLocks noGrp="1"/>
          </p:cNvSpPr>
          <p:nvPr>
            <p:ph type="title" idx="6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05" name="Google Shape;305;p34"/>
          <p:cNvSpPr txBox="1">
            <a:spLocks noGrp="1"/>
          </p:cNvSpPr>
          <p:nvPr>
            <p:ph type="title" idx="7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06" name="Google Shape;306;p34"/>
          <p:cNvSpPr txBox="1">
            <a:spLocks noGrp="1"/>
          </p:cNvSpPr>
          <p:nvPr>
            <p:ph type="title" idx="8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-to-market ideas - ALT 3">
  <p:cSld name="CUSTOM_5_1_1_1_2">
    <p:bg>
      <p:bgPr>
        <a:solidFill>
          <a:schemeClr val="lt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9" name="Google Shape;309;p35"/>
          <p:cNvSpPr txBox="1">
            <a:spLocks noGrp="1"/>
          </p:cNvSpPr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10" name="Google Shape;310;p35"/>
          <p:cNvSpPr txBox="1">
            <a:spLocks noGrp="1"/>
          </p:cNvSpPr>
          <p:nvPr>
            <p:ph type="subTitle" idx="1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11" name="Google Shape;311;p35"/>
          <p:cNvSpPr txBox="1">
            <a:spLocks noGrp="1"/>
          </p:cNvSpPr>
          <p:nvPr>
            <p:ph type="title" idx="2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12" name="Google Shape;312;p35"/>
          <p:cNvSpPr txBox="1">
            <a:spLocks noGrp="1"/>
          </p:cNvSpPr>
          <p:nvPr>
            <p:ph type="body" idx="3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marL="914400" lvl="1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marL="1371600" lvl="2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marL="1828800" lvl="3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marL="2286000" lvl="4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marL="2743200" lvl="5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marL="3200400" lvl="6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marL="3657600" lvl="7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marL="4114800" lvl="8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13" name="Google Shape;313;p35"/>
          <p:cNvSpPr txBox="1">
            <a:spLocks noGrp="1"/>
          </p:cNvSpPr>
          <p:nvPr>
            <p:ph type="title" idx="4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14" name="Google Shape;314;p35"/>
          <p:cNvSpPr txBox="1">
            <a:spLocks noGrp="1"/>
          </p:cNvSpPr>
          <p:nvPr>
            <p:ph type="body" idx="5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marL="914400" lvl="1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marL="1371600" lvl="2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marL="1828800" lvl="3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marL="2286000" lvl="4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marL="2743200" lvl="5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marL="3200400" lvl="6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marL="3657600" lvl="7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marL="4114800" lvl="8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35"/>
          <p:cNvSpPr txBox="1">
            <a:spLocks noGrp="1"/>
          </p:cNvSpPr>
          <p:nvPr>
            <p:ph type="title" idx="6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16" name="Google Shape;316;p35"/>
          <p:cNvSpPr txBox="1">
            <a:spLocks noGrp="1"/>
          </p:cNvSpPr>
          <p:nvPr>
            <p:ph type="body" idx="7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marL="914400" lvl="1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marL="1371600" lvl="2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marL="1828800" lvl="3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marL="2286000" lvl="4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marL="2743200" lvl="5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marL="3200400" lvl="6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marL="3657600" lvl="7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marL="4114800" lvl="8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17" name="Google Shape;317;p35"/>
          <p:cNvSpPr txBox="1">
            <a:spLocks noGrp="1"/>
          </p:cNvSpPr>
          <p:nvPr>
            <p:ph type="title" idx="8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18" name="Google Shape;318;p35"/>
          <p:cNvSpPr txBox="1">
            <a:spLocks noGrp="1"/>
          </p:cNvSpPr>
          <p:nvPr>
            <p:ph type="body" idx="9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marL="914400" lvl="1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marL="1371600" lvl="2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marL="1828800" lvl="3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marL="2286000" lvl="4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marL="2743200" lvl="5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marL="3200400" lvl="6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marL="3657600" lvl="7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marL="4114800" lvl="8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-to-market ideas - ALT 2">
  <p:cSld name="CUSTOM_5_1_1_1_3">
    <p:bg>
      <p:bgPr>
        <a:solidFill>
          <a:schemeClr val="lt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/>
          <p:cNvSpPr txBox="1">
            <a:spLocks noGrp="1"/>
          </p:cNvSpPr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21" name="Google Shape;321;p36"/>
          <p:cNvSpPr txBox="1">
            <a:spLocks noGrp="1"/>
          </p:cNvSpPr>
          <p:nvPr>
            <p:ph type="subTitle" idx="1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22" name="Google Shape;322;p36"/>
          <p:cNvSpPr txBox="1">
            <a:spLocks noGrp="1"/>
          </p:cNvSpPr>
          <p:nvPr>
            <p:ph type="subTitle" idx="2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23" name="Google Shape;323;p36"/>
          <p:cNvSpPr txBox="1">
            <a:spLocks noGrp="1"/>
          </p:cNvSpPr>
          <p:nvPr>
            <p:ph type="subTitle" idx="3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36"/>
          <p:cNvSpPr txBox="1">
            <a:spLocks noGrp="1"/>
          </p:cNvSpPr>
          <p:nvPr>
            <p:ph type="subTitle" idx="4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25" name="Google Shape;325;p36"/>
          <p:cNvSpPr txBox="1">
            <a:spLocks noGrp="1"/>
          </p:cNvSpPr>
          <p:nvPr>
            <p:ph type="subTitle" idx="5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26" name="Google Shape;326;p36"/>
          <p:cNvSpPr txBox="1">
            <a:spLocks noGrp="1"/>
          </p:cNvSpPr>
          <p:nvPr>
            <p:ph type="subTitle" idx="6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27" name="Google Shape;327;p36"/>
          <p:cNvSpPr txBox="1">
            <a:spLocks noGrp="1"/>
          </p:cNvSpPr>
          <p:nvPr>
            <p:ph type="body" idx="7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28" name="Google Shape;328;p36"/>
          <p:cNvSpPr txBox="1">
            <a:spLocks noGrp="1"/>
          </p:cNvSpPr>
          <p:nvPr>
            <p:ph type="body" idx="8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29" name="Google Shape;329;p36"/>
          <p:cNvSpPr txBox="1">
            <a:spLocks noGrp="1"/>
          </p:cNvSpPr>
          <p:nvPr>
            <p:ph type="body" idx="9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30" name="Google Shape;330;p36"/>
          <p:cNvSpPr txBox="1">
            <a:spLocks noGrp="1"/>
          </p:cNvSpPr>
          <p:nvPr>
            <p:ph type="body" idx="13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31" name="Google Shape;331;p36"/>
          <p:cNvSpPr txBox="1">
            <a:spLocks noGrp="1"/>
          </p:cNvSpPr>
          <p:nvPr>
            <p:ph type="title" idx="14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32" name="Google Shape;332;p36"/>
          <p:cNvSpPr txBox="1">
            <a:spLocks noGrp="1"/>
          </p:cNvSpPr>
          <p:nvPr>
            <p:ph type="title" idx="15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33" name="Google Shape;333;p36"/>
          <p:cNvSpPr txBox="1">
            <a:spLocks noGrp="1"/>
          </p:cNvSpPr>
          <p:nvPr>
            <p:ph type="title" idx="16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34" name="Google Shape;334;p36"/>
          <p:cNvSpPr txBox="1">
            <a:spLocks noGrp="1"/>
          </p:cNvSpPr>
          <p:nvPr>
            <p:ph type="title" idx="17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35" name="Google Shape;335;p36"/>
          <p:cNvSpPr txBox="1">
            <a:spLocks noGrp="1"/>
          </p:cNvSpPr>
          <p:nvPr>
            <p:ph type="body" idx="18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36" name="Google Shape;336;p36"/>
          <p:cNvSpPr txBox="1">
            <a:spLocks noGrp="1"/>
          </p:cNvSpPr>
          <p:nvPr>
            <p:ph type="body" idx="19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36"/>
          <p:cNvSpPr txBox="1">
            <a:spLocks noGrp="1"/>
          </p:cNvSpPr>
          <p:nvPr>
            <p:ph type="body" idx="20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38" name="Google Shape;338;p36"/>
          <p:cNvSpPr txBox="1">
            <a:spLocks noGrp="1"/>
          </p:cNvSpPr>
          <p:nvPr>
            <p:ph type="body" idx="21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39" name="Google Shape;339;p36"/>
          <p:cNvSpPr txBox="1">
            <a:spLocks noGrp="1"/>
          </p:cNvSpPr>
          <p:nvPr>
            <p:ph type="body" idx="22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40" name="Google Shape;340;p36"/>
          <p:cNvSpPr txBox="1">
            <a:spLocks noGrp="1"/>
          </p:cNvSpPr>
          <p:nvPr>
            <p:ph type="body" idx="23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41" name="Google Shape;341;p36"/>
          <p:cNvSpPr txBox="1">
            <a:spLocks noGrp="1"/>
          </p:cNvSpPr>
          <p:nvPr>
            <p:ph type="body" idx="24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42" name="Google Shape;342;p36"/>
          <p:cNvSpPr txBox="1">
            <a:spLocks noGrp="1"/>
          </p:cNvSpPr>
          <p:nvPr>
            <p:ph type="body" idx="25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43" name="Google Shape;343;p36"/>
          <p:cNvSpPr txBox="1">
            <a:spLocks noGrp="1"/>
          </p:cNvSpPr>
          <p:nvPr>
            <p:ph type="body" idx="26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44" name="Google Shape;344;p36"/>
          <p:cNvSpPr txBox="1">
            <a:spLocks noGrp="1"/>
          </p:cNvSpPr>
          <p:nvPr>
            <p:ph type="body" idx="27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45" name="Google Shape;345;p36"/>
          <p:cNvSpPr txBox="1">
            <a:spLocks noGrp="1"/>
          </p:cNvSpPr>
          <p:nvPr>
            <p:ph type="body" idx="28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0">
  <p:cSld name="CUSTOM_2_1_1">
    <p:bg>
      <p:bgPr>
        <a:solidFill>
          <a:schemeClr val="lt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"/>
          <p:cNvSpPr txBox="1">
            <a:spLocks noGrp="1"/>
          </p:cNvSpPr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48" name="Google Shape;348;p37"/>
          <p:cNvSpPr txBox="1">
            <a:spLocks noGrp="1"/>
          </p:cNvSpPr>
          <p:nvPr>
            <p:ph type="title" idx="2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49" name="Google Shape;349;p37"/>
          <p:cNvSpPr txBox="1">
            <a:spLocks noGrp="1"/>
          </p:cNvSpPr>
          <p:nvPr>
            <p:ph type="title" idx="3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50" name="Google Shape;350;p37"/>
          <p:cNvSpPr txBox="1">
            <a:spLocks noGrp="1"/>
          </p:cNvSpPr>
          <p:nvPr>
            <p:ph type="title" idx="4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51" name="Google Shape;351;p37"/>
          <p:cNvSpPr txBox="1">
            <a:spLocks noGrp="1"/>
          </p:cNvSpPr>
          <p:nvPr>
            <p:ph type="subTitle" idx="1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52" name="Google Shape;352;p37"/>
          <p:cNvSpPr txBox="1">
            <a:spLocks noGrp="1"/>
          </p:cNvSpPr>
          <p:nvPr>
            <p:ph type="body" idx="5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53" name="Google Shape;353;p37"/>
          <p:cNvSpPr txBox="1">
            <a:spLocks noGrp="1"/>
          </p:cNvSpPr>
          <p:nvPr>
            <p:ph type="body" idx="6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54" name="Google Shape;354;p37"/>
          <p:cNvSpPr txBox="1">
            <a:spLocks noGrp="1"/>
          </p:cNvSpPr>
          <p:nvPr>
            <p:ph type="body" idx="7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55" name="Google Shape;355;p37"/>
          <p:cNvSpPr txBox="1">
            <a:spLocks noGrp="1"/>
          </p:cNvSpPr>
          <p:nvPr>
            <p:ph type="body" idx="8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marL="914400" lvl="1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marL="1371600" lvl="2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marL="1828800" lvl="3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marL="2286000" lvl="4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marL="2743200" lvl="5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marL="3200400" lvl="6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marL="3657600" lvl="7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marL="4114800" lvl="8" indent="-3302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2">
    <p:bg>
      <p:bgPr>
        <a:solidFill>
          <a:schemeClr val="lt1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8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name="adj" fmla="val 10918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58" name="Google Shape;358;p38"/>
          <p:cNvSpPr txBox="1">
            <a:spLocks noGrp="1"/>
          </p:cNvSpPr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59" name="Google Shape;359;p38"/>
          <p:cNvSpPr txBox="1">
            <a:spLocks noGrp="1"/>
          </p:cNvSpPr>
          <p:nvPr>
            <p:ph type="body" idx="1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60" name="Google Shape;360;p38"/>
          <p:cNvSpPr txBox="1">
            <a:spLocks noGrp="1"/>
          </p:cNvSpPr>
          <p:nvPr>
            <p:ph type="body" idx="2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9">
  <p:cSld name="CUSTOM_1">
    <p:bg>
      <p:bgPr>
        <a:solidFill>
          <a:schemeClr val="accent1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9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63" name="Google Shape;363;p39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64" name="Google Shape;364;p39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65" name="Google Shape;365;p39"/>
          <p:cNvSpPr txBox="1">
            <a:spLocks noGrp="1"/>
          </p:cNvSpPr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66" name="Google Shape;366;p39"/>
          <p:cNvSpPr txBox="1">
            <a:spLocks noGrp="1"/>
          </p:cNvSpPr>
          <p:nvPr>
            <p:ph type="title" idx="2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67" name="Google Shape;367;p39"/>
          <p:cNvSpPr txBox="1">
            <a:spLocks noGrp="1"/>
          </p:cNvSpPr>
          <p:nvPr>
            <p:ph type="title" idx="3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68" name="Google Shape;368;p39"/>
          <p:cNvSpPr txBox="1">
            <a:spLocks noGrp="1"/>
          </p:cNvSpPr>
          <p:nvPr>
            <p:ph type="subTitle" idx="1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69" name="Google Shape;369;p39"/>
          <p:cNvSpPr txBox="1">
            <a:spLocks noGrp="1"/>
          </p:cNvSpPr>
          <p:nvPr>
            <p:ph type="title" idx="4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0" name="Google Shape;370;p39"/>
          <p:cNvSpPr txBox="1">
            <a:spLocks noGrp="1"/>
          </p:cNvSpPr>
          <p:nvPr>
            <p:ph type="subTitle" idx="5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71" name="Google Shape;371;p39"/>
          <p:cNvSpPr txBox="1">
            <a:spLocks noGrp="1"/>
          </p:cNvSpPr>
          <p:nvPr>
            <p:ph type="title" idx="6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2" name="Google Shape;372;p39"/>
          <p:cNvSpPr txBox="1">
            <a:spLocks noGrp="1"/>
          </p:cNvSpPr>
          <p:nvPr>
            <p:ph type="subTitle" idx="7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73" name="Google Shape;373;p39"/>
          <p:cNvSpPr txBox="1">
            <a:spLocks noGrp="1"/>
          </p:cNvSpPr>
          <p:nvPr>
            <p:ph type="title" idx="8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4" name="Google Shape;374;p39"/>
          <p:cNvSpPr txBox="1">
            <a:spLocks noGrp="1"/>
          </p:cNvSpPr>
          <p:nvPr>
            <p:ph type="subTitle" idx="9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CUSTOM_1_1">
    <p:bg>
      <p:bgPr>
        <a:solidFill>
          <a:schemeClr val="accent1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77" name="Google Shape;377;p40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78" name="Google Shape;378;p40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79" name="Google Shape;379;p40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name="adj" fmla="val 24462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80" name="Google Shape;380;p40"/>
          <p:cNvSpPr txBox="1">
            <a:spLocks noGrp="1"/>
          </p:cNvSpPr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40"/>
          <p:cNvSpPr txBox="1">
            <a:spLocks noGrp="1"/>
          </p:cNvSpPr>
          <p:nvPr>
            <p:ph type="subTitle" idx="1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2" name="Google Shape;382;p40"/>
          <p:cNvSpPr>
            <a:spLocks noGrp="1"/>
          </p:cNvSpPr>
          <p:nvPr>
            <p:ph type="pic" idx="2"/>
          </p:nvPr>
        </p:nvSpPr>
        <p:spPr>
          <a:xfrm>
            <a:off x="387475" y="3575855"/>
            <a:ext cx="1309500" cy="10500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83" name="Google Shape;383;p40"/>
          <p:cNvSpPr txBox="1">
            <a:spLocks noGrp="1"/>
          </p:cNvSpPr>
          <p:nvPr>
            <p:ph type="title" idx="3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84" name="Google Shape;384;p40"/>
          <p:cNvSpPr txBox="1">
            <a:spLocks noGrp="1"/>
          </p:cNvSpPr>
          <p:nvPr>
            <p:ph type="title" idx="4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4" name="Google Shape;394;p4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9" name="Google Shape;399;p4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0" name="Google Shape;400;p4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0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50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0" name="Google Shape;410;p50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1" name="Google Shape;411;p50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2" name="Google Shape;412;p50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3" name="Google Shape;413;p50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4" name="Google Shape;414;p50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18" name="Google Shape;418;p51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2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52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22" name="Google Shape;422;p52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23" name="Google Shape;423;p52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24" name="Google Shape;424;p52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3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27" name="Google Shape;427;p53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28" name="Google Shape;428;p5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53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0" name="Google Shape;430;p53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1" name="Google Shape;431;p53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2" name="Google Shape;432;p53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4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35" name="Google Shape;435;p54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36" name="Google Shape;436;p54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37" name="Google Shape;437;p54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38" name="Google Shape;438;p54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54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0" name="Google Shape;440;p54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1" name="Google Shape;441;p54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2" name="Google Shape;442;p54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55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6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8" name="Google Shape;448;p56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56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6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1" name="Google Shape;451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56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53" name="Google Shape;453;p56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7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6" name="Google Shape;456;p57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7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7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9" name="Google Shape;459;p57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7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61" name="Google Shape;461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57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63" name="Google Shape;463;p57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64" name="Google Shape;464;p57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8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9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9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9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9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9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9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9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59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9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9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42" Type="http://schemas.openxmlformats.org/officeDocument/2006/relationships/slideLayout" Target="../slideLayouts/slideLayout54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2.xml"/><Relationship Id="rId45" Type="http://schemas.openxmlformats.org/officeDocument/2006/relationships/slideLayout" Target="../slideLayouts/slideLayout57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56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43" Type="http://schemas.openxmlformats.org/officeDocument/2006/relationships/slideLayout" Target="../slideLayouts/slideLayout55.xml"/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Relationship Id="rId46" Type="http://schemas.openxmlformats.org/officeDocument/2006/relationships/theme" Target="../theme/theme2.xml"/><Relationship Id="rId20" Type="http://schemas.openxmlformats.org/officeDocument/2006/relationships/slideLayout" Target="../slideLayouts/slideLayout32.xml"/><Relationship Id="rId41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21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gcEKEIdPYZ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0"/>
          <p:cNvSpPr txBox="1">
            <a:spLocks noGrp="1"/>
          </p:cNvSpPr>
          <p:nvPr>
            <p:ph type="subTitle" idx="1"/>
          </p:nvPr>
        </p:nvSpPr>
        <p:spPr>
          <a:xfrm>
            <a:off x="958450" y="4001975"/>
            <a:ext cx="4064700" cy="1092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/>
              <a:t>Bhuvaneshwari Bodakuntla (bzb0159)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/>
              <a:t>Grant Carpenter (gac0058)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/>
              <a:t>Sam Clark (sjc0074)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/>
              <a:t>Xu Chen  (xzc0066) 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3" name="Google Shape;483;p60"/>
          <p:cNvSpPr txBox="1">
            <a:spLocks noGrp="1"/>
          </p:cNvSpPr>
          <p:nvPr>
            <p:ph type="title"/>
          </p:nvPr>
        </p:nvSpPr>
        <p:spPr>
          <a:xfrm>
            <a:off x="876900" y="862375"/>
            <a:ext cx="7340700" cy="1904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5000">
                <a:solidFill>
                  <a:srgbClr val="FFFFFF"/>
                </a:solidFill>
              </a:rPr>
              <a:t>DESIGN,PROTOTYPING AND CONSTRUCTION</a:t>
            </a:r>
            <a:endParaRPr sz="5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1" descr="Shape where the section titles go"/>
          <p:cNvSpPr/>
          <p:nvPr/>
        </p:nvSpPr>
        <p:spPr>
          <a:xfrm flipH="1">
            <a:off x="3144900" y="3437851"/>
            <a:ext cx="5999100" cy="862800"/>
          </a:xfrm>
          <a:prstGeom prst="snip1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89" name="Google Shape;489;p61" descr="Shape where the section titles go"/>
          <p:cNvSpPr/>
          <p:nvPr/>
        </p:nvSpPr>
        <p:spPr>
          <a:xfrm flipH="1">
            <a:off x="3144900" y="2581602"/>
            <a:ext cx="5999100" cy="862800"/>
          </a:xfrm>
          <a:prstGeom prst="snip1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90" name="Google Shape;490;p61" descr="Shape where the section titles go"/>
          <p:cNvSpPr/>
          <p:nvPr/>
        </p:nvSpPr>
        <p:spPr>
          <a:xfrm flipH="1">
            <a:off x="3144900" y="1718827"/>
            <a:ext cx="5999100" cy="862800"/>
          </a:xfrm>
          <a:prstGeom prst="snip1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91" name="Google Shape;491;p61" descr="Shape where the section titles go"/>
          <p:cNvSpPr/>
          <p:nvPr/>
        </p:nvSpPr>
        <p:spPr>
          <a:xfrm flipH="1">
            <a:off x="3144900" y="856153"/>
            <a:ext cx="5999100" cy="8628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92" name="Google Shape;492;p61" descr="Shape where the section titles go"/>
          <p:cNvSpPr/>
          <p:nvPr/>
        </p:nvSpPr>
        <p:spPr>
          <a:xfrm flipH="1">
            <a:off x="3144899" y="-200"/>
            <a:ext cx="5999100" cy="862800"/>
          </a:xfrm>
          <a:prstGeom prst="snip1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93" name="Google Shape;493;p61" descr="Shape where the section titles go"/>
          <p:cNvSpPr/>
          <p:nvPr/>
        </p:nvSpPr>
        <p:spPr>
          <a:xfrm flipH="1">
            <a:off x="3144900" y="4300651"/>
            <a:ext cx="5999100" cy="862800"/>
          </a:xfrm>
          <a:prstGeom prst="snip1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94" name="Google Shape;494;p61" descr="Spaces to add section titles"/>
          <p:cNvSpPr txBox="1">
            <a:spLocks noGrp="1"/>
          </p:cNvSpPr>
          <p:nvPr>
            <p:ph type="subTitle" idx="1"/>
          </p:nvPr>
        </p:nvSpPr>
        <p:spPr>
          <a:xfrm>
            <a:off x="411875" y="285750"/>
            <a:ext cx="2156700" cy="45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495" name="Google Shape;495;p61" descr="Spaces to add section titles"/>
          <p:cNvSpPr txBox="1">
            <a:spLocks noGrp="1"/>
          </p:cNvSpPr>
          <p:nvPr>
            <p:ph type="subTitle" idx="2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12.1 Introduction</a:t>
            </a:r>
            <a:endParaRPr/>
          </a:p>
        </p:txBody>
      </p:sp>
      <p:sp>
        <p:nvSpPr>
          <p:cNvPr id="496" name="Google Shape;496;p61" descr="Spaces to add section titles"/>
          <p:cNvSpPr txBox="1">
            <a:spLocks noGrp="1"/>
          </p:cNvSpPr>
          <p:nvPr>
            <p:ph type="subTitle" idx="3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12.2 Prototyping</a:t>
            </a:r>
            <a:endParaRPr/>
          </a:p>
        </p:txBody>
      </p:sp>
      <p:sp>
        <p:nvSpPr>
          <p:cNvPr id="497" name="Google Shape;497;p61" descr="Spaces to add section titles"/>
          <p:cNvSpPr txBox="1">
            <a:spLocks noGrp="1"/>
          </p:cNvSpPr>
          <p:nvPr>
            <p:ph type="subTitle" idx="4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12.3 Conceptual Design</a:t>
            </a:r>
            <a:endParaRPr/>
          </a:p>
        </p:txBody>
      </p:sp>
      <p:sp>
        <p:nvSpPr>
          <p:cNvPr id="498" name="Google Shape;498;p61" descr="Spaces to add section titles"/>
          <p:cNvSpPr txBox="1">
            <a:spLocks noGrp="1"/>
          </p:cNvSpPr>
          <p:nvPr>
            <p:ph type="subTitle" idx="5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12.4 Concrete Design</a:t>
            </a:r>
            <a:endParaRPr/>
          </a:p>
        </p:txBody>
      </p:sp>
      <p:sp>
        <p:nvSpPr>
          <p:cNvPr id="499" name="Google Shape;499;p61" descr="Spaces to add section titles"/>
          <p:cNvSpPr txBox="1">
            <a:spLocks noGrp="1"/>
          </p:cNvSpPr>
          <p:nvPr>
            <p:ph type="subTitle" idx="6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12.5 Generating Prototypes</a:t>
            </a:r>
            <a:endParaRPr/>
          </a:p>
        </p:txBody>
      </p:sp>
      <p:sp>
        <p:nvSpPr>
          <p:cNvPr id="500" name="Google Shape;500;p61" descr="Spaces to add section titles"/>
          <p:cNvSpPr txBox="1">
            <a:spLocks noGrp="1"/>
          </p:cNvSpPr>
          <p:nvPr>
            <p:ph type="subTitle" idx="7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12.6 Construction</a:t>
            </a:r>
            <a:endParaRPr sz="1200"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2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Introduction: Design, Prototyping, and Construction</a:t>
            </a:r>
            <a:endParaRPr/>
          </a:p>
        </p:txBody>
      </p:sp>
      <p:sp>
        <p:nvSpPr>
          <p:cNvPr id="506" name="Google Shape;506;p62"/>
          <p:cNvSpPr txBox="1">
            <a:spLocks noGrp="1"/>
          </p:cNvSpPr>
          <p:nvPr>
            <p:ph type="title" idx="2"/>
          </p:nvPr>
        </p:nvSpPr>
        <p:spPr>
          <a:xfrm>
            <a:off x="920550" y="2047869"/>
            <a:ext cx="3651600" cy="2636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Part of the </a:t>
            </a: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Develop phase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Solutions or concepts are created, prototyped, tested and iterated.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Design-evaluation-redesign cycle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Design the product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Evaluate it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Redesign and go through the cycle again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7" name="Google Shape;50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175" y="2047864"/>
            <a:ext cx="4194174" cy="236878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08" name="Google Shape;508;p62"/>
          <p:cNvSpPr/>
          <p:nvPr/>
        </p:nvSpPr>
        <p:spPr>
          <a:xfrm>
            <a:off x="6956050" y="3226125"/>
            <a:ext cx="641100" cy="648600"/>
          </a:xfrm>
          <a:prstGeom prst="ellipse">
            <a:avLst/>
          </a:prstGeom>
          <a:noFill/>
          <a:ln w="762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3"/>
          <p:cNvSpPr txBox="1">
            <a:spLocks noGrp="1"/>
          </p:cNvSpPr>
          <p:nvPr>
            <p:ph type="title" idx="2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Conceptual: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Focuses on the ideas for a product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Large focus on the Conceptual Model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Concrete: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Focuses on the details of the design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Large focus on details and concrete decisions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Prototyping: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Designers prototype to properly evaluate design ideas effectively.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Helps with the evaluation and redesign process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63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Introduction: Conceptual vs Concrete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4"/>
          <p:cNvSpPr txBox="1">
            <a:spLocks noGrp="1"/>
          </p:cNvSpPr>
          <p:nvPr>
            <p:ph type="title"/>
          </p:nvPr>
        </p:nvSpPr>
        <p:spPr>
          <a:xfrm>
            <a:off x="958650" y="21174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5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Prototyping</a:t>
            </a:r>
            <a:endParaRPr/>
          </a:p>
        </p:txBody>
      </p:sp>
      <p:sp>
        <p:nvSpPr>
          <p:cNvPr id="525" name="Google Shape;525;p65"/>
          <p:cNvSpPr txBox="1">
            <a:spLocks noGrp="1"/>
          </p:cNvSpPr>
          <p:nvPr>
            <p:ph type="title" idx="2"/>
          </p:nvPr>
        </p:nvSpPr>
        <p:spPr>
          <a:xfrm>
            <a:off x="920550" y="1806532"/>
            <a:ext cx="5228400" cy="1944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Prototypes provide a concrete manifestation of an idea.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Allows designer to communicate ideas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Allows other people to try them 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6" name="Google Shape;52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5925" y="2913752"/>
            <a:ext cx="2690250" cy="1943986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27" name="Google Shape;527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2386" y="2913750"/>
            <a:ext cx="2596361" cy="1943998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28" name="Google Shape;528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0550" y="2913752"/>
            <a:ext cx="1864650" cy="1943998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6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Prototype?</a:t>
            </a:r>
            <a:endParaRPr/>
          </a:p>
        </p:txBody>
      </p:sp>
      <p:sp>
        <p:nvSpPr>
          <p:cNvPr id="534" name="Google Shape;534;p66"/>
          <p:cNvSpPr txBox="1">
            <a:spLocks noGrp="1"/>
          </p:cNvSpPr>
          <p:nvPr>
            <p:ph type="title" idx="2"/>
          </p:nvPr>
        </p:nvSpPr>
        <p:spPr>
          <a:xfrm>
            <a:off x="2051475" y="1882050"/>
            <a:ext cx="6095700" cy="2975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“One manifestation of a design that allows stakeholders to interact with it and to explore its suitability”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Manifestation of a design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8288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 visual depiction or explanation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Interactable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8288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Stepping through the prototype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Limited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8288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Emphasizes some aspects over others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Variety of Formats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8288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Paper, Digital, Video, etc.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7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Prototype?</a:t>
            </a:r>
            <a:endParaRPr/>
          </a:p>
        </p:txBody>
      </p:sp>
      <p:sp>
        <p:nvSpPr>
          <p:cNvPr id="540" name="Google Shape;540;p67"/>
          <p:cNvSpPr txBox="1">
            <a:spLocks noGrp="1"/>
          </p:cNvSpPr>
          <p:nvPr>
            <p:ph type="title" idx="2"/>
          </p:nvPr>
        </p:nvSpPr>
        <p:spPr>
          <a:xfrm>
            <a:off x="2051475" y="1882050"/>
            <a:ext cx="5228400" cy="2975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Communicate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Visually explain the design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Evaluate &amp; Reflect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Consider various aspects of the design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Reflect on the design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Explore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Allow others to understand and experience the design deeper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Alternatives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What are some other options in the design? Should they be prototyped as well?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8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High- vs Low- Fidelity</a:t>
            </a:r>
            <a:endParaRPr/>
          </a:p>
        </p:txBody>
      </p:sp>
      <p:pic>
        <p:nvPicPr>
          <p:cNvPr id="546" name="Google Shape;546;p68" descr="Master Design Fidelity in Prototyping | Low vs High Fidelity Explained &#10;Understand the importance of design fidelity in prototyping and how it impacts your UX process. In this video, we dive deep into low-fidelity and high-fidelity prototypes, when to use them, and how to master the transition between the two.&#10;&#10;🎯 What You'll Learn:&#10;&#10;What is design fidelity in UX prototyping&#10;&#10;Key differences between low-fidelity and high-fidelity prototypes&#10;&#10;When to use each fidelity type in your design process&#10;&#10;How fidelity affects user testing and stakeholder feedback&#10;&#10;Tips for improving your prototyping strategy&#10;&#10;Whether you're designing wireframes or interactive mockups, mastering design fidelity will take your UX prototyping to the next level.&#10;&#10;👍 Don’t forget to like, comment, and subscribe for more UX tips and tutorials! &#10;#UXDesign #Prototyping #DesignFidelity #LowFidelity #HighFidelity #UXTips #UIDesign #UXPrototyping #UserExperience #DesignThinking &#10;What is design fidelity&#10;&#10;Low vs high fidelity prototypes&#10;&#10;Prototyping fidelity levels&#10;&#10;UX wireframes vs mockups&#10;&#10;UX design fidelity explained&#10;&#10;Prototyping tips&#10;&#10;When to use low fidelity design&#10;&#10;High fidelity prototype testing&#10;&#10;UX prototyping stages&#10;&#10;UX mockup vs prototype &#10;UX design, design fidelity, prototyping, low fidelity, high fidelity, user experience, UX workflow, design mockups, wireframes, UI design, UX tutorial" title="Master Design Fidelity in Prototyping | Low vs High Fidelity Explaine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6650" y="1524000"/>
            <a:ext cx="6110700" cy="343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9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Prototyping: Low-Fidelity</a:t>
            </a:r>
            <a:endParaRPr/>
          </a:p>
        </p:txBody>
      </p:sp>
      <p:sp>
        <p:nvSpPr>
          <p:cNvPr id="552" name="Google Shape;552;p69"/>
          <p:cNvSpPr txBox="1">
            <a:spLocks noGrp="1"/>
          </p:cNvSpPr>
          <p:nvPr>
            <p:ph type="title" idx="2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Simple, cheap, and quick to produce: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Does not look like the final product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May be made of paper or other materials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Main benefit: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Flexibility: Easy to modify, so you can test alternative designs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Cheap &amp; Efficient: Low risk/cost to make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3" name="Google Shape;553;p69"/>
          <p:cNvSpPr txBox="1">
            <a:spLocks noGrp="1"/>
          </p:cNvSpPr>
          <p:nvPr>
            <p:ph type="title" idx="2"/>
          </p:nvPr>
        </p:nvSpPr>
        <p:spPr>
          <a:xfrm>
            <a:off x="6148950" y="2046050"/>
            <a:ext cx="2624400" cy="1615800"/>
          </a:xfrm>
          <a:prstGeom prst="rect">
            <a:avLst/>
          </a:prstGeom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latin typeface="Times New Roman"/>
                <a:ea typeface="Times New Roman"/>
                <a:cs typeface="Times New Roman"/>
                <a:sym typeface="Times New Roman"/>
              </a:rPr>
              <a:t>Four Common Types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Storyboarding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Sketching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Index Cards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Wizard of Oz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0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Low-Fidelity: Storyboarding and Sketching</a:t>
            </a:r>
            <a:endParaRPr/>
          </a:p>
        </p:txBody>
      </p:sp>
      <p:sp>
        <p:nvSpPr>
          <p:cNvPr id="559" name="Google Shape;559;p70"/>
          <p:cNvSpPr txBox="1">
            <a:spLocks noGrp="1"/>
          </p:cNvSpPr>
          <p:nvPr>
            <p:ph type="title" idx="2"/>
          </p:nvPr>
        </p:nvSpPr>
        <p:spPr>
          <a:xfrm>
            <a:off x="920550" y="2055411"/>
            <a:ext cx="3651300" cy="210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latin typeface="Times New Roman"/>
                <a:ea typeface="Times New Roman"/>
                <a:cs typeface="Times New Roman"/>
                <a:sym typeface="Times New Roman"/>
              </a:rPr>
              <a:t>Storyboarding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 series of sketches walking through the usage of a product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Like a simplified comic strip, used to display the product and its use cases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0" name="Google Shape;560;p70"/>
          <p:cNvSpPr txBox="1">
            <a:spLocks noGrp="1"/>
          </p:cNvSpPr>
          <p:nvPr>
            <p:ph type="title" idx="2"/>
          </p:nvPr>
        </p:nvSpPr>
        <p:spPr>
          <a:xfrm>
            <a:off x="5208550" y="2055411"/>
            <a:ext cx="3651300" cy="2399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latin typeface="Times New Roman"/>
                <a:ea typeface="Times New Roman"/>
                <a:cs typeface="Times New Roman"/>
                <a:sym typeface="Times New Roman"/>
              </a:rPr>
              <a:t>Sketching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Visual </a:t>
            </a: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drawing/depiction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of a use case/interaction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basis for storyboarding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b="1" i="1">
                <a:latin typeface="Times New Roman"/>
                <a:ea typeface="Times New Roman"/>
                <a:cs typeface="Times New Roman"/>
                <a:sym typeface="Times New Roman"/>
              </a:rPr>
              <a:t>Sketching vocabulary: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Someone’s own derived symbols and icons they use for design sketching.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1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745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Storyboarding</a:t>
            </a:r>
            <a:endParaRPr/>
          </a:p>
        </p:txBody>
      </p:sp>
      <p:sp>
        <p:nvSpPr>
          <p:cNvPr id="566" name="Google Shape;566;p71"/>
          <p:cNvSpPr txBox="1">
            <a:spLocks noGrp="1"/>
          </p:cNvSpPr>
          <p:nvPr>
            <p:ph type="title" idx="2"/>
          </p:nvPr>
        </p:nvSpPr>
        <p:spPr>
          <a:xfrm>
            <a:off x="920550" y="1881950"/>
            <a:ext cx="1842300" cy="2787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storyboard shows sketches of Christina interacting with various objects.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7" name="Google Shape;56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4350" y="1599025"/>
            <a:ext cx="5999150" cy="325872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2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Low-Fidelity: Index Cards and Wizard of Oz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72"/>
          <p:cNvSpPr txBox="1">
            <a:spLocks noGrp="1"/>
          </p:cNvSpPr>
          <p:nvPr>
            <p:ph type="title" idx="2"/>
          </p:nvPr>
        </p:nvSpPr>
        <p:spPr>
          <a:xfrm>
            <a:off x="920550" y="1881950"/>
            <a:ext cx="3651300" cy="2497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latin typeface="Times New Roman"/>
                <a:ea typeface="Times New Roman"/>
                <a:cs typeface="Times New Roman"/>
                <a:sym typeface="Times New Roman"/>
              </a:rPr>
              <a:t>Index Cards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Main medium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Index cards, sticky notes, etc.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Each card represents </a:t>
            </a: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an element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of interaction like a screen, icon, menu, dialogue, etc.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Users can </a:t>
            </a: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step through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the cards, simulating the performance of tasks/interactions of the product.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4" name="Google Shape;574;p72"/>
          <p:cNvSpPr txBox="1">
            <a:spLocks noGrp="1"/>
          </p:cNvSpPr>
          <p:nvPr>
            <p:ph type="title" idx="2"/>
          </p:nvPr>
        </p:nvSpPr>
        <p:spPr>
          <a:xfrm>
            <a:off x="5208550" y="1881950"/>
            <a:ext cx="3651300" cy="2354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latin typeface="Times New Roman"/>
                <a:ea typeface="Times New Roman"/>
                <a:cs typeface="Times New Roman"/>
                <a:sym typeface="Times New Roman"/>
              </a:rPr>
              <a:t>Wizard of Oz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software-based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prototype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Participants interact with software as if it was the product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But a </a:t>
            </a: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human operator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is “behind the curtain”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A chatbot, but instead of the bot responding, there is a human on the other end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3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Note Cards</a:t>
            </a:r>
            <a:endParaRPr/>
          </a:p>
        </p:txBody>
      </p:sp>
      <p:sp>
        <p:nvSpPr>
          <p:cNvPr id="580" name="Google Shape;580;p73"/>
          <p:cNvSpPr txBox="1">
            <a:spLocks noGrp="1"/>
          </p:cNvSpPr>
          <p:nvPr>
            <p:ph type="title" idx="2"/>
          </p:nvPr>
        </p:nvSpPr>
        <p:spPr>
          <a:xfrm>
            <a:off x="920550" y="1881950"/>
            <a:ext cx="1842300" cy="2787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image shows various linked cards the user could step through to simulate the interactions of the design.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1" name="Google Shape;58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4350" y="1599025"/>
            <a:ext cx="5999149" cy="32587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4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Prototyping: High-Fidelity</a:t>
            </a:r>
            <a:endParaRPr/>
          </a:p>
        </p:txBody>
      </p:sp>
      <p:sp>
        <p:nvSpPr>
          <p:cNvPr id="587" name="Google Shape;587;p74"/>
          <p:cNvSpPr txBox="1">
            <a:spLocks noGrp="1"/>
          </p:cNvSpPr>
          <p:nvPr>
            <p:ph type="title" idx="2"/>
          </p:nvPr>
        </p:nvSpPr>
        <p:spPr>
          <a:xfrm>
            <a:off x="920550" y="1881950"/>
            <a:ext cx="5745300" cy="1944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Semi-functional prototype: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Looks more like the final product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Usually software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Main benefit: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Functionality: You can experience some of the actual product’s functionality and evaluate/consider aspects of the product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Partial testing: Because of the functionality, you can essentially test various aspects to see if they properly work together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5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High-Fidelity Canva Prototype</a:t>
            </a:r>
            <a:endParaRPr/>
          </a:p>
        </p:txBody>
      </p:sp>
      <p:sp>
        <p:nvSpPr>
          <p:cNvPr id="593" name="Google Shape;593;p75"/>
          <p:cNvSpPr txBox="1">
            <a:spLocks noGrp="1"/>
          </p:cNvSpPr>
          <p:nvPr>
            <p:ph type="title" idx="2"/>
          </p:nvPr>
        </p:nvSpPr>
        <p:spPr>
          <a:xfrm>
            <a:off x="1116625" y="1941975"/>
            <a:ext cx="2340000" cy="2787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Example: The image shows an add from Canva, where a high-fidelity prototype for a mobile app is being developed.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4" name="Google Shape;59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1125" y="1813200"/>
            <a:ext cx="5092376" cy="3044549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6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Prototyping: Compromises</a:t>
            </a:r>
            <a:endParaRPr/>
          </a:p>
        </p:txBody>
      </p:sp>
      <p:sp>
        <p:nvSpPr>
          <p:cNvPr id="600" name="Google Shape;600;p76"/>
          <p:cNvSpPr txBox="1">
            <a:spLocks noGrp="1"/>
          </p:cNvSpPr>
          <p:nvPr>
            <p:ph type="title" idx="2"/>
          </p:nvPr>
        </p:nvSpPr>
        <p:spPr>
          <a:xfrm>
            <a:off x="920550" y="1579405"/>
            <a:ext cx="5160600" cy="2315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Compromises: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the intention is not to create the product but to quickly test an aspect of it.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Low-Fidelity: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Lower quality/scope. In paper-based implementations, the device does not work.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High-Fidelity: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Limited functionality/scope. Often error-catching will not exist or certain aspects will be left unaddressed.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1" name="Google Shape;601;p76"/>
          <p:cNvSpPr txBox="1">
            <a:spLocks noGrp="1"/>
          </p:cNvSpPr>
          <p:nvPr>
            <p:ph type="title" idx="2"/>
          </p:nvPr>
        </p:nvSpPr>
        <p:spPr>
          <a:xfrm>
            <a:off x="6149050" y="1633350"/>
            <a:ext cx="2710800" cy="3341700"/>
          </a:xfrm>
          <a:prstGeom prst="rect">
            <a:avLst/>
          </a:prstGeom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u="sng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latin typeface="Times New Roman"/>
                <a:ea typeface="Times New Roman"/>
                <a:cs typeface="Times New Roman"/>
                <a:sym typeface="Times New Roman"/>
              </a:rPr>
              <a:t>Horizontal vs Vertical Prototyping: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Horizontal: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Providing a wide range of functions with little detail (large coverage but shallow)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Vertical: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Providing a lot of detail for only a few functions (small coverage but deep)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2" name="Google Shape;602;p76"/>
          <p:cNvSpPr txBox="1">
            <a:spLocks noGrp="1"/>
          </p:cNvSpPr>
          <p:nvPr>
            <p:ph type="title" idx="2"/>
          </p:nvPr>
        </p:nvSpPr>
        <p:spPr>
          <a:xfrm>
            <a:off x="999825" y="3895100"/>
            <a:ext cx="4904100" cy="1080000"/>
          </a:xfrm>
          <a:prstGeom prst="rect">
            <a:avLst/>
          </a:prstGeom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1" u="sng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latin typeface="Times New Roman"/>
                <a:ea typeface="Times New Roman"/>
                <a:cs typeface="Times New Roman"/>
                <a:sym typeface="Times New Roman"/>
              </a:rPr>
              <a:t>Robustness vs Changeability: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Robust: </a:t>
            </a: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More in-depth, but may be harder to change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Changeable: </a:t>
            </a: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Easier to change, but may be less specific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7"/>
          <p:cNvSpPr txBox="1">
            <a:spLocks noGrp="1"/>
          </p:cNvSpPr>
          <p:nvPr>
            <p:ph type="title"/>
          </p:nvPr>
        </p:nvSpPr>
        <p:spPr>
          <a:xfrm>
            <a:off x="958650" y="21174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Design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8"/>
          <p:cNvSpPr txBox="1">
            <a:spLocks noGrp="1"/>
          </p:cNvSpPr>
          <p:nvPr>
            <p:ph type="title"/>
          </p:nvPr>
        </p:nvSpPr>
        <p:spPr>
          <a:xfrm>
            <a:off x="920550" y="826600"/>
            <a:ext cx="8078100" cy="105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Conceptual Design:</a:t>
            </a:r>
            <a:r>
              <a:rPr lang="en" sz="3400" i="1"/>
              <a:t>Crafting User Experience</a:t>
            </a:r>
            <a:endParaRPr sz="34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78"/>
          <p:cNvSpPr txBox="1">
            <a:spLocks noGrp="1"/>
          </p:cNvSpPr>
          <p:nvPr>
            <p:ph type="title" idx="2"/>
          </p:nvPr>
        </p:nvSpPr>
        <p:spPr>
          <a:xfrm>
            <a:off x="920550" y="1833225"/>
            <a:ext cx="7745700" cy="3163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65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>
                <a:latin typeface="Times New Roman"/>
                <a:ea typeface="Times New Roman"/>
                <a:cs typeface="Times New Roman"/>
                <a:sym typeface="Times New Roman"/>
              </a:rPr>
              <a:t>Definition of Conceptual Design</a:t>
            </a:r>
            <a:endParaRPr sz="1500" b="1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—— Develops a conceptual model</a:t>
            </a:r>
            <a:endParaRPr sz="11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—— Defines what people can do with a product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—— Identifies concepts needed to interact with it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>
                <a:latin typeface="Times New Roman"/>
                <a:ea typeface="Times New Roman"/>
                <a:cs typeface="Times New Roman"/>
                <a:sym typeface="Times New Roman"/>
              </a:rPr>
              <a:t>Definition of Conceptual Model</a:t>
            </a:r>
            <a:endParaRPr sz="17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An outline of what users can do with a product and the concepts they need to understand how to interact with it.</a:t>
            </a:r>
            <a:endParaRPr sz="1700" b="1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9"/>
          <p:cNvSpPr txBox="1">
            <a:spLocks noGrp="1"/>
          </p:cNvSpPr>
          <p:nvPr>
            <p:ph type="title"/>
          </p:nvPr>
        </p:nvSpPr>
        <p:spPr>
          <a:xfrm>
            <a:off x="920550" y="799775"/>
            <a:ext cx="8088300" cy="839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Empathy in Design: Challenges and Limits</a:t>
            </a:r>
            <a:endParaRPr sz="340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/>
          </a:p>
        </p:txBody>
      </p:sp>
      <p:sp>
        <p:nvSpPr>
          <p:cNvPr id="619" name="Google Shape;619;p79"/>
          <p:cNvSpPr txBox="1">
            <a:spLocks noGrp="1"/>
          </p:cNvSpPr>
          <p:nvPr>
            <p:ph type="title" idx="2"/>
          </p:nvPr>
        </p:nvSpPr>
        <p:spPr>
          <a:xfrm>
            <a:off x="920550" y="1840025"/>
            <a:ext cx="8088300" cy="1313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marR="0" lvl="0" indent="-3365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>
                <a:latin typeface="Times New Roman"/>
                <a:ea typeface="Times New Roman"/>
                <a:cs typeface="Times New Roman"/>
                <a:sym typeface="Times New Roman"/>
              </a:rPr>
              <a:t>Experience Prototyping</a:t>
            </a:r>
            <a:endParaRPr sz="17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—— A technique to help design teams understand the user's experience. 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Example: simulating defibrillator shocks via random alerts gained insights into user anxiety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79"/>
          <p:cNvSpPr txBox="1">
            <a:spLocks noGrp="1"/>
          </p:cNvSpPr>
          <p:nvPr>
            <p:ph type="title" idx="2"/>
          </p:nvPr>
        </p:nvSpPr>
        <p:spPr>
          <a:xfrm>
            <a:off x="920550" y="3227350"/>
            <a:ext cx="7313400" cy="174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marR="0" lvl="0" indent="-3365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>
                <a:latin typeface="Times New Roman"/>
                <a:ea typeface="Times New Roman"/>
                <a:cs typeface="Times New Roman"/>
                <a:sym typeface="Times New Roman"/>
              </a:rPr>
              <a:t>Limitations of Simulation </a:t>
            </a:r>
            <a:endParaRPr sz="17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—— Disability simulations can lead to negative feelings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—— Short-term simulations don't account for the coping strategies people develop over time. </a:t>
            </a:r>
            <a:endParaRPr sz="17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80"/>
          <p:cNvSpPr txBox="1">
            <a:spLocks noGrp="1"/>
          </p:cNvSpPr>
          <p:nvPr>
            <p:ph type="title"/>
          </p:nvPr>
        </p:nvSpPr>
        <p:spPr>
          <a:xfrm>
            <a:off x="284175" y="1440450"/>
            <a:ext cx="3706800" cy="22626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 dirty="0"/>
              <a:t>Tools</a:t>
            </a:r>
            <a:r>
              <a:rPr lang="en" sz="2100" b="1" dirty="0">
                <a:solidFill>
                  <a:srgbClr val="295C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3400" dirty="0"/>
              <a:t>for</a:t>
            </a:r>
            <a:br>
              <a:rPr lang="en" sz="3400" dirty="0"/>
            </a:br>
            <a:r>
              <a:rPr lang="en" sz="3400" dirty="0"/>
              <a:t>Exploring Design Ideas</a:t>
            </a:r>
            <a:endParaRPr dirty="0"/>
          </a:p>
        </p:txBody>
      </p:sp>
      <p:sp>
        <p:nvSpPr>
          <p:cNvPr id="626" name="Google Shape;626;p80"/>
          <p:cNvSpPr txBox="1">
            <a:spLocks noGrp="1"/>
          </p:cNvSpPr>
          <p:nvPr>
            <p:ph type="subTitle" idx="1"/>
          </p:nvPr>
        </p:nvSpPr>
        <p:spPr>
          <a:xfrm>
            <a:off x="3990975" y="551100"/>
            <a:ext cx="4800600" cy="1353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marR="0" lvl="0" indent="-3365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Plus and minus scenarios (Bodker, 2000)</a:t>
            </a:r>
            <a:br>
              <a:rPr lang="en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—— 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Best/worst outcomes </a:t>
            </a:r>
            <a:b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—— provide a comprehensive view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7" name="Google Shape;627;p80"/>
          <p:cNvSpPr txBox="1">
            <a:spLocks noGrp="1"/>
          </p:cNvSpPr>
          <p:nvPr>
            <p:ph type="subTitle" idx="2"/>
          </p:nvPr>
        </p:nvSpPr>
        <p:spPr>
          <a:xfrm>
            <a:off x="4022775" y="2307450"/>
            <a:ext cx="4737000" cy="90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65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Contravision (Mancini et al., 2010) </a:t>
            </a:r>
            <a:endParaRPr sz="17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vs. negative video scenarios</a:t>
            </a:r>
            <a:endParaRPr sz="2400" dirty="0"/>
          </a:p>
        </p:txBody>
      </p:sp>
      <p:sp>
        <p:nvSpPr>
          <p:cNvPr id="628" name="Google Shape;628;p80"/>
          <p:cNvSpPr txBox="1">
            <a:spLocks noGrp="1"/>
          </p:cNvSpPr>
          <p:nvPr>
            <p:ph type="subTitle" idx="4"/>
          </p:nvPr>
        </p:nvSpPr>
        <p:spPr>
          <a:xfrm>
            <a:off x="4022775" y="3619501"/>
            <a:ext cx="4737000" cy="90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65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Mood boards </a:t>
            </a:r>
            <a:endParaRPr sz="17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desired feel of the product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81"/>
          <p:cNvSpPr txBox="1">
            <a:spLocks noGrp="1"/>
          </p:cNvSpPr>
          <p:nvPr>
            <p:ph type="title"/>
          </p:nvPr>
        </p:nvSpPr>
        <p:spPr>
          <a:xfrm>
            <a:off x="825850" y="1797850"/>
            <a:ext cx="3408000" cy="191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 b="1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Example: </a:t>
            </a:r>
            <a:br>
              <a:rPr lang="en" sz="3300" b="1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700" b="1" i="1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Using Contravision Across Two Scenes</a:t>
            </a:r>
            <a:br>
              <a:rPr lang="en" sz="3300" b="1" i="1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3300" b="1" i="1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4" name="Google Shape;634;p81" title="Screenshot 2025-10-17 at 12.30.1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9075" y="195937"/>
            <a:ext cx="4810767" cy="4795176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81"/>
          <p:cNvSpPr txBox="1">
            <a:spLocks noGrp="1"/>
          </p:cNvSpPr>
          <p:nvPr>
            <p:ph type="subTitle" idx="1"/>
          </p:nvPr>
        </p:nvSpPr>
        <p:spPr>
          <a:xfrm>
            <a:off x="825850" y="4500300"/>
            <a:ext cx="1817400" cy="45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Price et al. (2010)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82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842300" cy="1067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Initial Conceptual Model: </a:t>
            </a:r>
            <a:r>
              <a:rPr lang="en" sz="2700"/>
              <a:t>Three Key Approaches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82"/>
          <p:cNvSpPr txBox="1">
            <a:spLocks noGrp="1"/>
          </p:cNvSpPr>
          <p:nvPr>
            <p:ph type="title" idx="2"/>
          </p:nvPr>
        </p:nvSpPr>
        <p:spPr>
          <a:xfrm>
            <a:off x="920550" y="1971600"/>
            <a:ext cx="7745700" cy="2909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marR="0" lvl="0" indent="-3683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  <a:t>Interface Metaphors</a:t>
            </a:r>
            <a:br>
              <a:rPr lang="en" sz="1800" i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700" i="1" dirty="0">
                <a:latin typeface="Times New Roman"/>
                <a:ea typeface="Times New Roman"/>
                <a:cs typeface="Times New Roman"/>
                <a:sym typeface="Times New Roman"/>
              </a:rPr>
              <a:t>How can we use familiar concepts to help users understand the product?</a:t>
            </a:r>
            <a:r>
              <a:rPr lang="en" sz="1800" i="1" dirty="0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" sz="1500" i="1" dirty="0">
                <a:latin typeface="Arial"/>
                <a:ea typeface="Arial"/>
                <a:cs typeface="Arial"/>
                <a:sym typeface="Arial"/>
              </a:rPr>
            </a:br>
            <a:endParaRPr sz="7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  <a:t>Interaction Types</a:t>
            </a:r>
            <a:b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700" i="1" dirty="0">
                <a:latin typeface="Times New Roman"/>
                <a:ea typeface="Times New Roman"/>
                <a:cs typeface="Times New Roman"/>
                <a:sym typeface="Times New Roman"/>
              </a:rPr>
              <a:t>Which interaction styles (e.g., instructing, conversing) best support the user's activities?</a:t>
            </a:r>
            <a:br>
              <a:rPr lang="en" sz="1700" i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  <a:t>Interface Types</a:t>
            </a:r>
            <a:b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700" i="1" dirty="0">
                <a:latin typeface="Times New Roman"/>
                <a:ea typeface="Times New Roman"/>
                <a:cs typeface="Times New Roman"/>
                <a:sym typeface="Times New Roman"/>
              </a:rPr>
              <a:t>What kinds of interfaces (e.g., tangible, virtual reality) could offer new design insights?</a:t>
            </a:r>
            <a:endParaRPr sz="18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83"/>
          <p:cNvSpPr txBox="1">
            <a:spLocks noGrp="1"/>
          </p:cNvSpPr>
          <p:nvPr>
            <p:ph type="title"/>
          </p:nvPr>
        </p:nvSpPr>
        <p:spPr>
          <a:xfrm>
            <a:off x="284175" y="1817850"/>
            <a:ext cx="3051900" cy="2363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Interface Metaphors:</a:t>
            </a:r>
            <a:br>
              <a:rPr lang="en" sz="3400"/>
            </a:br>
            <a:endParaRPr sz="150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Bridging Familiar and New</a:t>
            </a:r>
            <a:endParaRPr sz="270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/>
          </a:p>
          <a:p>
            <a:pPr marL="45720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83"/>
          <p:cNvSpPr txBox="1">
            <a:spLocks noGrp="1"/>
          </p:cNvSpPr>
          <p:nvPr>
            <p:ph type="title"/>
          </p:nvPr>
        </p:nvSpPr>
        <p:spPr>
          <a:xfrm>
            <a:off x="3426525" y="200025"/>
            <a:ext cx="4581600" cy="1019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r>
              <a:rPr lang="en" sz="2200" dirty="0">
                <a:solidFill>
                  <a:schemeClr val="accent6"/>
                </a:solidFill>
              </a:rPr>
              <a:t>:</a:t>
            </a:r>
            <a:br>
              <a:rPr lang="en" sz="1800" dirty="0">
                <a:solidFill>
                  <a:schemeClr val="accent6"/>
                </a:solidFill>
              </a:rPr>
            </a:br>
            <a:r>
              <a:rPr lang="en" sz="1800" i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Combining</a:t>
            </a:r>
            <a:r>
              <a:rPr lang="en" sz="3500" dirty="0">
                <a:solidFill>
                  <a:schemeClr val="accent6"/>
                </a:solidFill>
              </a:rPr>
              <a:t> </a:t>
            </a:r>
            <a:r>
              <a:rPr lang="en" sz="1800" i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familiar and new knowledge</a:t>
            </a:r>
            <a:br>
              <a:rPr lang="en" sz="1700" i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i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i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i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i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83"/>
          <p:cNvSpPr txBox="1"/>
          <p:nvPr/>
        </p:nvSpPr>
        <p:spPr>
          <a:xfrm>
            <a:off x="3329109" y="1795990"/>
            <a:ext cx="4941900" cy="11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Process:</a:t>
            </a:r>
            <a:endParaRPr sz="1100" dirty="0">
              <a:solidFill>
                <a:schemeClr val="accent6"/>
              </a:solidFill>
            </a:endParaRPr>
          </a:p>
          <a:p>
            <a:pPr marL="457200" marR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functionality</a:t>
            </a:r>
            <a:endParaRPr sz="16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user problems</a:t>
            </a:r>
            <a:endParaRPr sz="16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&amp; evaluate</a:t>
            </a:r>
            <a:endParaRPr sz="16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1200"/>
              </a:spcBef>
              <a:spcAft>
                <a:spcPts val="0"/>
              </a:spcAft>
              <a:buNone/>
            </a:pPr>
            <a:endParaRPr sz="1000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9" name="Google Shape;649;p83"/>
          <p:cNvSpPr txBox="1"/>
          <p:nvPr/>
        </p:nvSpPr>
        <p:spPr>
          <a:xfrm>
            <a:off x="3329109" y="3379198"/>
            <a:ext cx="3890700" cy="14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  <a:r>
              <a:rPr lang="en" sz="1700" b="1" dirty="0">
                <a:solidFill>
                  <a:schemeClr val="dk1"/>
                </a:solidFill>
              </a:rPr>
              <a:t> </a:t>
            </a:r>
            <a:r>
              <a:rPr lang="en" sz="22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Questions:</a:t>
            </a:r>
            <a:endParaRPr sz="22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Times New Roman"/>
              <a:buChar char="●"/>
            </a:pPr>
            <a:r>
              <a:rPr lang="en" sz="18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structure?</a:t>
            </a:r>
            <a:endParaRPr sz="18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Times New Roman"/>
              <a:buChar char="●"/>
            </a:pPr>
            <a:r>
              <a:rPr lang="en" sz="18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Relevant? </a:t>
            </a:r>
            <a:endParaRPr sz="18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Times New Roman"/>
              <a:buChar char="●"/>
            </a:pPr>
            <a:r>
              <a:rPr lang="en" sz="18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represent? </a:t>
            </a:r>
            <a:endParaRPr sz="1000" b="1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0" name="Google Shape;650;p83"/>
          <p:cNvSpPr txBox="1"/>
          <p:nvPr/>
        </p:nvSpPr>
        <p:spPr>
          <a:xfrm>
            <a:off x="6226134" y="3794573"/>
            <a:ext cx="3051900" cy="13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Times New Roman"/>
              <a:buChar char="●"/>
            </a:pPr>
            <a:r>
              <a:rPr lang="en" sz="18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Audience understands?</a:t>
            </a:r>
            <a:endParaRPr sz="18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Times New Roman"/>
              <a:buChar char="●"/>
            </a:pPr>
            <a:r>
              <a:rPr lang="en" sz="18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Extensible? </a:t>
            </a:r>
            <a:endParaRPr sz="18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84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Interaction Types: </a:t>
            </a:r>
            <a:r>
              <a:rPr lang="en" sz="2700"/>
              <a:t>User-Product Communication </a:t>
            </a:r>
            <a:endParaRPr sz="2700"/>
          </a:p>
        </p:txBody>
      </p:sp>
      <p:sp>
        <p:nvSpPr>
          <p:cNvPr id="656" name="Google Shape;656;p84"/>
          <p:cNvSpPr txBox="1">
            <a:spLocks noGrp="1"/>
          </p:cNvSpPr>
          <p:nvPr>
            <p:ph type="title" idx="2"/>
          </p:nvPr>
        </p:nvSpPr>
        <p:spPr>
          <a:xfrm>
            <a:off x="920550" y="1881950"/>
            <a:ext cx="7299600" cy="3109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683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  <a:t>Five Types </a:t>
            </a:r>
            <a:br>
              <a:rPr lang="en" sz="1800" i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900" dirty="0">
                <a:latin typeface="Times New Roman"/>
                <a:ea typeface="Times New Roman"/>
                <a:cs typeface="Times New Roman"/>
                <a:sym typeface="Times New Roman"/>
              </a:rPr>
              <a:t>Instructing, conversing, manipulating, exploring, responding</a:t>
            </a:r>
            <a:r>
              <a:rPr lang="en" sz="17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" sz="1500" i="1" dirty="0">
                <a:latin typeface="Arial"/>
                <a:ea typeface="Arial"/>
                <a:cs typeface="Arial"/>
                <a:sym typeface="Arial"/>
              </a:rPr>
            </a:br>
            <a:endParaRPr sz="7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  <a:t>Usage </a:t>
            </a:r>
            <a:b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900" dirty="0">
                <a:latin typeface="Times New Roman"/>
                <a:ea typeface="Times New Roman"/>
                <a:cs typeface="Times New Roman"/>
                <a:sym typeface="Times New Roman"/>
              </a:rPr>
              <a:t>Most products use a combination </a:t>
            </a:r>
            <a:br>
              <a:rPr lang="en" sz="1700" i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  <a:t>Example (Travel App)</a:t>
            </a:r>
            <a:b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900" dirty="0">
                <a:latin typeface="Times New Roman"/>
                <a:ea typeface="Times New Roman"/>
                <a:cs typeface="Times New Roman"/>
                <a:sym typeface="Times New Roman"/>
              </a:rPr>
              <a:t>Find visa info. / refine vacation options / choosing a route / virtual walkthrough / system ask question 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85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309200" cy="977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Interface Types: </a:t>
            </a:r>
            <a:r>
              <a:rPr lang="en" sz="2700"/>
              <a:t>Inspiring</a:t>
            </a:r>
            <a:r>
              <a:rPr lang="en"/>
              <a:t> </a:t>
            </a:r>
            <a:r>
              <a:rPr lang="en" sz="2700"/>
              <a:t>Design Alternatives</a:t>
            </a:r>
            <a:endParaRPr sz="2700"/>
          </a:p>
        </p:txBody>
      </p:sp>
      <p:sp>
        <p:nvSpPr>
          <p:cNvPr id="662" name="Google Shape;662;p85"/>
          <p:cNvSpPr txBox="1">
            <a:spLocks noGrp="1"/>
          </p:cNvSpPr>
          <p:nvPr>
            <p:ph type="title" idx="2"/>
          </p:nvPr>
        </p:nvSpPr>
        <p:spPr>
          <a:xfrm>
            <a:off x="920550" y="1808060"/>
            <a:ext cx="7309200" cy="3204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683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  <a:t>Purpose </a:t>
            </a:r>
            <a:br>
              <a:rPr lang="en" sz="1800" i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700" dirty="0">
                <a:latin typeface="Times New Roman"/>
                <a:ea typeface="Times New Roman"/>
                <a:cs typeface="Times New Roman"/>
                <a:sym typeface="Times New Roman"/>
              </a:rPr>
              <a:t>Prompt new design ideas</a:t>
            </a:r>
            <a:br>
              <a:rPr lang="en" sz="1500" i="1" dirty="0">
                <a:latin typeface="Arial"/>
                <a:ea typeface="Arial"/>
                <a:cs typeface="Arial"/>
                <a:sym typeface="Arial"/>
              </a:rPr>
            </a:br>
            <a:endParaRPr sz="7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b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700" dirty="0">
                <a:latin typeface="Times New Roman"/>
                <a:ea typeface="Times New Roman"/>
                <a:cs typeface="Times New Roman"/>
                <a:sym typeface="Times New Roman"/>
              </a:rPr>
              <a:t>User and environmental needs </a:t>
            </a:r>
            <a:br>
              <a:rPr lang="en" sz="1700" i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  <a:t>Example (Travel App)</a:t>
            </a:r>
            <a:b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——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Shareable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: for group use</a:t>
            </a:r>
            <a:br>
              <a:rPr lang="en" sz="20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——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Tangible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: physical object interaction  </a:t>
            </a:r>
            <a:b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—— </a:t>
            </a: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Virtual Reality:</a:t>
            </a:r>
            <a:r>
              <a:rPr lang="e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Experience destination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6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Expanding the Model</a:t>
            </a:r>
            <a:endParaRPr/>
          </a:p>
        </p:txBody>
      </p:sp>
      <p:sp>
        <p:nvSpPr>
          <p:cNvPr id="668" name="Google Shape;668;p86"/>
          <p:cNvSpPr txBox="1">
            <a:spLocks noGrp="1"/>
          </p:cNvSpPr>
          <p:nvPr>
            <p:ph type="title" idx="2"/>
          </p:nvPr>
        </p:nvSpPr>
        <p:spPr>
          <a:xfrm>
            <a:off x="917400" y="1628471"/>
            <a:ext cx="7309200" cy="3137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683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  <a:t>Next Step: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Prepare for prototyping &amp; evaluation</a:t>
            </a:r>
            <a:b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  <a:t>Details Needed：</a:t>
            </a:r>
            <a:br>
              <a:rPr lang="en" sz="1100" dirty="0">
                <a:latin typeface="Arial"/>
                <a:ea typeface="Arial"/>
                <a:cs typeface="Arial"/>
                <a:sym typeface="Arial"/>
              </a:rPr>
            </a:b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—— Product functions</a:t>
            </a:r>
            <a:b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—— User functions</a:t>
            </a:r>
            <a:b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—— Function relationships</a:t>
            </a:r>
            <a:b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—— Information needs</a:t>
            </a:r>
            <a:br>
              <a:rPr lang="en" sz="1400" dirty="0">
                <a:latin typeface="Arial"/>
                <a:ea typeface="Arial"/>
                <a:cs typeface="Arial"/>
                <a:sym typeface="Arial"/>
              </a:rPr>
            </a:b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  <a:t>Process: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Evolves with prototyping &amp; feedback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7"/>
          <p:cNvSpPr txBox="1">
            <a:spLocks noGrp="1"/>
          </p:cNvSpPr>
          <p:nvPr>
            <p:ph type="title"/>
          </p:nvPr>
        </p:nvSpPr>
        <p:spPr>
          <a:xfrm>
            <a:off x="958650" y="21174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Concrete Design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88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is Concrete Design?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679" name="Google Shape;679;p88"/>
          <p:cNvSpPr txBox="1">
            <a:spLocks noGrp="1"/>
          </p:cNvSpPr>
          <p:nvPr>
            <p:ph type="title" idx="2"/>
          </p:nvPr>
        </p:nvSpPr>
        <p:spPr>
          <a:xfrm>
            <a:off x="920550" y="1524000"/>
            <a:ext cx="7939200" cy="3144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6550" algn="l" rtl="0">
              <a:spcBef>
                <a:spcPts val="10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Turns </a:t>
            </a:r>
            <a:r>
              <a:rPr lang="en" sz="1700" b="1">
                <a:latin typeface="Times New Roman"/>
                <a:ea typeface="Times New Roman"/>
                <a:cs typeface="Times New Roman"/>
                <a:sym typeface="Times New Roman"/>
              </a:rPr>
              <a:t>conceptual ideas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into </a:t>
            </a:r>
            <a:r>
              <a:rPr lang="en" sz="1700" b="1">
                <a:latin typeface="Times New Roman"/>
                <a:ea typeface="Times New Roman"/>
                <a:cs typeface="Times New Roman"/>
                <a:sym typeface="Times New Roman"/>
              </a:rPr>
              <a:t>real, detailed design decisions</a:t>
            </a:r>
            <a:endParaRPr sz="17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Involves </a:t>
            </a:r>
            <a:r>
              <a:rPr lang="en" sz="1700" b="1">
                <a:latin typeface="Times New Roman"/>
                <a:ea typeface="Times New Roman"/>
                <a:cs typeface="Times New Roman"/>
                <a:sym typeface="Times New Roman"/>
              </a:rPr>
              <a:t>layout, colors, navigation, icons, interactions</a:t>
            </a:r>
            <a:endParaRPr sz="17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Focus: </a:t>
            </a:r>
            <a:r>
              <a:rPr lang="en" sz="1700" i="1">
                <a:latin typeface="Times New Roman"/>
                <a:ea typeface="Times New Roman"/>
                <a:cs typeface="Times New Roman"/>
                <a:sym typeface="Times New Roman"/>
              </a:rPr>
              <a:t>How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the system works and feels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Example: Paper prototypes for astronomy visualization (Rampersad et al., 2017)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  <p:sp>
        <p:nvSpPr>
          <p:cNvPr id="680" name="Google Shape;680;p88"/>
          <p:cNvSpPr txBox="1">
            <a:spLocks noGrp="1"/>
          </p:cNvSpPr>
          <p:nvPr>
            <p:ph type="subTitle" idx="1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pic>
        <p:nvPicPr>
          <p:cNvPr id="681" name="Google Shape;681;p88" title="Screenshot 2025-10-16 at 12.12.2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938" y="2864610"/>
            <a:ext cx="7085925" cy="20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89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Elements of Concrete Design</a:t>
            </a:r>
            <a:endParaRPr/>
          </a:p>
        </p:txBody>
      </p:sp>
      <p:sp>
        <p:nvSpPr>
          <p:cNvPr id="687" name="Google Shape;687;p89"/>
          <p:cNvSpPr txBox="1">
            <a:spLocks noGrp="1"/>
          </p:cNvSpPr>
          <p:nvPr>
            <p:ph type="title" idx="2"/>
          </p:nvPr>
        </p:nvSpPr>
        <p:spPr>
          <a:xfrm>
            <a:off x="920550" y="1881950"/>
            <a:ext cx="7303200" cy="1944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>
                <a:latin typeface="Times New Roman"/>
                <a:ea typeface="Times New Roman"/>
                <a:cs typeface="Times New Roman"/>
                <a:sym typeface="Times New Roman"/>
              </a:rPr>
              <a:t>Visual appearance: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colors, icons, typography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>
                <a:latin typeface="Times New Roman"/>
                <a:ea typeface="Times New Roman"/>
                <a:cs typeface="Times New Roman"/>
                <a:sym typeface="Times New Roman"/>
              </a:rPr>
              <a:t>Navigation &amp; layout: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grouping + hierarchy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>
                <a:latin typeface="Times New Roman"/>
                <a:ea typeface="Times New Roman"/>
                <a:cs typeface="Times New Roman"/>
                <a:sym typeface="Times New Roman"/>
              </a:rPr>
              <a:t>Interaction: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touch, voice, mouse, keyboard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>
                <a:latin typeface="Times New Roman"/>
                <a:ea typeface="Times New Roman"/>
                <a:cs typeface="Times New Roman"/>
                <a:sym typeface="Times New Roman"/>
              </a:rPr>
              <a:t>Feedback: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responses to user actions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>
                <a:latin typeface="Times New Roman"/>
                <a:ea typeface="Times New Roman"/>
                <a:cs typeface="Times New Roman"/>
                <a:sym typeface="Times New Roman"/>
              </a:rPr>
              <a:t>Iteration: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prototypes → testing → refinement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 i="1">
                <a:latin typeface="Times New Roman"/>
                <a:ea typeface="Times New Roman"/>
                <a:cs typeface="Times New Roman"/>
                <a:sym typeface="Times New Roman"/>
              </a:rPr>
              <a:t>Good concrete design = clarity + usability + aesthetic balance.</a:t>
            </a:r>
            <a:endParaRPr sz="17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90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Accessibility &amp; Inclusiveness</a:t>
            </a:r>
            <a:endParaRPr/>
          </a:p>
        </p:txBody>
      </p:sp>
      <p:sp>
        <p:nvSpPr>
          <p:cNvPr id="693" name="Google Shape;693;p90"/>
          <p:cNvSpPr txBox="1">
            <a:spLocks noGrp="1"/>
          </p:cNvSpPr>
          <p:nvPr>
            <p:ph type="title" idx="2"/>
          </p:nvPr>
        </p:nvSpPr>
        <p:spPr>
          <a:xfrm>
            <a:off x="920550" y="1881950"/>
            <a:ext cx="6861086" cy="1944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latin typeface="Times New Roman"/>
                <a:ea typeface="Times New Roman"/>
                <a:cs typeface="Times New Roman"/>
                <a:sym typeface="Times New Roman"/>
              </a:rPr>
              <a:t>Accessibility:</a:t>
            </a:r>
            <a:r>
              <a:rPr lang="en" sz="1700" dirty="0">
                <a:latin typeface="Times New Roman"/>
                <a:ea typeface="Times New Roman"/>
                <a:cs typeface="Times New Roman"/>
                <a:sym typeface="Times New Roman"/>
              </a:rPr>
              <a:t> design usable by all abilities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 dirty="0">
                <a:latin typeface="Times New Roman"/>
                <a:ea typeface="Times New Roman"/>
                <a:cs typeface="Times New Roman"/>
                <a:sym typeface="Times New Roman"/>
              </a:rPr>
              <a:t>Screen readers, Braille, voice commands, captions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 dirty="0">
                <a:latin typeface="Times New Roman"/>
                <a:ea typeface="Times New Roman"/>
                <a:cs typeface="Times New Roman"/>
                <a:sym typeface="Times New Roman"/>
              </a:rPr>
              <a:t>Guided by WCAG standards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latin typeface="Times New Roman"/>
                <a:ea typeface="Times New Roman"/>
                <a:cs typeface="Times New Roman"/>
                <a:sym typeface="Times New Roman"/>
              </a:rPr>
              <a:t>Inclusiveness:</a:t>
            </a:r>
            <a:r>
              <a:rPr lang="en" sz="1700" dirty="0">
                <a:latin typeface="Times New Roman"/>
                <a:ea typeface="Times New Roman"/>
                <a:cs typeface="Times New Roman"/>
                <a:sym typeface="Times New Roman"/>
              </a:rPr>
              <a:t> beyond disability → culture, language, gender, economics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 dirty="0">
                <a:latin typeface="Times New Roman"/>
                <a:ea typeface="Times New Roman"/>
                <a:cs typeface="Times New Roman"/>
                <a:sym typeface="Times New Roman"/>
              </a:rPr>
              <a:t>Different user groups require tailored interfaces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 b="1" dirty="0"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  <a:r>
              <a:rPr lang="en" sz="1700" dirty="0">
                <a:latin typeface="Times New Roman"/>
                <a:ea typeface="Times New Roman"/>
                <a:cs typeface="Times New Roman"/>
                <a:sym typeface="Times New Roman"/>
              </a:rPr>
              <a:t> fair, open, and equal experience for everyone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91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Localization &amp; Internationalization</a:t>
            </a:r>
            <a:endParaRPr/>
          </a:p>
        </p:txBody>
      </p:sp>
      <p:sp>
        <p:nvSpPr>
          <p:cNvPr id="699" name="Google Shape;699;p91"/>
          <p:cNvSpPr txBox="1">
            <a:spLocks noGrp="1"/>
          </p:cNvSpPr>
          <p:nvPr>
            <p:ph type="title" idx="2"/>
          </p:nvPr>
        </p:nvSpPr>
        <p:spPr>
          <a:xfrm>
            <a:off x="920550" y="1881950"/>
            <a:ext cx="6276300" cy="1944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Concrete design must adapt to </a:t>
            </a:r>
            <a:r>
              <a:rPr lang="en" sz="1700" i="1">
                <a:latin typeface="Times New Roman"/>
                <a:ea typeface="Times New Roman"/>
                <a:cs typeface="Times New Roman"/>
                <a:sym typeface="Times New Roman"/>
              </a:rPr>
              <a:t>local culture and audience</a:t>
            </a:r>
            <a:endParaRPr sz="17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r>
              <a:rPr lang="en" sz="1700" b="1">
                <a:latin typeface="Times New Roman"/>
                <a:ea typeface="Times New Roman"/>
                <a:cs typeface="Times New Roman"/>
                <a:sym typeface="Times New Roman"/>
              </a:rPr>
              <a:t>Coca-Cola websites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across countries differ in: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Layout &amp; typography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Faces &amp; imagery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Local content &amp; news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Localization ensures relevance; internationalization ensures flexibility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 i="1">
                <a:latin typeface="Times New Roman"/>
                <a:ea typeface="Times New Roman"/>
                <a:cs typeface="Times New Roman"/>
                <a:sym typeface="Times New Roman"/>
              </a:rPr>
              <a:t>Design should feel local, no matter where it’s viewed.</a:t>
            </a:r>
            <a:endParaRPr sz="17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92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through Design (RtD)</a:t>
            </a:r>
            <a:endParaRPr/>
          </a:p>
        </p:txBody>
      </p:sp>
      <p:sp>
        <p:nvSpPr>
          <p:cNvPr id="705" name="Google Shape;705;p92"/>
          <p:cNvSpPr txBox="1">
            <a:spLocks noGrp="1"/>
          </p:cNvSpPr>
          <p:nvPr>
            <p:ph type="title" idx="2"/>
          </p:nvPr>
        </p:nvSpPr>
        <p:spPr>
          <a:xfrm>
            <a:off x="920550" y="1524000"/>
            <a:ext cx="6799500" cy="3471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Uses </a:t>
            </a: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design as a research method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to explore new ideas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Produces </a:t>
            </a: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knowledge through making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Focuses on </a:t>
            </a: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reflection and iteration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On-skin interfaces via woven circuitry (Huang et al., 2021)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6" name="Google Shape;70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300" y="2848200"/>
            <a:ext cx="1809674" cy="16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4850" y="2848200"/>
            <a:ext cx="1559825" cy="16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6175" y="2848200"/>
            <a:ext cx="2142300" cy="16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93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 </a:t>
            </a:r>
            <a:endParaRPr/>
          </a:p>
        </p:txBody>
      </p:sp>
      <p:sp>
        <p:nvSpPr>
          <p:cNvPr id="714" name="Google Shape;714;p93"/>
          <p:cNvSpPr txBox="1">
            <a:spLocks noGrp="1"/>
          </p:cNvSpPr>
          <p:nvPr>
            <p:ph type="title" idx="2"/>
          </p:nvPr>
        </p:nvSpPr>
        <p:spPr>
          <a:xfrm>
            <a:off x="920550" y="1524000"/>
            <a:ext cx="6690900" cy="2691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>
                <a:latin typeface="Times New Roman"/>
                <a:ea typeface="Times New Roman"/>
                <a:cs typeface="Times New Roman"/>
                <a:sym typeface="Times New Roman"/>
              </a:rPr>
              <a:t>Activity 1: Accessibility Audit</a:t>
            </a:r>
            <a:endParaRPr sz="17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Pick any app (e.g., Spotify).</a:t>
            </a:r>
            <a:b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→ List 2 accessibility problems + 1 improvement.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>
                <a:latin typeface="Times New Roman"/>
                <a:ea typeface="Times New Roman"/>
                <a:cs typeface="Times New Roman"/>
                <a:sym typeface="Times New Roman"/>
              </a:rPr>
              <a:t>Activity 2: Localization Check</a:t>
            </a:r>
            <a:endParaRPr sz="17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Compare </a:t>
            </a:r>
            <a:r>
              <a:rPr lang="en" sz="1700" i="1">
                <a:latin typeface="Times New Roman"/>
                <a:ea typeface="Times New Roman"/>
                <a:cs typeface="Times New Roman"/>
                <a:sym typeface="Times New Roman"/>
              </a:rPr>
              <a:t>Coca-Cola USA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vs </a:t>
            </a:r>
            <a:r>
              <a:rPr lang="en" sz="1700" i="1">
                <a:latin typeface="Times New Roman"/>
                <a:ea typeface="Times New Roman"/>
                <a:cs typeface="Times New Roman"/>
                <a:sym typeface="Times New Roman"/>
              </a:rPr>
              <a:t>Coca-Cola India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websites.</a:t>
            </a:r>
            <a:b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→ Identify one difference in layout or content tone.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latin typeface="Times New Roman"/>
                <a:ea typeface="Times New Roman"/>
                <a:cs typeface="Times New Roman"/>
                <a:sym typeface="Times New Roman"/>
              </a:rPr>
              <a:t>Key Takeaway:</a:t>
            </a:r>
            <a:br>
              <a:rPr lang="en" sz="17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Concrete Design connects concepts to reality, balancing usability, aesthetics, and inclusivity.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94"/>
          <p:cNvSpPr txBox="1">
            <a:spLocks noGrp="1"/>
          </p:cNvSpPr>
          <p:nvPr>
            <p:ph type="title"/>
          </p:nvPr>
        </p:nvSpPr>
        <p:spPr>
          <a:xfrm>
            <a:off x="958650" y="21174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Generating Prototypes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95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Generating Prototypes</a:t>
            </a:r>
            <a:endParaRPr/>
          </a:p>
        </p:txBody>
      </p:sp>
      <p:sp>
        <p:nvSpPr>
          <p:cNvPr id="725" name="Google Shape;725;p95"/>
          <p:cNvSpPr txBox="1">
            <a:spLocks noGrp="1"/>
          </p:cNvSpPr>
          <p:nvPr>
            <p:ph type="title" idx="2"/>
          </p:nvPr>
        </p:nvSpPr>
        <p:spPr>
          <a:xfrm>
            <a:off x="920550" y="1524000"/>
            <a:ext cx="7846200" cy="3333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Prototypes serve as a bridge between requirements and interaction design, helping visualize how users will actually engage with a product.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Generating a prototype begins with understanding user goals, scenarios, and requirements, then choosing the right way to visualize interactions.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There are two main approaches to generating prototypes: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Storyboards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Card-Based Prototypes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Then there are two main approaches to mapping the experience of the user: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Experience Wheel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Timeline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Both approaches must be used to gain a full understanding of the situation, pain points, and other issue that need to be solved.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96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Storyboards </a:t>
            </a:r>
            <a:endParaRPr/>
          </a:p>
        </p:txBody>
      </p:sp>
      <p:pic>
        <p:nvPicPr>
          <p:cNvPr id="731" name="Google Shape;73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4450" y="2682050"/>
            <a:ext cx="3193275" cy="237315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pic>
      <p:sp>
        <p:nvSpPr>
          <p:cNvPr id="732" name="Google Shape;732;p96"/>
          <p:cNvSpPr txBox="1"/>
          <p:nvPr/>
        </p:nvSpPr>
        <p:spPr>
          <a:xfrm>
            <a:off x="920550" y="1524000"/>
            <a:ext cx="79392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imes New Roman"/>
              <a:buChar char="-"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previously discussed Storyboards are a low fidelity prototype that help </a:t>
            </a:r>
            <a:r>
              <a:rPr lang="en" sz="17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designers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sz="17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stakeholders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visualize how a user interacts with a product step by step.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imes New Roman"/>
              <a:buChar char="-"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best time to use Storyboards are at the very beginning of the design process 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imes New Roman"/>
              <a:buChar char="-"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show context, environment, and key 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actions, making it easier to spot design 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early.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imes New Roman"/>
              <a:buChar char="-"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example in the image shows a 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family using a travel organizer to plan a 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Mediterranean sailing trip. 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97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Card-Based</a:t>
            </a:r>
            <a:endParaRPr/>
          </a:p>
        </p:txBody>
      </p:sp>
      <p:sp>
        <p:nvSpPr>
          <p:cNvPr id="738" name="Google Shape;738;p97"/>
          <p:cNvSpPr txBox="1">
            <a:spLocks noGrp="1"/>
          </p:cNvSpPr>
          <p:nvPr>
            <p:ph type="title" idx="2"/>
          </p:nvPr>
        </p:nvSpPr>
        <p:spPr>
          <a:xfrm>
            <a:off x="920550" y="1693150"/>
            <a:ext cx="7939200" cy="2975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Card-based prototypes help designers plan and test interactions early in the design process.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Each card represents a screen, action, or message, which can be easily rearranged to explore different user paths.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Just like the Storyboard, Card-Based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Prototypes are used in the early stages of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design on systems that contain multiple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interactions and paths the user can take.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example shown is a travel organizer very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	similar to one of our earlier assignments.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9" name="Google Shape;739;p97" title="Screen Shot 2025-10-17 at 10.54.17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8211" y="2476500"/>
            <a:ext cx="3005338" cy="260294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8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Experience Wheel</a:t>
            </a:r>
            <a:endParaRPr/>
          </a:p>
        </p:txBody>
      </p:sp>
      <p:sp>
        <p:nvSpPr>
          <p:cNvPr id="745" name="Google Shape;745;p98"/>
          <p:cNvSpPr txBox="1">
            <a:spLocks noGrp="1"/>
          </p:cNvSpPr>
          <p:nvPr>
            <p:ph type="title" idx="2"/>
          </p:nvPr>
        </p:nvSpPr>
        <p:spPr>
          <a:xfrm>
            <a:off x="920550" y="1427175"/>
            <a:ext cx="7939200" cy="3613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experience wheel helps visualize the entire user journey, from start to finish, as a repeating cycle.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It’s useful for finding patterns, emotional highs and lows, and areas that may need improvement.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When the user experience is cyclical or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ongoing, such as flying, shopping, or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subscription-based products.Best for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showing how users move through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repeated phases, not just one linear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process.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example shown takes us through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someone traveling through an airport.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6" name="Google Shape;746;p98" title="Screen Shot 2025-10-17 at 11.05.4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6625" y="2367475"/>
            <a:ext cx="3876274" cy="26730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99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752" name="Google Shape;752;p99"/>
          <p:cNvSpPr txBox="1">
            <a:spLocks noGrp="1"/>
          </p:cNvSpPr>
          <p:nvPr>
            <p:ph type="title" idx="2"/>
          </p:nvPr>
        </p:nvSpPr>
        <p:spPr>
          <a:xfrm>
            <a:off x="920550" y="1599750"/>
            <a:ext cx="7939200" cy="3258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Timeline show how a user’s experience unfolds step-by-step over time. They help designers pinpoint specific moments of success or frustration.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This approach is commonly used in linear experiences like online shopping, delivery service, etc.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ability to spot specific pain points on the timeline makes solving issues much quicker and efficient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following example shows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Megan constructing and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delivering a presentation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3" name="Google Shape;753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2525" y="2867850"/>
            <a:ext cx="4675000" cy="2182525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00"/>
          <p:cNvSpPr txBox="1">
            <a:spLocks noGrp="1"/>
          </p:cNvSpPr>
          <p:nvPr>
            <p:ph type="title"/>
          </p:nvPr>
        </p:nvSpPr>
        <p:spPr>
          <a:xfrm>
            <a:off x="958650" y="21174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Construction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01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Construction</a:t>
            </a:r>
            <a:endParaRPr/>
          </a:p>
        </p:txBody>
      </p:sp>
      <p:sp>
        <p:nvSpPr>
          <p:cNvPr id="765" name="Google Shape;765;p101"/>
          <p:cNvSpPr txBox="1">
            <a:spLocks noGrp="1"/>
          </p:cNvSpPr>
          <p:nvPr>
            <p:ph type="title" idx="2"/>
          </p:nvPr>
        </p:nvSpPr>
        <p:spPr>
          <a:xfrm>
            <a:off x="920550" y="1881950"/>
            <a:ext cx="7939200" cy="2975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construction phase is where designs become real, moving from prototypes to working products.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It focuses on building higher-fidelity versions using tools and pre-made components.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Designers almost never begin entirely from scratch; instead, they leverage existing kits and libraries to accelerate the development process.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These include the following: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Physical Computing Kits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Software Development Kits (SDKs)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02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Computing</a:t>
            </a:r>
            <a:endParaRPr/>
          </a:p>
        </p:txBody>
      </p:sp>
      <p:sp>
        <p:nvSpPr>
          <p:cNvPr id="771" name="Google Shape;771;p102"/>
          <p:cNvSpPr txBox="1">
            <a:spLocks noGrp="1"/>
          </p:cNvSpPr>
          <p:nvPr>
            <p:ph type="title" idx="2"/>
          </p:nvPr>
        </p:nvSpPr>
        <p:spPr>
          <a:xfrm>
            <a:off x="920550" y="1881950"/>
            <a:ext cx="7745700" cy="2975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Physical computing bridges the gap between digital design and real-world interaction.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It allows designers to prototype and test ideas by building and programming interactive devices that respond to the physical environment.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Physical computing relies on electronic components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and toolkits that make experimentation accessible.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These toolkits, such as Arduino, LilyPad,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Raspberry Pi, and  BBC micro:bit let designers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rapidly create and test working systems without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starting from scratch.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2" name="Google Shape;772;p102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7163" y="3197313"/>
            <a:ext cx="2619375" cy="17430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03"/>
          <p:cNvSpPr txBox="1">
            <a:spLocks noGrp="1"/>
          </p:cNvSpPr>
          <p:nvPr>
            <p:ph type="title"/>
          </p:nvPr>
        </p:nvSpPr>
        <p:spPr>
          <a:xfrm>
            <a:off x="889500" y="728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Computing (continued)</a:t>
            </a:r>
            <a:endParaRPr/>
          </a:p>
        </p:txBody>
      </p:sp>
      <p:sp>
        <p:nvSpPr>
          <p:cNvPr id="778" name="Google Shape;778;p103"/>
          <p:cNvSpPr txBox="1">
            <a:spLocks noGrp="1"/>
          </p:cNvSpPr>
          <p:nvPr>
            <p:ph type="title" idx="2"/>
          </p:nvPr>
        </p:nvSpPr>
        <p:spPr>
          <a:xfrm>
            <a:off x="770775" y="1427175"/>
            <a:ext cx="5228400" cy="3594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Arduino: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A beginner-friendly toolkit for learning how to code and build prototypes. Includes an Arduino board and a simple coding environment (IDE) for uploading programs.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LilyPad: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Developed from the basic Arduino kit, the LilyPad is a set of sewable electronic components for building fashionable clothing and other textiles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BBC Micro:bit: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A small device with built-in sensors and LEDs, no wiring required. Supports both block-based coding and JavaScript, ideal for beginners.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9" name="Google Shape;779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3925" y="3716350"/>
            <a:ext cx="3056250" cy="1374925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pic>
      <p:pic>
        <p:nvPicPr>
          <p:cNvPr id="780" name="Google Shape;780;p103" title="Screen Shot 2025-10-17 at 5.00.21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4875" y="2437224"/>
            <a:ext cx="1557860" cy="117222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81" name="Google Shape;781;p103" title="Screen Shot 2025-10-17 at 5.01.26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4900" y="1200975"/>
            <a:ext cx="1497800" cy="112935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04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Development Kits</a:t>
            </a:r>
            <a:endParaRPr/>
          </a:p>
        </p:txBody>
      </p:sp>
      <p:sp>
        <p:nvSpPr>
          <p:cNvPr id="787" name="Google Shape;787;p104"/>
          <p:cNvSpPr txBox="1">
            <a:spLocks noGrp="1"/>
          </p:cNvSpPr>
          <p:nvPr>
            <p:ph type="title" idx="2"/>
          </p:nvPr>
        </p:nvSpPr>
        <p:spPr>
          <a:xfrm>
            <a:off x="920550" y="1524000"/>
            <a:ext cx="7455300" cy="2975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 software development kit (SDK) is a package of programming tools and components that supports the development of applications for a specific platform.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For example, iOS on iPhone and iPad or Android on mobile phones and tablets.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An SDK generally provides an IDE, documentation, drivers, sample code, and APIs that enable developers to integrate and control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components without in-depth knowledge of their internal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workings.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 well-known example is the Unity SDK, which allows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developers to create interactive games, simulations, and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virtual reality (VR/AR) experiences across multiple platforms.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8" name="Google Shape;788;p104" title="Screen Shot 2025-10-17 at 5.29.2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1025" y="3437250"/>
            <a:ext cx="1615150" cy="1623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05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2768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2257</Words>
  <Application>Microsoft Office PowerPoint</Application>
  <PresentationFormat>On-screen Show (16:9)</PresentationFormat>
  <Paragraphs>312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Roboto</vt:lpstr>
      <vt:lpstr>Quantico</vt:lpstr>
      <vt:lpstr>Times New Roman</vt:lpstr>
      <vt:lpstr>Arial</vt:lpstr>
      <vt:lpstr>Lato</vt:lpstr>
      <vt:lpstr>Simple Light</vt:lpstr>
      <vt:lpstr>Slides Pitch 2024</vt:lpstr>
      <vt:lpstr>DESIGN,PROTOTYPING AND CONSTRUCTION</vt:lpstr>
      <vt:lpstr>PowerPoint Presentation</vt:lpstr>
      <vt:lpstr>Introduction: Design, Prototyping, and Construction</vt:lpstr>
      <vt:lpstr>Conceptual: Focuses on the ideas for a product Large focus on the Conceptual Model Concrete: Focuses on the details of the design Large focus on details and concrete decisions Prototyping: Designers prototype to properly evaluate design ideas effectively. Helps with the evaluation and redesign process</vt:lpstr>
      <vt:lpstr>Prototyping</vt:lpstr>
      <vt:lpstr>Prototyping</vt:lpstr>
      <vt:lpstr>What is a Prototype?</vt:lpstr>
      <vt:lpstr>Why Prototype?</vt:lpstr>
      <vt:lpstr>High- vs Low- Fidelity</vt:lpstr>
      <vt:lpstr>Prototyping: Low-Fidelity</vt:lpstr>
      <vt:lpstr>Low-Fidelity: Storyboarding and Sketching</vt:lpstr>
      <vt:lpstr>Example: Storyboarding</vt:lpstr>
      <vt:lpstr>Low-Fidelity: Index Cards and Wizard of Oz </vt:lpstr>
      <vt:lpstr>Example: Note Cards</vt:lpstr>
      <vt:lpstr>Prototyping: High-Fidelity</vt:lpstr>
      <vt:lpstr>Example: High-Fidelity Canva Prototype</vt:lpstr>
      <vt:lpstr>Prototyping: Compromises</vt:lpstr>
      <vt:lpstr>Conceptual Design</vt:lpstr>
      <vt:lpstr>Conceptual Design:Crafting User Experience </vt:lpstr>
      <vt:lpstr>Empathy in Design: Challenges and Limits </vt:lpstr>
      <vt:lpstr>Tools for Exploring Design Ideas</vt:lpstr>
      <vt:lpstr>Example:  Using Contravision Across Two Scenes  </vt:lpstr>
      <vt:lpstr>Initial Conceptual Model: Three Key Approaches </vt:lpstr>
      <vt:lpstr>Interface Metaphors:  Bridging Familiar and New  </vt:lpstr>
      <vt:lpstr>Interaction Types: User-Product Communication </vt:lpstr>
      <vt:lpstr>Interface Types: Inspiring Design Alternatives</vt:lpstr>
      <vt:lpstr>Expanding the Model</vt:lpstr>
      <vt:lpstr>Concrete Design</vt:lpstr>
      <vt:lpstr>What is Concrete Design? </vt:lpstr>
      <vt:lpstr>Key Elements of Concrete Design</vt:lpstr>
      <vt:lpstr>Accessibility &amp; Inclusiveness</vt:lpstr>
      <vt:lpstr>Localization &amp; Internationalization</vt:lpstr>
      <vt:lpstr>Research through Design (RtD)</vt:lpstr>
      <vt:lpstr>Activities </vt:lpstr>
      <vt:lpstr>Generating Prototypes </vt:lpstr>
      <vt:lpstr>Generating Prototypes</vt:lpstr>
      <vt:lpstr>Storyboards </vt:lpstr>
      <vt:lpstr>Card-Based</vt:lpstr>
      <vt:lpstr>Experience Wheel</vt:lpstr>
      <vt:lpstr>Timeline</vt:lpstr>
      <vt:lpstr>                   Construction</vt:lpstr>
      <vt:lpstr>Construction</vt:lpstr>
      <vt:lpstr>Physical Computing</vt:lpstr>
      <vt:lpstr>Physical Computing (continued)</vt:lpstr>
      <vt:lpstr>Software Development Kits</vt:lpstr>
      <vt:lpstr>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 Clark</cp:lastModifiedBy>
  <cp:revision>2</cp:revision>
  <dcterms:modified xsi:type="dcterms:W3CDTF">2025-10-18T00:42:45Z</dcterms:modified>
</cp:coreProperties>
</file>